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 Main presentation" id="{C275D299-0243-45B9-A2DE-2198008C28B8}">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Lst>
        </p14:section>
        <p14:section name="02 · Appendices A–F" id="{621038D5-7847-4BAD-82F9-7F24580DA813}">
          <p14:sldIdLst>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Lst>
        </p14:section>
        <p14:section name="03 · Competitive advantages research" id="{9CF1FD7D-4E8B-4495-9D6F-FE41F43321BA}">
          <p14:sldIdLst>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Lst>
        </p14:section>
        <p14:section name="04 · Competitive strategy deep dive" id="{3AF160B3-A90E-4FC4-A4F5-7EBEB9BE81E3}">
          <p14:sldIdLst>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4"/>
            <p14:sldId id="535"/>
            <p14:sldId id="536"/>
            <p14:sldId id="537"/>
            <p14:sldId id="538"/>
            <p14:sldId id="539"/>
            <p14:sldId id="540"/>
            <p14:sldId id="541"/>
            <p14:sldId id="542"/>
            <p14:sldId id="543"/>
            <p14:sldId id="544"/>
            <p14:sldId id="545"/>
            <p14:sldId id="546"/>
            <p14:sldId id="547"/>
            <p14:sldId id="548"/>
            <p14:sldId id="549"/>
            <p14:sldId id="550"/>
            <p14:sldId id="551"/>
            <p14:sldId id="552"/>
            <p14:sldId id="553"/>
            <p14:sldId id="554"/>
            <p14:sldId id="555"/>
            <p14:sldId id="556"/>
            <p14:sldId id="557"/>
            <p14:sldId id="558"/>
            <p14:sldId id="559"/>
            <p14:sldId id="560"/>
            <p14:sldId id="561"/>
            <p14:sldId id="562"/>
            <p14:sldId id="563"/>
            <p14:sldId id="564"/>
            <p14:sldId id="565"/>
            <p14:sldId id="566"/>
            <p14:sldId id="5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Revenue · Rp trillion</c:v>
                </c:pt>
              </c:strCache>
            </c:strRef>
          </c:tx>
          <c:spPr>
            <a:solidFill>
              <a:srgbClr val="153F35"/>
            </a:solidFill>
            <a:ln>
              <a:noFill/>
            </a:ln>
          </c:spPr>
          <c:cat>
            <c:strRef>
              <c:f>Sheet1!$A$2:$A$11</c:f>
              <c:strCache>
                <c:ptCount val="10"/>
                <c:pt idx="0">
                  <c:v>Bumi Serpong Damai — BSDE</c:v>
                </c:pt>
                <c:pt idx="1">
                  <c:v>Lippo Karawaci — LPKR</c:v>
                </c:pt>
                <c:pt idx="2">
                  <c:v>Ciputra Development — CTRA</c:v>
                </c:pt>
                <c:pt idx="3">
                  <c:v>Summarecon Agung — SMRA</c:v>
                </c:pt>
                <c:pt idx="4">
                  <c:v>Pakuwon Jati — PWON</c:v>
                </c:pt>
                <c:pt idx="5">
                  <c:v>Agung Podomoro Land — APLN</c:v>
                </c:pt>
                <c:pt idx="6">
                  <c:v>Duta Pertiwi — DUTI</c:v>
                </c:pt>
                <c:pt idx="7">
                  <c:v>Alam Sutera Realty — ASRI</c:v>
                </c:pt>
                <c:pt idx="8">
                  <c:v>Jaya Real Property — JRPT</c:v>
                </c:pt>
                <c:pt idx="9">
                  <c:v>Pantai Indah Kapuk Dua — PANI</c:v>
                </c:pt>
              </c:strCache>
            </c:strRef>
          </c:cat>
          <c:val>
            <c:numRef>
              <c:f>Sheet1!$B$2:$B$11</c:f>
              <c:numCache>
                <c:formatCode>General</c:formatCode>
                <c:ptCount val="10"/>
                <c:pt idx="0">
                  <c:v>13.8</c:v>
                </c:pt>
                <c:pt idx="1">
                  <c:v>11.35</c:v>
                </c:pt>
                <c:pt idx="2">
                  <c:v>11.19</c:v>
                </c:pt>
                <c:pt idx="3">
                  <c:v>10.62</c:v>
                </c:pt>
                <c:pt idx="4">
                  <c:v>6.67</c:v>
                </c:pt>
                <c:pt idx="5">
                  <c:v>5.68</c:v>
                </c:pt>
                <c:pt idx="6">
                  <c:v>4.42</c:v>
                </c:pt>
                <c:pt idx="7">
                  <c:v>3.44</c:v>
                </c:pt>
                <c:pt idx="8">
                  <c:v>2.95</c:v>
                </c:pt>
                <c:pt idx="9">
                  <c:v>2.83</c:v>
                </c:pt>
              </c:numCache>
            </c:numRef>
          </c:val>
        </c:ser>
        <c:dLbls>
          <c:numFmt formatCode="0.00" sourceLinked="0"/>
          <c:txPr>
            <a:bodyPr/>
            <a:lstStyle/>
            <a:p>
              <a:pPr>
                <a:defRPr sz="1300">
                  <a:solidFill>
                    <a:srgbClr val="183A32"/>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300">
                <a:latin typeface="Aria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Revenue · Rp trillion</c:v>
                </c:pt>
              </c:strCache>
            </c:strRef>
          </c:tx>
          <c:spPr>
            <a:solidFill>
              <a:srgbClr val="153F35"/>
            </a:solidFill>
            <a:ln>
              <a:noFill/>
            </a:ln>
          </c:spPr>
          <c:dPt>
            <c:idx val="9"/>
            <c:spPr>
              <a:solidFill>
                <a:srgbClr val="AD843F"/>
              </a:solidFill>
            </c:spPr>
          </c:dPt>
          <c:cat>
            <c:strRef>
              <c:f>Sheet1!$A$2:$A$11</c:f>
              <c:strCache>
                <c:ptCount val="10"/>
                <c:pt idx="0">
                  <c:v>BSDE</c:v>
                </c:pt>
                <c:pt idx="1">
                  <c:v>CTRA</c:v>
                </c:pt>
                <c:pt idx="2">
                  <c:v>LPKR</c:v>
                </c:pt>
                <c:pt idx="3">
                  <c:v>SMRA</c:v>
                </c:pt>
                <c:pt idx="4">
                  <c:v>PWON</c:v>
                </c:pt>
                <c:pt idx="5">
                  <c:v>PANI</c:v>
                </c:pt>
                <c:pt idx="6">
                  <c:v>APLN</c:v>
                </c:pt>
                <c:pt idx="7">
                  <c:v>JRPT</c:v>
                </c:pt>
                <c:pt idx="8">
                  <c:v>ASRI</c:v>
                </c:pt>
                <c:pt idx="9">
                  <c:v>DUTI</c:v>
                </c:pt>
              </c:strCache>
            </c:strRef>
          </c:cat>
          <c:val>
            <c:numRef>
              <c:f>Sheet1!$B$2:$B$11</c:f>
              <c:numCache>
                <c:formatCode>General</c:formatCode>
                <c:ptCount val="10"/>
                <c:pt idx="0">
                  <c:v>12.79</c:v>
                </c:pt>
                <c:pt idx="1">
                  <c:v>12.62</c:v>
                </c:pt>
                <c:pt idx="2">
                  <c:v>9.03</c:v>
                </c:pt>
                <c:pt idx="3">
                  <c:v>8.77</c:v>
                </c:pt>
                <c:pt idx="4">
                  <c:v>7.11</c:v>
                </c:pt>
                <c:pt idx="5">
                  <c:v>4.3</c:v>
                </c:pt>
                <c:pt idx="6">
                  <c:v>3.57</c:v>
                </c:pt>
                <c:pt idx="7">
                  <c:v>3.27</c:v>
                </c:pt>
                <c:pt idx="8">
                  <c:v>2.93</c:v>
                </c:pt>
                <c:pt idx="9">
                  <c:v>2.73</c:v>
                </c:pt>
              </c:numCache>
            </c:numRef>
          </c:val>
        </c:ser>
        <c:dLbls>
          <c:numFmt formatCode="0.00" sourceLinked="0"/>
          <c:txPr>
            <a:bodyPr/>
            <a:lstStyle/>
            <a:p>
              <a:pPr>
                <a:defRPr sz="1300">
                  <a:solidFill>
                    <a:srgbClr val="183A32"/>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300">
                <a:latin typeface="Aria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01 — Cover</a:t>
            </a:r>
          </a:p>
          <a:p>
            <a:r>
              <a:t>Document pages: 1</a:t>
            </a:r>
          </a:p>
          <a:p/>
          <a:p>
            <a:r>
              <a:t>COMPLETE SOURCE TEXT</a:t>
            </a:r>
          </a:p>
          <a:p>
            <a:r>
              <a:t>Beyond Development. Building Lasting Value.</a:t>
            </a:r>
          </a:p>
          <a:p/>
          <a:p>
            <a:r>
              <a:t>TANRISE PROPERTY · CORPORATE STRATEGY 2026–2035</a:t>
            </a:r>
          </a:p>
          <a:p/>
          <a:p>
            <a:r>
              <a:t>Corporate Research, Competitive Intelligence, Brand Architecture &amp; Transformation Roadmap</a:t>
            </a:r>
          </a:p>
          <a:p/>
          <a:p>
            <a:r>
              <a:t>Prepared by Rubicube Creative Strategic Discussion Draft</a:t>
            </a:r>
          </a:p>
          <a:p/>
          <a:p>
            <a:r>
              <a:t>Design direction: Deep forest-green or charcoal editorial cover, strong typography, and actual TANRISE project photography.</a:t>
            </a:r>
          </a:p>
          <a:p/>
          <a:p>
            <a:r>
              <a:t>SOURCE HYPERLINKS (as embedded in Mario’s PDF; not independently reverified)</a:t>
            </a:r>
          </a:p>
          <a:p/>
          <a:p/>
          <a:p>
            <a:r>
              <a:t>BRIEF PREAMBLE</a:t>
            </a:r>
          </a:p>
          <a:p>
            <a:r>
              <a:t>TANRISE PROPERTY</a:t>
            </a:r>
          </a:p>
          <a:p>
            <a:r>
              <a:t>Corporate Research, Competitive Intelligence &amp; Brand Transformation Strategy 2026–2035</a:t>
            </a:r>
          </a:p>
          <a:p>
            <a:r>
              <a:t>Leadership Presentation — 40 Slides</a:t>
            </a:r>
          </a:p>
          <a:p>
            <a:r>
              <a:t>Prepared for Pak Hermanto, Bu Devina, and the TANRISE leadership team Prepared by Rubicube Creative</a:t>
            </a:r>
          </a:p>
          <a:p>
            <a:r>
              <a:t>Portfolio reference: Client investor presentation dated 20 July 2026, client brand portfolio strategy, and official corporate sources.</a:t>
            </a:r>
          </a:p>
          <a:p/>
          <a:p>
            <a:r>
              <a:t>IMAGE: Existing repository asset SLIDE 1/TANRISE.png. Project identity unverified. Used only as an illustrative rendering.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02 — The Ambition</a:t>
            </a:r>
          </a:p>
          <a:p>
            <a:r>
              <a:t>Document pages: 1, 2</a:t>
            </a:r>
          </a:p>
          <a:p/>
          <a:p>
            <a:r>
              <a:t>COMPLETE SOURCE TEXT</a:t>
            </a:r>
          </a:p>
          <a:p>
            <a:r>
              <a:t>From a Growing Developer to Indonesia’s Top Five.</a:t>
            </a:r>
          </a:p>
          <a:p/>
          <a:p>
            <a:r>
              <a:t>TANRISE’s ambition is to become one of Indonesia’s top five publicly listed property developers by 2035, measured by revenue and net profit attributable to owners of the parent.</a:t>
            </a:r>
          </a:p>
          <a:p/>
          <a:p>
            <a:r>
              <a:t>Achieving this requires a stronger business capable of sustained growth, dependable earnings, disciplined investment, and long-term value creation.</a:t>
            </a:r>
          </a:p>
          <a:p/>
          <a:p>
            <a:r>
              <a:t>Ambition | Meaning</a:t>
            </a:r>
          </a:p>
          <a:p/>
          <a:p>
            <a:r>
              <a:t>Leading | Compete at national scale</a:t>
            </a:r>
          </a:p>
          <a:p/>
          <a:p>
            <a:r>
              <a:t>Trusted | Earn confidence through delivery</a:t>
            </a:r>
          </a:p>
          <a:p/>
          <a:p>
            <a:r>
              <a:t>Best Concept | Create developments that answer real needs</a:t>
            </a:r>
          </a:p>
          <a:p/>
          <a:p>
            <a:r>
              <a:t>The client’s current vision is to become a leading and trusted property developer delivering the best concepts.</a:t>
            </a:r>
          </a:p>
          <a:p/>
          <a:p>
            <a:r>
              <a:t>The proposed transformation builds on this foundation by connecting portfolio growth, customer experience, asset productivity, and corporate reputation.</a:t>
            </a:r>
          </a:p>
          <a:p/>
          <a:p>
            <a:r>
              <a:t>Core message: Top Five is a business transformation ambition requiring alignment between corporate strategy, brand strategy, and operational execution.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02 — The Ambition</a:t>
            </a:r>
          </a:p>
          <a:p>
            <a:r>
              <a:t>Document pages: 1, 2</a:t>
            </a:r>
          </a:p>
          <a:p/>
          <a:p>
            <a:r>
              <a:t>COMPLETE SOURCE TEXT</a:t>
            </a:r>
          </a:p>
          <a:p>
            <a:r>
              <a:t>From a Growing Developer to Indonesia’s Top Five.</a:t>
            </a:r>
          </a:p>
          <a:p/>
          <a:p>
            <a:r>
              <a:t>TANRISE’s ambition is to become one of Indonesia’s top five publicly listed property developers by 2035, measured by revenue and net profit attributable to owners of the parent.</a:t>
            </a:r>
          </a:p>
          <a:p/>
          <a:p>
            <a:r>
              <a:t>Achieving this requires a stronger business capable of sustained growth, dependable earnings, disciplined investment, and long-term value creation.</a:t>
            </a:r>
          </a:p>
          <a:p/>
          <a:p>
            <a:r>
              <a:t>Ambition | Meaning</a:t>
            </a:r>
          </a:p>
          <a:p/>
          <a:p>
            <a:r>
              <a:t>Leading | Compete at national scale</a:t>
            </a:r>
          </a:p>
          <a:p/>
          <a:p>
            <a:r>
              <a:t>Trusted | Earn confidence through delivery</a:t>
            </a:r>
          </a:p>
          <a:p/>
          <a:p>
            <a:r>
              <a:t>Best Concept | Create developments that answer real needs</a:t>
            </a:r>
          </a:p>
          <a:p/>
          <a:p>
            <a:r>
              <a:t>The client’s current vision is to become a leading and trusted property developer delivering the best concepts.</a:t>
            </a:r>
          </a:p>
          <a:p/>
          <a:p>
            <a:r>
              <a:t>The proposed transformation builds on this foundation by connecting portfolio growth, customer experience, asset productivity, and corporate reputation.</a:t>
            </a:r>
          </a:p>
          <a:p/>
          <a:p>
            <a:r>
              <a:t>Core message: Top Five is a business transformation ambition requiring alignment between corporate strategy, brand strategy, and operational execution.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03 — Who Is TANRISE Today?</a:t>
            </a:r>
          </a:p>
          <a:p>
            <a:r>
              <a:t>Document pages: 2, 3</a:t>
            </a:r>
          </a:p>
          <a:p/>
          <a:p>
            <a:r>
              <a:t>COMPLETE SOURCE TEXT</a:t>
            </a:r>
          </a:p>
          <a:p>
            <a:r>
              <a:t>One Property Platform. Five Documented Business Pillars.</a:t>
            </a:r>
          </a:p>
          <a:p/>
          <a:p>
            <a:r>
              <a:t>Founded in Sidoarjo in 2003, TANRISE has expanded from warehouses and shophouses into residential communities, commercial destinations, industrial developments, integrated townships, and hospitality assets.</a:t>
            </a:r>
          </a:p>
          <a:p/>
          <a:p>
            <a:r>
              <a:t>The listed corporate entity is PT Jaya Sukses Makmur Sentosa Tbk — RISE.</a:t>
            </a:r>
          </a:p>
          <a:p/>
          <a:p>
            <a:r>
              <a:t>The client’s investor presentation identifies five business pillars:</a:t>
            </a:r>
          </a:p>
          <a:p/>
          <a:p>
            <a:r>
              <a:t>Business pillar | Portfolio examples</a:t>
            </a:r>
          </a:p>
          <a:p/>
          <a:p>
            <a:r>
              <a:t>Integrated City | Tanrise Taman Dayu Pandaan; Tanrise Bandung; Tanrise City Sidoarjo; Swiss of Taman Dayu Pandaan</a:t>
            </a:r>
          </a:p>
          <a:p/>
          <a:p>
            <a:r>
              <a:t>Community Living | Kyo Society; Grand Sunrise Menganti; Sunrise Residence Sidoarjo; Malang residential development</a:t>
            </a:r>
          </a:p>
          <a:p/>
          <a:p>
            <a:r>
              <a:t>Business Districts | Voza Tower; Rame-Rame; Grand Central Bandung</a:t>
            </a:r>
          </a:p>
          <a:p/>
          <a:p>
            <a:r>
              <a:t>Logistic &amp; Industrial Park | Tritan warehouse developments; Tanrise Industrial Park Palembang; Tanrise Industrial Park Banjarbaru</a:t>
            </a:r>
          </a:p>
          <a:p/>
          <a:p>
            <a:r>
              <a:t>Hotel, MICE, and Leisure | Vasa Hotel Surabaya; Vasa Suite Surabaya; Solaris assets; Cleo Business Hotels; Golf Taman Dayu; Driving Range</a:t>
            </a:r>
          </a:p>
          <a:p/>
          <a:p>
            <a:r>
              <a:t>The wider client materials also identify ARC100, Midpoint Kayoon, and Bali Bites.</a:t>
            </a:r>
          </a:p>
          <a:p/>
          <a:p>
            <a:r>
              <a:t>Portfolio principle: Present existing assets and future developments together, with their status clearly distinguished.</a:t>
            </a:r>
          </a:p>
          <a:p/>
          <a:p>
            <a:r>
              <a:t>Design direction: Five-pillar portfolio diagram supported by real project imagery.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03 — Who Is TANRISE Today?</a:t>
            </a:r>
          </a:p>
          <a:p>
            <a:r>
              <a:t>Document pages: 2, 3</a:t>
            </a:r>
          </a:p>
          <a:p/>
          <a:p>
            <a:r>
              <a:t>COMPLETE SOURCE TEXT</a:t>
            </a:r>
          </a:p>
          <a:p>
            <a:r>
              <a:t>One Property Platform. Five Documented Business Pillars.</a:t>
            </a:r>
          </a:p>
          <a:p/>
          <a:p>
            <a:r>
              <a:t>Founded in Sidoarjo in 2003, TANRISE has expanded from warehouses and shophouses into residential communities, commercial destinations, industrial developments, integrated townships, and hospitality assets.</a:t>
            </a:r>
          </a:p>
          <a:p/>
          <a:p>
            <a:r>
              <a:t>The listed corporate entity is PT Jaya Sukses Makmur Sentosa Tbk — RISE.</a:t>
            </a:r>
          </a:p>
          <a:p/>
          <a:p>
            <a:r>
              <a:t>The client’s investor presentation identifies five business pillars:</a:t>
            </a:r>
          </a:p>
          <a:p/>
          <a:p>
            <a:r>
              <a:t>Business pillar | Portfolio examples</a:t>
            </a:r>
          </a:p>
          <a:p/>
          <a:p>
            <a:r>
              <a:t>Integrated City | Tanrise Taman Dayu Pandaan; Tanrise Bandung; Tanrise City Sidoarjo; Swiss of Taman Dayu Pandaan</a:t>
            </a:r>
          </a:p>
          <a:p/>
          <a:p>
            <a:r>
              <a:t>Community Living | Kyo Society; Grand Sunrise Menganti; Sunrise Residence Sidoarjo; Malang residential development</a:t>
            </a:r>
          </a:p>
          <a:p/>
          <a:p>
            <a:r>
              <a:t>Business Districts | Voza Tower; Rame-Rame; Grand Central Bandung</a:t>
            </a:r>
          </a:p>
          <a:p/>
          <a:p>
            <a:r>
              <a:t>Logistic &amp; Industrial Park | Tritan warehouse developments; Tanrise Industrial Park Palembang; Tanrise Industrial Park Banjarbaru</a:t>
            </a:r>
          </a:p>
          <a:p/>
          <a:p>
            <a:r>
              <a:t>Hotel, MICE, and Leisure | Vasa Hotel Surabaya; Vasa Suite Surabaya; Solaris assets; Cleo Business Hotels; Golf Taman Dayu; Driving Range</a:t>
            </a:r>
          </a:p>
          <a:p/>
          <a:p>
            <a:r>
              <a:t>The wider client materials also identify ARC100, Midpoint Kayoon, and Bali Bites.</a:t>
            </a:r>
          </a:p>
          <a:p/>
          <a:p>
            <a:r>
              <a:t>Portfolio principle: Present existing assets and future developments together, with their status clearly distinguished.</a:t>
            </a:r>
          </a:p>
          <a:p/>
          <a:p>
            <a:r>
              <a:t>Design direction: Five-pillar portfolio diagram supported by real project imagery.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04 — TANRISE’s Evolution</a:t>
            </a:r>
          </a:p>
          <a:p>
            <a:r>
              <a:t>Document pages: 3, 4</a:t>
            </a:r>
          </a:p>
          <a:p/>
          <a:p>
            <a:r>
              <a:t>COMPLETE SOURCE TEXT</a:t>
            </a:r>
          </a:p>
          <a:p>
            <a:r>
              <a:t>From Individual Projects to a Broader Development Platform.</a:t>
            </a:r>
          </a:p>
          <a:p/>
          <a:p>
            <a:r>
              <a:t>Period | Development stage | Portfolio development</a:t>
            </a:r>
          </a:p>
          <a:p/>
          <a:p>
            <a:r>
              <a:t>2003–2013 | Establishing the foundation | Warehouse and shophouse development; Tritan locations; Grand Sunrise; early Solaris hospitality developments</a:t>
            </a:r>
          </a:p>
          <a:p/>
          <a:p>
            <a:r>
              <a:t>2015–2020 | Expanding capabilities | Cleo Business Hotels; Vasa Hotel Surabaya; Voza Tower; ARC100 development; Kyo Society introduction; the 2018 IPO</a:t>
            </a:r>
          </a:p>
          <a:p/>
          <a:p>
            <a:r>
              <a:t>2021–2026 | Broadening the portfolio | TritanHub; ARC100 milestones; Kyo Society handover; Jumana Residence; Taman Dayu development; Vasa Suite Surabaya; Solaris villa expansion; commercial and industrial pipeline</a:t>
            </a:r>
          </a:p>
          <a:p/>
          <a:p>
            <a:r>
              <a:t>2027–2035 | Proposed next chapter | Scale validated development models, improve retained-asset performance, strengthen recurring income, and coordinate integrated destinations</a:t>
            </a:r>
          </a:p>
          <a:p/>
          <a:p>
            <a:r>
              <a:t>The Current Pipeline Extends Across Several Sectors</a:t>
            </a:r>
          </a:p>
          <a:p/>
          <a:p>
            <a:r>
              <a:t>● Tanrise Bandung. ● Tanrise City Sidoarjo. ● Swiss of Taman Dayu Pandaan. ● Malang residential development. ● Grand Central Bandung. ● Tanrise Industrial Park Palembang. ● Tanrise Industrial Park Banjarbaru. ● Tritan Gresik. ● Tritan Gempol Pasuruan. ● VASA Ubud. ● VASA Bromo. ● VASA Canggu. ● VASA Malang. ● GOED Malang.</a:t>
            </a:r>
          </a:p>
          <a:p/>
          <a:p>
            <a:r>
              <a:t>Strategic implication: The next phase should combine portfolio expansion with greater productivity, clearer positioning, and stronger execution across existing and future projects.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04 — TANRISE’s Evolution</a:t>
            </a:r>
          </a:p>
          <a:p>
            <a:r>
              <a:t>Document pages: 3, 4</a:t>
            </a:r>
          </a:p>
          <a:p/>
          <a:p>
            <a:r>
              <a:t>COMPLETE SOURCE TEXT</a:t>
            </a:r>
          </a:p>
          <a:p>
            <a:r>
              <a:t>From Individual Projects to a Broader Development Platform.</a:t>
            </a:r>
          </a:p>
          <a:p/>
          <a:p>
            <a:r>
              <a:t>Period | Development stage | Portfolio development</a:t>
            </a:r>
          </a:p>
          <a:p/>
          <a:p>
            <a:r>
              <a:t>2003–2013 | Establishing the foundation | Warehouse and shophouse development; Tritan locations; Grand Sunrise; early Solaris hospitality developments</a:t>
            </a:r>
          </a:p>
          <a:p/>
          <a:p>
            <a:r>
              <a:t>2015–2020 | Expanding capabilities | Cleo Business Hotels; Vasa Hotel Surabaya; Voza Tower; ARC100 development; Kyo Society introduction; the 2018 IPO</a:t>
            </a:r>
          </a:p>
          <a:p/>
          <a:p>
            <a:r>
              <a:t>2021–2026 | Broadening the portfolio | TritanHub; ARC100 milestones; Kyo Society handover; Jumana Residence; Taman Dayu development; Vasa Suite Surabaya; Solaris villa expansion; commercial and industrial pipeline</a:t>
            </a:r>
          </a:p>
          <a:p/>
          <a:p>
            <a:r>
              <a:t>2027–2035 | Proposed next chapter | Scale validated development models, improve retained-asset performance, strengthen recurring income, and coordinate integrated destinations</a:t>
            </a:r>
          </a:p>
          <a:p/>
          <a:p>
            <a:r>
              <a:t>The Current Pipeline Extends Across Several Sectors</a:t>
            </a:r>
          </a:p>
          <a:p/>
          <a:p>
            <a:r>
              <a:t>● Tanrise Bandung. ● Tanrise City Sidoarjo. ● Swiss of Taman Dayu Pandaan. ● Malang residential development. ● Grand Central Bandung. ● Tanrise Industrial Park Palembang. ● Tanrise Industrial Park Banjarbaru. ● Tritan Gresik. ● Tritan Gempol Pasuruan. ● VASA Ubud. ● VASA Bromo. ● VASA Canggu. ● VASA Malang. ● GOED Malang.</a:t>
            </a:r>
          </a:p>
          <a:p/>
          <a:p>
            <a:r>
              <a:t>Strategic implication: The next phase should combine portfolio expansion with greater productivity, clearer positioning, and stronger execution across existing and future projects.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04 — TANRISE’s Evolution</a:t>
            </a:r>
          </a:p>
          <a:p>
            <a:r>
              <a:t>Document pages: 3, 4</a:t>
            </a:r>
          </a:p>
          <a:p/>
          <a:p>
            <a:r>
              <a:t>COMPLETE SOURCE TEXT</a:t>
            </a:r>
          </a:p>
          <a:p>
            <a:r>
              <a:t>From Individual Projects to a Broader Development Platform.</a:t>
            </a:r>
          </a:p>
          <a:p/>
          <a:p>
            <a:r>
              <a:t>Period | Development stage | Portfolio development</a:t>
            </a:r>
          </a:p>
          <a:p/>
          <a:p>
            <a:r>
              <a:t>2003–2013 | Establishing the foundation | Warehouse and shophouse development; Tritan locations; Grand Sunrise; early Solaris hospitality developments</a:t>
            </a:r>
          </a:p>
          <a:p/>
          <a:p>
            <a:r>
              <a:t>2015–2020 | Expanding capabilities | Cleo Business Hotels; Vasa Hotel Surabaya; Voza Tower; ARC100 development; Kyo Society introduction; the 2018 IPO</a:t>
            </a:r>
          </a:p>
          <a:p/>
          <a:p>
            <a:r>
              <a:t>2021–2026 | Broadening the portfolio | TritanHub; ARC100 milestones; Kyo Society handover; Jumana Residence; Taman Dayu development; Vasa Suite Surabaya; Solaris villa expansion; commercial and industrial pipeline</a:t>
            </a:r>
          </a:p>
          <a:p/>
          <a:p>
            <a:r>
              <a:t>2027–2035 | Proposed next chapter | Scale validated development models, improve retained-asset performance, strengthen recurring income, and coordinate integrated destinations</a:t>
            </a:r>
          </a:p>
          <a:p/>
          <a:p>
            <a:r>
              <a:t>The Current Pipeline Extends Across Several Sectors</a:t>
            </a:r>
          </a:p>
          <a:p/>
          <a:p>
            <a:r>
              <a:t>● Tanrise Bandung. ● Tanrise City Sidoarjo. ● Swiss of Taman Dayu Pandaan. ● Malang residential development. ● Grand Central Bandung. ● Tanrise Industrial Park Palembang. ● Tanrise Industrial Park Banjarbaru. ● Tritan Gresik. ● Tritan Gempol Pasuruan. ● VASA Ubud. ● VASA Bromo. ● VASA Canggu. ● VASA Malang. ● GOED Malang.</a:t>
            </a:r>
          </a:p>
          <a:p/>
          <a:p>
            <a:r>
              <a:t>Strategic implication: The next phase should combine portfolio expansion with greater productivity, clearer positioning, and stronger execution across existing and future projects.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04 — TANRISE’s Evolution</a:t>
            </a:r>
          </a:p>
          <a:p>
            <a:r>
              <a:t>Document pages: 3, 4</a:t>
            </a:r>
          </a:p>
          <a:p/>
          <a:p>
            <a:r>
              <a:t>COMPLETE SOURCE TEXT</a:t>
            </a:r>
          </a:p>
          <a:p>
            <a:r>
              <a:t>From Individual Projects to a Broader Development Platform.</a:t>
            </a:r>
          </a:p>
          <a:p/>
          <a:p>
            <a:r>
              <a:t>Period | Development stage | Portfolio development</a:t>
            </a:r>
          </a:p>
          <a:p/>
          <a:p>
            <a:r>
              <a:t>2003–2013 | Establishing the foundation | Warehouse and shophouse development; Tritan locations; Grand Sunrise; early Solaris hospitality developments</a:t>
            </a:r>
          </a:p>
          <a:p/>
          <a:p>
            <a:r>
              <a:t>2015–2020 | Expanding capabilities | Cleo Business Hotels; Vasa Hotel Surabaya; Voza Tower; ARC100 development; Kyo Society introduction; the 2018 IPO</a:t>
            </a:r>
          </a:p>
          <a:p/>
          <a:p>
            <a:r>
              <a:t>2021–2026 | Broadening the portfolio | TritanHub; ARC100 milestones; Kyo Society handover; Jumana Residence; Taman Dayu development; Vasa Suite Surabaya; Solaris villa expansion; commercial and industrial pipeline</a:t>
            </a:r>
          </a:p>
          <a:p/>
          <a:p>
            <a:r>
              <a:t>2027–2035 | Proposed next chapter | Scale validated development models, improve retained-asset performance, strengthen recurring income, and coordinate integrated destinations</a:t>
            </a:r>
          </a:p>
          <a:p/>
          <a:p>
            <a:r>
              <a:t>The Current Pipeline Extends Across Several Sectors</a:t>
            </a:r>
          </a:p>
          <a:p/>
          <a:p>
            <a:r>
              <a:t>● Tanrise Bandung. ● Tanrise City Sidoarjo. ● Swiss of Taman Dayu Pandaan. ● Malang residential development. ● Grand Central Bandung. ● Tanrise Industrial Park Palembang. ● Tanrise Industrial Park Banjarbaru. ● Tritan Gresik. ● Tritan Gempol Pasuruan. ● VASA Ubud. ● VASA Bromo. ● VASA Canggu. ● VASA Malang. ● GOED Malang.</a:t>
            </a:r>
          </a:p>
          <a:p/>
          <a:p>
            <a:r>
              <a:t>Strategic implication: The next phase should combine portfolio expansion with greater productivity, clearer positioning, and stronger execution across existing and future projects.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05 — Where TANRISE Stands Financially</a:t>
            </a:r>
          </a:p>
          <a:p>
            <a:r>
              <a:t>Document pages: 5</a:t>
            </a:r>
          </a:p>
          <a:p/>
          <a:p>
            <a:r>
              <a:t>COMPLETE SOURCE TEXT</a:t>
            </a:r>
          </a:p>
          <a:p>
            <a:r>
              <a:t>The Growth Gap Is Significant.</a:t>
            </a:r>
          </a:p>
          <a:p/>
          <a:p>
            <a:r>
              <a:t>TANRISE’s FY2025 financial baseline:</a:t>
            </a:r>
          </a:p>
          <a:p/>
          <a:p>
            <a:r>
              <a:t>Financial measure | FY2025</a:t>
            </a:r>
          </a:p>
          <a:p/>
          <a:p>
            <a:r>
              <a:t>Consolidated revenue | Approximately Rp410.7 billion</a:t>
            </a:r>
          </a:p>
          <a:p/>
          <a:p>
            <a:r>
              <a:t>Net profit attributable to owners of the parent | Approximately Rp87.2 billion</a:t>
            </a:r>
          </a:p>
          <a:p/>
          <a:p>
            <a:r>
              <a:t>These figures reconcile with the audited FY2025 financial statements.</a:t>
            </a:r>
          </a:p>
          <a:p/>
          <a:p>
            <a:r>
              <a:t>The revenue gap to Summarecon’s reported FY2025 revenue of approximately Rp8.77 trillion is around 21 times.</a:t>
            </a:r>
          </a:p>
          <a:p/>
          <a:p>
            <a:r>
              <a:t>Closing a gap of this magnitude would require sustained growth, substantial portfolio expansion, improved asset productivity, or a combination of these.</a:t>
            </a:r>
          </a:p>
          <a:p/>
          <a:p>
            <a:r>
              <a:t>What the Portfolio Pipeline Must Demonstrate</a:t>
            </a:r>
          </a:p>
          <a:p/>
          <a:p>
            <a:r>
              <a:t>● Which projects contribute development revenue. ● Which assets generate continuing operating income. ● When revenue and cash flow are expected to materialise. ● How much capital each initiative requires. ● How ownership interests affect attributable earnings. ● Whether the operating organisation can support expansion.</a:t>
            </a:r>
          </a:p>
          <a:p/>
          <a:p>
            <a:r>
              <a:t>Important distinction: Historical comparisons do not establish the financial threshold required to rank among the Top Five in 2035.</a:t>
            </a:r>
          </a:p>
          <a:p/>
          <a:p>
            <a:r>
              <a:t>Design direction: Same-year revenue comparison accompanied by a clearly labelled project-contribution timeline.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05 — Where TANRISE Stands Financially</a:t>
            </a:r>
          </a:p>
          <a:p>
            <a:r>
              <a:t>Document pages: 5</a:t>
            </a:r>
          </a:p>
          <a:p/>
          <a:p>
            <a:r>
              <a:t>COMPLETE SOURCE TEXT</a:t>
            </a:r>
          </a:p>
          <a:p>
            <a:r>
              <a:t>The Growth Gap Is Significant.</a:t>
            </a:r>
          </a:p>
          <a:p/>
          <a:p>
            <a:r>
              <a:t>TANRISE’s FY2025 financial baseline:</a:t>
            </a:r>
          </a:p>
          <a:p/>
          <a:p>
            <a:r>
              <a:t>Financial measure | FY2025</a:t>
            </a:r>
          </a:p>
          <a:p/>
          <a:p>
            <a:r>
              <a:t>Consolidated revenue | Approximately Rp410.7 billion</a:t>
            </a:r>
          </a:p>
          <a:p/>
          <a:p>
            <a:r>
              <a:t>Net profit attributable to owners of the parent | Approximately Rp87.2 billion</a:t>
            </a:r>
          </a:p>
          <a:p/>
          <a:p>
            <a:r>
              <a:t>These figures reconcile with the audited FY2025 financial statements.</a:t>
            </a:r>
          </a:p>
          <a:p/>
          <a:p>
            <a:r>
              <a:t>The revenue gap to Summarecon’s reported FY2025 revenue of approximately Rp8.77 trillion is around 21 times.</a:t>
            </a:r>
          </a:p>
          <a:p/>
          <a:p>
            <a:r>
              <a:t>Closing a gap of this magnitude would require sustained growth, substantial portfolio expansion, improved asset productivity, or a combination of these.</a:t>
            </a:r>
          </a:p>
          <a:p/>
          <a:p>
            <a:r>
              <a:t>What the Portfolio Pipeline Must Demonstrate</a:t>
            </a:r>
          </a:p>
          <a:p/>
          <a:p>
            <a:r>
              <a:t>● Which projects contribute development revenue. ● Which assets generate continuing operating income. ● When revenue and cash flow are expected to materialise. ● How much capital each initiative requires. ● How ownership interests affect attributable earnings. ● Whether the operating organisation can support expansion.</a:t>
            </a:r>
          </a:p>
          <a:p/>
          <a:p>
            <a:r>
              <a:t>Important distinction: Historical comparisons do not establish the financial threshold required to rank among the Top Five in 2035.</a:t>
            </a:r>
          </a:p>
          <a:p/>
          <a:p>
            <a:r>
              <a:t>Design direction: Same-year revenue comparison accompanied by a clearly labelled project-contribution timeline.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06 — The Central Diagnosis</a:t>
            </a:r>
          </a:p>
          <a:p>
            <a:r>
              <a:t>Document pages: 6</a:t>
            </a:r>
          </a:p>
          <a:p/>
          <a:p>
            <a:r>
              <a:t>COMPLETE SOURCE TEXT</a:t>
            </a:r>
          </a:p>
          <a:p>
            <a:r>
              <a:t>A Diversified Portfolio Creates Opportunity—and Demands Coordination.</a:t>
            </a:r>
          </a:p>
          <a:p/>
          <a:p>
            <a:r>
              <a:t>TANRISE already has a broad portfolio and development pipeline. The strategic question is how effectively these assets work together.</a:t>
            </a:r>
          </a:p>
          <a:p/>
          <a:p>
            <a:r>
              <a:t>Strategic question | Potential consequence if unresolved</a:t>
            </a:r>
          </a:p>
          <a:p/>
          <a:p>
            <a:r>
              <a:t>Are corporate, destination, project, and operating-brand relationships clear? | Fragmented recognition and unclear accountability</a:t>
            </a:r>
          </a:p>
          <a:p/>
          <a:p>
            <a:r>
              <a:t>Are existing and proposed project names consistently applied? | Customer confusion and duplicate portfolio reporting</a:t>
            </a:r>
          </a:p>
          <a:p/>
          <a:p>
            <a:r>
              <a:t>Do business units share relevant customers, partners, and opportunities? | Missed commercial synergies</a:t>
            </a:r>
          </a:p>
          <a:p/>
          <a:p>
            <a:r>
              <a:t>Are retained assets optimised? | Underdeveloped recurring income</a:t>
            </a:r>
          </a:p>
          <a:p/>
          <a:p>
            <a:r>
              <a:t>Are customer and service standards consistent? Uneven trust and experience</a:t>
            </a:r>
          </a:p>
          <a:p/>
          <a:p>
            <a:r>
              <a:t>Are investments evaluated through a common framework? | Unclear priorities and inefficient capital allocation</a:t>
            </a:r>
          </a:p>
          <a:p/>
          <a:p>
            <a:r>
              <a:t>These are strategic hypotheses for validation.</a:t>
            </a:r>
          </a:p>
          <a:p/>
          <a:p>
            <a:r>
              <a:t>The differences between the investor and brand portfolio decks demonstrate the need for one approved portfolio register covering names, status, ownership, operating responsibility, and naming transitions.</a:t>
            </a:r>
          </a:p>
          <a:p/>
          <a:p>
            <a:r>
              <a:t>Recommendation: Validate the diagnosis through financial analysis, operational interviews, customer research, and project audits.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06 — The Central Diagnosis</a:t>
            </a:r>
          </a:p>
          <a:p>
            <a:r>
              <a:t>Document pages: 6</a:t>
            </a:r>
          </a:p>
          <a:p/>
          <a:p>
            <a:r>
              <a:t>COMPLETE SOURCE TEXT</a:t>
            </a:r>
          </a:p>
          <a:p>
            <a:r>
              <a:t>A Diversified Portfolio Creates Opportunity—and Demands Coordination.</a:t>
            </a:r>
          </a:p>
          <a:p/>
          <a:p>
            <a:r>
              <a:t>TANRISE already has a broad portfolio and development pipeline. The strategic question is how effectively these assets work together.</a:t>
            </a:r>
          </a:p>
          <a:p/>
          <a:p>
            <a:r>
              <a:t>Strategic question | Potential consequence if unresolved</a:t>
            </a:r>
          </a:p>
          <a:p/>
          <a:p>
            <a:r>
              <a:t>Are corporate, destination, project, and operating-brand relationships clear? | Fragmented recognition and unclear accountability</a:t>
            </a:r>
          </a:p>
          <a:p/>
          <a:p>
            <a:r>
              <a:t>Are existing and proposed project names consistently applied? | Customer confusion and duplicate portfolio reporting</a:t>
            </a:r>
          </a:p>
          <a:p/>
          <a:p>
            <a:r>
              <a:t>Do business units share relevant customers, partners, and opportunities? | Missed commercial synergies</a:t>
            </a:r>
          </a:p>
          <a:p/>
          <a:p>
            <a:r>
              <a:t>Are retained assets optimised? | Underdeveloped recurring income</a:t>
            </a:r>
          </a:p>
          <a:p/>
          <a:p>
            <a:r>
              <a:t>Are customer and service standards consistent? Uneven trust and experience</a:t>
            </a:r>
          </a:p>
          <a:p/>
          <a:p>
            <a:r>
              <a:t>Are investments evaluated through a common framework? | Unclear priorities and inefficient capital allocation</a:t>
            </a:r>
          </a:p>
          <a:p/>
          <a:p>
            <a:r>
              <a:t>These are strategic hypotheses for validation.</a:t>
            </a:r>
          </a:p>
          <a:p/>
          <a:p>
            <a:r>
              <a:t>The differences between the investor and brand portfolio decks demonstrate the need for one approved portfolio register covering names, status, ownership, operating responsibility, and naming transitions.</a:t>
            </a:r>
          </a:p>
          <a:p/>
          <a:p>
            <a:r>
              <a:t>Recommendation: Validate the diagnosis through financial analysis, operational interviews, customer research, and project audits.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06 — The Central Diagnosis</a:t>
            </a:r>
          </a:p>
          <a:p>
            <a:r>
              <a:t>Document pages: 6</a:t>
            </a:r>
          </a:p>
          <a:p/>
          <a:p>
            <a:r>
              <a:t>COMPLETE SOURCE TEXT</a:t>
            </a:r>
          </a:p>
          <a:p>
            <a:r>
              <a:t>A Diversified Portfolio Creates Opportunity—and Demands Coordination.</a:t>
            </a:r>
          </a:p>
          <a:p/>
          <a:p>
            <a:r>
              <a:t>TANRISE already has a broad portfolio and development pipeline. The strategic question is how effectively these assets work together.</a:t>
            </a:r>
          </a:p>
          <a:p/>
          <a:p>
            <a:r>
              <a:t>Strategic question | Potential consequence if unresolved</a:t>
            </a:r>
          </a:p>
          <a:p/>
          <a:p>
            <a:r>
              <a:t>Are corporate, destination, project, and operating-brand relationships clear? | Fragmented recognition and unclear accountability</a:t>
            </a:r>
          </a:p>
          <a:p/>
          <a:p>
            <a:r>
              <a:t>Are existing and proposed project names consistently applied? | Customer confusion and duplicate portfolio reporting</a:t>
            </a:r>
          </a:p>
          <a:p/>
          <a:p>
            <a:r>
              <a:t>Do business units share relevant customers, partners, and opportunities? | Missed commercial synergies</a:t>
            </a:r>
          </a:p>
          <a:p/>
          <a:p>
            <a:r>
              <a:t>Are retained assets optimised? | Underdeveloped recurring income</a:t>
            </a:r>
          </a:p>
          <a:p/>
          <a:p>
            <a:r>
              <a:t>Are customer and service standards consistent? Uneven trust and experience</a:t>
            </a:r>
          </a:p>
          <a:p/>
          <a:p>
            <a:r>
              <a:t>Are investments evaluated through a common framework? | Unclear priorities and inefficient capital allocation</a:t>
            </a:r>
          </a:p>
          <a:p/>
          <a:p>
            <a:r>
              <a:t>These are strategic hypotheses for validation.</a:t>
            </a:r>
          </a:p>
          <a:p/>
          <a:p>
            <a:r>
              <a:t>The differences between the investor and brand portfolio decks demonstrate the need for one approved portfolio register covering names, status, ownership, operating responsibility, and naming transitions.</a:t>
            </a:r>
          </a:p>
          <a:p/>
          <a:p>
            <a:r>
              <a:t>Recommendation: Validate the diagnosis through financial analysis, operational interviews, customer research, and project audits.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07 — The Transformation Opportunity</a:t>
            </a:r>
          </a:p>
          <a:p>
            <a:r>
              <a:t>Document pages: 7</a:t>
            </a:r>
          </a:p>
          <a:p/>
          <a:p>
            <a:r>
              <a:t>COMPLETE SOURCE TEXT</a:t>
            </a:r>
          </a:p>
          <a:p>
            <a:r>
              <a:t>Create More Value Across the Full Life of Each Development.</a:t>
            </a:r>
          </a:p>
          <a:p/>
          <a:p>
            <a:r>
              <a:t>Traditional development cycle</a:t>
            </a:r>
          </a:p>
          <a:p/>
          <a:p>
            <a:r>
              <a:t>Land Acquisition → Development → Marketing → Sales → Handover</a:t>
            </a:r>
          </a:p>
          <a:p/>
          <a:p>
            <a:r>
              <a:t>Proposed continuing-value cycle</a:t>
            </a:r>
          </a:p>
          <a:p/>
          <a:p>
            <a:r>
              <a:t>Development → Activation → Occupancy → Experience → Management → Recurring Value</a:t>
            </a:r>
          </a:p>
          <a:p/>
          <a:p>
            <a:r>
              <a:t>Application Across TANRISE</a:t>
            </a:r>
          </a:p>
          <a:p/>
          <a:p>
            <a:r>
              <a:t>● Integrated City: Coordinate residential, commercial, leisure, infrastructure, and</a:t>
            </a:r>
          </a:p>
          <a:p/>
          <a:p>
            <a:r>
              <a:t>partner-led facilities. ● Community Living: Build trust through relevant housing concepts, delivery, and</a:t>
            </a:r>
          </a:p>
          <a:p/>
          <a:p>
            <a:r>
              <a:t>continued customer care. ● Business Districts: Improve tenant mix, occupancy, visitation, and commercial</a:t>
            </a:r>
          </a:p>
          <a:p/>
          <a:p>
            <a:r>
              <a:t>relevance. ● Logistic &amp; Industrial Park: Support occupier requirements, infrastructure</a:t>
            </a:r>
          </a:p>
          <a:p/>
          <a:p>
            <a:r>
              <a:t>readiness, and business continuity. ● Hotel, MICE, and Leisure: Improve utilisation, guest experience, operating</a:t>
            </a:r>
          </a:p>
          <a:p/>
          <a:p>
            <a:r>
              <a:t>performance, and destination appeal.</a:t>
            </a:r>
          </a:p>
          <a:p/>
          <a:p>
            <a:r>
              <a:t>Strategic thesis: TANRISE should strengthen its development capabilities while creating more long-term value from the places and assets it develops.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07 — The Transformation Opportunity</a:t>
            </a:r>
          </a:p>
          <a:p>
            <a:r>
              <a:t>Document pages: 7</a:t>
            </a:r>
          </a:p>
          <a:p/>
          <a:p>
            <a:r>
              <a:t>COMPLETE SOURCE TEXT</a:t>
            </a:r>
          </a:p>
          <a:p>
            <a:r>
              <a:t>Create More Value Across the Full Life of Each Development.</a:t>
            </a:r>
          </a:p>
          <a:p/>
          <a:p>
            <a:r>
              <a:t>Traditional development cycle</a:t>
            </a:r>
          </a:p>
          <a:p/>
          <a:p>
            <a:r>
              <a:t>Land Acquisition → Development → Marketing → Sales → Handover</a:t>
            </a:r>
          </a:p>
          <a:p/>
          <a:p>
            <a:r>
              <a:t>Proposed continuing-value cycle</a:t>
            </a:r>
          </a:p>
          <a:p/>
          <a:p>
            <a:r>
              <a:t>Development → Activation → Occupancy → Experience → Management → Recurring Value</a:t>
            </a:r>
          </a:p>
          <a:p/>
          <a:p>
            <a:r>
              <a:t>Application Across TANRISE</a:t>
            </a:r>
          </a:p>
          <a:p/>
          <a:p>
            <a:r>
              <a:t>● Integrated City: Coordinate residential, commercial, leisure, infrastructure, and</a:t>
            </a:r>
          </a:p>
          <a:p/>
          <a:p>
            <a:r>
              <a:t>partner-led facilities. ● Community Living: Build trust through relevant housing concepts, delivery, and</a:t>
            </a:r>
          </a:p>
          <a:p/>
          <a:p>
            <a:r>
              <a:t>continued customer care. ● Business Districts: Improve tenant mix, occupancy, visitation, and commercial</a:t>
            </a:r>
          </a:p>
          <a:p/>
          <a:p>
            <a:r>
              <a:t>relevance. ● Logistic &amp; Industrial Park: Support occupier requirements, infrastructure</a:t>
            </a:r>
          </a:p>
          <a:p/>
          <a:p>
            <a:r>
              <a:t>readiness, and business continuity. ● Hotel, MICE, and Leisure: Improve utilisation, guest experience, operating</a:t>
            </a:r>
          </a:p>
          <a:p/>
          <a:p>
            <a:r>
              <a:t>performance, and destination appeal.</a:t>
            </a:r>
          </a:p>
          <a:p/>
          <a:p>
            <a:r>
              <a:t>Strategic thesis: TANRISE should strengthen its development capabilities while creating more long-term value from the places and assets it develops.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08 — Define the Competitive Battlefield</a:t>
            </a:r>
          </a:p>
          <a:p>
            <a:r>
              <a:t>Document pages: 7, 8</a:t>
            </a:r>
          </a:p>
          <a:p/>
          <a:p>
            <a:r>
              <a:t>COMPLETE SOURCE TEXT</a:t>
            </a:r>
          </a:p>
          <a:p>
            <a:r>
              <a:t>The Top Five Is a Moving Target.</a:t>
            </a:r>
          </a:p>
          <a:p/>
          <a:p>
            <a:r>
              <a:t>To make the 2035 ambition measurable, TANRISE should track two parallel league tables:</a:t>
            </a:r>
          </a:p>
          <a:p/>
          <a:p>
            <a:r>
              <a:t>1. Annual consolidated revenue. 2. Net profit attributable to owners of the parent.</a:t>
            </a:r>
          </a:p>
          <a:p/>
          <a:p>
            <a:r>
              <a:t>Assets, market capitalisation, marketing sales, and recognised revenue should be reported separately.</a:t>
            </a:r>
          </a:p>
          <a:p/>
          <a:p>
            <a:r>
              <a:t>Benchmarking Principles</a:t>
            </a:r>
          </a:p>
          <a:p/>
          <a:p>
            <a:r>
              <a:t>● Define an agreed listed-property peer group. ● Use consistent accounting periods. ● Separate listed issuers from private developer groups. ● Consider related issuers and consolidation effects. ● Distinguish development income from recurring operating income. ● Compare attributable profit consistently.</a:t>
            </a:r>
          </a:p>
          <a:p/>
          <a:p>
            <a:r>
              <a:t>Strategic implication: TANRISE’s pipeline should be evaluated against the scale, timing, and earnings quality required to progress toward the ambition.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08 — Define the Competitive Battlefield</a:t>
            </a:r>
          </a:p>
          <a:p>
            <a:r>
              <a:t>Document pages: 7, 8</a:t>
            </a:r>
          </a:p>
          <a:p/>
          <a:p>
            <a:r>
              <a:t>COMPLETE SOURCE TEXT</a:t>
            </a:r>
          </a:p>
          <a:p>
            <a:r>
              <a:t>The Top Five Is a Moving Target.</a:t>
            </a:r>
          </a:p>
          <a:p/>
          <a:p>
            <a:r>
              <a:t>To make the 2035 ambition measurable, TANRISE should track two parallel league tables:</a:t>
            </a:r>
          </a:p>
          <a:p/>
          <a:p>
            <a:r>
              <a:t>1. Annual consolidated revenue. 2. Net profit attributable to owners of the parent.</a:t>
            </a:r>
          </a:p>
          <a:p/>
          <a:p>
            <a:r>
              <a:t>Assets, market capitalisation, marketing sales, and recognised revenue should be reported separately.</a:t>
            </a:r>
          </a:p>
          <a:p/>
          <a:p>
            <a:r>
              <a:t>Benchmarking Principles</a:t>
            </a:r>
          </a:p>
          <a:p/>
          <a:p>
            <a:r>
              <a:t>● Define an agreed listed-property peer group. ● Use consistent accounting periods. ● Separate listed issuers from private developer groups. ● Consider related issuers and consolidation effects. ● Distinguish development income from recurring operating income. ● Compare attributable profit consistently.</a:t>
            </a:r>
          </a:p>
          <a:p/>
          <a:p>
            <a:r>
              <a:t>Strategic implication: TANRISE’s pipeline should be evaluated against the scale, timing, and earnings quality required to progress toward the ambition.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09 — Indonesia’s Ten Largest Listed Property Developers</a:t>
            </a:r>
          </a:p>
          <a:p>
            <a:r>
              <a:t>Document pages: 8, 9</a:t>
            </a:r>
          </a:p>
          <a:p/>
          <a:p>
            <a:r>
              <a:t>COMPLETE SOURCE TEXT</a:t>
            </a:r>
          </a:p>
          <a:p>
            <a:r>
              <a:t>A Historical Baseline for Understanding Competitive Scale.</a:t>
            </a:r>
          </a:p>
          <a:p/>
          <a:p>
            <a:r>
              <a:t>The following reproduces the research draft’s FY2024 revenue baseline. It is not a verified FY2025 ranking.</a:t>
            </a:r>
          </a:p>
          <a:p/>
          <a:p>
            <a:r>
              <a:t>Rank | Listed company | FY2024 revenue, Rp trillion</a:t>
            </a:r>
          </a:p>
          <a:p/>
          <a:p>
            <a:r>
              <a:t>1 | Bumi Serpong Damai — BSDE | 13.80</a:t>
            </a:r>
          </a:p>
          <a:p/>
          <a:p>
            <a:r>
              <a:t>2 | Lippo Karawaci — LPKR | 11.35</a:t>
            </a:r>
          </a:p>
          <a:p/>
          <a:p>
            <a:r>
              <a:t>3 | Ciputra Development — CTRA | 11.19</a:t>
            </a:r>
          </a:p>
          <a:p/>
          <a:p>
            <a:r>
              <a:t>4 | Summarecon Agung — SMRA | 10.62</a:t>
            </a:r>
          </a:p>
          <a:p/>
          <a:p>
            <a:r>
              <a:t>5 | Pakuwon Jati — PWON | 6.67</a:t>
            </a:r>
          </a:p>
          <a:p/>
          <a:p>
            <a:r>
              <a:t>6 | Agung Podomoro Land — APLN | 5.68</a:t>
            </a:r>
          </a:p>
          <a:p/>
          <a:p>
            <a:r>
              <a:t>7 | Duta Pertiwi — DUTI | 4.42</a:t>
            </a:r>
          </a:p>
          <a:p/>
          <a:p>
            <a:r>
              <a:t>8 | Alam Sutera Realty — ASRI | 3.44</a:t>
            </a:r>
          </a:p>
          <a:p/>
          <a:p>
            <a:r>
              <a:t>9 | Jaya Real Property — JRPT | 2.95</a:t>
            </a:r>
          </a:p>
          <a:p/>
          <a:p>
            <a:r>
              <a:t>10 | Pantai Indah Kapuk Dua — PANI | 2.83</a:t>
            </a:r>
          </a:p>
          <a:p/>
          <a:p>
            <a:r>
              <a:t>Source cited in the original research draft: IDXChannel, 21 April 2025.</a:t>
            </a:r>
          </a:p>
          <a:p/>
          <a:p>
            <a:r>
              <a:t>Interpretation: TANRISE competes against companies with substantially greater financial scale, although their business models and revenue composition differ.</a:t>
            </a:r>
          </a:p>
          <a:p/>
          <a:p>
            <a:r>
              <a:t>Validation requirement: Reconcile the ranking and individual figures before external presentation.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09 — Indonesia’s Ten Largest Listed Property Developers</a:t>
            </a:r>
          </a:p>
          <a:p>
            <a:r>
              <a:t>Document pages: 8, 9</a:t>
            </a:r>
          </a:p>
          <a:p/>
          <a:p>
            <a:r>
              <a:t>COMPLETE SOURCE TEXT</a:t>
            </a:r>
          </a:p>
          <a:p>
            <a:r>
              <a:t>A Historical Baseline for Understanding Competitive Scale.</a:t>
            </a:r>
          </a:p>
          <a:p/>
          <a:p>
            <a:r>
              <a:t>The following reproduces the research draft’s FY2024 revenue baseline. It is not a verified FY2025 ranking.</a:t>
            </a:r>
          </a:p>
          <a:p/>
          <a:p>
            <a:r>
              <a:t>Rank | Listed company | FY2024 revenue, Rp trillion</a:t>
            </a:r>
          </a:p>
          <a:p/>
          <a:p>
            <a:r>
              <a:t>1 | Bumi Serpong Damai — BSDE | 13.80</a:t>
            </a:r>
          </a:p>
          <a:p/>
          <a:p>
            <a:r>
              <a:t>2 | Lippo Karawaci — LPKR | 11.35</a:t>
            </a:r>
          </a:p>
          <a:p/>
          <a:p>
            <a:r>
              <a:t>3 | Ciputra Development — CTRA | 11.19</a:t>
            </a:r>
          </a:p>
          <a:p/>
          <a:p>
            <a:r>
              <a:t>4 | Summarecon Agung — SMRA | 10.62</a:t>
            </a:r>
          </a:p>
          <a:p/>
          <a:p>
            <a:r>
              <a:t>5 | Pakuwon Jati — PWON | 6.67</a:t>
            </a:r>
          </a:p>
          <a:p/>
          <a:p>
            <a:r>
              <a:t>6 | Agung Podomoro Land — APLN | 5.68</a:t>
            </a:r>
          </a:p>
          <a:p/>
          <a:p>
            <a:r>
              <a:t>7 | Duta Pertiwi — DUTI | 4.42</a:t>
            </a:r>
          </a:p>
          <a:p/>
          <a:p>
            <a:r>
              <a:t>8 | Alam Sutera Realty — ASRI | 3.44</a:t>
            </a:r>
          </a:p>
          <a:p/>
          <a:p>
            <a:r>
              <a:t>9 | Jaya Real Property — JRPT | 2.95</a:t>
            </a:r>
          </a:p>
          <a:p/>
          <a:p>
            <a:r>
              <a:t>10 | Pantai Indah Kapuk Dua — PANI | 2.83</a:t>
            </a:r>
          </a:p>
          <a:p/>
          <a:p>
            <a:r>
              <a:t>Source cited in the original research draft: IDXChannel, 21 April 2025.</a:t>
            </a:r>
          </a:p>
          <a:p/>
          <a:p>
            <a:r>
              <a:t>Interpretation: TANRISE competes against companies with substantially greater financial scale, although their business models and revenue composition differ.</a:t>
            </a:r>
          </a:p>
          <a:p/>
          <a:p>
            <a:r>
              <a:t>Validation requirement: Reconcile the ranking and individual figures before external presentation.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09 — Indonesia’s Ten Largest Listed Property Developers</a:t>
            </a:r>
          </a:p>
          <a:p>
            <a:r>
              <a:t>Document pages: 8, 9</a:t>
            </a:r>
          </a:p>
          <a:p/>
          <a:p>
            <a:r>
              <a:t>COMPLETE SOURCE TEXT</a:t>
            </a:r>
          </a:p>
          <a:p>
            <a:r>
              <a:t>A Historical Baseline for Understanding Competitive Scale.</a:t>
            </a:r>
          </a:p>
          <a:p/>
          <a:p>
            <a:r>
              <a:t>The following reproduces the research draft’s FY2024 revenue baseline. It is not a verified FY2025 ranking.</a:t>
            </a:r>
          </a:p>
          <a:p/>
          <a:p>
            <a:r>
              <a:t>Rank | Listed company | FY2024 revenue, Rp trillion</a:t>
            </a:r>
          </a:p>
          <a:p/>
          <a:p>
            <a:r>
              <a:t>1 | Bumi Serpong Damai — BSDE | 13.80</a:t>
            </a:r>
          </a:p>
          <a:p/>
          <a:p>
            <a:r>
              <a:t>2 | Lippo Karawaci — LPKR | 11.35</a:t>
            </a:r>
          </a:p>
          <a:p/>
          <a:p>
            <a:r>
              <a:t>3 | Ciputra Development — CTRA | 11.19</a:t>
            </a:r>
          </a:p>
          <a:p/>
          <a:p>
            <a:r>
              <a:t>4 | Summarecon Agung — SMRA | 10.62</a:t>
            </a:r>
          </a:p>
          <a:p/>
          <a:p>
            <a:r>
              <a:t>5 | Pakuwon Jati — PWON | 6.67</a:t>
            </a:r>
          </a:p>
          <a:p/>
          <a:p>
            <a:r>
              <a:t>6 | Agung Podomoro Land — APLN | 5.68</a:t>
            </a:r>
          </a:p>
          <a:p/>
          <a:p>
            <a:r>
              <a:t>7 | Duta Pertiwi — DUTI | 4.42</a:t>
            </a:r>
          </a:p>
          <a:p/>
          <a:p>
            <a:r>
              <a:t>8 | Alam Sutera Realty — ASRI | 3.44</a:t>
            </a:r>
          </a:p>
          <a:p/>
          <a:p>
            <a:r>
              <a:t>9 | Jaya Real Property — JRPT | 2.95</a:t>
            </a:r>
          </a:p>
          <a:p/>
          <a:p>
            <a:r>
              <a:t>10 | Pantai Indah Kapuk Dua — PANI | 2.83</a:t>
            </a:r>
          </a:p>
          <a:p/>
          <a:p>
            <a:r>
              <a:t>Source cited in the original research draft: IDXChannel, 21 April 2025.</a:t>
            </a:r>
          </a:p>
          <a:p/>
          <a:p>
            <a:r>
              <a:t>Interpretation: TANRISE competes against companies with substantially greater financial scale, although their business models and revenue composition differ.</a:t>
            </a:r>
          </a:p>
          <a:p/>
          <a:p>
            <a:r>
              <a:t>Validation requirement: Reconcile the ranking and individual figures before external presentation.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10 — What Are the Leading Developers Famous For?</a:t>
            </a:r>
          </a:p>
          <a:p>
            <a:r>
              <a:t>Document pages: 9, 10, 11</a:t>
            </a:r>
          </a:p>
          <a:p/>
          <a:p>
            <a:r>
              <a:t>COMPLETE SOURCE TEXT</a:t>
            </a:r>
          </a:p>
          <a:p>
            <a:r>
              <a:t>Different Developers. Different Engines of Advantage.</a:t>
            </a:r>
          </a:p>
          <a:p/>
          <a:p>
            <a:r>
              <a:t>Developer or group | Recognised strength | Competitive lesson</a:t>
            </a:r>
          </a:p>
          <a:p/>
          <a:p>
            <a:r>
              <a:t>BSD / Sinar Mas Land | Large-scale integrated townships | Build economic anchors, connectivity, and institutional partnerships</a:t>
            </a:r>
          </a:p>
          <a:p/>
          <a:p>
            <a:r>
              <a:t>Ciputra | Replicable township development | Standardise capabilities while adapting to local markets</a:t>
            </a:r>
          </a:p>
          <a:p/>
          <a:p>
            <a:r>
              <a:t>Summarecon | Community building and estate management | Make the post-handover experience a competitive asset</a:t>
            </a:r>
          </a:p>
          <a:p/>
          <a:p>
            <a:r>
              <a:t>Pakuwon | Income-producing mixed-use assets | Develop recurring revenue alongside property sales</a:t>
            </a:r>
          </a:p>
          <a:p/>
          <a:p>
            <a:r>
              <a:t>Agung Sedayu / PIK | Destination and lifestyle activation | Create visitation and desire for the wider location</a:t>
            </a:r>
          </a:p>
          <a:p/>
          <a:p>
            <a:r>
              <a:t>Lippo | Diversified property platforms | Maintain portfolio and capital discipline</a:t>
            </a:r>
          </a:p>
          <a:p/>
          <a:p>
            <a:r>
              <a:t>Paramount Land | Commercialisation and residential segmentation | Match products, positioning, and launches to demand</a:t>
            </a:r>
          </a:p>
          <a:p/>
          <a:p>
            <a:r>
              <a:t>Alam Sutera | Township environment and lifestyle appeal | Connect public realm, amenities, and place identity</a:t>
            </a:r>
          </a:p>
          <a:p/>
          <a:p>
            <a:r>
              <a:t>Agung Podomoro | High-density mixed-use development | Understand integration benefits and execution exposure</a:t>
            </a:r>
          </a:p>
          <a:p/>
          <a:p>
            <a:r>
              <a:t>Intiland | Mixed-use, industrial, and investment property | Balance development income with operating assets</a:t>
            </a:r>
          </a:p>
          <a:p/>
          <a:p>
            <a:r>
              <a:t>Application to TANRISE: Select mechanisms suited to its existing assets, pipeline, capital capacity, and delivery capabilities.</a:t>
            </a:r>
          </a:p>
          <a:p/>
          <a:p>
            <a:r>
              <a:t>Design direction: Comparative matrix using actual project imagery and a clear distinction between listed issuers and private groups.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10 — What Are the Leading Developers Famous For?</a:t>
            </a:r>
          </a:p>
          <a:p>
            <a:r>
              <a:t>Document pages: 9, 10, 11</a:t>
            </a:r>
          </a:p>
          <a:p/>
          <a:p>
            <a:r>
              <a:t>COMPLETE SOURCE TEXT</a:t>
            </a:r>
          </a:p>
          <a:p>
            <a:r>
              <a:t>Different Developers. Different Engines of Advantage.</a:t>
            </a:r>
          </a:p>
          <a:p/>
          <a:p>
            <a:r>
              <a:t>Developer or group | Recognised strength | Competitive lesson</a:t>
            </a:r>
          </a:p>
          <a:p/>
          <a:p>
            <a:r>
              <a:t>BSD / Sinar Mas Land | Large-scale integrated townships | Build economic anchors, connectivity, and institutional partnerships</a:t>
            </a:r>
          </a:p>
          <a:p/>
          <a:p>
            <a:r>
              <a:t>Ciputra | Replicable township development | Standardise capabilities while adapting to local markets</a:t>
            </a:r>
          </a:p>
          <a:p/>
          <a:p>
            <a:r>
              <a:t>Summarecon | Community building and estate management | Make the post-handover experience a competitive asset</a:t>
            </a:r>
          </a:p>
          <a:p/>
          <a:p>
            <a:r>
              <a:t>Pakuwon | Income-producing mixed-use assets | Develop recurring revenue alongside property sales</a:t>
            </a:r>
          </a:p>
          <a:p/>
          <a:p>
            <a:r>
              <a:t>Agung Sedayu / PIK | Destination and lifestyle activation | Create visitation and desire for the wider location</a:t>
            </a:r>
          </a:p>
          <a:p/>
          <a:p>
            <a:r>
              <a:t>Lippo | Diversified property platforms | Maintain portfolio and capital discipline</a:t>
            </a:r>
          </a:p>
          <a:p/>
          <a:p>
            <a:r>
              <a:t>Paramount Land | Commercialisation and residential segmentation | Match products, positioning, and launches to demand</a:t>
            </a:r>
          </a:p>
          <a:p/>
          <a:p>
            <a:r>
              <a:t>Alam Sutera | Township environment and lifestyle appeal | Connect public realm, amenities, and place identity</a:t>
            </a:r>
          </a:p>
          <a:p/>
          <a:p>
            <a:r>
              <a:t>Agung Podomoro | High-density mixed-use development | Understand integration benefits and execution exposure</a:t>
            </a:r>
          </a:p>
          <a:p/>
          <a:p>
            <a:r>
              <a:t>Intiland | Mixed-use, industrial, and investment property | Balance development income with operating assets</a:t>
            </a:r>
          </a:p>
          <a:p/>
          <a:p>
            <a:r>
              <a:t>Application to TANRISE: Select mechanisms suited to its existing assets, pipeline, capital capacity, and delivery capabilities.</a:t>
            </a:r>
          </a:p>
          <a:p/>
          <a:p>
            <a:r>
              <a:t>Design direction: Comparative matrix using actual project imagery and a clear distinction between listed issuers and private groups.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10 — What Are the Leading Developers Famous For?</a:t>
            </a:r>
          </a:p>
          <a:p>
            <a:r>
              <a:t>Document pages: 9, 10, 11</a:t>
            </a:r>
          </a:p>
          <a:p/>
          <a:p>
            <a:r>
              <a:t>COMPLETE SOURCE TEXT</a:t>
            </a:r>
          </a:p>
          <a:p>
            <a:r>
              <a:t>Different Developers. Different Engines of Advantage.</a:t>
            </a:r>
          </a:p>
          <a:p/>
          <a:p>
            <a:r>
              <a:t>Developer or group | Recognised strength | Competitive lesson</a:t>
            </a:r>
          </a:p>
          <a:p/>
          <a:p>
            <a:r>
              <a:t>BSD / Sinar Mas Land | Large-scale integrated townships | Build economic anchors, connectivity, and institutional partnerships</a:t>
            </a:r>
          </a:p>
          <a:p/>
          <a:p>
            <a:r>
              <a:t>Ciputra | Replicable township development | Standardise capabilities while adapting to local markets</a:t>
            </a:r>
          </a:p>
          <a:p/>
          <a:p>
            <a:r>
              <a:t>Summarecon | Community building and estate management | Make the post-handover experience a competitive asset</a:t>
            </a:r>
          </a:p>
          <a:p/>
          <a:p>
            <a:r>
              <a:t>Pakuwon | Income-producing mixed-use assets | Develop recurring revenue alongside property sales</a:t>
            </a:r>
          </a:p>
          <a:p/>
          <a:p>
            <a:r>
              <a:t>Agung Sedayu / PIK | Destination and lifestyle activation | Create visitation and desire for the wider location</a:t>
            </a:r>
          </a:p>
          <a:p/>
          <a:p>
            <a:r>
              <a:t>Lippo | Diversified property platforms | Maintain portfolio and capital discipline</a:t>
            </a:r>
          </a:p>
          <a:p/>
          <a:p>
            <a:r>
              <a:t>Paramount Land | Commercialisation and residential segmentation | Match products, positioning, and launches to demand</a:t>
            </a:r>
          </a:p>
          <a:p/>
          <a:p>
            <a:r>
              <a:t>Alam Sutera | Township environment and lifestyle appeal | Connect public realm, amenities, and place identity</a:t>
            </a:r>
          </a:p>
          <a:p/>
          <a:p>
            <a:r>
              <a:t>Agung Podomoro | High-density mixed-use development | Understand integration benefits and execution exposure</a:t>
            </a:r>
          </a:p>
          <a:p/>
          <a:p>
            <a:r>
              <a:t>Intiland | Mixed-use, industrial, and investment property | Balance development income with operating assets</a:t>
            </a:r>
          </a:p>
          <a:p/>
          <a:p>
            <a:r>
              <a:t>Application to TANRISE: Select mechanisms suited to its existing assets, pipeline, capital capacity, and delivery capabilities.</a:t>
            </a:r>
          </a:p>
          <a:p/>
          <a:p>
            <a:r>
              <a:t>Design direction: Comparative matrix using actual project imagery and a clear distinction between listed issuers and private groups.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11 — Case Study: BSD City</a:t>
            </a:r>
          </a:p>
          <a:p>
            <a:r>
              <a:t>Document pages: 11, 12</a:t>
            </a:r>
          </a:p>
          <a:p/>
          <a:p>
            <a:r>
              <a:t>COMPLETE SOURCE TEXT</a:t>
            </a:r>
          </a:p>
          <a:p>
            <a:r>
              <a:t>The City Becomes More Valuable as Its Ecosystem Matures.</a:t>
            </a:r>
          </a:p>
          <a:p/>
          <a:p>
            <a:r>
              <a:t>Development journey Township and residential development expanded into commercial districts, education, technology, retail, and mobility infrastructure.</a:t>
            </a:r>
          </a:p>
          <a:p/>
          <a:p>
            <a:r>
              <a:t>Success mechanism Complementary institutions and activities increase the usefulness and attractiveness of the location.</a:t>
            </a:r>
          </a:p>
          <a:p/>
          <a:p>
            <a:r>
              <a:t>Competitive advantage Long-term planning, substantial development scale, and institutional and commercial partnerships.</a:t>
            </a:r>
          </a:p>
          <a:p/>
          <a:p>
            <a:r>
              <a:t>Risk Large townships require patient capital, infrastructure investment, and careful phasing.</a:t>
            </a:r>
          </a:p>
          <a:p/>
          <a:p>
            <a:r>
              <a:t>Application to TANRISE</a:t>
            </a:r>
          </a:p>
          <a:p/>
          <a:p>
            <a:r>
              <a:t>For Tanrise City Sidoarjo and Tanrise Bandung, evaluate the anchors that support everyday life and commercial activity:</a:t>
            </a:r>
          </a:p>
          <a:p/>
          <a:p>
            <a:r>
              <a:t>● Schools and education partners. ● Convenient retail and supermarkets. ● Transport access.</a:t>
            </a:r>
          </a:p>
          <a:p/>
          <a:p>
            <a:r>
              <a:t>● Employment and business activity. ● Public and community facilities. ● Essential services.</a:t>
            </a:r>
          </a:p>
          <a:p/>
          <a:p>
            <a:r>
              <a:t>These are strategic development priorities, not claims that all facilities are already committed.</a:t>
            </a:r>
          </a:p>
          <a:p/>
          <a:p>
            <a:r>
              <a:t>Key principle: Build the reasons to live there alongside the homes.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11 — Case Study: BSD City</a:t>
            </a:r>
          </a:p>
          <a:p>
            <a:r>
              <a:t>Document pages: 11, 12</a:t>
            </a:r>
          </a:p>
          <a:p/>
          <a:p>
            <a:r>
              <a:t>COMPLETE SOURCE TEXT</a:t>
            </a:r>
          </a:p>
          <a:p>
            <a:r>
              <a:t>The City Becomes More Valuable as Its Ecosystem Matures.</a:t>
            </a:r>
          </a:p>
          <a:p/>
          <a:p>
            <a:r>
              <a:t>Development journey Township and residential development expanded into commercial districts, education, technology, retail, and mobility infrastructure.</a:t>
            </a:r>
          </a:p>
          <a:p/>
          <a:p>
            <a:r>
              <a:t>Success mechanism Complementary institutions and activities increase the usefulness and attractiveness of the location.</a:t>
            </a:r>
          </a:p>
          <a:p/>
          <a:p>
            <a:r>
              <a:t>Competitive advantage Long-term planning, substantial development scale, and institutional and commercial partnerships.</a:t>
            </a:r>
          </a:p>
          <a:p/>
          <a:p>
            <a:r>
              <a:t>Risk Large townships require patient capital, infrastructure investment, and careful phasing.</a:t>
            </a:r>
          </a:p>
          <a:p/>
          <a:p>
            <a:r>
              <a:t>Application to TANRISE</a:t>
            </a:r>
          </a:p>
          <a:p/>
          <a:p>
            <a:r>
              <a:t>For Tanrise City Sidoarjo and Tanrise Bandung, evaluate the anchors that support everyday life and commercial activity:</a:t>
            </a:r>
          </a:p>
          <a:p/>
          <a:p>
            <a:r>
              <a:t>● Schools and education partners. ● Convenient retail and supermarkets. ● Transport access.</a:t>
            </a:r>
          </a:p>
          <a:p/>
          <a:p>
            <a:r>
              <a:t>● Employment and business activity. ● Public and community facilities. ● Essential services.</a:t>
            </a:r>
          </a:p>
          <a:p/>
          <a:p>
            <a:r>
              <a:t>These are strategic development priorities, not claims that all facilities are already committed.</a:t>
            </a:r>
          </a:p>
          <a:p/>
          <a:p>
            <a:r>
              <a:t>Key principle: Build the reasons to live there alongside the homes.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12 — Case Study: Ciputra</a:t>
            </a:r>
          </a:p>
          <a:p>
            <a:r>
              <a:t>Document pages: 12</a:t>
            </a:r>
          </a:p>
          <a:p/>
          <a:p>
            <a:r>
              <a:t>COMPLETE SOURCE TEXT</a:t>
            </a:r>
          </a:p>
          <a:p>
            <a:r>
              <a:t>Build a Development Capability That Can Be Repeated.</a:t>
            </a:r>
          </a:p>
          <a:p/>
          <a:p>
            <a:r>
              <a:t>Development journey Early residential and township projects developed into a geographically diversified portfolio.</a:t>
            </a:r>
          </a:p>
          <a:p/>
          <a:p>
            <a:r>
              <a:t>Success mechanism A recognisable approach combines housing, commercial facilities, and supporting amenities across different markets.</a:t>
            </a:r>
          </a:p>
          <a:p/>
          <a:p>
            <a:r>
              <a:t>Competitive advantage Replicable capabilities and a broad project portfolio.</a:t>
            </a:r>
          </a:p>
          <a:p/>
          <a:p>
            <a:r>
              <a:t>Risk Geographic diversification introduces varying demand, execution, and inventory risks.</a:t>
            </a:r>
          </a:p>
          <a:p/>
          <a:p>
            <a:r>
              <a:t>Application to TANRISE</a:t>
            </a:r>
          </a:p>
          <a:p/>
          <a:p>
            <a:r>
              <a:t>Create a repeatable development framework for:</a:t>
            </a:r>
          </a:p>
          <a:p/>
          <a:p>
            <a:r>
              <a:t>● Grand Sunrise Menganti. ● Sunrise Residence Sidoarjo, subject to confirmation of the Jumana naming</a:t>
            </a:r>
          </a:p>
          <a:p/>
          <a:p>
            <a:r>
              <a:t>transition. ● Malang residential developments. ● Residential components within Tanrise Bandung and Tanrise City Sidoarjo.</a:t>
            </a:r>
          </a:p>
          <a:p/>
          <a:p>
            <a:r>
              <a:t>Standardise site selection, research, feasibility, design principles, pricing, phasing, and customer experience while adapting each project to its market.</a:t>
            </a:r>
          </a:p>
          <a:p/>
          <a:p>
            <a:r>
              <a:t>Key principle: Standardise the method. Localise the concept.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12 — Case Study: Ciputra</a:t>
            </a:r>
          </a:p>
          <a:p>
            <a:r>
              <a:t>Document pages: 12</a:t>
            </a:r>
          </a:p>
          <a:p/>
          <a:p>
            <a:r>
              <a:t>COMPLETE SOURCE TEXT</a:t>
            </a:r>
          </a:p>
          <a:p>
            <a:r>
              <a:t>Build a Development Capability That Can Be Repeated.</a:t>
            </a:r>
          </a:p>
          <a:p/>
          <a:p>
            <a:r>
              <a:t>Development journey Early residential and township projects developed into a geographically diversified portfolio.</a:t>
            </a:r>
          </a:p>
          <a:p/>
          <a:p>
            <a:r>
              <a:t>Success mechanism A recognisable approach combines housing, commercial facilities, and supporting amenities across different markets.</a:t>
            </a:r>
          </a:p>
          <a:p/>
          <a:p>
            <a:r>
              <a:t>Competitive advantage Replicable capabilities and a broad project portfolio.</a:t>
            </a:r>
          </a:p>
          <a:p/>
          <a:p>
            <a:r>
              <a:t>Risk Geographic diversification introduces varying demand, execution, and inventory risks.</a:t>
            </a:r>
          </a:p>
          <a:p/>
          <a:p>
            <a:r>
              <a:t>Application to TANRISE</a:t>
            </a:r>
          </a:p>
          <a:p/>
          <a:p>
            <a:r>
              <a:t>Create a repeatable development framework for:</a:t>
            </a:r>
          </a:p>
          <a:p/>
          <a:p>
            <a:r>
              <a:t>● Grand Sunrise Menganti. ● Sunrise Residence Sidoarjo, subject to confirmation of the Jumana naming</a:t>
            </a:r>
          </a:p>
          <a:p/>
          <a:p>
            <a:r>
              <a:t>transition. ● Malang residential developments. ● Residential components within Tanrise Bandung and Tanrise City Sidoarjo.</a:t>
            </a:r>
          </a:p>
          <a:p/>
          <a:p>
            <a:r>
              <a:t>Standardise site selection, research, feasibility, design principles, pricing, phasing, and customer experience while adapting each project to its market.</a:t>
            </a:r>
          </a:p>
          <a:p/>
          <a:p>
            <a:r>
              <a:t>Key principle: Standardise the method. Localise the concept.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13 — Case Study: Summarecon</a:t>
            </a:r>
          </a:p>
          <a:p>
            <a:r>
              <a:t>Document pages: 13</a:t>
            </a:r>
          </a:p>
          <a:p/>
          <a:p>
            <a:r>
              <a:t>COMPLETE SOURCE TEXT</a:t>
            </a:r>
          </a:p>
          <a:p>
            <a:r>
              <a:t>A Community’s Value Continues After Handover.</a:t>
            </a:r>
          </a:p>
          <a:p/>
          <a:p>
            <a:r>
              <a:t>Development journey From Kelapa Gading into multiple integrated township developments.</a:t>
            </a:r>
          </a:p>
          <a:p/>
          <a:p>
            <a:r>
              <a:t>Success mechanism Combine residential products, commercial facilities, lifestyle destinations, and long-term township management.</a:t>
            </a:r>
          </a:p>
          <a:p/>
          <a:p>
            <a:r>
              <a:t>Competitive advantage Recognisable development identity and continuing community management.</a:t>
            </a:r>
          </a:p>
          <a:p/>
          <a:p>
            <a:r>
              <a:t>Risk Estate operations require consistent funding, governance, and service delivery.</a:t>
            </a:r>
          </a:p>
          <a:p/>
          <a:p>
            <a:r>
              <a:t>Application to TANRISE</a:t>
            </a:r>
          </a:p>
          <a:p/>
          <a:p>
            <a:r>
              <a:t>Translate CINTA and Super-Serving into measurable commitments across:</a:t>
            </a:r>
          </a:p>
          <a:p/>
          <a:p>
            <a:r>
              <a:t>● Grand Sunrise Menganti. ● Kyo Society. ● Sunrise Residence Sidoarjo. ● Tanrise Taman Dayu Pandaan. ● Future residential phases in Bandung, Sidoarjo, and Malang.</a:t>
            </a:r>
          </a:p>
          <a:p/>
          <a:p>
            <a:r>
              <a:t>Establish estate-management standards, maintenance responsibilities, resident communication, and service-performance measures appropriate to each project.</a:t>
            </a:r>
          </a:p>
          <a:p/>
          <a:p>
            <a:r>
              <a:t>Key principle: The relationship begins at purchase. Trust is earned afterward.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13 — Case Study: Summarecon</a:t>
            </a:r>
          </a:p>
          <a:p>
            <a:r>
              <a:t>Document pages: 13</a:t>
            </a:r>
          </a:p>
          <a:p/>
          <a:p>
            <a:r>
              <a:t>COMPLETE SOURCE TEXT</a:t>
            </a:r>
          </a:p>
          <a:p>
            <a:r>
              <a:t>A Community’s Value Continues After Handover.</a:t>
            </a:r>
          </a:p>
          <a:p/>
          <a:p>
            <a:r>
              <a:t>Development journey From Kelapa Gading into multiple integrated township developments.</a:t>
            </a:r>
          </a:p>
          <a:p/>
          <a:p>
            <a:r>
              <a:t>Success mechanism Combine residential products, commercial facilities, lifestyle destinations, and long-term township management.</a:t>
            </a:r>
          </a:p>
          <a:p/>
          <a:p>
            <a:r>
              <a:t>Competitive advantage Recognisable development identity and continuing community management.</a:t>
            </a:r>
          </a:p>
          <a:p/>
          <a:p>
            <a:r>
              <a:t>Risk Estate operations require consistent funding, governance, and service delivery.</a:t>
            </a:r>
          </a:p>
          <a:p/>
          <a:p>
            <a:r>
              <a:t>Application to TANRISE</a:t>
            </a:r>
          </a:p>
          <a:p/>
          <a:p>
            <a:r>
              <a:t>Translate CINTA and Super-Serving into measurable commitments across:</a:t>
            </a:r>
          </a:p>
          <a:p/>
          <a:p>
            <a:r>
              <a:t>● Grand Sunrise Menganti. ● Kyo Society. ● Sunrise Residence Sidoarjo. ● Tanrise Taman Dayu Pandaan. ● Future residential phases in Bandung, Sidoarjo, and Malang.</a:t>
            </a:r>
          </a:p>
          <a:p/>
          <a:p>
            <a:r>
              <a:t>Establish estate-management standards, maintenance responsibilities, resident communication, and service-performance measures appropriate to each project.</a:t>
            </a:r>
          </a:p>
          <a:p/>
          <a:p>
            <a:r>
              <a:t>Key principle: The relationship begins at purchase. Trust is earned afterward.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14 — Case Study: Pakuwon</a:t>
            </a:r>
          </a:p>
          <a:p>
            <a:r>
              <a:t>Document pages: 13, 14</a:t>
            </a:r>
          </a:p>
          <a:p/>
          <a:p>
            <a:r>
              <a:t>COMPLETE SOURCE TEXT</a:t>
            </a:r>
          </a:p>
          <a:p>
            <a:r>
              <a:t>The Asset Should Continue Earning After It Is Built.</a:t>
            </a:r>
          </a:p>
          <a:p/>
          <a:p>
            <a:r>
              <a:t>Development journey Shopping centres and commercial assets evolved into integrated retail, office, residential, and hospitality developments.</a:t>
            </a:r>
          </a:p>
          <a:p/>
          <a:p>
            <a:r>
              <a:t>Success mechanism Retain productive assets and combine complementary property uses.</a:t>
            </a:r>
          </a:p>
          <a:p/>
          <a:p>
            <a:r>
              <a:t>FY2025 measure | Reported figure</a:t>
            </a:r>
          </a:p>
          <a:p/>
          <a:p>
            <a:r>
              <a:t>Revenue | Approximately Rp7.11 trillion</a:t>
            </a:r>
          </a:p>
          <a:p/>
          <a:p>
            <a:r>
              <a:t>Recurring revenue share | Approximately 79%</a:t>
            </a:r>
          </a:p>
          <a:p/>
          <a:p>
            <a:r>
              <a:t>Source: Pakuwon’s FY2025 annual report.</a:t>
            </a:r>
          </a:p>
          <a:p/>
          <a:p>
            <a:r>
              <a:t>Risk Retained assets require substantial capital and remain exposed to occupancy, operating costs, and changing consumer behaviour.</a:t>
            </a:r>
          </a:p>
          <a:p/>
          <a:p>
            <a:r>
              <a:t>Application to TANRISE</a:t>
            </a:r>
          </a:p>
          <a:p/>
          <a:p>
            <a:r>
              <a:t>Evaluate long-term income potential across:</a:t>
            </a:r>
          </a:p>
          <a:p/>
          <a:p>
            <a:r>
              <a:t>● Voza Tower. ● Rame-Rame. ● Midpoint Kayoon. ● Grand Central Bandung. ● Bali Bites. ● Hotel and villa assets. ● Golf Taman Dayu and the Driving Range. ● Selected warehouse and industrial properties.</a:t>
            </a:r>
          </a:p>
          <a:p/>
          <a:p>
            <a:r>
              <a:t>Choose what to sell, retain, lease, or operate with partners based on asset-level economics.</a:t>
            </a:r>
          </a:p>
          <a:p/>
          <a:p>
            <a:r>
              <a:t>Key principle: Development creates the asset. Management compounds its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14 — Case Study: Pakuwon</a:t>
            </a:r>
          </a:p>
          <a:p>
            <a:r>
              <a:t>Document pages: 13, 14</a:t>
            </a:r>
          </a:p>
          <a:p/>
          <a:p>
            <a:r>
              <a:t>COMPLETE SOURCE TEXT</a:t>
            </a:r>
          </a:p>
          <a:p>
            <a:r>
              <a:t>The Asset Should Continue Earning After It Is Built.</a:t>
            </a:r>
          </a:p>
          <a:p/>
          <a:p>
            <a:r>
              <a:t>Development journey Shopping centres and commercial assets evolved into integrated retail, office, residential, and hospitality developments.</a:t>
            </a:r>
          </a:p>
          <a:p/>
          <a:p>
            <a:r>
              <a:t>Success mechanism Retain productive assets and combine complementary property uses.</a:t>
            </a:r>
          </a:p>
          <a:p/>
          <a:p>
            <a:r>
              <a:t>FY2025 measure | Reported figure</a:t>
            </a:r>
          </a:p>
          <a:p/>
          <a:p>
            <a:r>
              <a:t>Revenue | Approximately Rp7.11 trillion</a:t>
            </a:r>
          </a:p>
          <a:p/>
          <a:p>
            <a:r>
              <a:t>Recurring revenue share | Approximately 79%</a:t>
            </a:r>
          </a:p>
          <a:p/>
          <a:p>
            <a:r>
              <a:t>Source: Pakuwon’s FY2025 annual report.</a:t>
            </a:r>
          </a:p>
          <a:p/>
          <a:p>
            <a:r>
              <a:t>Risk Retained assets require substantial capital and remain exposed to occupancy, operating costs, and changing consumer behaviour.</a:t>
            </a:r>
          </a:p>
          <a:p/>
          <a:p>
            <a:r>
              <a:t>Application to TANRISE</a:t>
            </a:r>
          </a:p>
          <a:p/>
          <a:p>
            <a:r>
              <a:t>Evaluate long-term income potential across:</a:t>
            </a:r>
          </a:p>
          <a:p/>
          <a:p>
            <a:r>
              <a:t>● Voza Tower. ● Rame-Rame. ● Midpoint Kayoon. ● Grand Central Bandung. ● Bali Bites. ● Hotel and villa assets. ● Golf Taman Dayu and the Driving Range. ● Selected warehouse and industrial properties.</a:t>
            </a:r>
          </a:p>
          <a:p/>
          <a:p>
            <a:r>
              <a:t>Choose what to sell, retain, lease, or operate with partners based on asset-level economics.</a:t>
            </a:r>
          </a:p>
          <a:p/>
          <a:p>
            <a:r>
              <a:t>Key principle: Development creates the asset. Management compounds its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14 — Case Study: Pakuwon</a:t>
            </a:r>
          </a:p>
          <a:p>
            <a:r>
              <a:t>Document pages: 13, 14</a:t>
            </a:r>
          </a:p>
          <a:p/>
          <a:p>
            <a:r>
              <a:t>COMPLETE SOURCE TEXT</a:t>
            </a:r>
          </a:p>
          <a:p>
            <a:r>
              <a:t>The Asset Should Continue Earning After It Is Built.</a:t>
            </a:r>
          </a:p>
          <a:p/>
          <a:p>
            <a:r>
              <a:t>Development journey Shopping centres and commercial assets evolved into integrated retail, office, residential, and hospitality developments.</a:t>
            </a:r>
          </a:p>
          <a:p/>
          <a:p>
            <a:r>
              <a:t>Success mechanism Retain productive assets and combine complementary property uses.</a:t>
            </a:r>
          </a:p>
          <a:p/>
          <a:p>
            <a:r>
              <a:t>FY2025 measure | Reported figure</a:t>
            </a:r>
          </a:p>
          <a:p/>
          <a:p>
            <a:r>
              <a:t>Revenue | Approximately Rp7.11 trillion</a:t>
            </a:r>
          </a:p>
          <a:p/>
          <a:p>
            <a:r>
              <a:t>Recurring revenue share | Approximately 79%</a:t>
            </a:r>
          </a:p>
          <a:p/>
          <a:p>
            <a:r>
              <a:t>Source: Pakuwon’s FY2025 annual report.</a:t>
            </a:r>
          </a:p>
          <a:p/>
          <a:p>
            <a:r>
              <a:t>Risk Retained assets require substantial capital and remain exposed to occupancy, operating costs, and changing consumer behaviour.</a:t>
            </a:r>
          </a:p>
          <a:p/>
          <a:p>
            <a:r>
              <a:t>Application to TANRISE</a:t>
            </a:r>
          </a:p>
          <a:p/>
          <a:p>
            <a:r>
              <a:t>Evaluate long-term income potential across:</a:t>
            </a:r>
          </a:p>
          <a:p/>
          <a:p>
            <a:r>
              <a:t>● Voza Tower. ● Rame-Rame. ● Midpoint Kayoon. ● Grand Central Bandung. ● Bali Bites. ● Hotel and villa assets. ● Golf Taman Dayu and the Driving Range. ● Selected warehouse and industrial properties.</a:t>
            </a:r>
          </a:p>
          <a:p/>
          <a:p>
            <a:r>
              <a:t>Choose what to sell, retain, lease, or operate with partners based on asset-level economics.</a:t>
            </a:r>
          </a:p>
          <a:p/>
          <a:p>
            <a:r>
              <a:t>Key principle: Development creates the asset. Management compounds its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15 — Case Study: Agung Sedayu and PIK</a:t>
            </a:r>
          </a:p>
          <a:p>
            <a:r>
              <a:t>Document pages: 14, 15</a:t>
            </a:r>
          </a:p>
          <a:p/>
          <a:p>
            <a:r>
              <a:t>COMPLETE SOURCE TEXT</a:t>
            </a:r>
          </a:p>
          <a:p>
            <a:r>
              <a:t>Destinations Create Demand Before the Property Transaction.</a:t>
            </a:r>
          </a:p>
          <a:p/>
          <a:p>
            <a:r>
              <a:t>Development approach Curated culinary, retail, leisure, and public experiences give destinations a recognisable identity.</a:t>
            </a:r>
          </a:p>
          <a:p/>
          <a:p>
            <a:r>
              <a:t>Success mechanism People actively want to visit, experience, and associate with the place.</a:t>
            </a:r>
          </a:p>
          <a:p/>
          <a:p>
            <a:r>
              <a:t>Competitive advantage Destination storytelling, tenant curation, and market visibility.</a:t>
            </a:r>
          </a:p>
          <a:p/>
          <a:p>
            <a:r>
              <a:t>Risk Visitor traffic does not automatically produce profitable operations or higher property returns.</a:t>
            </a:r>
          </a:p>
          <a:p/>
          <a:p>
            <a:r>
              <a:t>Application to TANRISE</a:t>
            </a:r>
          </a:p>
          <a:p/>
          <a:p>
            <a:r>
              <a:t>Build on existing destination components:</a:t>
            </a:r>
          </a:p>
          <a:p/>
          <a:p>
            <a:r>
              <a:t>● Tanrise Taman Dayu Pandaan. ● Golf Taman Dayu. ● The Driving Range. ● Rame-Rame. ● Bali Bites and its F&amp;B activity.</a:t>
            </a:r>
          </a:p>
          <a:p/>
          <a:p>
            <a:r>
              <a:t>Evaluate future activation opportunities within Swiss of Taman Dayu Pandaan, Tanrise Bandung, and Tanrise City Sidoarjo.</a:t>
            </a:r>
          </a:p>
          <a:p/>
          <a:p>
            <a:r>
              <a:t>Measure visitation, spending, repeat participation, operating contribution, and conversion into property enquiries and sales.</a:t>
            </a:r>
          </a:p>
          <a:p/>
          <a:p>
            <a:r>
              <a:t>Key principle: Let people experience the destination before asking them to invest in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15 — Case Study: Agung Sedayu and PIK</a:t>
            </a:r>
          </a:p>
          <a:p>
            <a:r>
              <a:t>Document pages: 14, 15</a:t>
            </a:r>
          </a:p>
          <a:p/>
          <a:p>
            <a:r>
              <a:t>COMPLETE SOURCE TEXT</a:t>
            </a:r>
          </a:p>
          <a:p>
            <a:r>
              <a:t>Destinations Create Demand Before the Property Transaction.</a:t>
            </a:r>
          </a:p>
          <a:p/>
          <a:p>
            <a:r>
              <a:t>Development approach Curated culinary, retail, leisure, and public experiences give destinations a recognisable identity.</a:t>
            </a:r>
          </a:p>
          <a:p/>
          <a:p>
            <a:r>
              <a:t>Success mechanism People actively want to visit, experience, and associate with the place.</a:t>
            </a:r>
          </a:p>
          <a:p/>
          <a:p>
            <a:r>
              <a:t>Competitive advantage Destination storytelling, tenant curation, and market visibility.</a:t>
            </a:r>
          </a:p>
          <a:p/>
          <a:p>
            <a:r>
              <a:t>Risk Visitor traffic does not automatically produce profitable operations or higher property returns.</a:t>
            </a:r>
          </a:p>
          <a:p/>
          <a:p>
            <a:r>
              <a:t>Application to TANRISE</a:t>
            </a:r>
          </a:p>
          <a:p/>
          <a:p>
            <a:r>
              <a:t>Build on existing destination components:</a:t>
            </a:r>
          </a:p>
          <a:p/>
          <a:p>
            <a:r>
              <a:t>● Tanrise Taman Dayu Pandaan. ● Golf Taman Dayu. ● The Driving Range. ● Rame-Rame. ● Bali Bites and its F&amp;B activity.</a:t>
            </a:r>
          </a:p>
          <a:p/>
          <a:p>
            <a:r>
              <a:t>Evaluate future activation opportunities within Swiss of Taman Dayu Pandaan, Tanrise Bandung, and Tanrise City Sidoarjo.</a:t>
            </a:r>
          </a:p>
          <a:p/>
          <a:p>
            <a:r>
              <a:t>Measure visitation, spending, repeat participation, operating contribution, and conversion into property enquiries and sales.</a:t>
            </a:r>
          </a:p>
          <a:p/>
          <a:p>
            <a:r>
              <a:t>Key principle: Let people experience the destination before asking them to invest in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16 — Competitor Models: Strengths and Vulnerabilities</a:t>
            </a:r>
          </a:p>
          <a:p>
            <a:r>
              <a:t>Document pages: 15, 16</a:t>
            </a:r>
          </a:p>
          <a:p/>
          <a:p>
            <a:r>
              <a:t>COMPLETE SOURCE TEXT</a:t>
            </a:r>
          </a:p>
          <a:p>
            <a:r>
              <a:t>Select the Mechanisms That Fit TANRISE.</a:t>
            </a:r>
          </a:p>
          <a:p/>
          <a:p>
            <a:r>
              <a:t>Business model | Strength | Structural vulnerability</a:t>
            </a:r>
          </a:p>
          <a:p/>
          <a:p>
            <a:r>
              <a:t>Township expansion | Scalable development pipeline | Infrastructure and capital intensity</a:t>
            </a:r>
          </a:p>
          <a:p/>
          <a:p>
            <a:r>
              <a:t>Residential replication | Repeatable sales model | Market cycles and inventory exposure</a:t>
            </a:r>
          </a:p>
          <a:p/>
          <a:p>
            <a:r>
              <a:t>Mixed-use development | Complementary uses and customer activity | Concentrated asset and execution risk</a:t>
            </a:r>
          </a:p>
          <a:p/>
          <a:p>
            <a:r>
              <a:t>Recurring-income assets | Continuing revenue | Long payback periods and operating costs</a:t>
            </a:r>
          </a:p>
          <a:p/>
          <a:p>
            <a:r>
              <a:t>Destination-led development | Place identity and visitation | Activation cost and demand uncertainty</a:t>
            </a:r>
          </a:p>
          <a:p/>
          <a:p>
            <a:r>
              <a:t>These are business-model risks rather than claims that particular competitors are failing.</a:t>
            </a:r>
          </a:p>
          <a:p/>
          <a:p>
            <a:r>
              <a:t>Implication for TANRISE</a:t>
            </a:r>
          </a:p>
          <a:p/>
          <a:p>
            <a:r>
              <a:t>The company already has exposure to several of these models.</a:t>
            </a:r>
          </a:p>
          <a:p/>
          <a:p>
            <a:r>
              <a:t>The priority is to establish which combinations create the best risk-adjusted value across its five business pillars.</a:t>
            </a:r>
          </a:p>
          <a:p/>
          <a:p>
            <a:r>
              <a:t>Recommendation: Scale models supported by demand, investment capacity, operating capability, and demonstrated performance.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16 — Competitor Models: Strengths and Vulnerabilities</a:t>
            </a:r>
          </a:p>
          <a:p>
            <a:r>
              <a:t>Document pages: 15, 16</a:t>
            </a:r>
          </a:p>
          <a:p/>
          <a:p>
            <a:r>
              <a:t>COMPLETE SOURCE TEXT</a:t>
            </a:r>
          </a:p>
          <a:p>
            <a:r>
              <a:t>Select the Mechanisms That Fit TANRISE.</a:t>
            </a:r>
          </a:p>
          <a:p/>
          <a:p>
            <a:r>
              <a:t>Business model | Strength | Structural vulnerability</a:t>
            </a:r>
          </a:p>
          <a:p/>
          <a:p>
            <a:r>
              <a:t>Township expansion | Scalable development pipeline | Infrastructure and capital intensity</a:t>
            </a:r>
          </a:p>
          <a:p/>
          <a:p>
            <a:r>
              <a:t>Residential replication | Repeatable sales model | Market cycles and inventory exposure</a:t>
            </a:r>
          </a:p>
          <a:p/>
          <a:p>
            <a:r>
              <a:t>Mixed-use development | Complementary uses and customer activity | Concentrated asset and execution risk</a:t>
            </a:r>
          </a:p>
          <a:p/>
          <a:p>
            <a:r>
              <a:t>Recurring-income assets | Continuing revenue | Long payback periods and operating costs</a:t>
            </a:r>
          </a:p>
          <a:p/>
          <a:p>
            <a:r>
              <a:t>Destination-led development | Place identity and visitation | Activation cost and demand uncertainty</a:t>
            </a:r>
          </a:p>
          <a:p/>
          <a:p>
            <a:r>
              <a:t>These are business-model risks rather than claims that particular competitors are failing.</a:t>
            </a:r>
          </a:p>
          <a:p/>
          <a:p>
            <a:r>
              <a:t>Implication for TANRISE</a:t>
            </a:r>
          </a:p>
          <a:p/>
          <a:p>
            <a:r>
              <a:t>The company already has exposure to several of these models.</a:t>
            </a:r>
          </a:p>
          <a:p/>
          <a:p>
            <a:r>
              <a:t>The priority is to establish which combinations create the best risk-adjusted value across its five business pillars.</a:t>
            </a:r>
          </a:p>
          <a:p/>
          <a:p>
            <a:r>
              <a:t>Recommendation: Scale models supported by demand, investment capacity, operating capability, and demonstrated performance.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17 — The Differentiation Opportunity</a:t>
            </a:r>
          </a:p>
          <a:p>
            <a:r>
              <a:t>Document pages: 16, 17</a:t>
            </a:r>
          </a:p>
          <a:p/>
          <a:p>
            <a:r>
              <a:t>COMPLETE SOURCE TEXT</a:t>
            </a:r>
          </a:p>
          <a:p>
            <a:r>
              <a:t>A More Human, More Accountable Developer.</a:t>
            </a:r>
          </a:p>
          <a:p/>
          <a:p>
            <a:r>
              <a:t>TANRISE can build differentiation through five commitments.</a:t>
            </a:r>
          </a:p>
          <a:p/>
          <a:p>
            <a:r>
              <a:t>1. Purposeful Development Begin every project with a real human or business need.</a:t>
            </a:r>
          </a:p>
          <a:p/>
          <a:p>
            <a:r>
              <a:t>2. Visible Commitments Clearly distinguish existing facilities, ongoing development, future plans, and proposed partnerships.</a:t>
            </a:r>
          </a:p>
          <a:p/>
          <a:p>
            <a:r>
              <a:t>3. Connected Experiences Coordinate property, services, partners, and community activity across relevant assets.</a:t>
            </a:r>
          </a:p>
          <a:p/>
          <a:p>
            <a:r>
              <a:t>4. Continued Care Maintain relationships beyond the initial transaction.</a:t>
            </a:r>
          </a:p>
          <a:p/>
          <a:p>
            <a:r>
              <a:t>5. Disciplined Investment Build developments and operating ecosystems that can be sustained commercially.</a:t>
            </a:r>
          </a:p>
          <a:p/>
          <a:p>
            <a:r>
              <a:t>What This Means for Portfolio Communication</a:t>
            </a:r>
          </a:p>
          <a:p/>
          <a:p>
            <a:r>
              <a:t>Customers and investors should be able to understand:</a:t>
            </a:r>
          </a:p>
          <a:p/>
          <a:p>
            <a:r>
              <a:t>● What the project is called. ● Where it is located. ● Whether it exists or is planned. ● Who owns or develops it. ● Who operates or manages it. ● What has been committed. ● What remains proposed.</a:t>
            </a:r>
          </a:p>
          <a:p/>
          <a:p>
            <a:r>
              <a:t>These are proposed differentiation territories requiring validation against competitor practices and TANRISE’s capabilities.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17 — The Differentiation Opportunity</a:t>
            </a:r>
          </a:p>
          <a:p>
            <a:r>
              <a:t>Document pages: 16, 17</a:t>
            </a:r>
          </a:p>
          <a:p/>
          <a:p>
            <a:r>
              <a:t>COMPLETE SOURCE TEXT</a:t>
            </a:r>
          </a:p>
          <a:p>
            <a:r>
              <a:t>A More Human, More Accountable Developer.</a:t>
            </a:r>
          </a:p>
          <a:p/>
          <a:p>
            <a:r>
              <a:t>TANRISE can build differentiation through five commitments.</a:t>
            </a:r>
          </a:p>
          <a:p/>
          <a:p>
            <a:r>
              <a:t>1. Purposeful Development Begin every project with a real human or business need.</a:t>
            </a:r>
          </a:p>
          <a:p/>
          <a:p>
            <a:r>
              <a:t>2. Visible Commitments Clearly distinguish existing facilities, ongoing development, future plans, and proposed partnerships.</a:t>
            </a:r>
          </a:p>
          <a:p/>
          <a:p>
            <a:r>
              <a:t>3. Connected Experiences Coordinate property, services, partners, and community activity across relevant assets.</a:t>
            </a:r>
          </a:p>
          <a:p/>
          <a:p>
            <a:r>
              <a:t>4. Continued Care Maintain relationships beyond the initial transaction.</a:t>
            </a:r>
          </a:p>
          <a:p/>
          <a:p>
            <a:r>
              <a:t>5. Disciplined Investment Build developments and operating ecosystems that can be sustained commercially.</a:t>
            </a:r>
          </a:p>
          <a:p/>
          <a:p>
            <a:r>
              <a:t>What This Means for Portfolio Communication</a:t>
            </a:r>
          </a:p>
          <a:p/>
          <a:p>
            <a:r>
              <a:t>Customers and investors should be able to understand:</a:t>
            </a:r>
          </a:p>
          <a:p/>
          <a:p>
            <a:r>
              <a:t>● What the project is called. ● Where it is located. ● Whether it exists or is planned. ● Who owns or develops it. ● Who operates or manages it. ● What has been committed. ● What remains proposed.</a:t>
            </a:r>
          </a:p>
          <a:p/>
          <a:p>
            <a:r>
              <a:t>These are proposed differentiation territories requiring validation against competitor practices and TANRISE’s capabilities.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17 — The Differentiation Opportunity</a:t>
            </a:r>
          </a:p>
          <a:p>
            <a:r>
              <a:t>Document pages: 16, 17</a:t>
            </a:r>
          </a:p>
          <a:p/>
          <a:p>
            <a:r>
              <a:t>COMPLETE SOURCE TEXT</a:t>
            </a:r>
          </a:p>
          <a:p>
            <a:r>
              <a:t>A More Human, More Accountable Developer.</a:t>
            </a:r>
          </a:p>
          <a:p/>
          <a:p>
            <a:r>
              <a:t>TANRISE can build differentiation through five commitments.</a:t>
            </a:r>
          </a:p>
          <a:p/>
          <a:p>
            <a:r>
              <a:t>1. Purposeful Development Begin every project with a real human or business need.</a:t>
            </a:r>
          </a:p>
          <a:p/>
          <a:p>
            <a:r>
              <a:t>2. Visible Commitments Clearly distinguish existing facilities, ongoing development, future plans, and proposed partnerships.</a:t>
            </a:r>
          </a:p>
          <a:p/>
          <a:p>
            <a:r>
              <a:t>3. Connected Experiences Coordinate property, services, partners, and community activity across relevant assets.</a:t>
            </a:r>
          </a:p>
          <a:p/>
          <a:p>
            <a:r>
              <a:t>4. Continued Care Maintain relationships beyond the initial transaction.</a:t>
            </a:r>
          </a:p>
          <a:p/>
          <a:p>
            <a:r>
              <a:t>5. Disciplined Investment Build developments and operating ecosystems that can be sustained commercially.</a:t>
            </a:r>
          </a:p>
          <a:p/>
          <a:p>
            <a:r>
              <a:t>What This Means for Portfolio Communication</a:t>
            </a:r>
          </a:p>
          <a:p/>
          <a:p>
            <a:r>
              <a:t>Customers and investors should be able to understand:</a:t>
            </a:r>
          </a:p>
          <a:p/>
          <a:p>
            <a:r>
              <a:t>● What the project is called. ● Where it is located. ● Whether it exists or is planned. ● Who owns or develops it. ● Who operates or manages it. ● What has been committed. ● What remains proposed.</a:t>
            </a:r>
          </a:p>
          <a:p/>
          <a:p>
            <a:r>
              <a:t>These are proposed differentiation territories requiring validation against competitor practices and TANRISE’s capabilities.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18 — One Group. Distinct Roles. Connected Value.</a:t>
            </a:r>
          </a:p>
          <a:p>
            <a:r>
              <a:t>Document pages: 17, 18, 19</a:t>
            </a:r>
          </a:p>
          <a:p/>
          <a:p>
            <a:r>
              <a:t>COMPLETE SOURCE TEXT</a:t>
            </a:r>
          </a:p>
          <a:p>
            <a:r>
              <a:t>Clarify the Relationship Between TANRISE, TANLY, and the Projects.</a:t>
            </a:r>
          </a:p>
          <a:p/>
          <a:p>
            <a:r>
              <a:t>TANCORP publicly presents TANRISE Property and TANLY Hospitality as separate business platforms.</a:t>
            </a:r>
          </a:p>
          <a:p/>
          <a:p>
            <a:r>
              <a:t>Level | Role</a:t>
            </a:r>
          </a:p>
          <a:p/>
          <a:p>
            <a:r>
              <a:t>TANCORP | Wider group context</a:t>
            </a:r>
          </a:p>
          <a:p/>
          <a:p>
            <a:r>
              <a:t>TANRISE Property | Property development and investment platform</a:t>
            </a:r>
          </a:p>
          <a:p/>
          <a:p>
            <a:r>
              <a:t>TANLY Hospitality | Hospitality management platform</a:t>
            </a:r>
          </a:p>
          <a:p/>
          <a:p>
            <a:r>
              <a:t>Destination and project brands | Customer-facing identities of individual places and developments</a:t>
            </a:r>
          </a:p>
          <a:p/>
          <a:p>
            <a:r>
              <a:t>Hotel and operating brands | Hospitality and service identities associated with managed properties</a:t>
            </a:r>
          </a:p>
          <a:p/>
          <a:p>
            <a:r>
              <a:t>A hospitality property may form part of TANRISE’s investment portfolio while having a management relationship with TANLY.</a:t>
            </a:r>
          </a:p>
          <a:p/>
          <a:p>
            <a:r>
              <a:t>The diagram should distinguish corporate affiliation, asset interests, and operating relationships.</a:t>
            </a:r>
          </a:p>
          <a:p/>
          <a:p>
            <a:r>
              <a:t>TANRISE’s Five Documented Business Pillars</a:t>
            </a:r>
          </a:p>
          <a:p/>
          <a:p>
            <a:r>
              <a:t>1. Integrated City. 2. Community Living. 3. Business Districts. 4. Logistic &amp; Industrial Park. 5. Hotel, MICE, and Leisure.</a:t>
            </a:r>
          </a:p>
          <a:p/>
          <a:p>
            <a:r>
              <a:t>Separate Branding Classification</a:t>
            </a:r>
          </a:p>
          <a:p/>
          <a:p>
            <a:r>
              <a:t>The client’s brand portfolio deck additionally uses Residential &amp; Township, High-Rise Building, Commercial &amp; Retail, Hotels &amp; Leisure, Education, and Healthcare.</a:t>
            </a:r>
          </a:p>
          <a:p/>
          <a:p>
            <a:r>
              <a:t>These product categories should not automatically be presented as separate operating subsidiaries.</a:t>
            </a:r>
          </a:p>
          <a:p/>
          <a:p>
            <a:r>
              <a:t>Design direction: Show TANRISE and TANLY alongside each other within the TANCORP context, with asset and management relationships identified separately.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18 — One Group. Distinct Roles. Connected Value.</a:t>
            </a:r>
          </a:p>
          <a:p>
            <a:r>
              <a:t>Document pages: 17, 18, 19</a:t>
            </a:r>
          </a:p>
          <a:p/>
          <a:p>
            <a:r>
              <a:t>COMPLETE SOURCE TEXT</a:t>
            </a:r>
          </a:p>
          <a:p>
            <a:r>
              <a:t>Clarify the Relationship Between TANRISE, TANLY, and the Projects.</a:t>
            </a:r>
          </a:p>
          <a:p/>
          <a:p>
            <a:r>
              <a:t>TANCORP publicly presents TANRISE Property and TANLY Hospitality as separate business platforms.</a:t>
            </a:r>
          </a:p>
          <a:p/>
          <a:p>
            <a:r>
              <a:t>Level | Role</a:t>
            </a:r>
          </a:p>
          <a:p/>
          <a:p>
            <a:r>
              <a:t>TANCORP | Wider group context</a:t>
            </a:r>
          </a:p>
          <a:p/>
          <a:p>
            <a:r>
              <a:t>TANRISE Property | Property development and investment platform</a:t>
            </a:r>
          </a:p>
          <a:p/>
          <a:p>
            <a:r>
              <a:t>TANLY Hospitality | Hospitality management platform</a:t>
            </a:r>
          </a:p>
          <a:p/>
          <a:p>
            <a:r>
              <a:t>Destination and project brands | Customer-facing identities of individual places and developments</a:t>
            </a:r>
          </a:p>
          <a:p/>
          <a:p>
            <a:r>
              <a:t>Hotel and operating brands | Hospitality and service identities associated with managed properties</a:t>
            </a:r>
          </a:p>
          <a:p/>
          <a:p>
            <a:r>
              <a:t>A hospitality property may form part of TANRISE’s investment portfolio while having a management relationship with TANLY.</a:t>
            </a:r>
          </a:p>
          <a:p/>
          <a:p>
            <a:r>
              <a:t>The diagram should distinguish corporate affiliation, asset interests, and operating relationships.</a:t>
            </a:r>
          </a:p>
          <a:p/>
          <a:p>
            <a:r>
              <a:t>TANRISE’s Five Documented Business Pillars</a:t>
            </a:r>
          </a:p>
          <a:p/>
          <a:p>
            <a:r>
              <a:t>1. Integrated City. 2. Community Living. 3. Business Districts. 4. Logistic &amp; Industrial Park. 5. Hotel, MICE, and Leisure.</a:t>
            </a:r>
          </a:p>
          <a:p/>
          <a:p>
            <a:r>
              <a:t>Separate Branding Classification</a:t>
            </a:r>
          </a:p>
          <a:p/>
          <a:p>
            <a:r>
              <a:t>The client’s brand portfolio deck additionally uses Residential &amp; Township, High-Rise Building, Commercial &amp; Retail, Hotels &amp; Leisure, Education, and Healthcare.</a:t>
            </a:r>
          </a:p>
          <a:p/>
          <a:p>
            <a:r>
              <a:t>These product categories should not automatically be presented as separate operating subsidiaries.</a:t>
            </a:r>
          </a:p>
          <a:p/>
          <a:p>
            <a:r>
              <a:t>Design direction: Show TANRISE and TANLY alongside each other within the TANCORP context, with asset and management relationships identified separately.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18 — One Group. Distinct Roles. Connected Value.</a:t>
            </a:r>
          </a:p>
          <a:p>
            <a:r>
              <a:t>Document pages: 17, 18, 19</a:t>
            </a:r>
          </a:p>
          <a:p/>
          <a:p>
            <a:r>
              <a:t>COMPLETE SOURCE TEXT</a:t>
            </a:r>
          </a:p>
          <a:p>
            <a:r>
              <a:t>Clarify the Relationship Between TANRISE, TANLY, and the Projects.</a:t>
            </a:r>
          </a:p>
          <a:p/>
          <a:p>
            <a:r>
              <a:t>TANCORP publicly presents TANRISE Property and TANLY Hospitality as separate business platforms.</a:t>
            </a:r>
          </a:p>
          <a:p/>
          <a:p>
            <a:r>
              <a:t>Level | Role</a:t>
            </a:r>
          </a:p>
          <a:p/>
          <a:p>
            <a:r>
              <a:t>TANCORP | Wider group context</a:t>
            </a:r>
          </a:p>
          <a:p/>
          <a:p>
            <a:r>
              <a:t>TANRISE Property | Property development and investment platform</a:t>
            </a:r>
          </a:p>
          <a:p/>
          <a:p>
            <a:r>
              <a:t>TANLY Hospitality | Hospitality management platform</a:t>
            </a:r>
          </a:p>
          <a:p/>
          <a:p>
            <a:r>
              <a:t>Destination and project brands | Customer-facing identities of individual places and developments</a:t>
            </a:r>
          </a:p>
          <a:p/>
          <a:p>
            <a:r>
              <a:t>Hotel and operating brands | Hospitality and service identities associated with managed properties</a:t>
            </a:r>
          </a:p>
          <a:p/>
          <a:p>
            <a:r>
              <a:t>A hospitality property may form part of TANRISE’s investment portfolio while having a management relationship with TANLY.</a:t>
            </a:r>
          </a:p>
          <a:p/>
          <a:p>
            <a:r>
              <a:t>The diagram should distinguish corporate affiliation, asset interests, and operating relationships.</a:t>
            </a:r>
          </a:p>
          <a:p/>
          <a:p>
            <a:r>
              <a:t>TANRISE’s Five Documented Business Pillars</a:t>
            </a:r>
          </a:p>
          <a:p/>
          <a:p>
            <a:r>
              <a:t>1. Integrated City. 2. Community Living. 3. Business Districts. 4. Logistic &amp; Industrial Park. 5. Hotel, MICE, and Leisure.</a:t>
            </a:r>
          </a:p>
          <a:p/>
          <a:p>
            <a:r>
              <a:t>Separate Branding Classification</a:t>
            </a:r>
          </a:p>
          <a:p/>
          <a:p>
            <a:r>
              <a:t>The client’s brand portfolio deck additionally uses Residential &amp; Township, High-Rise Building, Commercial &amp; Retail, Hotels &amp; Leisure, Education, and Healthcare.</a:t>
            </a:r>
          </a:p>
          <a:p/>
          <a:p>
            <a:r>
              <a:t>These product categories should not automatically be presented as separate operating subsidiaries.</a:t>
            </a:r>
          </a:p>
          <a:p/>
          <a:p>
            <a:r>
              <a:t>Design direction: Show TANRISE and TANLY alongside each other within the TANCORP context, with asset and management relationships identified separately.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18 — One Group. Distinct Roles. Connected Value.</a:t>
            </a:r>
          </a:p>
          <a:p>
            <a:r>
              <a:t>Document pages: 17, 18, 19</a:t>
            </a:r>
          </a:p>
          <a:p/>
          <a:p>
            <a:r>
              <a:t>COMPLETE SOURCE TEXT</a:t>
            </a:r>
          </a:p>
          <a:p>
            <a:r>
              <a:t>Clarify the Relationship Between TANRISE, TANLY, and the Projects.</a:t>
            </a:r>
          </a:p>
          <a:p/>
          <a:p>
            <a:r>
              <a:t>TANCORP publicly presents TANRISE Property and TANLY Hospitality as separate business platforms.</a:t>
            </a:r>
          </a:p>
          <a:p/>
          <a:p>
            <a:r>
              <a:t>Level | Role</a:t>
            </a:r>
          </a:p>
          <a:p/>
          <a:p>
            <a:r>
              <a:t>TANCORP | Wider group context</a:t>
            </a:r>
          </a:p>
          <a:p/>
          <a:p>
            <a:r>
              <a:t>TANRISE Property | Property development and investment platform</a:t>
            </a:r>
          </a:p>
          <a:p/>
          <a:p>
            <a:r>
              <a:t>TANLY Hospitality | Hospitality management platform</a:t>
            </a:r>
          </a:p>
          <a:p/>
          <a:p>
            <a:r>
              <a:t>Destination and project brands | Customer-facing identities of individual places and developments</a:t>
            </a:r>
          </a:p>
          <a:p/>
          <a:p>
            <a:r>
              <a:t>Hotel and operating brands | Hospitality and service identities associated with managed properties</a:t>
            </a:r>
          </a:p>
          <a:p/>
          <a:p>
            <a:r>
              <a:t>A hospitality property may form part of TANRISE’s investment portfolio while having a management relationship with TANLY.</a:t>
            </a:r>
          </a:p>
          <a:p/>
          <a:p>
            <a:r>
              <a:t>The diagram should distinguish corporate affiliation, asset interests, and operating relationships.</a:t>
            </a:r>
          </a:p>
          <a:p/>
          <a:p>
            <a:r>
              <a:t>TANRISE’s Five Documented Business Pillars</a:t>
            </a:r>
          </a:p>
          <a:p/>
          <a:p>
            <a:r>
              <a:t>1. Integrated City. 2. Community Living. 3. Business Districts. 4. Logistic &amp; Industrial Park. 5. Hotel, MICE, and Leisure.</a:t>
            </a:r>
          </a:p>
          <a:p/>
          <a:p>
            <a:r>
              <a:t>Separate Branding Classification</a:t>
            </a:r>
          </a:p>
          <a:p/>
          <a:p>
            <a:r>
              <a:t>The client’s brand portfolio deck additionally uses Residential &amp; Township, High-Rise Building, Commercial &amp; Retail, Hotels &amp; Leisure, Education, and Healthcare.</a:t>
            </a:r>
          </a:p>
          <a:p/>
          <a:p>
            <a:r>
              <a:t>These product categories should not automatically be presented as separate operating subsidiaries.</a:t>
            </a:r>
          </a:p>
          <a:p/>
          <a:p>
            <a:r>
              <a:t>Design direction: Show TANRISE and TANLY alongside each other within the TANCORP context, with asset and management relationships identified separately.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19 — The TANRISE Portfolio: Existing Assets and Future Development</a:t>
            </a:r>
          </a:p>
          <a:p>
            <a:r>
              <a:t>Document pages: 19, 20</a:t>
            </a:r>
          </a:p>
          <a:p/>
          <a:p>
            <a:r>
              <a:t>COMPLETE SOURCE TEXT</a:t>
            </a:r>
          </a:p>
          <a:p>
            <a:r>
              <a:t>Preserve the Portfolio. Make Its Status Clear.</a:t>
            </a:r>
          </a:p>
          <a:p/>
          <a:p>
            <a:r>
              <a:t>Business pillar | Existing assets and documented portfolio references | Ongoing or upcoming development</a:t>
            </a:r>
          </a:p>
          <a:p/>
          <a:p>
            <a:r>
              <a:t>Integrated City | Tanrise Taman Dayu Pandaan | Tanrise Bandung; Tanrise City Sidoarjo; Swiss of Taman Dayu Pandaan</a:t>
            </a:r>
          </a:p>
          <a:p/>
          <a:p>
            <a:r>
              <a:t>Community Living | Kyo Society; Grand Sunrise Menganti; Jumana Residence / Sunrise Residence Sidoarjo naming transition; ARC100 as an additional documented apartment brand | Malang residential development, with Sunrise Residence Malang, Sunrise Garden Malang, and Grand Sunrise Malang naming to reconcile</a:t>
            </a:r>
          </a:p>
          <a:p/>
          <a:p>
            <a:r>
              <a:t>Business Districts | Voza Tower; Rame-Rame; Bali Bites; Midpoint Kayoon as an additional client portfolio reference requiring status confirmation | Grand Central Bandung</a:t>
            </a:r>
          </a:p>
          <a:p/>
          <a:p>
            <a:r>
              <a:t>Logistic &amp; Industrial Park | Tritan Surabaya; Tritan Medan; Tritan Wedi 1 and 2; Tritan Taman; Tritan Southgate; TritanPoint and TritanHub brand references | Tritan Gresik; Tritan Gempol Pasuruan; Tanrise Industrial Park Palembang; Tanrise Industrial Park Banjarbaru</a:t>
            </a:r>
          </a:p>
          <a:p/>
          <a:p>
            <a:r>
              <a:t>Hotel, MICE, and Leisure | Vasa Hotel Surabaya; Vasa Suite Surabaya; three Cleo Business Hotel locations; Solaris hotel and villa assets in Bali and Malang; Golf Taman Dayu; Driving Range | Ongoing: VASA Ubud and VASA Bromo. Upcoming: VASA Canggu, VASA Malang, and GOED Malang</a:t>
            </a:r>
          </a:p>
          <a:p/>
          <a:p>
            <a:r>
              <a:t>Portfolio Rules</a:t>
            </a:r>
          </a:p>
          <a:p/>
          <a:p>
            <a:r>
              <a:t>● Do not count a proposed renaming as an additional project. ● Do not treat all TANLY-managed properties as automatically owned by TANRISE. ● Do not convert scheduled development dates into confirmed operating status. ● Retain established project names unless a naming change has been approved and</a:t>
            </a:r>
          </a:p>
          <a:p/>
          <a:p>
            <a:r>
              <a:t>implemented. ● Reconcile ownership percentages separately from the brand diagram.</a:t>
            </a:r>
          </a:p>
          <a:p/>
          <a:p>
            <a:r>
              <a:t>Supporting detail: The complete project and naming register appears in Appendix A.</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19 — The TANRISE Portfolio: Existing Assets and Future Development</a:t>
            </a:r>
          </a:p>
          <a:p>
            <a:r>
              <a:t>Document pages: 19, 20</a:t>
            </a:r>
          </a:p>
          <a:p/>
          <a:p>
            <a:r>
              <a:t>COMPLETE SOURCE TEXT</a:t>
            </a:r>
          </a:p>
          <a:p>
            <a:r>
              <a:t>Preserve the Portfolio. Make Its Status Clear.</a:t>
            </a:r>
          </a:p>
          <a:p/>
          <a:p>
            <a:r>
              <a:t>Business pillar | Existing assets and documented portfolio references | Ongoing or upcoming development</a:t>
            </a:r>
          </a:p>
          <a:p/>
          <a:p>
            <a:r>
              <a:t>Integrated City | Tanrise Taman Dayu Pandaan | Tanrise Bandung; Tanrise City Sidoarjo; Swiss of Taman Dayu Pandaan</a:t>
            </a:r>
          </a:p>
          <a:p/>
          <a:p>
            <a:r>
              <a:t>Community Living | Kyo Society; Grand Sunrise Menganti; Jumana Residence / Sunrise Residence Sidoarjo naming transition; ARC100 as an additional documented apartment brand | Malang residential development, with Sunrise Residence Malang, Sunrise Garden Malang, and Grand Sunrise Malang naming to reconcile</a:t>
            </a:r>
          </a:p>
          <a:p/>
          <a:p>
            <a:r>
              <a:t>Business Districts | Voza Tower; Rame-Rame; Bali Bites; Midpoint Kayoon as an additional client portfolio reference requiring status confirmation | Grand Central Bandung</a:t>
            </a:r>
          </a:p>
          <a:p/>
          <a:p>
            <a:r>
              <a:t>Logistic &amp; Industrial Park | Tritan Surabaya; Tritan Medan; Tritan Wedi 1 and 2; Tritan Taman; Tritan Southgate; TritanPoint and TritanHub brand references | Tritan Gresik; Tritan Gempol Pasuruan; Tanrise Industrial Park Palembang; Tanrise Industrial Park Banjarbaru</a:t>
            </a:r>
          </a:p>
          <a:p/>
          <a:p>
            <a:r>
              <a:t>Hotel, MICE, and Leisure | Vasa Hotel Surabaya; Vasa Suite Surabaya; three Cleo Business Hotel locations; Solaris hotel and villa assets in Bali and Malang; Golf Taman Dayu; Driving Range | Ongoing: VASA Ubud and VASA Bromo. Upcoming: VASA Canggu, VASA Malang, and GOED Malang</a:t>
            </a:r>
          </a:p>
          <a:p/>
          <a:p>
            <a:r>
              <a:t>Portfolio Rules</a:t>
            </a:r>
          </a:p>
          <a:p/>
          <a:p>
            <a:r>
              <a:t>● Do not count a proposed renaming as an additional project. ● Do not treat all TANLY-managed properties as automatically owned by TANRISE. ● Do not convert scheduled development dates into confirmed operating status. ● Retain established project names unless a naming change has been approved and</a:t>
            </a:r>
          </a:p>
          <a:p/>
          <a:p>
            <a:r>
              <a:t>implemented. ● Reconcile ownership percentages separately from the brand diagram.</a:t>
            </a:r>
          </a:p>
          <a:p/>
          <a:p>
            <a:r>
              <a:t>Supporting detail: The complete project and naming register appears in Appendix A.</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19 — The TANRISE Portfolio: Existing Assets and Future Development</a:t>
            </a:r>
          </a:p>
          <a:p>
            <a:r>
              <a:t>Document pages: 19, 20</a:t>
            </a:r>
          </a:p>
          <a:p/>
          <a:p>
            <a:r>
              <a:t>COMPLETE SOURCE TEXT</a:t>
            </a:r>
          </a:p>
          <a:p>
            <a:r>
              <a:t>Preserve the Portfolio. Make Its Status Clear.</a:t>
            </a:r>
          </a:p>
          <a:p/>
          <a:p>
            <a:r>
              <a:t>Business pillar | Existing assets and documented portfolio references | Ongoing or upcoming development</a:t>
            </a:r>
          </a:p>
          <a:p/>
          <a:p>
            <a:r>
              <a:t>Integrated City | Tanrise Taman Dayu Pandaan | Tanrise Bandung; Tanrise City Sidoarjo; Swiss of Taman Dayu Pandaan</a:t>
            </a:r>
          </a:p>
          <a:p/>
          <a:p>
            <a:r>
              <a:t>Community Living | Kyo Society; Grand Sunrise Menganti; Jumana Residence / Sunrise Residence Sidoarjo naming transition; ARC100 as an additional documented apartment brand | Malang residential development, with Sunrise Residence Malang, Sunrise Garden Malang, and Grand Sunrise Malang naming to reconcile</a:t>
            </a:r>
          </a:p>
          <a:p/>
          <a:p>
            <a:r>
              <a:t>Business Districts | Voza Tower; Rame-Rame; Bali Bites; Midpoint Kayoon as an additional client portfolio reference requiring status confirmation | Grand Central Bandung</a:t>
            </a:r>
          </a:p>
          <a:p/>
          <a:p>
            <a:r>
              <a:t>Logistic &amp; Industrial Park | Tritan Surabaya; Tritan Medan; Tritan Wedi 1 and 2; Tritan Taman; Tritan Southgate; TritanPoint and TritanHub brand references | Tritan Gresik; Tritan Gempol Pasuruan; Tanrise Industrial Park Palembang; Tanrise Industrial Park Banjarbaru</a:t>
            </a:r>
          </a:p>
          <a:p/>
          <a:p>
            <a:r>
              <a:t>Hotel, MICE, and Leisure | Vasa Hotel Surabaya; Vasa Suite Surabaya; three Cleo Business Hotel locations; Solaris hotel and villa assets in Bali and Malang; Golf Taman Dayu; Driving Range | Ongoing: VASA Ubud and VASA Bromo. Upcoming: VASA Canggu, VASA Malang, and GOED Malang</a:t>
            </a:r>
          </a:p>
          <a:p/>
          <a:p>
            <a:r>
              <a:t>Portfolio Rules</a:t>
            </a:r>
          </a:p>
          <a:p/>
          <a:p>
            <a:r>
              <a:t>● Do not count a proposed renaming as an additional project. ● Do not treat all TANLY-managed properties as automatically owned by TANRISE. ● Do not convert scheduled development dates into confirmed operating status. ● Retain established project names unless a naming change has been approved and</a:t>
            </a:r>
          </a:p>
          <a:p/>
          <a:p>
            <a:r>
              <a:t>implemented. ● Reconcile ownership percentages separately from the brand diagram.</a:t>
            </a:r>
          </a:p>
          <a:p/>
          <a:p>
            <a:r>
              <a:t>Supporting detail: The complete project and naming register appears in Appendix A.</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19 — The TANRISE Portfolio: Existing Assets and Future Development</a:t>
            </a:r>
          </a:p>
          <a:p>
            <a:r>
              <a:t>Document pages: 19, 20</a:t>
            </a:r>
          </a:p>
          <a:p/>
          <a:p>
            <a:r>
              <a:t>COMPLETE SOURCE TEXT</a:t>
            </a:r>
          </a:p>
          <a:p>
            <a:r>
              <a:t>Preserve the Portfolio. Make Its Status Clear.</a:t>
            </a:r>
          </a:p>
          <a:p/>
          <a:p>
            <a:r>
              <a:t>Business pillar | Existing assets and documented portfolio references | Ongoing or upcoming development</a:t>
            </a:r>
          </a:p>
          <a:p/>
          <a:p>
            <a:r>
              <a:t>Integrated City | Tanrise Taman Dayu Pandaan | Tanrise Bandung; Tanrise City Sidoarjo; Swiss of Taman Dayu Pandaan</a:t>
            </a:r>
          </a:p>
          <a:p/>
          <a:p>
            <a:r>
              <a:t>Community Living | Kyo Society; Grand Sunrise Menganti; Jumana Residence / Sunrise Residence Sidoarjo naming transition; ARC100 as an additional documented apartment brand | Malang residential development, with Sunrise Residence Malang, Sunrise Garden Malang, and Grand Sunrise Malang naming to reconcile</a:t>
            </a:r>
          </a:p>
          <a:p/>
          <a:p>
            <a:r>
              <a:t>Business Districts | Voza Tower; Rame-Rame; Bali Bites; Midpoint Kayoon as an additional client portfolio reference requiring status confirmation | Grand Central Bandung</a:t>
            </a:r>
          </a:p>
          <a:p/>
          <a:p>
            <a:r>
              <a:t>Logistic &amp; Industrial Park | Tritan Surabaya; Tritan Medan; Tritan Wedi 1 and 2; Tritan Taman; Tritan Southgate; TritanPoint and TritanHub brand references | Tritan Gresik; Tritan Gempol Pasuruan; Tanrise Industrial Park Palembang; Tanrise Industrial Park Banjarbaru</a:t>
            </a:r>
          </a:p>
          <a:p/>
          <a:p>
            <a:r>
              <a:t>Hotel, MICE, and Leisure | Vasa Hotel Surabaya; Vasa Suite Surabaya; three Cleo Business Hotel locations; Solaris hotel and villa assets in Bali and Malang; Golf Taman Dayu; Driving Range | Ongoing: VASA Ubud and VASA Bromo. Upcoming: VASA Canggu, VASA Malang, and GOED Malang</a:t>
            </a:r>
          </a:p>
          <a:p/>
          <a:p>
            <a:r>
              <a:t>Portfolio Rules</a:t>
            </a:r>
          </a:p>
          <a:p/>
          <a:p>
            <a:r>
              <a:t>● Do not count a proposed renaming as an additional project. ● Do not treat all TANLY-managed properties as automatically owned by TANRISE. ● Do not convert scheduled development dates into confirmed operating status. ● Retain established project names unless a naming change has been approved and</a:t>
            </a:r>
          </a:p>
          <a:p/>
          <a:p>
            <a:r>
              <a:t>implemented. ● Reconcile ownership percentages separately from the brand diagram.</a:t>
            </a:r>
          </a:p>
          <a:p/>
          <a:p>
            <a:r>
              <a:t>Supporting detail: The complete project and naming register appears in Appendix A.</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20 — Brand Naming and Endorsement Principles</a:t>
            </a:r>
          </a:p>
          <a:p>
            <a:r>
              <a:t>Document pages: 20, 21</a:t>
            </a:r>
          </a:p>
          <a:p/>
          <a:p>
            <a:r>
              <a:t>COMPLETE SOURCE TEXT</a:t>
            </a:r>
          </a:p>
          <a:p>
            <a:r>
              <a:t>Preserve Recognition. Clarify Relationships.</a:t>
            </a:r>
          </a:p>
          <a:p/>
          <a:p>
            <a:r>
              <a:t>Brand level | Proposed principle</a:t>
            </a:r>
          </a:p>
          <a:p/>
          <a:p>
            <a:r>
              <a:t>TANRISE | Corporate reputation and property-development endorsement</a:t>
            </a:r>
          </a:p>
          <a:p/>
          <a:p>
            <a:r>
              <a:t>Business pillars | Descriptive portfolio categories</a:t>
            </a:r>
          </a:p>
          <a:p/>
          <a:p>
            <a:r>
              <a:t>Integrated destinations | Preserve recognisable destination names</a:t>
            </a:r>
          </a:p>
          <a:p/>
          <a:p>
            <a:r>
              <a:t>Residential and commercial projects | Retain approved customer-facing project identities</a:t>
            </a:r>
          </a:p>
          <a:p/>
          <a:p>
            <a:r>
              <a:t>Hospitality brands | Preserve operating-brand identity and identify management relationships accurately</a:t>
            </a:r>
          </a:p>
          <a:p/>
          <a:p>
            <a:r>
              <a:t>Naming Transitions Shown in the Client’s Brand Portfolio Deck</a:t>
            </a:r>
          </a:p>
          <a:p/>
          <a:p>
            <a:r>
              <a:t>Jumana Residence → Sunrise Residence Sidoarjo Shown as a “Before/After” proposal. Treat as one project with a naming transition, subject to implementation confirmation.</a:t>
            </a:r>
          </a:p>
          <a:p/>
          <a:p>
            <a:r>
              <a:t>Grand Sunrise → Location-Based Grand Sunrise Naming Examples include Grand Sunrise Menganti and Grand Sunrise Malang.</a:t>
            </a:r>
          </a:p>
          <a:p/>
          <a:p>
            <a:r>
              <a:t>TritanPoint / TritanHub → TRITAN + Location Shown as a proposed consolidated warehouse-brand system.</a:t>
            </a:r>
          </a:p>
          <a:p/>
          <a:p>
            <a:r>
              <a:t>Tanrise Industrial Park + Location Used for industrial-park naming, with the asset status of each location verified separately.</a:t>
            </a:r>
          </a:p>
          <a:p/>
          <a:p>
            <a:r>
              <a:t>Proposed Endorsement Examples</a:t>
            </a:r>
          </a:p>
          <a:p/>
          <a:p>
            <a:r>
              <a:t>Corporate-led destination</a:t>
            </a:r>
          </a:p>
          <a:p/>
          <a:p>
            <a:r>
              <a:t>TANRISE CITY SIDOARJO</a:t>
            </a:r>
          </a:p>
          <a:p/>
          <a:p>
            <a:r>
              <a:t>Endorsed project</a:t>
            </a:r>
          </a:p>
          <a:p/>
          <a:p>
            <a:r>
              <a:t>KYO SOCIETY A development by TANRISE</a:t>
            </a:r>
          </a:p>
          <a:p/>
          <a:p>
            <a:r>
              <a:t>Location-based logistics brand</a:t>
            </a:r>
          </a:p>
          <a:p/>
          <a:p>
            <a:r>
              <a:t>TRITAN GRESIK By TANRISE</a:t>
            </a:r>
          </a:p>
          <a:p/>
          <a:p>
            <a:r>
              <a:t>Hospitality relationship</a:t>
            </a:r>
          </a:p>
          <a:p/>
          <a:p>
            <a:r>
              <a:t>Identify the approved hotel brand, asset company, and TANLY management relationship where relevant.</a:t>
            </a:r>
          </a:p>
          <a:p/>
          <a:p>
            <a:r>
              <a:t>Validation note: Endorsement wording and legal attribution require review before use. “The House of VASA” is not established as the approved umbrella by the two supplied decks.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20 — Brand Naming and Endorsement Principles</a:t>
            </a:r>
          </a:p>
          <a:p>
            <a:r>
              <a:t>Document pages: 20, 21</a:t>
            </a:r>
          </a:p>
          <a:p/>
          <a:p>
            <a:r>
              <a:t>COMPLETE SOURCE TEXT</a:t>
            </a:r>
          </a:p>
          <a:p>
            <a:r>
              <a:t>Preserve Recognition. Clarify Relationships.</a:t>
            </a:r>
          </a:p>
          <a:p/>
          <a:p>
            <a:r>
              <a:t>Brand level | Proposed principle</a:t>
            </a:r>
          </a:p>
          <a:p/>
          <a:p>
            <a:r>
              <a:t>TANRISE | Corporate reputation and property-development endorsement</a:t>
            </a:r>
          </a:p>
          <a:p/>
          <a:p>
            <a:r>
              <a:t>Business pillars | Descriptive portfolio categories</a:t>
            </a:r>
          </a:p>
          <a:p/>
          <a:p>
            <a:r>
              <a:t>Integrated destinations | Preserve recognisable destination names</a:t>
            </a:r>
          </a:p>
          <a:p/>
          <a:p>
            <a:r>
              <a:t>Residential and commercial projects | Retain approved customer-facing project identities</a:t>
            </a:r>
          </a:p>
          <a:p/>
          <a:p>
            <a:r>
              <a:t>Hospitality brands | Preserve operating-brand identity and identify management relationships accurately</a:t>
            </a:r>
          </a:p>
          <a:p/>
          <a:p>
            <a:r>
              <a:t>Naming Transitions Shown in the Client’s Brand Portfolio Deck</a:t>
            </a:r>
          </a:p>
          <a:p/>
          <a:p>
            <a:r>
              <a:t>Jumana Residence → Sunrise Residence Sidoarjo Shown as a “Before/After” proposal. Treat as one project with a naming transition, subject to implementation confirmation.</a:t>
            </a:r>
          </a:p>
          <a:p/>
          <a:p>
            <a:r>
              <a:t>Grand Sunrise → Location-Based Grand Sunrise Naming Examples include Grand Sunrise Menganti and Grand Sunrise Malang.</a:t>
            </a:r>
          </a:p>
          <a:p/>
          <a:p>
            <a:r>
              <a:t>TritanPoint / TritanHub → TRITAN + Location Shown as a proposed consolidated warehouse-brand system.</a:t>
            </a:r>
          </a:p>
          <a:p/>
          <a:p>
            <a:r>
              <a:t>Tanrise Industrial Park + Location Used for industrial-park naming, with the asset status of each location verified separately.</a:t>
            </a:r>
          </a:p>
          <a:p/>
          <a:p>
            <a:r>
              <a:t>Proposed Endorsement Examples</a:t>
            </a:r>
          </a:p>
          <a:p/>
          <a:p>
            <a:r>
              <a:t>Corporate-led destination</a:t>
            </a:r>
          </a:p>
          <a:p/>
          <a:p>
            <a:r>
              <a:t>TANRISE CITY SIDOARJO</a:t>
            </a:r>
          </a:p>
          <a:p/>
          <a:p>
            <a:r>
              <a:t>Endorsed project</a:t>
            </a:r>
          </a:p>
          <a:p/>
          <a:p>
            <a:r>
              <a:t>KYO SOCIETY A development by TANRISE</a:t>
            </a:r>
          </a:p>
          <a:p/>
          <a:p>
            <a:r>
              <a:t>Location-based logistics brand</a:t>
            </a:r>
          </a:p>
          <a:p/>
          <a:p>
            <a:r>
              <a:t>TRITAN GRESIK By TANRISE</a:t>
            </a:r>
          </a:p>
          <a:p/>
          <a:p>
            <a:r>
              <a:t>Hospitality relationship</a:t>
            </a:r>
          </a:p>
          <a:p/>
          <a:p>
            <a:r>
              <a:t>Identify the approved hotel brand, asset company, and TANLY management relationship where relevant.</a:t>
            </a:r>
          </a:p>
          <a:p/>
          <a:p>
            <a:r>
              <a:t>Validation note: Endorsement wording and legal attribution require review before use. “The House of VASA” is not established as the approved umbrella by the two supplied decks.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20 — Brand Naming and Endorsement Principles</a:t>
            </a:r>
          </a:p>
          <a:p>
            <a:r>
              <a:t>Document pages: 20, 21</a:t>
            </a:r>
          </a:p>
          <a:p/>
          <a:p>
            <a:r>
              <a:t>COMPLETE SOURCE TEXT</a:t>
            </a:r>
          </a:p>
          <a:p>
            <a:r>
              <a:t>Preserve Recognition. Clarify Relationships.</a:t>
            </a:r>
          </a:p>
          <a:p/>
          <a:p>
            <a:r>
              <a:t>Brand level | Proposed principle</a:t>
            </a:r>
          </a:p>
          <a:p/>
          <a:p>
            <a:r>
              <a:t>TANRISE | Corporate reputation and property-development endorsement</a:t>
            </a:r>
          </a:p>
          <a:p/>
          <a:p>
            <a:r>
              <a:t>Business pillars | Descriptive portfolio categories</a:t>
            </a:r>
          </a:p>
          <a:p/>
          <a:p>
            <a:r>
              <a:t>Integrated destinations | Preserve recognisable destination names</a:t>
            </a:r>
          </a:p>
          <a:p/>
          <a:p>
            <a:r>
              <a:t>Residential and commercial projects | Retain approved customer-facing project identities</a:t>
            </a:r>
          </a:p>
          <a:p/>
          <a:p>
            <a:r>
              <a:t>Hospitality brands | Preserve operating-brand identity and identify management relationships accurately</a:t>
            </a:r>
          </a:p>
          <a:p/>
          <a:p>
            <a:r>
              <a:t>Naming Transitions Shown in the Client’s Brand Portfolio Deck</a:t>
            </a:r>
          </a:p>
          <a:p/>
          <a:p>
            <a:r>
              <a:t>Jumana Residence → Sunrise Residence Sidoarjo Shown as a “Before/After” proposal. Treat as one project with a naming transition, subject to implementation confirmation.</a:t>
            </a:r>
          </a:p>
          <a:p/>
          <a:p>
            <a:r>
              <a:t>Grand Sunrise → Location-Based Grand Sunrise Naming Examples include Grand Sunrise Menganti and Grand Sunrise Malang.</a:t>
            </a:r>
          </a:p>
          <a:p/>
          <a:p>
            <a:r>
              <a:t>TritanPoint / TritanHub → TRITAN + Location Shown as a proposed consolidated warehouse-brand system.</a:t>
            </a:r>
          </a:p>
          <a:p/>
          <a:p>
            <a:r>
              <a:t>Tanrise Industrial Park + Location Used for industrial-park naming, with the asset status of each location verified separately.</a:t>
            </a:r>
          </a:p>
          <a:p/>
          <a:p>
            <a:r>
              <a:t>Proposed Endorsement Examples</a:t>
            </a:r>
          </a:p>
          <a:p/>
          <a:p>
            <a:r>
              <a:t>Corporate-led destination</a:t>
            </a:r>
          </a:p>
          <a:p/>
          <a:p>
            <a:r>
              <a:t>TANRISE CITY SIDOARJO</a:t>
            </a:r>
          </a:p>
          <a:p/>
          <a:p>
            <a:r>
              <a:t>Endorsed project</a:t>
            </a:r>
          </a:p>
          <a:p/>
          <a:p>
            <a:r>
              <a:t>KYO SOCIETY A development by TANRISE</a:t>
            </a:r>
          </a:p>
          <a:p/>
          <a:p>
            <a:r>
              <a:t>Location-based logistics brand</a:t>
            </a:r>
          </a:p>
          <a:p/>
          <a:p>
            <a:r>
              <a:t>TRITAN GRESIK By TANRISE</a:t>
            </a:r>
          </a:p>
          <a:p/>
          <a:p>
            <a:r>
              <a:t>Hospitality relationship</a:t>
            </a:r>
          </a:p>
          <a:p/>
          <a:p>
            <a:r>
              <a:t>Identify the approved hotel brand, asset company, and TANLY management relationship where relevant.</a:t>
            </a:r>
          </a:p>
          <a:p/>
          <a:p>
            <a:r>
              <a:t>Validation note: Endorsement wording and legal attribution require review before use. “The House of VASA” is not established as the approved umbrella by the two supplied decks.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21 — Integrated Destinations and Shared Value Creation</a:t>
            </a:r>
          </a:p>
          <a:p>
            <a:r>
              <a:t>Document pages: 22, 23</a:t>
            </a:r>
          </a:p>
          <a:p/>
          <a:p>
            <a:r>
              <a:t>COMPLETE SOURCE TEXT</a:t>
            </a:r>
          </a:p>
          <a:p>
            <a:r>
              <a:t>One Destination Can Connect Several Businesses.</a:t>
            </a:r>
          </a:p>
          <a:p/>
          <a:p>
            <a:r>
              <a:t>Tanrise Taman Dayu Pandaan</a:t>
            </a:r>
          </a:p>
          <a:p/>
          <a:p>
            <a:r>
              <a:t>The wider destination connects residential development with golf, recreation, hospitality, and visitor activity.</a:t>
            </a:r>
          </a:p>
          <a:p/>
          <a:p>
            <a:r>
              <a:t>Documented components include:</a:t>
            </a:r>
          </a:p>
          <a:p/>
          <a:p>
            <a:r>
              <a:t>● Tanrise Taman Dayu Pandaan. ● Golf Taman Dayu. ● Driving Range. ● Swiss of Taman Dayu Pandaan as an ongoing development.</a:t>
            </a:r>
          </a:p>
          <a:p/>
          <a:p>
            <a:r>
              <a:t>Destination-wide planning should preserve the distinction between these assets and their ownership and operating arrangements.</a:t>
            </a:r>
          </a:p>
          <a:p/>
          <a:p>
            <a:r>
              <a:t>Tanrise Bandung</a:t>
            </a:r>
          </a:p>
          <a:p/>
          <a:p>
            <a:r>
              <a:t>An ongoing integrated development with residential and commercial potential.</a:t>
            </a:r>
          </a:p>
          <a:p/>
          <a:p>
            <a:r>
              <a:t>Grand Central Bandung is identified as a commercial project within the broader Bandung development site.</a:t>
            </a:r>
          </a:p>
          <a:p/>
          <a:p>
            <a:r>
              <a:t>Tanrise City Sidoarjo</a:t>
            </a:r>
          </a:p>
          <a:p/>
          <a:p>
            <a:r>
              <a:t>An ongoing integrated-city project.</a:t>
            </a:r>
          </a:p>
          <a:p/>
          <a:p>
            <a:r>
              <a:t>Its long-term development strategy should coordinate housing, infrastructure, commercial activity, and appropriate partner-led facilities.</a:t>
            </a:r>
          </a:p>
          <a:p/>
          <a:p>
            <a:r>
              <a:t>Proposed Value-Creation Cycle</a:t>
            </a:r>
          </a:p>
          <a:p/>
          <a:p>
            <a:r>
              <a:t>Develop → Activate → Operate → Grow</a:t>
            </a:r>
          </a:p>
          <a:p/>
          <a:p>
            <a:r>
              <a:t>● Develop relevant places. ● Activate them through tenants, institutions, services, and experiences. ● Operate retained assets and customer relationships. ● Grow income, asset productivity, and reinvestment capacity.</a:t>
            </a:r>
          </a:p>
          <a:p/>
          <a:p>
            <a:r>
              <a:t>Education, healthcare, wellness, and memberships should be labelled as proposed or partner-led opportunities unless a specific committed facility or operating business is confirmed.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21 — Integrated Destinations and Shared Value Creation</a:t>
            </a:r>
          </a:p>
          <a:p>
            <a:r>
              <a:t>Document pages: 22, 23</a:t>
            </a:r>
          </a:p>
          <a:p/>
          <a:p>
            <a:r>
              <a:t>COMPLETE SOURCE TEXT</a:t>
            </a:r>
          </a:p>
          <a:p>
            <a:r>
              <a:t>One Destination Can Connect Several Businesses.</a:t>
            </a:r>
          </a:p>
          <a:p/>
          <a:p>
            <a:r>
              <a:t>Tanrise Taman Dayu Pandaan</a:t>
            </a:r>
          </a:p>
          <a:p/>
          <a:p>
            <a:r>
              <a:t>The wider destination connects residential development with golf, recreation, hospitality, and visitor activity.</a:t>
            </a:r>
          </a:p>
          <a:p/>
          <a:p>
            <a:r>
              <a:t>Documented components include:</a:t>
            </a:r>
          </a:p>
          <a:p/>
          <a:p>
            <a:r>
              <a:t>● Tanrise Taman Dayu Pandaan. ● Golf Taman Dayu. ● Driving Range. ● Swiss of Taman Dayu Pandaan as an ongoing development.</a:t>
            </a:r>
          </a:p>
          <a:p/>
          <a:p>
            <a:r>
              <a:t>Destination-wide planning should preserve the distinction between these assets and their ownership and operating arrangements.</a:t>
            </a:r>
          </a:p>
          <a:p/>
          <a:p>
            <a:r>
              <a:t>Tanrise Bandung</a:t>
            </a:r>
          </a:p>
          <a:p/>
          <a:p>
            <a:r>
              <a:t>An ongoing integrated development with residential and commercial potential.</a:t>
            </a:r>
          </a:p>
          <a:p/>
          <a:p>
            <a:r>
              <a:t>Grand Central Bandung is identified as a commercial project within the broader Bandung development site.</a:t>
            </a:r>
          </a:p>
          <a:p/>
          <a:p>
            <a:r>
              <a:t>Tanrise City Sidoarjo</a:t>
            </a:r>
          </a:p>
          <a:p/>
          <a:p>
            <a:r>
              <a:t>An ongoing integrated-city project.</a:t>
            </a:r>
          </a:p>
          <a:p/>
          <a:p>
            <a:r>
              <a:t>Its long-term development strategy should coordinate housing, infrastructure, commercial activity, and appropriate partner-led facilities.</a:t>
            </a:r>
          </a:p>
          <a:p/>
          <a:p>
            <a:r>
              <a:t>Proposed Value-Creation Cycle</a:t>
            </a:r>
          </a:p>
          <a:p/>
          <a:p>
            <a:r>
              <a:t>Develop → Activate → Operate → Grow</a:t>
            </a:r>
          </a:p>
          <a:p/>
          <a:p>
            <a:r>
              <a:t>● Develop relevant places. ● Activate them through tenants, institutions, services, and experiences. ● Operate retained assets and customer relationships. ● Grow income, asset productivity, and reinvestment capacity.</a:t>
            </a:r>
          </a:p>
          <a:p/>
          <a:p>
            <a:r>
              <a:t>Education, healthcare, wellness, and memberships should be labelled as proposed or partner-led opportunities unless a specific committed facility or operating business is confirmed.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21 — Integrated Destinations and Shared Value Creation</a:t>
            </a:r>
          </a:p>
          <a:p>
            <a:r>
              <a:t>Document pages: 22, 23</a:t>
            </a:r>
          </a:p>
          <a:p/>
          <a:p>
            <a:r>
              <a:t>COMPLETE SOURCE TEXT</a:t>
            </a:r>
          </a:p>
          <a:p>
            <a:r>
              <a:t>One Destination Can Connect Several Businesses.</a:t>
            </a:r>
          </a:p>
          <a:p/>
          <a:p>
            <a:r>
              <a:t>Tanrise Taman Dayu Pandaan</a:t>
            </a:r>
          </a:p>
          <a:p/>
          <a:p>
            <a:r>
              <a:t>The wider destination connects residential development with golf, recreation, hospitality, and visitor activity.</a:t>
            </a:r>
          </a:p>
          <a:p/>
          <a:p>
            <a:r>
              <a:t>Documented components include:</a:t>
            </a:r>
          </a:p>
          <a:p/>
          <a:p>
            <a:r>
              <a:t>● Tanrise Taman Dayu Pandaan. ● Golf Taman Dayu. ● Driving Range. ● Swiss of Taman Dayu Pandaan as an ongoing development.</a:t>
            </a:r>
          </a:p>
          <a:p/>
          <a:p>
            <a:r>
              <a:t>Destination-wide planning should preserve the distinction between these assets and their ownership and operating arrangements.</a:t>
            </a:r>
          </a:p>
          <a:p/>
          <a:p>
            <a:r>
              <a:t>Tanrise Bandung</a:t>
            </a:r>
          </a:p>
          <a:p/>
          <a:p>
            <a:r>
              <a:t>An ongoing integrated development with residential and commercial potential.</a:t>
            </a:r>
          </a:p>
          <a:p/>
          <a:p>
            <a:r>
              <a:t>Grand Central Bandung is identified as a commercial project within the broader Bandung development site.</a:t>
            </a:r>
          </a:p>
          <a:p/>
          <a:p>
            <a:r>
              <a:t>Tanrise City Sidoarjo</a:t>
            </a:r>
          </a:p>
          <a:p/>
          <a:p>
            <a:r>
              <a:t>An ongoing integrated-city project.</a:t>
            </a:r>
          </a:p>
          <a:p/>
          <a:p>
            <a:r>
              <a:t>Its long-term development strategy should coordinate housing, infrastructure, commercial activity, and appropriate partner-led facilities.</a:t>
            </a:r>
          </a:p>
          <a:p/>
          <a:p>
            <a:r>
              <a:t>Proposed Value-Creation Cycle</a:t>
            </a:r>
          </a:p>
          <a:p/>
          <a:p>
            <a:r>
              <a:t>Develop → Activate → Operate → Grow</a:t>
            </a:r>
          </a:p>
          <a:p/>
          <a:p>
            <a:r>
              <a:t>● Develop relevant places. ● Activate them through tenants, institutions, services, and experiences. ● Operate retained assets and customer relationships. ● Grow income, asset productivity, and reinvestment capacity.</a:t>
            </a:r>
          </a:p>
          <a:p/>
          <a:p>
            <a:r>
              <a:t>Education, healthcare, wellness, and memberships should be labelled as proposed or partner-led opportunities unless a specific committed facility or operating business is confirmed.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22 — Three Directions. One Ambition.</a:t>
            </a:r>
          </a:p>
          <a:p>
            <a:r>
              <a:t>Document pages: 23, 24</a:t>
            </a:r>
          </a:p>
          <a:p/>
          <a:p>
            <a:r>
              <a:t>COMPLETE SOURCE TEXT</a:t>
            </a:r>
          </a:p>
          <a:p>
            <a:r>
              <a:t>Choosing How TANRISE Will Be Known in Its Next Chapter.</a:t>
            </a:r>
          </a:p>
          <a:p/>
          <a:p>
            <a:r>
              <a:t>The three proposed directions share a foundation of trust, purposeful concepts, and long-term value.</a:t>
            </a:r>
          </a:p>
          <a:p/>
          <a:p>
            <a:r>
              <a:t>Dimension | Option 01 | Option 02 | Option 03</a:t>
            </a:r>
          </a:p>
          <a:p/>
          <a:p>
            <a:r>
              <a:t>Strategic territory | Development excellence | Human-centred placemaking | Integrated value ecosystems</a:t>
            </a:r>
          </a:p>
          <a:p/>
          <a:p>
            <a:r>
              <a:t>Brand idea | Building Tomorrow’s Places | Elevating Life | Creating Lasting Value</a:t>
            </a:r>
          </a:p>
          <a:p/>
          <a:p>
            <a:r>
              <a:t>Primary emphasis | What we build | Why we build | What our developments enable</a:t>
            </a:r>
          </a:p>
          <a:p/>
          <a:p>
            <a:r>
              <a:t>Emotional appeal | Confidence | Belonging and progress | Opportunity and prosperity</a:t>
            </a:r>
          </a:p>
          <a:p/>
          <a:p>
            <a:r>
              <a:t>Commercial emphasis | Development and sales | Development and long-term place value | Development and recurring income</a:t>
            </a:r>
          </a:p>
          <a:p/>
          <a:p>
            <a:r>
              <a:t>Complexity | Lower | Moderate | Higher</a:t>
            </a:r>
          </a:p>
          <a:p/>
          <a:p>
            <a:r>
              <a:t>All options should accommodate TANRISE’s five business pillars and its existing and future portfolio.</a:t>
            </a:r>
          </a:p>
          <a:p/>
          <a:p>
            <a:r>
              <a:t>All retain CINTA and Super-Serving as foundations.</a:t>
            </a:r>
          </a:p>
          <a:p/>
          <a:p>
            <a:r>
              <a:t>Preliminary recommendation: Adopt Option 02 as the corporate brand direction and incorporate Option 03’s economic ambition into the business strategy.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22 — Three Directions. One Ambition.</a:t>
            </a:r>
          </a:p>
          <a:p>
            <a:r>
              <a:t>Document pages: 23, 24</a:t>
            </a:r>
          </a:p>
          <a:p/>
          <a:p>
            <a:r>
              <a:t>COMPLETE SOURCE TEXT</a:t>
            </a:r>
          </a:p>
          <a:p>
            <a:r>
              <a:t>Choosing How TANRISE Will Be Known in Its Next Chapter.</a:t>
            </a:r>
          </a:p>
          <a:p/>
          <a:p>
            <a:r>
              <a:t>The three proposed directions share a foundation of trust, purposeful concepts, and long-term value.</a:t>
            </a:r>
          </a:p>
          <a:p/>
          <a:p>
            <a:r>
              <a:t>Dimension | Option 01 | Option 02 | Option 03</a:t>
            </a:r>
          </a:p>
          <a:p/>
          <a:p>
            <a:r>
              <a:t>Strategic territory | Development excellence | Human-centred placemaking | Integrated value ecosystems</a:t>
            </a:r>
          </a:p>
          <a:p/>
          <a:p>
            <a:r>
              <a:t>Brand idea | Building Tomorrow’s Places | Elevating Life | Creating Lasting Value</a:t>
            </a:r>
          </a:p>
          <a:p/>
          <a:p>
            <a:r>
              <a:t>Primary emphasis | What we build | Why we build | What our developments enable</a:t>
            </a:r>
          </a:p>
          <a:p/>
          <a:p>
            <a:r>
              <a:t>Emotional appeal | Confidence | Belonging and progress | Opportunity and prosperity</a:t>
            </a:r>
          </a:p>
          <a:p/>
          <a:p>
            <a:r>
              <a:t>Commercial emphasis | Development and sales | Development and long-term place value | Development and recurring income</a:t>
            </a:r>
          </a:p>
          <a:p/>
          <a:p>
            <a:r>
              <a:t>Complexity | Lower | Moderate | Higher</a:t>
            </a:r>
          </a:p>
          <a:p/>
          <a:p>
            <a:r>
              <a:t>All options should accommodate TANRISE’s five business pillars and its existing and future portfolio.</a:t>
            </a:r>
          </a:p>
          <a:p/>
          <a:p>
            <a:r>
              <a:t>All retain CINTA and Super-Serving as foundations.</a:t>
            </a:r>
          </a:p>
          <a:p/>
          <a:p>
            <a:r>
              <a:t>Preliminary recommendation: Adopt Option 02 as the corporate brand direction and incorporate Option 03’s economic ambition into the business strategy.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23 — Option 01: Building Tomorrow’s Places</a:t>
            </a:r>
          </a:p>
          <a:p>
            <a:r>
              <a:t>Document pages: 24, 25</a:t>
            </a:r>
          </a:p>
          <a:p/>
          <a:p>
            <a:r>
              <a:t>COMPLETE SOURCE TEXT</a:t>
            </a:r>
          </a:p>
          <a:p>
            <a:r>
              <a:t>The Trusted Developer</a:t>
            </a:r>
          </a:p>
          <a:p/>
          <a:p>
            <a:r>
              <a:t>Strategic territory Development excellence.</a:t>
            </a:r>
          </a:p>
          <a:p/>
          <a:p>
            <a:r>
              <a:t>Brand idea Building Tomorrow’s Places.</a:t>
            </a:r>
          </a:p>
          <a:p/>
          <a:p>
            <a:r>
              <a:t>Supporting statement Creating developments that inspire confidence today and opportunity for tomorrow.</a:t>
            </a:r>
          </a:p>
          <a:p/>
          <a:p>
            <a:r>
              <a:t>Brand purpose To create well-conceived places that support progress, opportunity, and a better future for the people and businesses they serve.</a:t>
            </a:r>
          </a:p>
          <a:p/>
          <a:p>
            <a:r>
              <a:t>Brand vision To become one of Indonesia’s leading and most trusted property developers, recognised for thoughtful concepts, dependable delivery, enduring quality, and lasting value.</a:t>
            </a:r>
          </a:p>
          <a:p/>
          <a:p>
            <a:r>
              <a:t>Brand mission To develop residential, commercial, industrial, hospitality, and integrated destinations through thoughtful planning, responsible execution, and a commitment to the customers, partners, and communities who depend on the places we create.</a:t>
            </a:r>
          </a:p>
          <a:p/>
          <a:p>
            <a:r>
              <a:t>Brand positioning TANRISE is a trusted Indonesian property developer combining market understanding, relevant concepts, and dependable execution to create places that support life and business.</a:t>
            </a:r>
          </a:p>
          <a:p/>
          <a:p>
            <a:r>
              <a:t>Brand essence Progress Through Purposeful Development.</a:t>
            </a:r>
          </a:p>
          <a:p/>
          <a:p>
            <a:r>
              <a:t>Brand promise Well-conceived places. Responsibly delivered.</a:t>
            </a:r>
          </a:p>
          <a:p/>
          <a:p>
            <a:r>
              <a:t>Brand personality Professional, visionary, dependable, disciplined, thoughtful, and approachable.</a:t>
            </a:r>
          </a:p>
          <a:p/>
          <a:p>
            <a:r>
              <a:t>Tone of voice Clear, assured, knowledgeable, responsible, and optimistic.</a:t>
            </a:r>
          </a:p>
          <a:p/>
          <a:p>
            <a:r>
              <a:t>Corporate belief Great development begins with understanding what tomorrow will require and delivering responsibly today.</a:t>
            </a:r>
          </a:p>
          <a:p/>
          <a:p>
            <a:r>
              <a:t>Culture Commitment-led execution, accountability, delivery ownership, and continuous improvement.</a:t>
            </a:r>
          </a:p>
          <a:p/>
          <a:p>
            <a:r>
              <a:t>Brand values Customer Focus, Integrity, Teamwork, and Agility.</a:t>
            </a:r>
          </a:p>
          <a:p/>
          <a:p>
            <a:r>
              <a:t>Strategic strength Clear and credible, with relatively limited change to the existing operating model.</a:t>
            </a:r>
          </a:p>
          <a:p/>
          <a:p>
            <a:r>
              <a:t>Strategic limitation May be insufficiently differentiated from established property developers.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23 — Option 01: Building Tomorrow’s Places</a:t>
            </a:r>
          </a:p>
          <a:p>
            <a:r>
              <a:t>Document pages: 24, 25</a:t>
            </a:r>
          </a:p>
          <a:p/>
          <a:p>
            <a:r>
              <a:t>COMPLETE SOURCE TEXT</a:t>
            </a:r>
          </a:p>
          <a:p>
            <a:r>
              <a:t>The Trusted Developer</a:t>
            </a:r>
          </a:p>
          <a:p/>
          <a:p>
            <a:r>
              <a:t>Strategic territory Development excellence.</a:t>
            </a:r>
          </a:p>
          <a:p/>
          <a:p>
            <a:r>
              <a:t>Brand idea Building Tomorrow’s Places.</a:t>
            </a:r>
          </a:p>
          <a:p/>
          <a:p>
            <a:r>
              <a:t>Supporting statement Creating developments that inspire confidence today and opportunity for tomorrow.</a:t>
            </a:r>
          </a:p>
          <a:p/>
          <a:p>
            <a:r>
              <a:t>Brand purpose To create well-conceived places that support progress, opportunity, and a better future for the people and businesses they serve.</a:t>
            </a:r>
          </a:p>
          <a:p/>
          <a:p>
            <a:r>
              <a:t>Brand vision To become one of Indonesia’s leading and most trusted property developers, recognised for thoughtful concepts, dependable delivery, enduring quality, and lasting value.</a:t>
            </a:r>
          </a:p>
          <a:p/>
          <a:p>
            <a:r>
              <a:t>Brand mission To develop residential, commercial, industrial, hospitality, and integrated destinations through thoughtful planning, responsible execution, and a commitment to the customers, partners, and communities who depend on the places we create.</a:t>
            </a:r>
          </a:p>
          <a:p/>
          <a:p>
            <a:r>
              <a:t>Brand positioning TANRISE is a trusted Indonesian property developer combining market understanding, relevant concepts, and dependable execution to create places that support life and business.</a:t>
            </a:r>
          </a:p>
          <a:p/>
          <a:p>
            <a:r>
              <a:t>Brand essence Progress Through Purposeful Development.</a:t>
            </a:r>
          </a:p>
          <a:p/>
          <a:p>
            <a:r>
              <a:t>Brand promise Well-conceived places. Responsibly delivered.</a:t>
            </a:r>
          </a:p>
          <a:p/>
          <a:p>
            <a:r>
              <a:t>Brand personality Professional, visionary, dependable, disciplined, thoughtful, and approachable.</a:t>
            </a:r>
          </a:p>
          <a:p/>
          <a:p>
            <a:r>
              <a:t>Tone of voice Clear, assured, knowledgeable, responsible, and optimistic.</a:t>
            </a:r>
          </a:p>
          <a:p/>
          <a:p>
            <a:r>
              <a:t>Corporate belief Great development begins with understanding what tomorrow will require and delivering responsibly today.</a:t>
            </a:r>
          </a:p>
          <a:p/>
          <a:p>
            <a:r>
              <a:t>Culture Commitment-led execution, accountability, delivery ownership, and continuous improvement.</a:t>
            </a:r>
          </a:p>
          <a:p/>
          <a:p>
            <a:r>
              <a:t>Brand values Customer Focus, Integrity, Teamwork, and Agility.</a:t>
            </a:r>
          </a:p>
          <a:p/>
          <a:p>
            <a:r>
              <a:t>Strategic strength Clear and credible, with relatively limited change to the existing operating model.</a:t>
            </a:r>
          </a:p>
          <a:p/>
          <a:p>
            <a:r>
              <a:t>Strategic limitation May be insufficiently differentiated from established property developers.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23 — Option 01: Building Tomorrow’s Places</a:t>
            </a:r>
          </a:p>
          <a:p>
            <a:r>
              <a:t>Document pages: 24, 25</a:t>
            </a:r>
          </a:p>
          <a:p/>
          <a:p>
            <a:r>
              <a:t>COMPLETE SOURCE TEXT</a:t>
            </a:r>
          </a:p>
          <a:p>
            <a:r>
              <a:t>The Trusted Developer</a:t>
            </a:r>
          </a:p>
          <a:p/>
          <a:p>
            <a:r>
              <a:t>Strategic territory Development excellence.</a:t>
            </a:r>
          </a:p>
          <a:p/>
          <a:p>
            <a:r>
              <a:t>Brand idea Building Tomorrow’s Places.</a:t>
            </a:r>
          </a:p>
          <a:p/>
          <a:p>
            <a:r>
              <a:t>Supporting statement Creating developments that inspire confidence today and opportunity for tomorrow.</a:t>
            </a:r>
          </a:p>
          <a:p/>
          <a:p>
            <a:r>
              <a:t>Brand purpose To create well-conceived places that support progress, opportunity, and a better future for the people and businesses they serve.</a:t>
            </a:r>
          </a:p>
          <a:p/>
          <a:p>
            <a:r>
              <a:t>Brand vision To become one of Indonesia’s leading and most trusted property developers, recognised for thoughtful concepts, dependable delivery, enduring quality, and lasting value.</a:t>
            </a:r>
          </a:p>
          <a:p/>
          <a:p>
            <a:r>
              <a:t>Brand mission To develop residential, commercial, industrial, hospitality, and integrated destinations through thoughtful planning, responsible execution, and a commitment to the customers, partners, and communities who depend on the places we create.</a:t>
            </a:r>
          </a:p>
          <a:p/>
          <a:p>
            <a:r>
              <a:t>Brand positioning TANRISE is a trusted Indonesian property developer combining market understanding, relevant concepts, and dependable execution to create places that support life and business.</a:t>
            </a:r>
          </a:p>
          <a:p/>
          <a:p>
            <a:r>
              <a:t>Brand essence Progress Through Purposeful Development.</a:t>
            </a:r>
          </a:p>
          <a:p/>
          <a:p>
            <a:r>
              <a:t>Brand promise Well-conceived places. Responsibly delivered.</a:t>
            </a:r>
          </a:p>
          <a:p/>
          <a:p>
            <a:r>
              <a:t>Brand personality Professional, visionary, dependable, disciplined, thoughtful, and approachable.</a:t>
            </a:r>
          </a:p>
          <a:p/>
          <a:p>
            <a:r>
              <a:t>Tone of voice Clear, assured, knowledgeable, responsible, and optimistic.</a:t>
            </a:r>
          </a:p>
          <a:p/>
          <a:p>
            <a:r>
              <a:t>Corporate belief Great development begins with understanding what tomorrow will require and delivering responsibly today.</a:t>
            </a:r>
          </a:p>
          <a:p/>
          <a:p>
            <a:r>
              <a:t>Culture Commitment-led execution, accountability, delivery ownership, and continuous improvement.</a:t>
            </a:r>
          </a:p>
          <a:p/>
          <a:p>
            <a:r>
              <a:t>Brand values Customer Focus, Integrity, Teamwork, and Agility.</a:t>
            </a:r>
          </a:p>
          <a:p/>
          <a:p>
            <a:r>
              <a:t>Strategic strength Clear and credible, with relatively limited change to the existing operating model.</a:t>
            </a:r>
          </a:p>
          <a:p/>
          <a:p>
            <a:r>
              <a:t>Strategic limitation May be insufficiently differentiated from established property developers.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24 — Option 02: Elevating Life</a:t>
            </a:r>
          </a:p>
          <a:p>
            <a:r>
              <a:t>Document pages: 25, 26, 27</a:t>
            </a:r>
          </a:p>
          <a:p/>
          <a:p>
            <a:r>
              <a:t>COMPLETE SOURCE TEXT</a:t>
            </a:r>
          </a:p>
          <a:p>
            <a:r>
              <a:t>The Purposeful Place-Maker</a:t>
            </a:r>
          </a:p>
          <a:p/>
          <a:p>
            <a:r>
              <a:t>Strategic territory Human-centred placemaking.</a:t>
            </a:r>
          </a:p>
          <a:p/>
          <a:p>
            <a:r>
              <a:t>Status Recommended direction.</a:t>
            </a:r>
          </a:p>
          <a:p/>
          <a:p>
            <a:r>
              <a:t>Brand idea Elevating Life.</a:t>
            </a:r>
          </a:p>
          <a:p/>
          <a:p>
            <a:r>
              <a:t>Supporting statement Creating purposeful places where people flourish, businesses thrive, and communities grow.</a:t>
            </a:r>
          </a:p>
          <a:p/>
          <a:p>
            <a:r>
              <a:t>Brand purpose To enrich people’s lives and create opportunities for businesses and communities through places designed with purpose, care, and lasting relevance.</a:t>
            </a:r>
          </a:p>
          <a:p/>
          <a:p>
            <a:r>
              <a:t>Brand vision To be one of Indonesia’s leading and most trusted property developers, creating purposeful places that elevate everyday life, enable business growth, and generate lasting value for generations.</a:t>
            </a:r>
          </a:p>
          <a:p/>
          <a:p>
            <a:r>
              <a:t>Brand mission We develop and nurture places that respond to real human and business needs.</a:t>
            </a:r>
          </a:p>
          <a:p/>
          <a:p>
            <a:r>
              <a:t>Through thoughtful concepts, responsible development, meaningful partnerships, and continued care, we create environments where people feel they belong, businesses find opportunities, and communities can grow.</a:t>
            </a:r>
          </a:p>
          <a:p/>
          <a:p>
            <a:r>
              <a:t>Brand positioning TANRISE is an Indonesian property developer creating purposeful places that bring together quality development, meaningful experiences, and long-term value for people, businesses, and communities.</a:t>
            </a:r>
          </a:p>
          <a:p/>
          <a:p>
            <a:r>
              <a:t>Brand essence Purposeful Places. Meaningful Progress.</a:t>
            </a:r>
          </a:p>
          <a:p/>
          <a:p>
            <a:r>
              <a:t>Brand promise Places created with purpose. Relationships built on trust.</a:t>
            </a:r>
          </a:p>
          <a:p/>
          <a:p>
            <a:r>
              <a:t>Brand personality Thoughtful, warm, dependable, progressive, and ambitious.</a:t>
            </a:r>
          </a:p>
          <a:p/>
          <a:p>
            <a:r>
              <a:t>Tone of voice Human, confident, sincere, inspiring, and professional.</a:t>
            </a:r>
          </a:p>
          <a:p/>
          <a:p>
            <a:r>
              <a:t>Corporate belief A place is more than what we build. Its true value is measured by the lives it supports, the opportunities it creates, and the positive impact it leaves behind.</a:t>
            </a:r>
          </a:p>
          <a:p/>
          <a:p>
            <a:r>
              <a:t>Values and service foundation CINTA guides behaviour. Super-Serving translates care and trust into customer experience.</a:t>
            </a:r>
          </a:p>
          <a:p/>
          <a:p>
            <a:r>
              <a:t>Strategic advantage Relevant across integrated cities, residential communities, business districts, industrial environments, and hospitality assets.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24 — Option 02: Elevating Life</a:t>
            </a:r>
          </a:p>
          <a:p>
            <a:r>
              <a:t>Document pages: 25, 26, 27</a:t>
            </a:r>
          </a:p>
          <a:p/>
          <a:p>
            <a:r>
              <a:t>COMPLETE SOURCE TEXT</a:t>
            </a:r>
          </a:p>
          <a:p>
            <a:r>
              <a:t>The Purposeful Place-Maker</a:t>
            </a:r>
          </a:p>
          <a:p/>
          <a:p>
            <a:r>
              <a:t>Strategic territory Human-centred placemaking.</a:t>
            </a:r>
          </a:p>
          <a:p/>
          <a:p>
            <a:r>
              <a:t>Status Recommended direction.</a:t>
            </a:r>
          </a:p>
          <a:p/>
          <a:p>
            <a:r>
              <a:t>Brand idea Elevating Life.</a:t>
            </a:r>
          </a:p>
          <a:p/>
          <a:p>
            <a:r>
              <a:t>Supporting statement Creating purposeful places where people flourish, businesses thrive, and communities grow.</a:t>
            </a:r>
          </a:p>
          <a:p/>
          <a:p>
            <a:r>
              <a:t>Brand purpose To enrich people’s lives and create opportunities for businesses and communities through places designed with purpose, care, and lasting relevance.</a:t>
            </a:r>
          </a:p>
          <a:p/>
          <a:p>
            <a:r>
              <a:t>Brand vision To be one of Indonesia’s leading and most trusted property developers, creating purposeful places that elevate everyday life, enable business growth, and generate lasting value for generations.</a:t>
            </a:r>
          </a:p>
          <a:p/>
          <a:p>
            <a:r>
              <a:t>Brand mission We develop and nurture places that respond to real human and business needs.</a:t>
            </a:r>
          </a:p>
          <a:p/>
          <a:p>
            <a:r>
              <a:t>Through thoughtful concepts, responsible development, meaningful partnerships, and continued care, we create environments where people feel they belong, businesses find opportunities, and communities can grow.</a:t>
            </a:r>
          </a:p>
          <a:p/>
          <a:p>
            <a:r>
              <a:t>Brand positioning TANRISE is an Indonesian property developer creating purposeful places that bring together quality development, meaningful experiences, and long-term value for people, businesses, and communities.</a:t>
            </a:r>
          </a:p>
          <a:p/>
          <a:p>
            <a:r>
              <a:t>Brand essence Purposeful Places. Meaningful Progress.</a:t>
            </a:r>
          </a:p>
          <a:p/>
          <a:p>
            <a:r>
              <a:t>Brand promise Places created with purpose. Relationships built on trust.</a:t>
            </a:r>
          </a:p>
          <a:p/>
          <a:p>
            <a:r>
              <a:t>Brand personality Thoughtful, warm, dependable, progressive, and ambitious.</a:t>
            </a:r>
          </a:p>
          <a:p/>
          <a:p>
            <a:r>
              <a:t>Tone of voice Human, confident, sincere, inspiring, and professional.</a:t>
            </a:r>
          </a:p>
          <a:p/>
          <a:p>
            <a:r>
              <a:t>Corporate belief A place is more than what we build. Its true value is measured by the lives it supports, the opportunities it creates, and the positive impact it leaves behind.</a:t>
            </a:r>
          </a:p>
          <a:p/>
          <a:p>
            <a:r>
              <a:t>Values and service foundation CINTA guides behaviour. Super-Serving translates care and trust into customer experience.</a:t>
            </a:r>
          </a:p>
          <a:p/>
          <a:p>
            <a:r>
              <a:t>Strategic advantage Relevant across integrated cities, residential communities, business districts, industrial environments, and hospitality assets.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24 — Option 02: Elevating Life</a:t>
            </a:r>
          </a:p>
          <a:p>
            <a:r>
              <a:t>Document pages: 25, 26, 27</a:t>
            </a:r>
          </a:p>
          <a:p/>
          <a:p>
            <a:r>
              <a:t>COMPLETE SOURCE TEXT</a:t>
            </a:r>
          </a:p>
          <a:p>
            <a:r>
              <a:t>The Purposeful Place-Maker</a:t>
            </a:r>
          </a:p>
          <a:p/>
          <a:p>
            <a:r>
              <a:t>Strategic territory Human-centred placemaking.</a:t>
            </a:r>
          </a:p>
          <a:p/>
          <a:p>
            <a:r>
              <a:t>Status Recommended direction.</a:t>
            </a:r>
          </a:p>
          <a:p/>
          <a:p>
            <a:r>
              <a:t>Brand idea Elevating Life.</a:t>
            </a:r>
          </a:p>
          <a:p/>
          <a:p>
            <a:r>
              <a:t>Supporting statement Creating purposeful places where people flourish, businesses thrive, and communities grow.</a:t>
            </a:r>
          </a:p>
          <a:p/>
          <a:p>
            <a:r>
              <a:t>Brand purpose To enrich people’s lives and create opportunities for businesses and communities through places designed with purpose, care, and lasting relevance.</a:t>
            </a:r>
          </a:p>
          <a:p/>
          <a:p>
            <a:r>
              <a:t>Brand vision To be one of Indonesia’s leading and most trusted property developers, creating purposeful places that elevate everyday life, enable business growth, and generate lasting value for generations.</a:t>
            </a:r>
          </a:p>
          <a:p/>
          <a:p>
            <a:r>
              <a:t>Brand mission We develop and nurture places that respond to real human and business needs.</a:t>
            </a:r>
          </a:p>
          <a:p/>
          <a:p>
            <a:r>
              <a:t>Through thoughtful concepts, responsible development, meaningful partnerships, and continued care, we create environments where people feel they belong, businesses find opportunities, and communities can grow.</a:t>
            </a:r>
          </a:p>
          <a:p/>
          <a:p>
            <a:r>
              <a:t>Brand positioning TANRISE is an Indonesian property developer creating purposeful places that bring together quality development, meaningful experiences, and long-term value for people, businesses, and communities.</a:t>
            </a:r>
          </a:p>
          <a:p/>
          <a:p>
            <a:r>
              <a:t>Brand essence Purposeful Places. Meaningful Progress.</a:t>
            </a:r>
          </a:p>
          <a:p/>
          <a:p>
            <a:r>
              <a:t>Brand promise Places created with purpose. Relationships built on trust.</a:t>
            </a:r>
          </a:p>
          <a:p/>
          <a:p>
            <a:r>
              <a:t>Brand personality Thoughtful, warm, dependable, progressive, and ambitious.</a:t>
            </a:r>
          </a:p>
          <a:p/>
          <a:p>
            <a:r>
              <a:t>Tone of voice Human, confident, sincere, inspiring, and professional.</a:t>
            </a:r>
          </a:p>
          <a:p/>
          <a:p>
            <a:r>
              <a:t>Corporate belief A place is more than what we build. Its true value is measured by the lives it supports, the opportunities it creates, and the positive impact it leaves behind.</a:t>
            </a:r>
          </a:p>
          <a:p/>
          <a:p>
            <a:r>
              <a:t>Values and service foundation CINTA guides behaviour. Super-Serving translates care and trust into customer experience.</a:t>
            </a:r>
          </a:p>
          <a:p/>
          <a:p>
            <a:r>
              <a:t>Strategic advantage Relevant across integrated cities, residential communities, business districts, industrial environments, and hospitality assets.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25 — Option 03: Creating Lasting Value</a:t>
            </a:r>
          </a:p>
          <a:p>
            <a:r>
              <a:t>Document pages: 27, 28</a:t>
            </a:r>
          </a:p>
          <a:p/>
          <a:p>
            <a:r>
              <a:t>COMPLETE SOURCE TEXT</a:t>
            </a:r>
          </a:p>
          <a:p>
            <a:r>
              <a:t>The Integrated Value Creator</a:t>
            </a:r>
          </a:p>
          <a:p/>
          <a:p>
            <a:r>
              <a:t>Strategic territory Integrated value ecosystems.</a:t>
            </a:r>
          </a:p>
          <a:p/>
          <a:p>
            <a:r>
              <a:t>Brand idea Creating Lasting Value.</a:t>
            </a:r>
          </a:p>
          <a:p/>
          <a:p>
            <a:r>
              <a:t>Supporting statement Connecting places, people, and possibilities for generations of growth.</a:t>
            </a:r>
          </a:p>
          <a:p/>
          <a:p>
            <a:r>
              <a:t>Brand purpose To unlock the long-term potential of places by connecting people, businesses, and opportunities through integrated development and responsible stewardship.</a:t>
            </a:r>
          </a:p>
          <a:p/>
          <a:p>
            <a:r>
              <a:t>Brand vision To become a leading Indonesian property and asset-value creation company, recognised for sustainable growth, thriving communities, and enduring economic value.</a:t>
            </a:r>
          </a:p>
          <a:p/>
          <a:p>
            <a:r>
              <a:t>Brand mission We develop, activate, and manage places that bring together complementary uses, partnerships, and experiences.</a:t>
            </a:r>
          </a:p>
          <a:p/>
          <a:p>
            <a:r>
              <a:t>By combining development expertise with long-term asset management and commercial innovation, we create value that continues beyond project completion.</a:t>
            </a:r>
          </a:p>
          <a:p/>
          <a:p>
            <a:r>
              <a:t>Brand positioning TANRISE is an integrated property developer focused on creating lasting value through purposeful developments, connected business ecosystems, and long-term asset performance.</a:t>
            </a:r>
          </a:p>
          <a:p/>
          <a:p>
            <a:r>
              <a:t>Brand essence Connected Growth. Enduring Value.</a:t>
            </a:r>
          </a:p>
          <a:p/>
          <a:p>
            <a:r>
              <a:t>Brand promise We create places that continue to grow in value and purpose.</a:t>
            </a:r>
          </a:p>
          <a:p/>
          <a:p>
            <a:r>
              <a:t>Brand personality Visionary, enterprising, collaborative, disciplined, and resilient.</a:t>
            </a:r>
          </a:p>
          <a:p/>
          <a:p>
            <a:r>
              <a:t>Tone of voice Strategic, confident, intelligent, optimistic, and accountable.</a:t>
            </a:r>
          </a:p>
          <a:p/>
          <a:p>
            <a:r>
              <a:t>Corporate belief The greatest value of a development is realised through the opportunities and relationships it continues to create.</a:t>
            </a:r>
          </a:p>
          <a:p/>
          <a:p>
            <a:r>
              <a:t>Values and service foundation CINTA guides collaboration, integrity, customer understanding, and adaptability. Super-Serving supports continuing relationships.</a:t>
            </a:r>
          </a:p>
          <a:p/>
          <a:p>
            <a:r>
              <a:t>Strategic limitation Requires substantial evidence of operating capabilities, capital discipline, asset performance, and recurring-income contribution.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25 — Option 03: Creating Lasting Value</a:t>
            </a:r>
          </a:p>
          <a:p>
            <a:r>
              <a:t>Document pages: 27, 28</a:t>
            </a:r>
          </a:p>
          <a:p/>
          <a:p>
            <a:r>
              <a:t>COMPLETE SOURCE TEXT</a:t>
            </a:r>
          </a:p>
          <a:p>
            <a:r>
              <a:t>The Integrated Value Creator</a:t>
            </a:r>
          </a:p>
          <a:p/>
          <a:p>
            <a:r>
              <a:t>Strategic territory Integrated value ecosystems.</a:t>
            </a:r>
          </a:p>
          <a:p/>
          <a:p>
            <a:r>
              <a:t>Brand idea Creating Lasting Value.</a:t>
            </a:r>
          </a:p>
          <a:p/>
          <a:p>
            <a:r>
              <a:t>Supporting statement Connecting places, people, and possibilities for generations of growth.</a:t>
            </a:r>
          </a:p>
          <a:p/>
          <a:p>
            <a:r>
              <a:t>Brand purpose To unlock the long-term potential of places by connecting people, businesses, and opportunities through integrated development and responsible stewardship.</a:t>
            </a:r>
          </a:p>
          <a:p/>
          <a:p>
            <a:r>
              <a:t>Brand vision To become a leading Indonesian property and asset-value creation company, recognised for sustainable growth, thriving communities, and enduring economic value.</a:t>
            </a:r>
          </a:p>
          <a:p/>
          <a:p>
            <a:r>
              <a:t>Brand mission We develop, activate, and manage places that bring together complementary uses, partnerships, and experiences.</a:t>
            </a:r>
          </a:p>
          <a:p/>
          <a:p>
            <a:r>
              <a:t>By combining development expertise with long-term asset management and commercial innovation, we create value that continues beyond project completion.</a:t>
            </a:r>
          </a:p>
          <a:p/>
          <a:p>
            <a:r>
              <a:t>Brand positioning TANRISE is an integrated property developer focused on creating lasting value through purposeful developments, connected business ecosystems, and long-term asset performance.</a:t>
            </a:r>
          </a:p>
          <a:p/>
          <a:p>
            <a:r>
              <a:t>Brand essence Connected Growth. Enduring Value.</a:t>
            </a:r>
          </a:p>
          <a:p/>
          <a:p>
            <a:r>
              <a:t>Brand promise We create places that continue to grow in value and purpose.</a:t>
            </a:r>
          </a:p>
          <a:p/>
          <a:p>
            <a:r>
              <a:t>Brand personality Visionary, enterprising, collaborative, disciplined, and resilient.</a:t>
            </a:r>
          </a:p>
          <a:p/>
          <a:p>
            <a:r>
              <a:t>Tone of voice Strategic, confident, intelligent, optimistic, and accountable.</a:t>
            </a:r>
          </a:p>
          <a:p/>
          <a:p>
            <a:r>
              <a:t>Corporate belief The greatest value of a development is realised through the opportunities and relationships it continues to create.</a:t>
            </a:r>
          </a:p>
          <a:p/>
          <a:p>
            <a:r>
              <a:t>Values and service foundation CINTA guides collaboration, integrity, customer understanding, and adaptability. Super-Serving supports continuing relationships.</a:t>
            </a:r>
          </a:p>
          <a:p/>
          <a:p>
            <a:r>
              <a:t>Strategic limitation Requires substantial evidence of operating capabilities, capital discipline, asset performance, and recurring-income contribution.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25 — Option 03: Creating Lasting Value</a:t>
            </a:r>
          </a:p>
          <a:p>
            <a:r>
              <a:t>Document pages: 27, 28</a:t>
            </a:r>
          </a:p>
          <a:p/>
          <a:p>
            <a:r>
              <a:t>COMPLETE SOURCE TEXT</a:t>
            </a:r>
          </a:p>
          <a:p>
            <a:r>
              <a:t>The Integrated Value Creator</a:t>
            </a:r>
          </a:p>
          <a:p/>
          <a:p>
            <a:r>
              <a:t>Strategic territory Integrated value ecosystems.</a:t>
            </a:r>
          </a:p>
          <a:p/>
          <a:p>
            <a:r>
              <a:t>Brand idea Creating Lasting Value.</a:t>
            </a:r>
          </a:p>
          <a:p/>
          <a:p>
            <a:r>
              <a:t>Supporting statement Connecting places, people, and possibilities for generations of growth.</a:t>
            </a:r>
          </a:p>
          <a:p/>
          <a:p>
            <a:r>
              <a:t>Brand purpose To unlock the long-term potential of places by connecting people, businesses, and opportunities through integrated development and responsible stewardship.</a:t>
            </a:r>
          </a:p>
          <a:p/>
          <a:p>
            <a:r>
              <a:t>Brand vision To become a leading Indonesian property and asset-value creation company, recognised for sustainable growth, thriving communities, and enduring economic value.</a:t>
            </a:r>
          </a:p>
          <a:p/>
          <a:p>
            <a:r>
              <a:t>Brand mission We develop, activate, and manage places that bring together complementary uses, partnerships, and experiences.</a:t>
            </a:r>
          </a:p>
          <a:p/>
          <a:p>
            <a:r>
              <a:t>By combining development expertise with long-term asset management and commercial innovation, we create value that continues beyond project completion.</a:t>
            </a:r>
          </a:p>
          <a:p/>
          <a:p>
            <a:r>
              <a:t>Brand positioning TANRISE is an integrated property developer focused on creating lasting value through purposeful developments, connected business ecosystems, and long-term asset performance.</a:t>
            </a:r>
          </a:p>
          <a:p/>
          <a:p>
            <a:r>
              <a:t>Brand essence Connected Growth. Enduring Value.</a:t>
            </a:r>
          </a:p>
          <a:p/>
          <a:p>
            <a:r>
              <a:t>Brand promise We create places that continue to grow in value and purpose.</a:t>
            </a:r>
          </a:p>
          <a:p/>
          <a:p>
            <a:r>
              <a:t>Brand personality Visionary, enterprising, collaborative, disciplined, and resilient.</a:t>
            </a:r>
          </a:p>
          <a:p/>
          <a:p>
            <a:r>
              <a:t>Tone of voice Strategic, confident, intelligent, optimistic, and accountable.</a:t>
            </a:r>
          </a:p>
          <a:p/>
          <a:p>
            <a:r>
              <a:t>Corporate belief The greatest value of a development is realised through the opportunities and relationships it continues to create.</a:t>
            </a:r>
          </a:p>
          <a:p/>
          <a:p>
            <a:r>
              <a:t>Values and service foundation CINTA guides collaboration, integrity, customer understanding, and adaptability. Super-Serving supports continuing relationships.</a:t>
            </a:r>
          </a:p>
          <a:p/>
          <a:p>
            <a:r>
              <a:t>Strategic limitation Requires substantial evidence of operating capabilities, capital discipline, asset performance, and recurring-income contribution.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26 — Our Recommendation</a:t>
            </a:r>
          </a:p>
          <a:p>
            <a:r>
              <a:t>Document pages: 28, 29</a:t>
            </a:r>
          </a:p>
          <a:p/>
          <a:p>
            <a:r>
              <a:t>COMPLETE SOURCE TEXT</a:t>
            </a:r>
          </a:p>
          <a:p>
            <a:r>
              <a:t>Elevating Life. Creating Lasting Value.</a:t>
            </a:r>
          </a:p>
          <a:p/>
          <a:p>
            <a:r>
              <a:t>One Human Promise. One Commercial Discipline.</a:t>
            </a:r>
          </a:p>
          <a:p/>
          <a:p>
            <a:r>
              <a:t>Elevating Life The purpose and value people experience.</a:t>
            </a:r>
          </a:p>
          <a:p/>
          <a:p>
            <a:r>
              <a:t>Creating Lasting Value The commercial responsibility and long-term ambition.</a:t>
            </a:r>
          </a:p>
          <a:p/>
          <a:p>
            <a:r>
              <a:t>Retain Elevating Life as the primary corporate brand expression.</a:t>
            </a:r>
          </a:p>
          <a:p/>
          <a:p>
            <a:r>
              <a:t>Use Creating Lasting Value as a supporting strategic proposition connecting the human promise to business performance.</a:t>
            </a:r>
          </a:p>
          <a:p/>
          <a:p>
            <a:r>
              <a:t>Recommended Positioning Statement</a:t>
            </a:r>
          </a:p>
          <a:p/>
          <a:p>
            <a:r>
              <a:t>TANRISE is a trusted Indonesian property developer creating purposeful places that enrich lives, enable businesses, and strengthen communities through thoughtful development, meaningful partnerships, and long-term stewardship.</a:t>
            </a:r>
          </a:p>
          <a:p/>
          <a:p>
            <a:r>
              <a:t>Portfolio Application</a:t>
            </a:r>
          </a:p>
          <a:p/>
          <a:p>
            <a:r>
              <a:t>The promise should be expressed differently across a home, township, office, warehouse, industrial park, hotel, or leisure destination while remaining recognisably TANRISE.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26 — Our Recommendation</a:t>
            </a:r>
          </a:p>
          <a:p>
            <a:r>
              <a:t>Document pages: 28, 29</a:t>
            </a:r>
          </a:p>
          <a:p/>
          <a:p>
            <a:r>
              <a:t>COMPLETE SOURCE TEXT</a:t>
            </a:r>
          </a:p>
          <a:p>
            <a:r>
              <a:t>Elevating Life. Creating Lasting Value.</a:t>
            </a:r>
          </a:p>
          <a:p/>
          <a:p>
            <a:r>
              <a:t>One Human Promise. One Commercial Discipline.</a:t>
            </a:r>
          </a:p>
          <a:p/>
          <a:p>
            <a:r>
              <a:t>Elevating Life The purpose and value people experience.</a:t>
            </a:r>
          </a:p>
          <a:p/>
          <a:p>
            <a:r>
              <a:t>Creating Lasting Value The commercial responsibility and long-term ambition.</a:t>
            </a:r>
          </a:p>
          <a:p/>
          <a:p>
            <a:r>
              <a:t>Retain Elevating Life as the primary corporate brand expression.</a:t>
            </a:r>
          </a:p>
          <a:p/>
          <a:p>
            <a:r>
              <a:t>Use Creating Lasting Value as a supporting strategic proposition connecting the human promise to business performance.</a:t>
            </a:r>
          </a:p>
          <a:p/>
          <a:p>
            <a:r>
              <a:t>Recommended Positioning Statement</a:t>
            </a:r>
          </a:p>
          <a:p/>
          <a:p>
            <a:r>
              <a:t>TANRISE is a trusted Indonesian property developer creating purposeful places that enrich lives, enable businesses, and strengthen communities through thoughtful development, meaningful partnerships, and long-term stewardship.</a:t>
            </a:r>
          </a:p>
          <a:p/>
          <a:p>
            <a:r>
              <a:t>Portfolio Application</a:t>
            </a:r>
          </a:p>
          <a:p/>
          <a:p>
            <a:r>
              <a:t>The promise should be expressed differently across a home, township, office, warehouse, industrial park, hotel, or leisure destination while remaining recognisably TANRISE.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27 — The TANRISE Brand Foundation</a:t>
            </a:r>
          </a:p>
          <a:p>
            <a:r>
              <a:t>Document pages: 29, 30</a:t>
            </a:r>
          </a:p>
          <a:p/>
          <a:p>
            <a:r>
              <a:t>COMPLETE SOURCE TEXT</a:t>
            </a:r>
          </a:p>
          <a:p>
            <a:r>
              <a:t>Everything Begins With Purpose.</a:t>
            </a:r>
          </a:p>
          <a:p/>
          <a:p>
            <a:r>
              <a:t>Brand component | Recommended direction</a:t>
            </a:r>
          </a:p>
          <a:p/>
          <a:p>
            <a:r>
              <a:t>Purpose | Enrich lives and create opportunities through purposeful places</a:t>
            </a:r>
          </a:p>
          <a:p/>
          <a:p>
            <a:r>
              <a:t>Vision | Become a leading and trusted Indonesian property developer, elevating life and creating lasting value</a:t>
            </a:r>
          </a:p>
          <a:p/>
          <a:p>
            <a:r>
              <a:t>Mission | Develop and nurture places that serve real needs through thoughtful concepts, responsible delivery, and continued care</a:t>
            </a:r>
          </a:p>
          <a:p/>
          <a:p>
            <a:r>
              <a:t>Brand essence | Purposeful Places. Meaningful Progress.</a:t>
            </a:r>
          </a:p>
          <a:p/>
          <a:p>
            <a:r>
              <a:t>Brand promise | Places created with purpose. Relationships built on trust.</a:t>
            </a:r>
          </a:p>
          <a:p/>
          <a:p>
            <a:r>
              <a:t>Brand positioning | A human-centred developer combining purposeful development with long-term place value</a:t>
            </a:r>
          </a:p>
          <a:p/>
          <a:p>
            <a:r>
              <a:t>Brand personality | Thoughtful, dependable, progressive, warm, and ambitious</a:t>
            </a:r>
          </a:p>
          <a:p/>
          <a:p>
            <a:r>
              <a:t>Service philosophy | Super-Serving</a:t>
            </a:r>
          </a:p>
          <a:p/>
          <a:p>
            <a:r>
              <a:t>Core competencies | CINTA</a:t>
            </a:r>
          </a:p>
          <a:p/>
          <a:p>
            <a:r>
              <a:t>Corporate expression | Elevating Life</a:t>
            </a:r>
          </a:p>
          <a:p/>
          <a:p>
            <a:r>
              <a:t>Scope: The platform applies across TANRISE’s five business pillars without replacing established destination, project, or hotel brands.</a:t>
            </a:r>
          </a:p>
          <a:p/>
          <a:p>
            <a:r>
              <a:t>Design direction: Brand-platform pyramid supported by examples from the actual portfolio.</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27 — The TANRISE Brand Foundation</a:t>
            </a:r>
          </a:p>
          <a:p>
            <a:r>
              <a:t>Document pages: 29, 30</a:t>
            </a:r>
          </a:p>
          <a:p/>
          <a:p>
            <a:r>
              <a:t>COMPLETE SOURCE TEXT</a:t>
            </a:r>
          </a:p>
          <a:p>
            <a:r>
              <a:t>Everything Begins With Purpose.</a:t>
            </a:r>
          </a:p>
          <a:p/>
          <a:p>
            <a:r>
              <a:t>Brand component | Recommended direction</a:t>
            </a:r>
          </a:p>
          <a:p/>
          <a:p>
            <a:r>
              <a:t>Purpose | Enrich lives and create opportunities through purposeful places</a:t>
            </a:r>
          </a:p>
          <a:p/>
          <a:p>
            <a:r>
              <a:t>Vision | Become a leading and trusted Indonesian property developer, elevating life and creating lasting value</a:t>
            </a:r>
          </a:p>
          <a:p/>
          <a:p>
            <a:r>
              <a:t>Mission | Develop and nurture places that serve real needs through thoughtful concepts, responsible delivery, and continued care</a:t>
            </a:r>
          </a:p>
          <a:p/>
          <a:p>
            <a:r>
              <a:t>Brand essence | Purposeful Places. Meaningful Progress.</a:t>
            </a:r>
          </a:p>
          <a:p/>
          <a:p>
            <a:r>
              <a:t>Brand promise | Places created with purpose. Relationships built on trust.</a:t>
            </a:r>
          </a:p>
          <a:p/>
          <a:p>
            <a:r>
              <a:t>Brand positioning | A human-centred developer combining purposeful development with long-term place value</a:t>
            </a:r>
          </a:p>
          <a:p/>
          <a:p>
            <a:r>
              <a:t>Brand personality | Thoughtful, dependable, progressive, warm, and ambitious</a:t>
            </a:r>
          </a:p>
          <a:p/>
          <a:p>
            <a:r>
              <a:t>Service philosophy | Super-Serving</a:t>
            </a:r>
          </a:p>
          <a:p/>
          <a:p>
            <a:r>
              <a:t>Core competencies | CINTA</a:t>
            </a:r>
          </a:p>
          <a:p/>
          <a:p>
            <a:r>
              <a:t>Corporate expression | Elevating Life</a:t>
            </a:r>
          </a:p>
          <a:p/>
          <a:p>
            <a:r>
              <a:t>Scope: The platform applies across TANRISE’s five business pillars without replacing established destination, project, or hotel brands.</a:t>
            </a:r>
          </a:p>
          <a:p/>
          <a:p>
            <a:r>
              <a:t>Design direction: Brand-platform pyramid supported by examples from the actual portfolio.</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28 — The TANRISE Vision and Mission</a:t>
            </a:r>
          </a:p>
          <a:p>
            <a:r>
              <a:t>Document pages: 30, 31</a:t>
            </a:r>
          </a:p>
          <a:p/>
          <a:p>
            <a:r>
              <a:t>COMPLETE SOURCE TEXT</a:t>
            </a:r>
          </a:p>
          <a:p>
            <a:r>
              <a:t>Build on the Existing Foundation. Define the Next Chapter.</a:t>
            </a:r>
          </a:p>
          <a:p/>
          <a:p>
            <a:r>
              <a:t>Existing Client Vision</a:t>
            </a:r>
          </a:p>
          <a:p/>
          <a:p>
            <a:r>
              <a:t>To be the leading and trusted property developer delivering the best concepts.</a:t>
            </a:r>
          </a:p>
          <a:p/>
          <a:p>
            <a:r>
              <a:t>Existing Client Mission</a:t>
            </a:r>
          </a:p>
          <a:p/>
          <a:p>
            <a:r>
              <a:t>To develop properties providing added value for clients and business partners.</a:t>
            </a:r>
          </a:p>
          <a:p/>
          <a:p>
            <a:r>
              <a:t>Proposed Evolved Vision</a:t>
            </a:r>
          </a:p>
          <a:p/>
          <a:p>
            <a:r>
              <a:t>To be one of Indonesia’s leading and most trusted property developers, creating purposeful places that elevate lives, empower businesses, and generate lasting value for generations.</a:t>
            </a:r>
          </a:p>
          <a:p/>
          <a:p>
            <a:r>
              <a:t>Proposed Evolved Mission</a:t>
            </a:r>
          </a:p>
          <a:p/>
          <a:p>
            <a:r>
              <a:t>We develop and nurture places that bring people, businesses, and communities closer to what matters.</a:t>
            </a:r>
          </a:p>
          <a:p/>
          <a:p>
            <a:r>
              <a:t>Through thoughtful concepts, responsible development, meaningful partnerships, and continued care, we create environments where life can flourish, opportunities can grow, and value can endure.</a:t>
            </a:r>
          </a:p>
          <a:p/>
          <a:p>
            <a:r>
              <a:t>Strategic interpretation: The existing vision and mission remain the client’s documented foundation. The evolved statements are recommendations for leadership approval.</a:t>
            </a:r>
          </a:p>
          <a:p/>
          <a:p>
            <a:r>
              <a:t>The Top Five ambition is a measurable corporate objective within the broader vision.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28 — The TANRISE Vision and Mission</a:t>
            </a:r>
          </a:p>
          <a:p>
            <a:r>
              <a:t>Document pages: 30, 31</a:t>
            </a:r>
          </a:p>
          <a:p/>
          <a:p>
            <a:r>
              <a:t>COMPLETE SOURCE TEXT</a:t>
            </a:r>
          </a:p>
          <a:p>
            <a:r>
              <a:t>Build on the Existing Foundation. Define the Next Chapter.</a:t>
            </a:r>
          </a:p>
          <a:p/>
          <a:p>
            <a:r>
              <a:t>Existing Client Vision</a:t>
            </a:r>
          </a:p>
          <a:p/>
          <a:p>
            <a:r>
              <a:t>To be the leading and trusted property developer delivering the best concepts.</a:t>
            </a:r>
          </a:p>
          <a:p/>
          <a:p>
            <a:r>
              <a:t>Existing Client Mission</a:t>
            </a:r>
          </a:p>
          <a:p/>
          <a:p>
            <a:r>
              <a:t>To develop properties providing added value for clients and business partners.</a:t>
            </a:r>
          </a:p>
          <a:p/>
          <a:p>
            <a:r>
              <a:t>Proposed Evolved Vision</a:t>
            </a:r>
          </a:p>
          <a:p/>
          <a:p>
            <a:r>
              <a:t>To be one of Indonesia’s leading and most trusted property developers, creating purposeful places that elevate lives, empower businesses, and generate lasting value for generations.</a:t>
            </a:r>
          </a:p>
          <a:p/>
          <a:p>
            <a:r>
              <a:t>Proposed Evolved Mission</a:t>
            </a:r>
          </a:p>
          <a:p/>
          <a:p>
            <a:r>
              <a:t>We develop and nurture places that bring people, businesses, and communities closer to what matters.</a:t>
            </a:r>
          </a:p>
          <a:p/>
          <a:p>
            <a:r>
              <a:t>Through thoughtful concepts, responsible development, meaningful partnerships, and continued care, we create environments where life can flourish, opportunities can grow, and value can endure.</a:t>
            </a:r>
          </a:p>
          <a:p/>
          <a:p>
            <a:r>
              <a:t>Strategic interpretation: The existing vision and mission remain the client’s documented foundation. The evolved statements are recommendations for leadership approval.</a:t>
            </a:r>
          </a:p>
          <a:p/>
          <a:p>
            <a:r>
              <a:t>The Top Five ambition is a measurable corporate objective within the broader vision.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29 — TANRISE Core Values: CINTA</a:t>
            </a:r>
          </a:p>
          <a:p>
            <a:r>
              <a:t>Document pages: 31, 32</a:t>
            </a:r>
          </a:p>
          <a:p/>
          <a:p>
            <a:r>
              <a:t>COMPLETE SOURCE TEXT</a:t>
            </a:r>
          </a:p>
          <a:p>
            <a:r>
              <a:t>Values Must Be Experienced Across Every Project.</a:t>
            </a:r>
          </a:p>
          <a:p/>
          <a:p>
            <a:r>
              <a:t>Retain Customer Focus, Integrity, Teamwork, and Agility, consistent with the current official TANCORP CINTA description.</a:t>
            </a:r>
          </a:p>
          <a:p/>
          <a:p>
            <a:r>
              <a:t>Value | What we believe | What it means in practice</a:t>
            </a:r>
          </a:p>
          <a:p/>
          <a:p>
            <a:r>
              <a:t>Customer Focus | Every place begins with people | Understand homeowners, tenants, occupiers, visitors, guests, and partners</a:t>
            </a:r>
          </a:p>
          <a:p/>
          <a:p>
            <a:r>
              <a:t>Integrity | Trust is earned through actions | Communicate accurate names, status, ownership relationships, and commitments</a:t>
            </a:r>
          </a:p>
          <a:p/>
          <a:p>
            <a:r>
              <a:t>Teamwork | Great places require collective effort | Coordinate development, finance, sales, asset management, operators, and partners</a:t>
            </a:r>
          </a:p>
          <a:p/>
          <a:p>
            <a:r>
              <a:t>Agility | Progress requires adaptability | Respond to market conditions and improve through customer and operating evidence</a:t>
            </a:r>
          </a:p>
          <a:p/>
          <a:p>
            <a:r>
              <a:t>Culture Statement</a:t>
            </a:r>
          </a:p>
          <a:p/>
          <a:p>
            <a:r>
              <a:t>We listen before we build. We deliver what we promise. We grow together. We adapt to create better outcomes.</a:t>
            </a:r>
          </a:p>
          <a:p/>
          <a:p>
            <a:r>
              <a:t>Portfolio application: Apply shared values through asset-specific behaviours rather than identical service procedures everywhere.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29 — TANRISE Core Values: CINTA</a:t>
            </a:r>
          </a:p>
          <a:p>
            <a:r>
              <a:t>Document pages: 31, 32</a:t>
            </a:r>
          </a:p>
          <a:p/>
          <a:p>
            <a:r>
              <a:t>COMPLETE SOURCE TEXT</a:t>
            </a:r>
          </a:p>
          <a:p>
            <a:r>
              <a:t>Values Must Be Experienced Across Every Project.</a:t>
            </a:r>
          </a:p>
          <a:p/>
          <a:p>
            <a:r>
              <a:t>Retain Customer Focus, Integrity, Teamwork, and Agility, consistent with the current official TANCORP CINTA description.</a:t>
            </a:r>
          </a:p>
          <a:p/>
          <a:p>
            <a:r>
              <a:t>Value | What we believe | What it means in practice</a:t>
            </a:r>
          </a:p>
          <a:p/>
          <a:p>
            <a:r>
              <a:t>Customer Focus | Every place begins with people | Understand homeowners, tenants, occupiers, visitors, guests, and partners</a:t>
            </a:r>
          </a:p>
          <a:p/>
          <a:p>
            <a:r>
              <a:t>Integrity | Trust is earned through actions | Communicate accurate names, status, ownership relationships, and commitments</a:t>
            </a:r>
          </a:p>
          <a:p/>
          <a:p>
            <a:r>
              <a:t>Teamwork | Great places require collective effort | Coordinate development, finance, sales, asset management, operators, and partners</a:t>
            </a:r>
          </a:p>
          <a:p/>
          <a:p>
            <a:r>
              <a:t>Agility | Progress requires adaptability | Respond to market conditions and improve through customer and operating evidence</a:t>
            </a:r>
          </a:p>
          <a:p/>
          <a:p>
            <a:r>
              <a:t>Culture Statement</a:t>
            </a:r>
          </a:p>
          <a:p/>
          <a:p>
            <a:r>
              <a:t>We listen before we build. We deliver what we promise. We grow together. We adapt to create better outcomes.</a:t>
            </a:r>
          </a:p>
          <a:p/>
          <a:p>
            <a:r>
              <a:t>Portfolio application: Apply shared values through asset-specific behaviours rather than identical service procedures everywhere.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30 — TANRISE Corporate Culture</a:t>
            </a:r>
          </a:p>
          <a:p>
            <a:r>
              <a:t>Document pages: 32</a:t>
            </a:r>
          </a:p>
          <a:p/>
          <a:p>
            <a:r>
              <a:t>COMPLETE SOURCE TEXT</a:t>
            </a:r>
          </a:p>
          <a:p>
            <a:r>
              <a:t>We Take Responsibility for Places.</a:t>
            </a:r>
          </a:p>
          <a:p/>
          <a:p>
            <a:r>
              <a:t>Translate CINTA into five daily practices.</a:t>
            </a:r>
          </a:p>
          <a:p/>
          <a:p>
            <a:r>
              <a:t>1. Understand Before We Create Ground decisions in customer, market, site, and operating requirements.</a:t>
            </a:r>
          </a:p>
          <a:p/>
          <a:p>
            <a:r>
              <a:t>2. Own Every Commitment Assign each promise a responsible owner, timeline, and measurable outcome.</a:t>
            </a:r>
          </a:p>
          <a:p/>
          <a:p>
            <a:r>
              <a:t>3. Work Beyond Silos Connect development, sales, finance, operations, customer service, and external operators.</a:t>
            </a:r>
          </a:p>
          <a:p/>
          <a:p>
            <a:r>
              <a:t>4. Care Beyond Completion Treat handover and opening as the beginning of a continuing relationship.</a:t>
            </a:r>
          </a:p>
          <a:p/>
          <a:p>
            <a:r>
              <a:t>5. Improve With Evidence Use customer feedback, project outcomes, asset performance, and operational data to improve decisions.</a:t>
            </a:r>
          </a:p>
          <a:p/>
          <a:p>
            <a:r>
              <a:t>Cultural Commitment</a:t>
            </a:r>
          </a:p>
          <a:p/>
          <a:p>
            <a:r>
              <a:t>Every decision we make, every place we create, and every relationship we build should reflect the care, responsibility, and ambition of TANRISE.</a:t>
            </a:r>
          </a:p>
          <a:p/>
          <a:p>
            <a:r>
              <a:t>Implementation recommendation: Embed these behaviours in leadership reviews, project governance, onboarding, partner coordination, and customer experience standards.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30 — TANRISE Corporate Culture</a:t>
            </a:r>
          </a:p>
          <a:p>
            <a:r>
              <a:t>Document pages: 32</a:t>
            </a:r>
          </a:p>
          <a:p/>
          <a:p>
            <a:r>
              <a:t>COMPLETE SOURCE TEXT</a:t>
            </a:r>
          </a:p>
          <a:p>
            <a:r>
              <a:t>We Take Responsibility for Places.</a:t>
            </a:r>
          </a:p>
          <a:p/>
          <a:p>
            <a:r>
              <a:t>Translate CINTA into five daily practices.</a:t>
            </a:r>
          </a:p>
          <a:p/>
          <a:p>
            <a:r>
              <a:t>1. Understand Before We Create Ground decisions in customer, market, site, and operating requirements.</a:t>
            </a:r>
          </a:p>
          <a:p/>
          <a:p>
            <a:r>
              <a:t>2. Own Every Commitment Assign each promise a responsible owner, timeline, and measurable outcome.</a:t>
            </a:r>
          </a:p>
          <a:p/>
          <a:p>
            <a:r>
              <a:t>3. Work Beyond Silos Connect development, sales, finance, operations, customer service, and external operators.</a:t>
            </a:r>
          </a:p>
          <a:p/>
          <a:p>
            <a:r>
              <a:t>4. Care Beyond Completion Treat handover and opening as the beginning of a continuing relationship.</a:t>
            </a:r>
          </a:p>
          <a:p/>
          <a:p>
            <a:r>
              <a:t>5. Improve With Evidence Use customer feedback, project outcomes, asset performance, and operational data to improve decisions.</a:t>
            </a:r>
          </a:p>
          <a:p/>
          <a:p>
            <a:r>
              <a:t>Cultural Commitment</a:t>
            </a:r>
          </a:p>
          <a:p/>
          <a:p>
            <a:r>
              <a:t>Every decision we make, every place we create, and every relationship we build should reflect the care, responsibility, and ambition of TANRISE.</a:t>
            </a:r>
          </a:p>
          <a:p/>
          <a:p>
            <a:r>
              <a:t>Implementation recommendation: Embed these behaviours in leadership reviews, project governance, onboarding, partner coordination, and customer experience standards.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31 — TANRISE Brand Personality</a:t>
            </a:r>
          </a:p>
          <a:p>
            <a:r>
              <a:t>Document pages: 33</a:t>
            </a:r>
          </a:p>
          <a:p/>
          <a:p>
            <a:r>
              <a:t>COMPLETE SOURCE TEXT</a:t>
            </a:r>
          </a:p>
          <a:p>
            <a:r>
              <a:t>Professional in Our Expertise. Human in Our Approach.</a:t>
            </a:r>
          </a:p>
          <a:p/>
          <a:p>
            <a:r>
              <a:t>Personality | Meaning | Expression</a:t>
            </a:r>
          </a:p>
          <a:p/>
          <a:p>
            <a:r>
              <a:t>Thoughtful | Understand before creating | Relevant concepts, purposeful planning, attention to detail</a:t>
            </a:r>
          </a:p>
          <a:p/>
          <a:p>
            <a:r>
              <a:t>Dependable | Honour commitments | Accurate communication, responsible delivery, consistent service</a:t>
            </a:r>
          </a:p>
          <a:p/>
          <a:p>
            <a:r>
              <a:t>Progressive | Embrace better possibilities | Innovation, adaptability, forward-looking development</a:t>
            </a:r>
          </a:p>
          <a:p/>
          <a:p>
            <a:r>
              <a:t>Warm | Care about human experiences | Empathy, approachable communication, community relationships</a:t>
            </a:r>
          </a:p>
          <a:p/>
          <a:p>
            <a:r>
              <a:t>Ambitious | Strive for meaningful growth | High standards, commercial discipline, continuous improvement</a:t>
            </a:r>
          </a:p>
          <a:p/>
          <a:p>
            <a:r>
              <a:t>Brand Character</a:t>
            </a:r>
          </a:p>
          <a:p/>
          <a:p>
            <a:r>
              <a:t>TANRISE is the thoughtful visionary: a capable and trusted developer who understands that creating a place means taking responsibility for the people and businesses who depend on it.</a:t>
            </a:r>
          </a:p>
          <a:p/>
          <a:p>
            <a:r>
              <a:t>Avoid: Arrogance, excessive luxury language, impersonal communication, unnecessary technical complexity, and unsupported claims.</a:t>
            </a:r>
          </a:p>
          <a:p/>
          <a:p>
            <a:r>
              <a:t>Portfolio application: A logistics occupier, apartment buyer, township resident, and hotel investor should recognise the same corporate character through different relevant experiences.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31 — TANRISE Brand Personality</a:t>
            </a:r>
          </a:p>
          <a:p>
            <a:r>
              <a:t>Document pages: 33</a:t>
            </a:r>
          </a:p>
          <a:p/>
          <a:p>
            <a:r>
              <a:t>COMPLETE SOURCE TEXT</a:t>
            </a:r>
          </a:p>
          <a:p>
            <a:r>
              <a:t>Professional in Our Expertise. Human in Our Approach.</a:t>
            </a:r>
          </a:p>
          <a:p/>
          <a:p>
            <a:r>
              <a:t>Personality | Meaning | Expression</a:t>
            </a:r>
          </a:p>
          <a:p/>
          <a:p>
            <a:r>
              <a:t>Thoughtful | Understand before creating | Relevant concepts, purposeful planning, attention to detail</a:t>
            </a:r>
          </a:p>
          <a:p/>
          <a:p>
            <a:r>
              <a:t>Dependable | Honour commitments | Accurate communication, responsible delivery, consistent service</a:t>
            </a:r>
          </a:p>
          <a:p/>
          <a:p>
            <a:r>
              <a:t>Progressive | Embrace better possibilities | Innovation, adaptability, forward-looking development</a:t>
            </a:r>
          </a:p>
          <a:p/>
          <a:p>
            <a:r>
              <a:t>Warm | Care about human experiences | Empathy, approachable communication, community relationships</a:t>
            </a:r>
          </a:p>
          <a:p/>
          <a:p>
            <a:r>
              <a:t>Ambitious | Strive for meaningful growth | High standards, commercial discipline, continuous improvement</a:t>
            </a:r>
          </a:p>
          <a:p/>
          <a:p>
            <a:r>
              <a:t>Brand Character</a:t>
            </a:r>
          </a:p>
          <a:p/>
          <a:p>
            <a:r>
              <a:t>TANRISE is the thoughtful visionary: a capable and trusted developer who understands that creating a place means taking responsibility for the people and businesses who depend on it.</a:t>
            </a:r>
          </a:p>
          <a:p/>
          <a:p>
            <a:r>
              <a:t>Avoid: Arrogance, excessive luxury language, impersonal communication, unnecessary technical complexity, and unsupported claims.</a:t>
            </a:r>
          </a:p>
          <a:p/>
          <a:p>
            <a:r>
              <a:t>Portfolio application: A logistics occupier, apartment buyer, township resident, and hotel investor should recognise the same corporate character through different relevant experiences.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32 — Brand Tone of Voice</a:t>
            </a:r>
          </a:p>
          <a:p>
            <a:r>
              <a:t>Document pages: 34, 35</a:t>
            </a:r>
          </a:p>
          <a:p/>
          <a:p>
            <a:r>
              <a:t>COMPLETE SOURCE TEXT</a:t>
            </a:r>
          </a:p>
          <a:p>
            <a:r>
              <a:t>Speak With Confidence. Connect With Humanity.</a:t>
            </a:r>
          </a:p>
          <a:p/>
          <a:p>
            <a:r>
              <a:t>Principle | Conventional language | Proposed TANRISE language</a:t>
            </a:r>
          </a:p>
          <a:p/>
          <a:p>
            <a:r>
              <a:t>Human-centred | Premium residential development with comprehensive facilities | A neighbourhood designed around the everyday moments that matter</a:t>
            </a:r>
          </a:p>
          <a:p/>
          <a:p>
            <a:r>
              <a:t>Purposeful | Strategically located commercial properties | Business spaces that bring people closer to opportunity</a:t>
            </a:r>
          </a:p>
          <a:p/>
          <a:p>
            <a:r>
              <a:t>Trustworthy | World-class quality guaranteed | Thoughtfully planned, clearly communicated, and responsibly delivered</a:t>
            </a:r>
          </a:p>
          <a:p/>
          <a:p>
            <a:r>
              <a:t>Progressive | Innovative integrated development | Connecting homes, businesses, and experiences to create new possibilities</a:t>
            </a:r>
          </a:p>
          <a:p/>
          <a:p>
            <a:r>
              <a:t>Warm | Providing exceptional customer service | Here to support you, from your first visit to the years that follow</a:t>
            </a:r>
          </a:p>
          <a:p/>
          <a:p>
            <a:r>
              <a:t>Corporate Voice</a:t>
            </a:r>
          </a:p>
          <a:p/>
          <a:p>
            <a:r>
              <a:t>Confident, without boasting. Inspiring, without exaggeration. Warm and professional. Ambitious and grounded in evidence.</a:t>
            </a:r>
          </a:p>
          <a:p/>
          <a:p>
            <a:r>
              <a:t>Suggested Corporate Narrative</a:t>
            </a:r>
          </a:p>
          <a:p/>
          <a:p>
            <a:r>
              <a:t>Every place begins with a possibility.</a:t>
            </a:r>
          </a:p>
          <a:p/>
          <a:p>
            <a:r>
              <a:t>A place to call home. A space to grow a business. A destination to discover something new.</a:t>
            </a:r>
          </a:p>
          <a:p/>
          <a:p>
            <a:r>
              <a:t>At TANRISE, we believe thoughtful development can transform these possibilities into meaningful experiences.</a:t>
            </a:r>
          </a:p>
          <a:p/>
          <a:p>
            <a:r>
              <a:t>Because what we build matters. What people can achieve within it matters even more.</a:t>
            </a:r>
          </a:p>
          <a:p/>
          <a:p>
            <a:r>
              <a:t>TANRISE. Elevating Life.</a:t>
            </a:r>
          </a:p>
          <a:p/>
          <a:p>
            <a:r>
              <a:t>Communication rule: Clearly label existing facilities, ongoing works, future developments, and proposed concepts.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32 — Brand Tone of Voice</a:t>
            </a:r>
          </a:p>
          <a:p>
            <a:r>
              <a:t>Document pages: 34, 35</a:t>
            </a:r>
          </a:p>
          <a:p/>
          <a:p>
            <a:r>
              <a:t>COMPLETE SOURCE TEXT</a:t>
            </a:r>
          </a:p>
          <a:p>
            <a:r>
              <a:t>Speak With Confidence. Connect With Humanity.</a:t>
            </a:r>
          </a:p>
          <a:p/>
          <a:p>
            <a:r>
              <a:t>Principle | Conventional language | Proposed TANRISE language</a:t>
            </a:r>
          </a:p>
          <a:p/>
          <a:p>
            <a:r>
              <a:t>Human-centred | Premium residential development with comprehensive facilities | A neighbourhood designed around the everyday moments that matter</a:t>
            </a:r>
          </a:p>
          <a:p/>
          <a:p>
            <a:r>
              <a:t>Purposeful | Strategically located commercial properties | Business spaces that bring people closer to opportunity</a:t>
            </a:r>
          </a:p>
          <a:p/>
          <a:p>
            <a:r>
              <a:t>Trustworthy | World-class quality guaranteed | Thoughtfully planned, clearly communicated, and responsibly delivered</a:t>
            </a:r>
          </a:p>
          <a:p/>
          <a:p>
            <a:r>
              <a:t>Progressive | Innovative integrated development | Connecting homes, businesses, and experiences to create new possibilities</a:t>
            </a:r>
          </a:p>
          <a:p/>
          <a:p>
            <a:r>
              <a:t>Warm | Providing exceptional customer service | Here to support you, from your first visit to the years that follow</a:t>
            </a:r>
          </a:p>
          <a:p/>
          <a:p>
            <a:r>
              <a:t>Corporate Voice</a:t>
            </a:r>
          </a:p>
          <a:p/>
          <a:p>
            <a:r>
              <a:t>Confident, without boasting. Inspiring, without exaggeration. Warm and professional. Ambitious and grounded in evidence.</a:t>
            </a:r>
          </a:p>
          <a:p/>
          <a:p>
            <a:r>
              <a:t>Suggested Corporate Narrative</a:t>
            </a:r>
          </a:p>
          <a:p/>
          <a:p>
            <a:r>
              <a:t>Every place begins with a possibility.</a:t>
            </a:r>
          </a:p>
          <a:p/>
          <a:p>
            <a:r>
              <a:t>A place to call home. A space to grow a business. A destination to discover something new.</a:t>
            </a:r>
          </a:p>
          <a:p/>
          <a:p>
            <a:r>
              <a:t>At TANRISE, we believe thoughtful development can transform these possibilities into meaningful experiences.</a:t>
            </a:r>
          </a:p>
          <a:p/>
          <a:p>
            <a:r>
              <a:t>Because what we build matters. What people can achieve within it matters even more.</a:t>
            </a:r>
          </a:p>
          <a:p/>
          <a:p>
            <a:r>
              <a:t>TANRISE. Elevating Life.</a:t>
            </a:r>
          </a:p>
          <a:p/>
          <a:p>
            <a:r>
              <a:t>Communication rule: Clearly label existing facilities, ongoing works, future developments, and proposed concepts.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32 — Brand Tone of Voice</a:t>
            </a:r>
          </a:p>
          <a:p>
            <a:r>
              <a:t>Document pages: 34, 35</a:t>
            </a:r>
          </a:p>
          <a:p/>
          <a:p>
            <a:r>
              <a:t>COMPLETE SOURCE TEXT</a:t>
            </a:r>
          </a:p>
          <a:p>
            <a:r>
              <a:t>Speak With Confidence. Connect With Humanity.</a:t>
            </a:r>
          </a:p>
          <a:p/>
          <a:p>
            <a:r>
              <a:t>Principle | Conventional language | Proposed TANRISE language</a:t>
            </a:r>
          </a:p>
          <a:p/>
          <a:p>
            <a:r>
              <a:t>Human-centred | Premium residential development with comprehensive facilities | A neighbourhood designed around the everyday moments that matter</a:t>
            </a:r>
          </a:p>
          <a:p/>
          <a:p>
            <a:r>
              <a:t>Purposeful | Strategically located commercial properties | Business spaces that bring people closer to opportunity</a:t>
            </a:r>
          </a:p>
          <a:p/>
          <a:p>
            <a:r>
              <a:t>Trustworthy | World-class quality guaranteed | Thoughtfully planned, clearly communicated, and responsibly delivered</a:t>
            </a:r>
          </a:p>
          <a:p/>
          <a:p>
            <a:r>
              <a:t>Progressive | Innovative integrated development | Connecting homes, businesses, and experiences to create new possibilities</a:t>
            </a:r>
          </a:p>
          <a:p/>
          <a:p>
            <a:r>
              <a:t>Warm | Providing exceptional customer service | Here to support you, from your first visit to the years that follow</a:t>
            </a:r>
          </a:p>
          <a:p/>
          <a:p>
            <a:r>
              <a:t>Corporate Voice</a:t>
            </a:r>
          </a:p>
          <a:p/>
          <a:p>
            <a:r>
              <a:t>Confident, without boasting. Inspiring, without exaggeration. Warm and professional. Ambitious and grounded in evidence.</a:t>
            </a:r>
          </a:p>
          <a:p/>
          <a:p>
            <a:r>
              <a:t>Suggested Corporate Narrative</a:t>
            </a:r>
          </a:p>
          <a:p/>
          <a:p>
            <a:r>
              <a:t>Every place begins with a possibility.</a:t>
            </a:r>
          </a:p>
          <a:p/>
          <a:p>
            <a:r>
              <a:t>A place to call home. A space to grow a business. A destination to discover something new.</a:t>
            </a:r>
          </a:p>
          <a:p/>
          <a:p>
            <a:r>
              <a:t>At TANRISE, we believe thoughtful development can transform these possibilities into meaningful experiences.</a:t>
            </a:r>
          </a:p>
          <a:p/>
          <a:p>
            <a:r>
              <a:t>Because what we build matters. What people can achieve within it matters even more.</a:t>
            </a:r>
          </a:p>
          <a:p/>
          <a:p>
            <a:r>
              <a:t>TANRISE. Elevating Life.</a:t>
            </a:r>
          </a:p>
          <a:p/>
          <a:p>
            <a:r>
              <a:t>Communication rule: Clearly label existing facilities, ongoing works, future developments, and proposed concepts.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33 — Super-Serving: The TANRISE Experience Promise</a:t>
            </a:r>
          </a:p>
          <a:p>
            <a:r>
              <a:t>Document pages: 35, 36</a:t>
            </a:r>
          </a:p>
          <a:p/>
          <a:p>
            <a:r>
              <a:t>COMPLETE SOURCE TEXT</a:t>
            </a:r>
          </a:p>
          <a:p>
            <a:r>
              <a:t>Trust Is What People Experience.</a:t>
            </a:r>
          </a:p>
          <a:p/>
          <a:p>
            <a:r>
              <a:t>Listen → Design → Deliver → Care → Improve</a:t>
            </a:r>
          </a:p>
          <a:p/>
          <a:p>
            <a:r>
              <a:t>Stage | Customer commitment | Proposed measurement</a:t>
            </a:r>
          </a:p>
          <a:p/>
          <a:p>
            <a:r>
              <a:t>Listen | Understand real needs | Research completion and customer insight</a:t>
            </a:r>
          </a:p>
          <a:p/>
          <a:p>
            <a:r>
              <a:t>Design | Create relevant, useful concepts | Concept validation and feasibility approval</a:t>
            </a:r>
          </a:p>
          <a:p/>
          <a:p>
            <a:r>
              <a:t>Deliver | Communicate and fulfil commitments | Timeliness, quality, and readiness</a:t>
            </a:r>
          </a:p>
          <a:p/>
          <a:p>
            <a:r>
              <a:t>Care | Support continuing relationships | Resolution time, satisfaction, and retention</a:t>
            </a:r>
          </a:p>
          <a:p/>
          <a:p>
            <a:r>
              <a:t>Improve | Learn from feedback and performance | Recurring-issue reduction and completed improvements</a:t>
            </a:r>
          </a:p>
          <a:p/>
          <a:p>
            <a:r>
              <a:t>Apply the Philosophy by Asset Type</a:t>
            </a:r>
          </a:p>
          <a:p/>
          <a:p>
            <a:r>
              <a:t>● Integrated City: Infrastructure, public realm, resident communication, and</a:t>
            </a:r>
          </a:p>
          <a:p/>
          <a:p>
            <a:r>
              <a:t>destination coordination. ● Community Living: Purchase, construction updates, handover, defects, and</a:t>
            </a:r>
          </a:p>
          <a:p/>
          <a:p>
            <a:r>
              <a:t>after-sales care. ● Business Districts: Tenant onboarding, access, maintenance, and commercial</a:t>
            </a:r>
          </a:p>
          <a:p/>
          <a:p>
            <a:r>
              <a:t>support. ● Logistic &amp; Industrial Park: Occupier readiness, infrastructure reliability, and</a:t>
            </a:r>
          </a:p>
          <a:p/>
          <a:p>
            <a:r>
              <a:t>operating support. ● Hotel, MICE, and Leisure: Guest experience and asset performance coordinated</a:t>
            </a:r>
          </a:p>
          <a:p/>
          <a:p>
            <a:r>
              <a:t>with the relevant operator.</a:t>
            </a:r>
          </a:p>
          <a:p/>
          <a:p>
            <a:r>
              <a:t>Recommendation: Establish shared customer-experience principles with clear responsibilities between TANRISE, subsidiaries, estate managers, TANLY, and other partners.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33 — Super-Serving: The TANRISE Experience Promise</a:t>
            </a:r>
          </a:p>
          <a:p>
            <a:r>
              <a:t>Document pages: 35, 36</a:t>
            </a:r>
          </a:p>
          <a:p/>
          <a:p>
            <a:r>
              <a:t>COMPLETE SOURCE TEXT</a:t>
            </a:r>
          </a:p>
          <a:p>
            <a:r>
              <a:t>Trust Is What People Experience.</a:t>
            </a:r>
          </a:p>
          <a:p/>
          <a:p>
            <a:r>
              <a:t>Listen → Design → Deliver → Care → Improve</a:t>
            </a:r>
          </a:p>
          <a:p/>
          <a:p>
            <a:r>
              <a:t>Stage | Customer commitment | Proposed measurement</a:t>
            </a:r>
          </a:p>
          <a:p/>
          <a:p>
            <a:r>
              <a:t>Listen | Understand real needs | Research completion and customer insight</a:t>
            </a:r>
          </a:p>
          <a:p/>
          <a:p>
            <a:r>
              <a:t>Design | Create relevant, useful concepts | Concept validation and feasibility approval</a:t>
            </a:r>
          </a:p>
          <a:p/>
          <a:p>
            <a:r>
              <a:t>Deliver | Communicate and fulfil commitments | Timeliness, quality, and readiness</a:t>
            </a:r>
          </a:p>
          <a:p/>
          <a:p>
            <a:r>
              <a:t>Care | Support continuing relationships | Resolution time, satisfaction, and retention</a:t>
            </a:r>
          </a:p>
          <a:p/>
          <a:p>
            <a:r>
              <a:t>Improve | Learn from feedback and performance | Recurring-issue reduction and completed improvements</a:t>
            </a:r>
          </a:p>
          <a:p/>
          <a:p>
            <a:r>
              <a:t>Apply the Philosophy by Asset Type</a:t>
            </a:r>
          </a:p>
          <a:p/>
          <a:p>
            <a:r>
              <a:t>● Integrated City: Infrastructure, public realm, resident communication, and</a:t>
            </a:r>
          </a:p>
          <a:p/>
          <a:p>
            <a:r>
              <a:t>destination coordination. ● Community Living: Purchase, construction updates, handover, defects, and</a:t>
            </a:r>
          </a:p>
          <a:p/>
          <a:p>
            <a:r>
              <a:t>after-sales care. ● Business Districts: Tenant onboarding, access, maintenance, and commercial</a:t>
            </a:r>
          </a:p>
          <a:p/>
          <a:p>
            <a:r>
              <a:t>support. ● Logistic &amp; Industrial Park: Occupier readiness, infrastructure reliability, and</a:t>
            </a:r>
          </a:p>
          <a:p/>
          <a:p>
            <a:r>
              <a:t>operating support. ● Hotel, MICE, and Leisure: Guest experience and asset performance coordinated</a:t>
            </a:r>
          </a:p>
          <a:p/>
          <a:p>
            <a:r>
              <a:t>with the relevant operator.</a:t>
            </a:r>
          </a:p>
          <a:p/>
          <a:p>
            <a:r>
              <a:t>Recommendation: Establish shared customer-experience principles with clear responsibilities between TANRISE, subsidiaries, estate managers, TANLY, and other partners.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33 — Super-Serving: The TANRISE Experience Promise</a:t>
            </a:r>
          </a:p>
          <a:p>
            <a:r>
              <a:t>Document pages: 35, 36</a:t>
            </a:r>
          </a:p>
          <a:p/>
          <a:p>
            <a:r>
              <a:t>COMPLETE SOURCE TEXT</a:t>
            </a:r>
          </a:p>
          <a:p>
            <a:r>
              <a:t>Trust Is What People Experience.</a:t>
            </a:r>
          </a:p>
          <a:p/>
          <a:p>
            <a:r>
              <a:t>Listen → Design → Deliver → Care → Improve</a:t>
            </a:r>
          </a:p>
          <a:p/>
          <a:p>
            <a:r>
              <a:t>Stage | Customer commitment | Proposed measurement</a:t>
            </a:r>
          </a:p>
          <a:p/>
          <a:p>
            <a:r>
              <a:t>Listen | Understand real needs | Research completion and customer insight</a:t>
            </a:r>
          </a:p>
          <a:p/>
          <a:p>
            <a:r>
              <a:t>Design | Create relevant, useful concepts | Concept validation and feasibility approval</a:t>
            </a:r>
          </a:p>
          <a:p/>
          <a:p>
            <a:r>
              <a:t>Deliver | Communicate and fulfil commitments | Timeliness, quality, and readiness</a:t>
            </a:r>
          </a:p>
          <a:p/>
          <a:p>
            <a:r>
              <a:t>Care | Support continuing relationships | Resolution time, satisfaction, and retention</a:t>
            </a:r>
          </a:p>
          <a:p/>
          <a:p>
            <a:r>
              <a:t>Improve | Learn from feedback and performance | Recurring-issue reduction and completed improvements</a:t>
            </a:r>
          </a:p>
          <a:p/>
          <a:p>
            <a:r>
              <a:t>Apply the Philosophy by Asset Type</a:t>
            </a:r>
          </a:p>
          <a:p/>
          <a:p>
            <a:r>
              <a:t>● Integrated City: Infrastructure, public realm, resident communication, and</a:t>
            </a:r>
          </a:p>
          <a:p/>
          <a:p>
            <a:r>
              <a:t>destination coordination. ● Community Living: Purchase, construction updates, handover, defects, and</a:t>
            </a:r>
          </a:p>
          <a:p/>
          <a:p>
            <a:r>
              <a:t>after-sales care. ● Business Districts: Tenant onboarding, access, maintenance, and commercial</a:t>
            </a:r>
          </a:p>
          <a:p/>
          <a:p>
            <a:r>
              <a:t>support. ● Logistic &amp; Industrial Park: Occupier readiness, infrastructure reliability, and</a:t>
            </a:r>
          </a:p>
          <a:p/>
          <a:p>
            <a:r>
              <a:t>operating support. ● Hotel, MICE, and Leisure: Guest experience and asset performance coordinated</a:t>
            </a:r>
          </a:p>
          <a:p/>
          <a:p>
            <a:r>
              <a:t>with the relevant operator.</a:t>
            </a:r>
          </a:p>
          <a:p/>
          <a:p>
            <a:r>
              <a:t>Recommendation: Establish shared customer-experience principles with clear responsibilities between TANRISE, subsidiaries, estate managers, TANLY, and other partners.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34 — The Future TANRISE Business Model</a:t>
            </a:r>
          </a:p>
          <a:p>
            <a:r>
              <a:t>Document pages: 36, 37</a:t>
            </a:r>
          </a:p>
          <a:p/>
          <a:p>
            <a:r>
              <a:t>COMPLETE SOURCE TEXT</a:t>
            </a:r>
          </a:p>
          <a:p>
            <a:r>
              <a:t>Strengthen Existing Income Engines. Develop Additional Sources Selectively.</a:t>
            </a:r>
          </a:p>
          <a:p/>
          <a:p>
            <a:r>
              <a:t>TANRISE already reports development and recurring-income activities.</a:t>
            </a:r>
          </a:p>
          <a:p/>
          <a:p>
            <a:r>
              <a:t>Documented Income Categories</a:t>
            </a:r>
          </a:p>
          <a:p/>
          <a:p>
            <a:r>
              <a:t>Development</a:t>
            </a:r>
          </a:p>
          <a:p/>
          <a:p>
            <a:r>
              <a:t>● Apartments and condotels. ● Warehouses and shophouses. ● Houses and townhouses.</a:t>
            </a:r>
          </a:p>
          <a:p/>
          <a:p>
            <a:r>
              <a:t>● Land.</a:t>
            </a:r>
          </a:p>
          <a:p/>
          <a:p>
            <a:r>
              <a:t>Recurring</a:t>
            </a:r>
          </a:p>
          <a:p/>
          <a:p>
            <a:r>
              <a:t>● Hotel operations. ● Rental of warehouses and shophouses.</a:t>
            </a:r>
          </a:p>
          <a:p/>
          <a:p>
            <a:r>
              <a:t>Proposed Expansion of Value Creation</a:t>
            </a:r>
          </a:p>
          <a:p/>
          <a:p>
            <a:r>
              <a:t>Value engine | Potential activities</a:t>
            </a:r>
          </a:p>
          <a:p/>
          <a:p>
            <a:r>
              <a:t>Development | Continue relevant property development and sales</a:t>
            </a:r>
          </a:p>
          <a:p/>
          <a:p>
            <a:r>
              <a:t>Asset Income | Improve leasing, retained commercial assets, and selected hospitality investments</a:t>
            </a:r>
          </a:p>
          <a:p/>
          <a:p>
            <a:r>
              <a:t>Operations &amp; Services | Evaluate estate management, facilities, destination operations, and suitable memberships</a:t>
            </a:r>
          </a:p>
          <a:p/>
          <a:p>
            <a:r>
              <a:t>Partnerships | Use joint ventures, anchor tenants, institutional partnerships, and management arrangements</a:t>
            </a:r>
          </a:p>
          <a:p/>
          <a:p>
            <a:r>
              <a:t>Examples include the commercial portfolio, retained hospitality assets, Taman Dayu leisure components, and selected industrial developments.</a:t>
            </a:r>
          </a:p>
          <a:p/>
          <a:p>
            <a:r>
              <a:t>Strategic principle: Choose ownership and operating arrangements according to risk, return, capital requirements, and capability.</a:t>
            </a:r>
          </a:p>
          <a:p/>
          <a:p>
            <a:r>
              <a:t>Important: Proposed fees, memberships, and service businesses require feasibility assessment before being presented as established material income streams.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34 — The Future TANRISE Business Model</a:t>
            </a:r>
          </a:p>
          <a:p>
            <a:r>
              <a:t>Document pages: 36, 37</a:t>
            </a:r>
          </a:p>
          <a:p/>
          <a:p>
            <a:r>
              <a:t>COMPLETE SOURCE TEXT</a:t>
            </a:r>
          </a:p>
          <a:p>
            <a:r>
              <a:t>Strengthen Existing Income Engines. Develop Additional Sources Selectively.</a:t>
            </a:r>
          </a:p>
          <a:p/>
          <a:p>
            <a:r>
              <a:t>TANRISE already reports development and recurring-income activities.</a:t>
            </a:r>
          </a:p>
          <a:p/>
          <a:p>
            <a:r>
              <a:t>Documented Income Categories</a:t>
            </a:r>
          </a:p>
          <a:p/>
          <a:p>
            <a:r>
              <a:t>Development</a:t>
            </a:r>
          </a:p>
          <a:p/>
          <a:p>
            <a:r>
              <a:t>● Apartments and condotels. ● Warehouses and shophouses. ● Houses and townhouses.</a:t>
            </a:r>
          </a:p>
          <a:p/>
          <a:p>
            <a:r>
              <a:t>● Land.</a:t>
            </a:r>
          </a:p>
          <a:p/>
          <a:p>
            <a:r>
              <a:t>Recurring</a:t>
            </a:r>
          </a:p>
          <a:p/>
          <a:p>
            <a:r>
              <a:t>● Hotel operations. ● Rental of warehouses and shophouses.</a:t>
            </a:r>
          </a:p>
          <a:p/>
          <a:p>
            <a:r>
              <a:t>Proposed Expansion of Value Creation</a:t>
            </a:r>
          </a:p>
          <a:p/>
          <a:p>
            <a:r>
              <a:t>Value engine | Potential activities</a:t>
            </a:r>
          </a:p>
          <a:p/>
          <a:p>
            <a:r>
              <a:t>Development | Continue relevant property development and sales</a:t>
            </a:r>
          </a:p>
          <a:p/>
          <a:p>
            <a:r>
              <a:t>Asset Income | Improve leasing, retained commercial assets, and selected hospitality investments</a:t>
            </a:r>
          </a:p>
          <a:p/>
          <a:p>
            <a:r>
              <a:t>Operations &amp; Services | Evaluate estate management, facilities, destination operations, and suitable memberships</a:t>
            </a:r>
          </a:p>
          <a:p/>
          <a:p>
            <a:r>
              <a:t>Partnerships | Use joint ventures, anchor tenants, institutional partnerships, and management arrangements</a:t>
            </a:r>
          </a:p>
          <a:p/>
          <a:p>
            <a:r>
              <a:t>Examples include the commercial portfolio, retained hospitality assets, Taman Dayu leisure components, and selected industrial developments.</a:t>
            </a:r>
          </a:p>
          <a:p/>
          <a:p>
            <a:r>
              <a:t>Strategic principle: Choose ownership and operating arrangements according to risk, return, capital requirements, and capability.</a:t>
            </a:r>
          </a:p>
          <a:p/>
          <a:p>
            <a:r>
              <a:t>Important: Proposed fees, memberships, and service businesses require feasibility assessment before being presented as established material income streams.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34 — The Future TANRISE Business Model</a:t>
            </a:r>
          </a:p>
          <a:p>
            <a:r>
              <a:t>Document pages: 36, 37</a:t>
            </a:r>
          </a:p>
          <a:p/>
          <a:p>
            <a:r>
              <a:t>COMPLETE SOURCE TEXT</a:t>
            </a:r>
          </a:p>
          <a:p>
            <a:r>
              <a:t>Strengthen Existing Income Engines. Develop Additional Sources Selectively.</a:t>
            </a:r>
          </a:p>
          <a:p/>
          <a:p>
            <a:r>
              <a:t>TANRISE already reports development and recurring-income activities.</a:t>
            </a:r>
          </a:p>
          <a:p/>
          <a:p>
            <a:r>
              <a:t>Documented Income Categories</a:t>
            </a:r>
          </a:p>
          <a:p/>
          <a:p>
            <a:r>
              <a:t>Development</a:t>
            </a:r>
          </a:p>
          <a:p/>
          <a:p>
            <a:r>
              <a:t>● Apartments and condotels. ● Warehouses and shophouses. ● Houses and townhouses.</a:t>
            </a:r>
          </a:p>
          <a:p/>
          <a:p>
            <a:r>
              <a:t>● Land.</a:t>
            </a:r>
          </a:p>
          <a:p/>
          <a:p>
            <a:r>
              <a:t>Recurring</a:t>
            </a:r>
          </a:p>
          <a:p/>
          <a:p>
            <a:r>
              <a:t>● Hotel operations. ● Rental of warehouses and shophouses.</a:t>
            </a:r>
          </a:p>
          <a:p/>
          <a:p>
            <a:r>
              <a:t>Proposed Expansion of Value Creation</a:t>
            </a:r>
          </a:p>
          <a:p/>
          <a:p>
            <a:r>
              <a:t>Value engine | Potential activities</a:t>
            </a:r>
          </a:p>
          <a:p/>
          <a:p>
            <a:r>
              <a:t>Development | Continue relevant property development and sales</a:t>
            </a:r>
          </a:p>
          <a:p/>
          <a:p>
            <a:r>
              <a:t>Asset Income | Improve leasing, retained commercial assets, and selected hospitality investments</a:t>
            </a:r>
          </a:p>
          <a:p/>
          <a:p>
            <a:r>
              <a:t>Operations &amp; Services | Evaluate estate management, facilities, destination operations, and suitable memberships</a:t>
            </a:r>
          </a:p>
          <a:p/>
          <a:p>
            <a:r>
              <a:t>Partnerships | Use joint ventures, anchor tenants, institutional partnerships, and management arrangements</a:t>
            </a:r>
          </a:p>
          <a:p/>
          <a:p>
            <a:r>
              <a:t>Examples include the commercial portfolio, retained hospitality assets, Taman Dayu leisure components, and selected industrial developments.</a:t>
            </a:r>
          </a:p>
          <a:p/>
          <a:p>
            <a:r>
              <a:t>Strategic principle: Choose ownership and operating arrangements according to risk, return, capital requirements, and capability.</a:t>
            </a:r>
          </a:p>
          <a:p/>
          <a:p>
            <a:r>
              <a:t>Important: Proposed fees, memberships, and service businesses require feasibility assessment before being presented as established material income streams.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35 — Growth Priorities Across the Five Business Pillars</a:t>
            </a:r>
          </a:p>
          <a:p>
            <a:r>
              <a:t>Document pages: 37, 38, 39</a:t>
            </a:r>
          </a:p>
          <a:p/>
          <a:p>
            <a:r>
              <a:t>COMPLETE SOURCE TEXT</a:t>
            </a:r>
          </a:p>
          <a:p>
            <a:r>
              <a:t>One Corporate Strategy. Asset-Specific Growth Engines.</a:t>
            </a:r>
          </a:p>
          <a:p/>
          <a:p>
            <a:r>
              <a:t>Business pillar | Portfolio application | Strategic priority</a:t>
            </a:r>
          </a:p>
          <a:p/>
          <a:p>
            <a:r>
              <a:t>Integrated City | Taman Dayu; Bandung; City Sidoarjo; Swiss of Taman Dayu | Coordinate masterplanning, infrastructure, phasing, anchors, and long-term place value</a:t>
            </a:r>
          </a:p>
          <a:p/>
          <a:p>
            <a:r>
              <a:t>Community Living | Kyo Society; Grand Sunrise Menganti; Sidoarjo and Malang residential projects; ARC100 portfolio reference | Match products to demand, clarify naming, improve absorption, delivery, and customer care</a:t>
            </a:r>
          </a:p>
          <a:p/>
          <a:p>
            <a:r>
              <a:t>Business Districts | Voza Tower; Rame-Rame; Grand Central Bandung; Midpoint Kayoon; Bali Bites | Improve commercial relevance, occupancy, tenant mix, visitation, and asset utilisation</a:t>
            </a:r>
          </a:p>
          <a:p/>
          <a:p>
            <a:r>
              <a:t>Logistic &amp; Industrial Park | Existing Tritan assets; Gresik; Gempol; Palembang; Banjarbaru | Deliver suitable infrastructure, occupier readiness, connectivity, and phased development</a:t>
            </a:r>
          </a:p>
          <a:p/>
          <a:p>
            <a:r>
              <a:t>Hotel, MICE, and Leisure | VASA; Cleo; Solaris; golf; Driving Range; hospitality pipeline | Improve operating performance and coordinate investment with management capability</a:t>
            </a:r>
          </a:p>
          <a:p/>
          <a:p>
            <a:r>
              <a:t>KPI Principle</a:t>
            </a:r>
          </a:p>
          <a:p/>
          <a:p>
            <a:r>
              <a:t>Each pillar needs its own commercial measures, supported by a consolidated corporate scorecard.</a:t>
            </a:r>
          </a:p>
          <a:p/>
          <a:p>
            <a:r>
              <a:t>Distinguish:</a:t>
            </a:r>
          </a:p>
          <a:p/>
          <a:p>
            <a:r>
              <a:t>● Development sales and recognised revenue. ● Operating income and cash flow. ● Utilisation and customer demand. ● Capital employed and investment returns.</a:t>
            </a:r>
          </a:p>
          <a:p/>
          <a:p>
            <a:r>
              <a:t>● Customer and partner experience.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35 — Growth Priorities Across the Five Business Pillars</a:t>
            </a:r>
          </a:p>
          <a:p>
            <a:r>
              <a:t>Document pages: 37, 38, 39</a:t>
            </a:r>
          </a:p>
          <a:p/>
          <a:p>
            <a:r>
              <a:t>COMPLETE SOURCE TEXT</a:t>
            </a:r>
          </a:p>
          <a:p>
            <a:r>
              <a:t>One Corporate Strategy. Asset-Specific Growth Engines.</a:t>
            </a:r>
          </a:p>
          <a:p/>
          <a:p>
            <a:r>
              <a:t>Business pillar | Portfolio application | Strategic priority</a:t>
            </a:r>
          </a:p>
          <a:p/>
          <a:p>
            <a:r>
              <a:t>Integrated City | Taman Dayu; Bandung; City Sidoarjo; Swiss of Taman Dayu | Coordinate masterplanning, infrastructure, phasing, anchors, and long-term place value</a:t>
            </a:r>
          </a:p>
          <a:p/>
          <a:p>
            <a:r>
              <a:t>Community Living | Kyo Society; Grand Sunrise Menganti; Sidoarjo and Malang residential projects; ARC100 portfolio reference | Match products to demand, clarify naming, improve absorption, delivery, and customer care</a:t>
            </a:r>
          </a:p>
          <a:p/>
          <a:p>
            <a:r>
              <a:t>Business Districts | Voza Tower; Rame-Rame; Grand Central Bandung; Midpoint Kayoon; Bali Bites | Improve commercial relevance, occupancy, tenant mix, visitation, and asset utilisation</a:t>
            </a:r>
          </a:p>
          <a:p/>
          <a:p>
            <a:r>
              <a:t>Logistic &amp; Industrial Park | Existing Tritan assets; Gresik; Gempol; Palembang; Banjarbaru | Deliver suitable infrastructure, occupier readiness, connectivity, and phased development</a:t>
            </a:r>
          </a:p>
          <a:p/>
          <a:p>
            <a:r>
              <a:t>Hotel, MICE, and Leisure | VASA; Cleo; Solaris; golf; Driving Range; hospitality pipeline | Improve operating performance and coordinate investment with management capability</a:t>
            </a:r>
          </a:p>
          <a:p/>
          <a:p>
            <a:r>
              <a:t>KPI Principle</a:t>
            </a:r>
          </a:p>
          <a:p/>
          <a:p>
            <a:r>
              <a:t>Each pillar needs its own commercial measures, supported by a consolidated corporate scorecard.</a:t>
            </a:r>
          </a:p>
          <a:p/>
          <a:p>
            <a:r>
              <a:t>Distinguish:</a:t>
            </a:r>
          </a:p>
          <a:p/>
          <a:p>
            <a:r>
              <a:t>● Development sales and recognised revenue. ● Operating income and cash flow. ● Utilisation and customer demand. ● Capital employed and investment returns.</a:t>
            </a:r>
          </a:p>
          <a:p/>
          <a:p>
            <a:r>
              <a:t>● Customer and partner experience.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35 — Growth Priorities Across the Five Business Pillars</a:t>
            </a:r>
          </a:p>
          <a:p>
            <a:r>
              <a:t>Document pages: 37, 38, 39</a:t>
            </a:r>
          </a:p>
          <a:p/>
          <a:p>
            <a:r>
              <a:t>COMPLETE SOURCE TEXT</a:t>
            </a:r>
          </a:p>
          <a:p>
            <a:r>
              <a:t>One Corporate Strategy. Asset-Specific Growth Engines.</a:t>
            </a:r>
          </a:p>
          <a:p/>
          <a:p>
            <a:r>
              <a:t>Business pillar | Portfolio application | Strategic priority</a:t>
            </a:r>
          </a:p>
          <a:p/>
          <a:p>
            <a:r>
              <a:t>Integrated City | Taman Dayu; Bandung; City Sidoarjo; Swiss of Taman Dayu | Coordinate masterplanning, infrastructure, phasing, anchors, and long-term place value</a:t>
            </a:r>
          </a:p>
          <a:p/>
          <a:p>
            <a:r>
              <a:t>Community Living | Kyo Society; Grand Sunrise Menganti; Sidoarjo and Malang residential projects; ARC100 portfolio reference | Match products to demand, clarify naming, improve absorption, delivery, and customer care</a:t>
            </a:r>
          </a:p>
          <a:p/>
          <a:p>
            <a:r>
              <a:t>Business Districts | Voza Tower; Rame-Rame; Grand Central Bandung; Midpoint Kayoon; Bali Bites | Improve commercial relevance, occupancy, tenant mix, visitation, and asset utilisation</a:t>
            </a:r>
          </a:p>
          <a:p/>
          <a:p>
            <a:r>
              <a:t>Logistic &amp; Industrial Park | Existing Tritan assets; Gresik; Gempol; Palembang; Banjarbaru | Deliver suitable infrastructure, occupier readiness, connectivity, and phased development</a:t>
            </a:r>
          </a:p>
          <a:p/>
          <a:p>
            <a:r>
              <a:t>Hotel, MICE, and Leisure | VASA; Cleo; Solaris; golf; Driving Range; hospitality pipeline | Improve operating performance and coordinate investment with management capability</a:t>
            </a:r>
          </a:p>
          <a:p/>
          <a:p>
            <a:r>
              <a:t>KPI Principle</a:t>
            </a:r>
          </a:p>
          <a:p/>
          <a:p>
            <a:r>
              <a:t>Each pillar needs its own commercial measures, supported by a consolidated corporate scorecard.</a:t>
            </a:r>
          </a:p>
          <a:p/>
          <a:p>
            <a:r>
              <a:t>Distinguish:</a:t>
            </a:r>
          </a:p>
          <a:p/>
          <a:p>
            <a:r>
              <a:t>● Development sales and recognised revenue. ● Operating income and cash flow. ● Utilisation and customer demand. ● Capital employed and investment returns.</a:t>
            </a:r>
          </a:p>
          <a:p/>
          <a:p>
            <a:r>
              <a:t>● Customer and partner experience.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36 — Priority Transformation Opportunities</a:t>
            </a:r>
          </a:p>
          <a:p>
            <a:r>
              <a:t>Document pages: 39, 40</a:t>
            </a:r>
          </a:p>
          <a:p/>
          <a:p>
            <a:r>
              <a:t>COMPLETE SOURCE TEXT</a:t>
            </a:r>
          </a:p>
          <a:p>
            <a:r>
              <a:t>Use the Existing Portfolio and Pipeline to Demonstrate the Strategy.</a:t>
            </a:r>
          </a:p>
          <a:p/>
          <a:p>
            <a:r>
              <a:t>1. Taman Dayu — Sport, Leisure, and Destination Value</a:t>
            </a:r>
          </a:p>
          <a:p/>
          <a:p>
            <a:r>
              <a:t>Coordinate Tanrise Taman Dayu Pandaan, Golf Taman Dayu, the Driving Range, and the Swiss of Taman Dayu Pandaan development.</a:t>
            </a:r>
          </a:p>
          <a:p/>
          <a:p>
            <a:r>
              <a:t>Evaluate additional wellness, community, hospitality, and F&amp;B programming.</a:t>
            </a:r>
          </a:p>
          <a:p/>
          <a:p>
            <a:r>
              <a:t>Business hypothesis: More relevant activities and repeat visitation could support operating income and surrounding property demand.</a:t>
            </a:r>
          </a:p>
          <a:p/>
          <a:p>
            <a:r>
              <a:t>Measures: Visitation, repeat participation, asset utilisation, operating profit, and property enquiries.</a:t>
            </a:r>
          </a:p>
          <a:p/>
          <a:p>
            <a:r>
              <a:t>2. Integrated-City Growth — Sidoarjo and Bandung</a:t>
            </a:r>
          </a:p>
          <a:p/>
          <a:p>
            <a:r>
              <a:t>Develop Tanrise City Sidoarjo and Tanrise Bandung through commercially sustainable phases.</a:t>
            </a:r>
          </a:p>
          <a:p/>
          <a:p>
            <a:r>
              <a:t>For Bandung, coordinate the wider destination with Grand Central Bandung and residential development.</a:t>
            </a:r>
          </a:p>
          <a:p/>
          <a:p>
            <a:r>
              <a:t>Business hypothesis: Appropriate anchors, infrastructure, and visible delivery could improve buyer confidence and early-phase attractiveness.</a:t>
            </a:r>
          </a:p>
          <a:p/>
          <a:p>
            <a:r>
              <a:t>3. Industrial and Logistics — Occupier Productivity</a:t>
            </a:r>
          </a:p>
          <a:p/>
          <a:p>
            <a:r>
              <a:t>Use Tritan Gresik, Tritan Gempol Pasuruan, Tanrise Industrial Park Palembang, and Tanrise Industrial Park Banjarbaru to test a consistent occupier proposition.</a:t>
            </a:r>
          </a:p>
          <a:p/>
          <a:p>
            <a:r>
              <a:t>Business hypothesis: Technical suitability, infrastructure reliability, and coordinated services could strengthen acquisition and retention.</a:t>
            </a:r>
          </a:p>
          <a:p/>
          <a:p>
            <a:r>
              <a:t>Supporting Workstream — Hospitality Investment and Operations</a:t>
            </a:r>
          </a:p>
          <a:p/>
          <a:p>
            <a:r>
              <a:t>Align the VASA and Solaris pipeline with operating feasibility, management agreements, opening readiness, and capital discipline.</a:t>
            </a:r>
          </a:p>
          <a:p/>
          <a:p>
            <a:r>
              <a:t>Recommendation: Advance each initiative through a documented business case before scaling the model.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36 — Priority Transformation Opportunities</a:t>
            </a:r>
          </a:p>
          <a:p>
            <a:r>
              <a:t>Document pages: 39, 40</a:t>
            </a:r>
          </a:p>
          <a:p/>
          <a:p>
            <a:r>
              <a:t>COMPLETE SOURCE TEXT</a:t>
            </a:r>
          </a:p>
          <a:p>
            <a:r>
              <a:t>Use the Existing Portfolio and Pipeline to Demonstrate the Strategy.</a:t>
            </a:r>
          </a:p>
          <a:p/>
          <a:p>
            <a:r>
              <a:t>1. Taman Dayu — Sport, Leisure, and Destination Value</a:t>
            </a:r>
          </a:p>
          <a:p/>
          <a:p>
            <a:r>
              <a:t>Coordinate Tanrise Taman Dayu Pandaan, Golf Taman Dayu, the Driving Range, and the Swiss of Taman Dayu Pandaan development.</a:t>
            </a:r>
          </a:p>
          <a:p/>
          <a:p>
            <a:r>
              <a:t>Evaluate additional wellness, community, hospitality, and F&amp;B programming.</a:t>
            </a:r>
          </a:p>
          <a:p/>
          <a:p>
            <a:r>
              <a:t>Business hypothesis: More relevant activities and repeat visitation could support operating income and surrounding property demand.</a:t>
            </a:r>
          </a:p>
          <a:p/>
          <a:p>
            <a:r>
              <a:t>Measures: Visitation, repeat participation, asset utilisation, operating profit, and property enquiries.</a:t>
            </a:r>
          </a:p>
          <a:p/>
          <a:p>
            <a:r>
              <a:t>2. Integrated-City Growth — Sidoarjo and Bandung</a:t>
            </a:r>
          </a:p>
          <a:p/>
          <a:p>
            <a:r>
              <a:t>Develop Tanrise City Sidoarjo and Tanrise Bandung through commercially sustainable phases.</a:t>
            </a:r>
          </a:p>
          <a:p/>
          <a:p>
            <a:r>
              <a:t>For Bandung, coordinate the wider destination with Grand Central Bandung and residential development.</a:t>
            </a:r>
          </a:p>
          <a:p/>
          <a:p>
            <a:r>
              <a:t>Business hypothesis: Appropriate anchors, infrastructure, and visible delivery could improve buyer confidence and early-phase attractiveness.</a:t>
            </a:r>
          </a:p>
          <a:p/>
          <a:p>
            <a:r>
              <a:t>3. Industrial and Logistics — Occupier Productivity</a:t>
            </a:r>
          </a:p>
          <a:p/>
          <a:p>
            <a:r>
              <a:t>Use Tritan Gresik, Tritan Gempol Pasuruan, Tanrise Industrial Park Palembang, and Tanrise Industrial Park Banjarbaru to test a consistent occupier proposition.</a:t>
            </a:r>
          </a:p>
          <a:p/>
          <a:p>
            <a:r>
              <a:t>Business hypothesis: Technical suitability, infrastructure reliability, and coordinated services could strengthen acquisition and retention.</a:t>
            </a:r>
          </a:p>
          <a:p/>
          <a:p>
            <a:r>
              <a:t>Supporting Workstream — Hospitality Investment and Operations</a:t>
            </a:r>
          </a:p>
          <a:p/>
          <a:p>
            <a:r>
              <a:t>Align the VASA and Solaris pipeline with operating feasibility, management agreements, opening readiness, and capital discipline.</a:t>
            </a:r>
          </a:p>
          <a:p/>
          <a:p>
            <a:r>
              <a:t>Recommendation: Advance each initiative through a documented business case before scaling the model.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36 — Priority Transformation Opportunities</a:t>
            </a:r>
          </a:p>
          <a:p>
            <a:r>
              <a:t>Document pages: 39, 40</a:t>
            </a:r>
          </a:p>
          <a:p/>
          <a:p>
            <a:r>
              <a:t>COMPLETE SOURCE TEXT</a:t>
            </a:r>
          </a:p>
          <a:p>
            <a:r>
              <a:t>Use the Existing Portfolio and Pipeline to Demonstrate the Strategy.</a:t>
            </a:r>
          </a:p>
          <a:p/>
          <a:p>
            <a:r>
              <a:t>1. Taman Dayu — Sport, Leisure, and Destination Value</a:t>
            </a:r>
          </a:p>
          <a:p/>
          <a:p>
            <a:r>
              <a:t>Coordinate Tanrise Taman Dayu Pandaan, Golf Taman Dayu, the Driving Range, and the Swiss of Taman Dayu Pandaan development.</a:t>
            </a:r>
          </a:p>
          <a:p/>
          <a:p>
            <a:r>
              <a:t>Evaluate additional wellness, community, hospitality, and F&amp;B programming.</a:t>
            </a:r>
          </a:p>
          <a:p/>
          <a:p>
            <a:r>
              <a:t>Business hypothesis: More relevant activities and repeat visitation could support operating income and surrounding property demand.</a:t>
            </a:r>
          </a:p>
          <a:p/>
          <a:p>
            <a:r>
              <a:t>Measures: Visitation, repeat participation, asset utilisation, operating profit, and property enquiries.</a:t>
            </a:r>
          </a:p>
          <a:p/>
          <a:p>
            <a:r>
              <a:t>2. Integrated-City Growth — Sidoarjo and Bandung</a:t>
            </a:r>
          </a:p>
          <a:p/>
          <a:p>
            <a:r>
              <a:t>Develop Tanrise City Sidoarjo and Tanrise Bandung through commercially sustainable phases.</a:t>
            </a:r>
          </a:p>
          <a:p/>
          <a:p>
            <a:r>
              <a:t>For Bandung, coordinate the wider destination with Grand Central Bandung and residential development.</a:t>
            </a:r>
          </a:p>
          <a:p/>
          <a:p>
            <a:r>
              <a:t>Business hypothesis: Appropriate anchors, infrastructure, and visible delivery could improve buyer confidence and early-phase attractiveness.</a:t>
            </a:r>
          </a:p>
          <a:p/>
          <a:p>
            <a:r>
              <a:t>3. Industrial and Logistics — Occupier Productivity</a:t>
            </a:r>
          </a:p>
          <a:p/>
          <a:p>
            <a:r>
              <a:t>Use Tritan Gresik, Tritan Gempol Pasuruan, Tanrise Industrial Park Palembang, and Tanrise Industrial Park Banjarbaru to test a consistent occupier proposition.</a:t>
            </a:r>
          </a:p>
          <a:p/>
          <a:p>
            <a:r>
              <a:t>Business hypothesis: Technical suitability, infrastructure reliability, and coordinated services could strengthen acquisition and retention.</a:t>
            </a:r>
          </a:p>
          <a:p/>
          <a:p>
            <a:r>
              <a:t>Supporting Workstream — Hospitality Investment and Operations</a:t>
            </a:r>
          </a:p>
          <a:p/>
          <a:p>
            <a:r>
              <a:t>Align the VASA and Solaris pipeline with operating feasibility, management agreements, opening readiness, and capital discipline.</a:t>
            </a:r>
          </a:p>
          <a:p/>
          <a:p>
            <a:r>
              <a:t>Recommendation: Advance each initiative through a documented business case before scaling the model.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37 — The Capital Allocation Principle</a:t>
            </a:r>
          </a:p>
          <a:p>
            <a:r>
              <a:t>Document pages: 40, 41</a:t>
            </a:r>
          </a:p>
          <a:p/>
          <a:p>
            <a:r>
              <a:t>COMPLETE SOURCE TEXT</a:t>
            </a:r>
          </a:p>
          <a:p>
            <a:r>
              <a:t>Measure Growth by Value Created.</a:t>
            </a:r>
          </a:p>
          <a:p/>
          <a:p>
            <a:r>
              <a:t>Evaluate developments and retained-asset initiatives through a common framework.</a:t>
            </a:r>
          </a:p>
          <a:p/>
          <a:p>
            <a:r>
              <a:t>Criterion | Core question</a:t>
            </a:r>
          </a:p>
          <a:p/>
          <a:p>
            <a:r>
              <a:t>Market demand | Is there sufficient evidence of demand?</a:t>
            </a:r>
          </a:p>
          <a:p/>
          <a:p>
            <a:r>
              <a:t>Strategic fit | Does the investment support the portfolio strategy?</a:t>
            </a:r>
          </a:p>
          <a:p/>
          <a:p>
            <a:r>
              <a:t>Capital efficiency | What return is generated relative to investment?</a:t>
            </a:r>
          </a:p>
          <a:p/>
          <a:p>
            <a:r>
              <a:t>Cash-flow resilience | How exposed is the project to market cycles and timing?</a:t>
            </a:r>
          </a:p>
          <a:p/>
          <a:p>
            <a:r>
              <a:t>Recurring-income potential | Can the asset produce sustainable continuing earnings?</a:t>
            </a:r>
          </a:p>
          <a:p/>
          <a:p>
            <a:r>
              <a:t>Operating capability | Can TANRISE or a qualified partner operate it effectively?</a:t>
            </a:r>
          </a:p>
          <a:p/>
          <a:p>
            <a:r>
              <a:t>Ownership economics | What share of cash flow and earnings is attributable to TANRISE?</a:t>
            </a:r>
          </a:p>
          <a:p/>
          <a:p>
            <a:r>
              <a:t>Brand contribution | Will the investment strengthen trust and corporate reputation?</a:t>
            </a:r>
          </a:p>
          <a:p/>
          <a:p>
            <a:r>
              <a:t>Financial Disciplines</a:t>
            </a:r>
          </a:p>
          <a:p/>
          <a:p>
            <a:r>
              <a:t>Project IRR · NPV · ROIC · Cash Conversion · Leverage · Operating Margin · Sensitivity Analysis</a:t>
            </a:r>
          </a:p>
          <a:p/>
          <a:p>
            <a:r>
              <a:t>Pipeline Application</a:t>
            </a:r>
          </a:p>
          <a:p/>
          <a:p>
            <a:r>
              <a:t>Apply consistent evaluation to integrated cities, residential phases, commercial assets, industrial parks, warehouses, hotels, and leisure developments.</a:t>
            </a:r>
          </a:p>
          <a:p/>
          <a:p>
            <a:r>
              <a:t>Management decision: Establish an investment committee process with asset-specific assumptions and clearly accountable sponsors.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37 — The Capital Allocation Principle</a:t>
            </a:r>
          </a:p>
          <a:p>
            <a:r>
              <a:t>Document pages: 40, 41</a:t>
            </a:r>
          </a:p>
          <a:p/>
          <a:p>
            <a:r>
              <a:t>COMPLETE SOURCE TEXT</a:t>
            </a:r>
          </a:p>
          <a:p>
            <a:r>
              <a:t>Measure Growth by Value Created.</a:t>
            </a:r>
          </a:p>
          <a:p/>
          <a:p>
            <a:r>
              <a:t>Evaluate developments and retained-asset initiatives through a common framework.</a:t>
            </a:r>
          </a:p>
          <a:p/>
          <a:p>
            <a:r>
              <a:t>Criterion | Core question</a:t>
            </a:r>
          </a:p>
          <a:p/>
          <a:p>
            <a:r>
              <a:t>Market demand | Is there sufficient evidence of demand?</a:t>
            </a:r>
          </a:p>
          <a:p/>
          <a:p>
            <a:r>
              <a:t>Strategic fit | Does the investment support the portfolio strategy?</a:t>
            </a:r>
          </a:p>
          <a:p/>
          <a:p>
            <a:r>
              <a:t>Capital efficiency | What return is generated relative to investment?</a:t>
            </a:r>
          </a:p>
          <a:p/>
          <a:p>
            <a:r>
              <a:t>Cash-flow resilience | How exposed is the project to market cycles and timing?</a:t>
            </a:r>
          </a:p>
          <a:p/>
          <a:p>
            <a:r>
              <a:t>Recurring-income potential | Can the asset produce sustainable continuing earnings?</a:t>
            </a:r>
          </a:p>
          <a:p/>
          <a:p>
            <a:r>
              <a:t>Operating capability | Can TANRISE or a qualified partner operate it effectively?</a:t>
            </a:r>
          </a:p>
          <a:p/>
          <a:p>
            <a:r>
              <a:t>Ownership economics | What share of cash flow and earnings is attributable to TANRISE?</a:t>
            </a:r>
          </a:p>
          <a:p/>
          <a:p>
            <a:r>
              <a:t>Brand contribution | Will the investment strengthen trust and corporate reputation?</a:t>
            </a:r>
          </a:p>
          <a:p/>
          <a:p>
            <a:r>
              <a:t>Financial Disciplines</a:t>
            </a:r>
          </a:p>
          <a:p/>
          <a:p>
            <a:r>
              <a:t>Project IRR · NPV · ROIC · Cash Conversion · Leverage · Operating Margin · Sensitivity Analysis</a:t>
            </a:r>
          </a:p>
          <a:p/>
          <a:p>
            <a:r>
              <a:t>Pipeline Application</a:t>
            </a:r>
          </a:p>
          <a:p/>
          <a:p>
            <a:r>
              <a:t>Apply consistent evaluation to integrated cities, residential phases, commercial assets, industrial parks, warehouses, hotels, and leisure developments.</a:t>
            </a:r>
          </a:p>
          <a:p/>
          <a:p>
            <a:r>
              <a:t>Management decision: Establish an investment committee process with asset-specific assumptions and clearly accountable sponsors.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37 — The Capital Allocation Principle</a:t>
            </a:r>
          </a:p>
          <a:p>
            <a:r>
              <a:t>Document pages: 40, 41</a:t>
            </a:r>
          </a:p>
          <a:p/>
          <a:p>
            <a:r>
              <a:t>COMPLETE SOURCE TEXT</a:t>
            </a:r>
          </a:p>
          <a:p>
            <a:r>
              <a:t>Measure Growth by Value Created.</a:t>
            </a:r>
          </a:p>
          <a:p/>
          <a:p>
            <a:r>
              <a:t>Evaluate developments and retained-asset initiatives through a common framework.</a:t>
            </a:r>
          </a:p>
          <a:p/>
          <a:p>
            <a:r>
              <a:t>Criterion | Core question</a:t>
            </a:r>
          </a:p>
          <a:p/>
          <a:p>
            <a:r>
              <a:t>Market demand | Is there sufficient evidence of demand?</a:t>
            </a:r>
          </a:p>
          <a:p/>
          <a:p>
            <a:r>
              <a:t>Strategic fit | Does the investment support the portfolio strategy?</a:t>
            </a:r>
          </a:p>
          <a:p/>
          <a:p>
            <a:r>
              <a:t>Capital efficiency | What return is generated relative to investment?</a:t>
            </a:r>
          </a:p>
          <a:p/>
          <a:p>
            <a:r>
              <a:t>Cash-flow resilience | How exposed is the project to market cycles and timing?</a:t>
            </a:r>
          </a:p>
          <a:p/>
          <a:p>
            <a:r>
              <a:t>Recurring-income potential | Can the asset produce sustainable continuing earnings?</a:t>
            </a:r>
          </a:p>
          <a:p/>
          <a:p>
            <a:r>
              <a:t>Operating capability | Can TANRISE or a qualified partner operate it effectively?</a:t>
            </a:r>
          </a:p>
          <a:p/>
          <a:p>
            <a:r>
              <a:t>Ownership economics | What share of cash flow and earnings is attributable to TANRISE?</a:t>
            </a:r>
          </a:p>
          <a:p/>
          <a:p>
            <a:r>
              <a:t>Brand contribution | Will the investment strengthen trust and corporate reputation?</a:t>
            </a:r>
          </a:p>
          <a:p/>
          <a:p>
            <a:r>
              <a:t>Financial Disciplines</a:t>
            </a:r>
          </a:p>
          <a:p/>
          <a:p>
            <a:r>
              <a:t>Project IRR · NPV · ROIC · Cash Conversion · Leverage · Operating Margin · Sensitivity Analysis</a:t>
            </a:r>
          </a:p>
          <a:p/>
          <a:p>
            <a:r>
              <a:t>Pipeline Application</a:t>
            </a:r>
          </a:p>
          <a:p/>
          <a:p>
            <a:r>
              <a:t>Apply consistent evaluation to integrated cities, residential phases, commercial assets, industrial parks, warehouses, hotels, and leisure developments.</a:t>
            </a:r>
          </a:p>
          <a:p/>
          <a:p>
            <a:r>
              <a:t>Management decision: Establish an investment committee process with asset-specific assumptions and clearly accountable sponsors.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38 — TANRISE Transformation Roadmap</a:t>
            </a:r>
          </a:p>
          <a:p>
            <a:r>
              <a:t>Document pages: 41, 42</a:t>
            </a:r>
          </a:p>
          <a:p/>
          <a:p>
            <a:r>
              <a:t>COMPLETE SOURCE TEXT</a:t>
            </a:r>
          </a:p>
          <a:p>
            <a:r>
              <a:t>Four Phases. One Ambition Through 2035.</a:t>
            </a:r>
          </a:p>
          <a:p/>
          <a:p>
            <a:r>
              <a:t>Period | Phase | Priorities</a:t>
            </a:r>
          </a:p>
          <a:p/>
          <a:p>
            <a:r>
              <a:t>2026–2027 | Foundation | Reconcile the portfolio register; confirm naming and ownership; establish financial and operating baselines; review current pipeline commitments</a:t>
            </a:r>
          </a:p>
          <a:p/>
          <a:p>
            <a:r>
              <a:t>2028–2029 | Activation | Strengthen commercial and operating capabilities; deliver approved development phases; improve performance of retained assets</a:t>
            </a:r>
          </a:p>
          <a:p/>
          <a:p>
            <a:r>
              <a:t>2030–2032 | Acceleration | Scale validated models, productive assets, and effective partnerships across the five pillars</a:t>
            </a:r>
          </a:p>
          <a:p/>
          <a:p>
            <a:r>
              <a:t>2033–2035 | Leadership | Optimise the portfolio, strengthen earnings resilience, and compete against the agreed Top Five benchmarks</a:t>
            </a:r>
          </a:p>
          <a:p/>
          <a:p>
            <a:r>
              <a:t>Immediate Portfolio Focus</a:t>
            </a:r>
          </a:p>
          <a:p/>
          <a:p>
            <a:r>
              <a:t>● Integrated-city phasing in Bandung, Sidoarjo, and Taman Dayu. ● Community Living product and naming clarity. ● Commercial asset productivity. ● Industrial and logistics readiness. ● Hospitality development and opening discipline.</a:t>
            </a:r>
          </a:p>
          <a:p/>
          <a:p>
            <a:r>
              <a:t>Strategic principle: Measure financial, operational, and organisational progress throughout the journey.</a:t>
            </a:r>
          </a:p>
          <a:p/>
          <a:p>
            <a:r>
              <a:t>The roadmap is a proposed corporate transformation framework, not a replacement for individual project schedules.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38 — TANRISE Transformation Roadmap</a:t>
            </a:r>
          </a:p>
          <a:p>
            <a:r>
              <a:t>Document pages: 41, 42</a:t>
            </a:r>
          </a:p>
          <a:p/>
          <a:p>
            <a:r>
              <a:t>COMPLETE SOURCE TEXT</a:t>
            </a:r>
          </a:p>
          <a:p>
            <a:r>
              <a:t>Four Phases. One Ambition Through 2035.</a:t>
            </a:r>
          </a:p>
          <a:p/>
          <a:p>
            <a:r>
              <a:t>Period | Phase | Priorities</a:t>
            </a:r>
          </a:p>
          <a:p/>
          <a:p>
            <a:r>
              <a:t>2026–2027 | Foundation | Reconcile the portfolio register; confirm naming and ownership; establish financial and operating baselines; review current pipeline commitments</a:t>
            </a:r>
          </a:p>
          <a:p/>
          <a:p>
            <a:r>
              <a:t>2028–2029 | Activation | Strengthen commercial and operating capabilities; deliver approved development phases; improve performance of retained assets</a:t>
            </a:r>
          </a:p>
          <a:p/>
          <a:p>
            <a:r>
              <a:t>2030–2032 | Acceleration | Scale validated models, productive assets, and effective partnerships across the five pillars</a:t>
            </a:r>
          </a:p>
          <a:p/>
          <a:p>
            <a:r>
              <a:t>2033–2035 | Leadership | Optimise the portfolio, strengthen earnings resilience, and compete against the agreed Top Five benchmarks</a:t>
            </a:r>
          </a:p>
          <a:p/>
          <a:p>
            <a:r>
              <a:t>Immediate Portfolio Focus</a:t>
            </a:r>
          </a:p>
          <a:p/>
          <a:p>
            <a:r>
              <a:t>● Integrated-city phasing in Bandung, Sidoarjo, and Taman Dayu. ● Community Living product and naming clarity. ● Commercial asset productivity. ● Industrial and logistics readiness. ● Hospitality development and opening discipline.</a:t>
            </a:r>
          </a:p>
          <a:p/>
          <a:p>
            <a:r>
              <a:t>Strategic principle: Measure financial, operational, and organisational progress throughout the journey.</a:t>
            </a:r>
          </a:p>
          <a:p/>
          <a:p>
            <a:r>
              <a:t>The roadmap is a proposed corporate transformation framework, not a replacement for individual project schedules.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39 — The 2035 Performance Scorecard</a:t>
            </a:r>
          </a:p>
          <a:p>
            <a:r>
              <a:t>Document pages: 42, 43, 44</a:t>
            </a:r>
          </a:p>
          <a:p/>
          <a:p>
            <a:r>
              <a:t>COMPLETE SOURCE TEXT</a:t>
            </a:r>
          </a:p>
          <a:p>
            <a:r>
              <a:t>Measure the Ambition. Manage the Journey.</a:t>
            </a:r>
          </a:p>
          <a:p/>
          <a:p>
            <a:r>
              <a:t>Dimension | Proposed KPI | Objective</a:t>
            </a:r>
          </a:p>
          <a:p/>
          <a:p>
            <a:r>
              <a:t>Financial scale | Consolidated revenue | Top Five among the agreed listed-property peer group</a:t>
            </a:r>
          </a:p>
          <a:p/>
          <a:p>
            <a:r>
              <a:t>Profitability | Net profit attributable to owners of the parent | Top Five among the agreed peer group</a:t>
            </a:r>
          </a:p>
          <a:p/>
          <a:p>
            <a:r>
              <a:t>Capital productivity | ROIC and project IRR | Meet board-approved hurdles</a:t>
            </a:r>
          </a:p>
          <a:p/>
          <a:p>
            <a:r>
              <a:t>Financial resilience | Debt, liquidity, and cash conversion | Sustainable funding and leverage</a:t>
            </a:r>
          </a:p>
          <a:p/>
          <a:p>
            <a:r>
              <a:t>Recurring income | Revenue, operating profit, and cash contribution | Meaningful, growing contribution</a:t>
            </a:r>
          </a:p>
          <a:p/>
          <a:p>
            <a:r>
              <a:t>Development execution | Absorption, handover, project margin, and delivery milestones | Consistent execution</a:t>
            </a:r>
          </a:p>
          <a:p/>
          <a:p>
            <a:r>
              <a:t>Asset productivity | Occupancy, RevPAR, NOI, utilisation, and visitation | Improve against asset-specific benchmarks</a:t>
            </a:r>
          </a:p>
          <a:p/>
          <a:p>
            <a:r>
              <a:t>Customer confidence | Satisfaction, complaints, handover quality, and retention | Measurable improvement</a:t>
            </a:r>
          </a:p>
          <a:p/>
          <a:p>
            <a:r>
              <a:t>Brand strength | Awareness, trust, and endorsement recognition | Stronger corporate reputation</a:t>
            </a:r>
          </a:p>
          <a:p/>
          <a:p>
            <a:r>
              <a:t>Portfolio governance | Approved names, status, ownership, and operator records | One reconciled portfolio register</a:t>
            </a:r>
          </a:p>
          <a:p/>
          <a:p>
            <a:r>
              <a:t>Financial Planning Requirement</a:t>
            </a:r>
          </a:p>
          <a:p/>
          <a:p>
            <a:r>
              <a:t>Build an integrated model covering the contribution and funding requirements of:</a:t>
            </a:r>
          </a:p>
          <a:p/>
          <a:p>
            <a:r>
              <a:t>● Existing assets. ● Ongoing developments. ● Upcoming projects. ● Retained commercial and hospitality assets.</a:t>
            </a:r>
          </a:p>
          <a:p/>
          <a:p>
            <a:r>
              <a:t>● Partnerships and potential acquisitions. ● Downside scenarios. ● Projected competitor thresholds.</a:t>
            </a:r>
          </a:p>
          <a:p/>
          <a:p>
            <a:r>
              <a:t>Scale challenge: The FY2025 revenue baseline of approximately Rp410.7 billion requires substantial growth; competitors may also expand.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39 — The 2035 Performance Scorecard</a:t>
            </a:r>
          </a:p>
          <a:p>
            <a:r>
              <a:t>Document pages: 42, 43, 44</a:t>
            </a:r>
          </a:p>
          <a:p/>
          <a:p>
            <a:r>
              <a:t>COMPLETE SOURCE TEXT</a:t>
            </a:r>
          </a:p>
          <a:p>
            <a:r>
              <a:t>Measure the Ambition. Manage the Journey.</a:t>
            </a:r>
          </a:p>
          <a:p/>
          <a:p>
            <a:r>
              <a:t>Dimension | Proposed KPI | Objective</a:t>
            </a:r>
          </a:p>
          <a:p/>
          <a:p>
            <a:r>
              <a:t>Financial scale | Consolidated revenue | Top Five among the agreed listed-property peer group</a:t>
            </a:r>
          </a:p>
          <a:p/>
          <a:p>
            <a:r>
              <a:t>Profitability | Net profit attributable to owners of the parent | Top Five among the agreed peer group</a:t>
            </a:r>
          </a:p>
          <a:p/>
          <a:p>
            <a:r>
              <a:t>Capital productivity | ROIC and project IRR | Meet board-approved hurdles</a:t>
            </a:r>
          </a:p>
          <a:p/>
          <a:p>
            <a:r>
              <a:t>Financial resilience | Debt, liquidity, and cash conversion | Sustainable funding and leverage</a:t>
            </a:r>
          </a:p>
          <a:p/>
          <a:p>
            <a:r>
              <a:t>Recurring income | Revenue, operating profit, and cash contribution | Meaningful, growing contribution</a:t>
            </a:r>
          </a:p>
          <a:p/>
          <a:p>
            <a:r>
              <a:t>Development execution | Absorption, handover, project margin, and delivery milestones | Consistent execution</a:t>
            </a:r>
          </a:p>
          <a:p/>
          <a:p>
            <a:r>
              <a:t>Asset productivity | Occupancy, RevPAR, NOI, utilisation, and visitation | Improve against asset-specific benchmarks</a:t>
            </a:r>
          </a:p>
          <a:p/>
          <a:p>
            <a:r>
              <a:t>Customer confidence | Satisfaction, complaints, handover quality, and retention | Measurable improvement</a:t>
            </a:r>
          </a:p>
          <a:p/>
          <a:p>
            <a:r>
              <a:t>Brand strength | Awareness, trust, and endorsement recognition | Stronger corporate reputation</a:t>
            </a:r>
          </a:p>
          <a:p/>
          <a:p>
            <a:r>
              <a:t>Portfolio governance | Approved names, status, ownership, and operator records | One reconciled portfolio register</a:t>
            </a:r>
          </a:p>
          <a:p/>
          <a:p>
            <a:r>
              <a:t>Financial Planning Requirement</a:t>
            </a:r>
          </a:p>
          <a:p/>
          <a:p>
            <a:r>
              <a:t>Build an integrated model covering the contribution and funding requirements of:</a:t>
            </a:r>
          </a:p>
          <a:p/>
          <a:p>
            <a:r>
              <a:t>● Existing assets. ● Ongoing developments. ● Upcoming projects. ● Retained commercial and hospitality assets.</a:t>
            </a:r>
          </a:p>
          <a:p/>
          <a:p>
            <a:r>
              <a:t>● Partnerships and potential acquisitions. ● Downside scenarios. ● Projected competitor thresholds.</a:t>
            </a:r>
          </a:p>
          <a:p/>
          <a:p>
            <a:r>
              <a:t>Scale challenge: The FY2025 revenue baseline of approximately Rp410.7 billion requires substantial growth; competitors may also expand.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39 — The 2035 Performance Scorecard</a:t>
            </a:r>
          </a:p>
          <a:p>
            <a:r>
              <a:t>Document pages: 42, 43, 44</a:t>
            </a:r>
          </a:p>
          <a:p/>
          <a:p>
            <a:r>
              <a:t>COMPLETE SOURCE TEXT</a:t>
            </a:r>
          </a:p>
          <a:p>
            <a:r>
              <a:t>Measure the Ambition. Manage the Journey.</a:t>
            </a:r>
          </a:p>
          <a:p/>
          <a:p>
            <a:r>
              <a:t>Dimension | Proposed KPI | Objective</a:t>
            </a:r>
          </a:p>
          <a:p/>
          <a:p>
            <a:r>
              <a:t>Financial scale | Consolidated revenue | Top Five among the agreed listed-property peer group</a:t>
            </a:r>
          </a:p>
          <a:p/>
          <a:p>
            <a:r>
              <a:t>Profitability | Net profit attributable to owners of the parent | Top Five among the agreed peer group</a:t>
            </a:r>
          </a:p>
          <a:p/>
          <a:p>
            <a:r>
              <a:t>Capital productivity | ROIC and project IRR | Meet board-approved hurdles</a:t>
            </a:r>
          </a:p>
          <a:p/>
          <a:p>
            <a:r>
              <a:t>Financial resilience | Debt, liquidity, and cash conversion | Sustainable funding and leverage</a:t>
            </a:r>
          </a:p>
          <a:p/>
          <a:p>
            <a:r>
              <a:t>Recurring income | Revenue, operating profit, and cash contribution | Meaningful, growing contribution</a:t>
            </a:r>
          </a:p>
          <a:p/>
          <a:p>
            <a:r>
              <a:t>Development execution | Absorption, handover, project margin, and delivery milestones | Consistent execution</a:t>
            </a:r>
          </a:p>
          <a:p/>
          <a:p>
            <a:r>
              <a:t>Asset productivity | Occupancy, RevPAR, NOI, utilisation, and visitation | Improve against asset-specific benchmarks</a:t>
            </a:r>
          </a:p>
          <a:p/>
          <a:p>
            <a:r>
              <a:t>Customer confidence | Satisfaction, complaints, handover quality, and retention | Measurable improvement</a:t>
            </a:r>
          </a:p>
          <a:p/>
          <a:p>
            <a:r>
              <a:t>Brand strength | Awareness, trust, and endorsement recognition | Stronger corporate reputation</a:t>
            </a:r>
          </a:p>
          <a:p/>
          <a:p>
            <a:r>
              <a:t>Portfolio governance | Approved names, status, ownership, and operator records | One reconciled portfolio register</a:t>
            </a:r>
          </a:p>
          <a:p/>
          <a:p>
            <a:r>
              <a:t>Financial Planning Requirement</a:t>
            </a:r>
          </a:p>
          <a:p/>
          <a:p>
            <a:r>
              <a:t>Build an integrated model covering the contribution and funding requirements of:</a:t>
            </a:r>
          </a:p>
          <a:p/>
          <a:p>
            <a:r>
              <a:t>● Existing assets. ● Ongoing developments. ● Upcoming projects. ● Retained commercial and hospitality assets.</a:t>
            </a:r>
          </a:p>
          <a:p/>
          <a:p>
            <a:r>
              <a:t>● Partnerships and potential acquisitions. ● Downside scenarios. ● Projected competitor thresholds.</a:t>
            </a:r>
          </a:p>
          <a:p/>
          <a:p>
            <a:r>
              <a:t>Scale challenge: The FY2025 revenue baseline of approximately Rp410.7 billion requires substantial growth; competitors may also expand.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39 — The 2035 Performance Scorecard</a:t>
            </a:r>
          </a:p>
          <a:p>
            <a:r>
              <a:t>Document pages: 42, 43, 44</a:t>
            </a:r>
          </a:p>
          <a:p/>
          <a:p>
            <a:r>
              <a:t>COMPLETE SOURCE TEXT</a:t>
            </a:r>
          </a:p>
          <a:p>
            <a:r>
              <a:t>Measure the Ambition. Manage the Journey.</a:t>
            </a:r>
          </a:p>
          <a:p/>
          <a:p>
            <a:r>
              <a:t>Dimension | Proposed KPI | Objective</a:t>
            </a:r>
          </a:p>
          <a:p/>
          <a:p>
            <a:r>
              <a:t>Financial scale | Consolidated revenue | Top Five among the agreed listed-property peer group</a:t>
            </a:r>
          </a:p>
          <a:p/>
          <a:p>
            <a:r>
              <a:t>Profitability | Net profit attributable to owners of the parent | Top Five among the agreed peer group</a:t>
            </a:r>
          </a:p>
          <a:p/>
          <a:p>
            <a:r>
              <a:t>Capital productivity | ROIC and project IRR | Meet board-approved hurdles</a:t>
            </a:r>
          </a:p>
          <a:p/>
          <a:p>
            <a:r>
              <a:t>Financial resilience | Debt, liquidity, and cash conversion | Sustainable funding and leverage</a:t>
            </a:r>
          </a:p>
          <a:p/>
          <a:p>
            <a:r>
              <a:t>Recurring income | Revenue, operating profit, and cash contribution | Meaningful, growing contribution</a:t>
            </a:r>
          </a:p>
          <a:p/>
          <a:p>
            <a:r>
              <a:t>Development execution | Absorption, handover, project margin, and delivery milestones | Consistent execution</a:t>
            </a:r>
          </a:p>
          <a:p/>
          <a:p>
            <a:r>
              <a:t>Asset productivity | Occupancy, RevPAR, NOI, utilisation, and visitation | Improve against asset-specific benchmarks</a:t>
            </a:r>
          </a:p>
          <a:p/>
          <a:p>
            <a:r>
              <a:t>Customer confidence | Satisfaction, complaints, handover quality, and retention | Measurable improvement</a:t>
            </a:r>
          </a:p>
          <a:p/>
          <a:p>
            <a:r>
              <a:t>Brand strength | Awareness, trust, and endorsement recognition | Stronger corporate reputation</a:t>
            </a:r>
          </a:p>
          <a:p/>
          <a:p>
            <a:r>
              <a:t>Portfolio governance | Approved names, status, ownership, and operator records | One reconciled portfolio register</a:t>
            </a:r>
          </a:p>
          <a:p/>
          <a:p>
            <a:r>
              <a:t>Financial Planning Requirement</a:t>
            </a:r>
          </a:p>
          <a:p/>
          <a:p>
            <a:r>
              <a:t>Build an integrated model covering the contribution and funding requirements of:</a:t>
            </a:r>
          </a:p>
          <a:p/>
          <a:p>
            <a:r>
              <a:t>● Existing assets. ● Ongoing developments. ● Upcoming projects. ● Retained commercial and hospitality assets.</a:t>
            </a:r>
          </a:p>
          <a:p/>
          <a:p>
            <a:r>
              <a:t>● Partnerships and potential acquisitions. ● Downside scenarios. ● Projected competitor thresholds.</a:t>
            </a:r>
          </a:p>
          <a:p/>
          <a:p>
            <a:r>
              <a:t>Scale challenge: The FY2025 revenue baseline of approximately Rp410.7 billion requires substantial growth; competitors may also expand.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40 — The First 180 Days</a:t>
            </a:r>
          </a:p>
          <a:p>
            <a:r>
              <a:t>Document pages: 44, 45</a:t>
            </a:r>
          </a:p>
          <a:p/>
          <a:p>
            <a:r>
              <a:t>COMPLETE SOURCE TEXT</a:t>
            </a:r>
          </a:p>
          <a:p>
            <a:r>
              <a:t>Turn Portfolio Clarity Into Executive Decisions.</a:t>
            </a:r>
          </a:p>
          <a:p/>
          <a:p>
            <a:r>
              <a:t>Period | Priority action | Deliverable</a:t>
            </a:r>
          </a:p>
          <a:p/>
          <a:p>
            <a:r>
              <a:t>Days 1–30 | Reconcile all projects, names, statuses, ownership interests, and management relationships | Approved master portfolio register</a:t>
            </a:r>
          </a:p>
          <a:p/>
          <a:p>
            <a:r>
              <a:t>Days 1–45 | Audit financial and operating performance | Profitability, capital, cash-flow, and productivity baseline</a:t>
            </a:r>
          </a:p>
          <a:p/>
          <a:p>
            <a:r>
              <a:t>Days 30–60 | Approve corporate brand platform and naming governance | Brand strategy and endorsement framework</a:t>
            </a:r>
          </a:p>
          <a:p/>
          <a:p>
            <a:r>
              <a:t>Days 30–90 | Review existing commitments and prioritise the pipeline | Investment and transformation opportunity matrix</a:t>
            </a:r>
          </a:p>
          <a:p/>
          <a:p>
            <a:r>
              <a:t>Days 60–120 | Develop priority business cases | Taman Dayu, integrated-city, industrial, and hospitality workstreams</a:t>
            </a:r>
          </a:p>
          <a:p/>
          <a:p>
            <a:r>
              <a:t>Days 90–150 | Establish customer and operating standards | Super-Serving measures and partner responsibilities</a:t>
            </a:r>
          </a:p>
          <a:p/>
          <a:p>
            <a:r>
              <a:t>Days 120–180 | Approve the funded transformation plan | Roadmap, accountable owners, and quarterly scorecard</a:t>
            </a:r>
          </a:p>
          <a:p/>
          <a:p>
            <a:r>
              <a:t>Governance</a:t>
            </a:r>
          </a:p>
          <a:p/>
          <a:p>
            <a:r>
              <a:t>Create an executive-led steering committee representing finance, development, commercial, operations, corporate strategy, and relevant operating partners.</a:t>
            </a:r>
          </a:p>
          <a:p/>
          <a:p>
            <a:r>
              <a:t>Rubicube can support strategy, brand governance, concept development, and communication architecture.</a:t>
            </a:r>
          </a:p>
          <a:p/>
          <a:p>
            <a:r>
              <a:t>Investment and operating decisions remain with TANRISE management and qualified delivery partners.</a:t>
            </a:r>
          </a:p>
          <a:p/>
          <a:p>
            <a:r>
              <a:t>Closing Statement</a:t>
            </a:r>
          </a:p>
          <a:p/>
          <a:p>
            <a:r>
              <a:t>We Build Places. We Create Possibilities. We Elevate Life.</a:t>
            </a:r>
          </a:p>
          <a:p/>
          <a:p>
            <a:r>
              <a:t>The future of TANRISE will be shaped by the lives we enrich, the businesses we enable, the communities we strengthen, and the lasting value we create.</a:t>
            </a:r>
          </a:p>
          <a:p/>
          <a:p>
            <a:r>
              <a:t>TANRISE — Elevating Life.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40 — The First 180 Days</a:t>
            </a:r>
          </a:p>
          <a:p>
            <a:r>
              <a:t>Document pages: 44, 45</a:t>
            </a:r>
          </a:p>
          <a:p/>
          <a:p>
            <a:r>
              <a:t>COMPLETE SOURCE TEXT</a:t>
            </a:r>
          </a:p>
          <a:p>
            <a:r>
              <a:t>Turn Portfolio Clarity Into Executive Decisions.</a:t>
            </a:r>
          </a:p>
          <a:p/>
          <a:p>
            <a:r>
              <a:t>Period | Priority action | Deliverable</a:t>
            </a:r>
          </a:p>
          <a:p/>
          <a:p>
            <a:r>
              <a:t>Days 1–30 | Reconcile all projects, names, statuses, ownership interests, and management relationships | Approved master portfolio register</a:t>
            </a:r>
          </a:p>
          <a:p/>
          <a:p>
            <a:r>
              <a:t>Days 1–45 | Audit financial and operating performance | Profitability, capital, cash-flow, and productivity baseline</a:t>
            </a:r>
          </a:p>
          <a:p/>
          <a:p>
            <a:r>
              <a:t>Days 30–60 | Approve corporate brand platform and naming governance | Brand strategy and endorsement framework</a:t>
            </a:r>
          </a:p>
          <a:p/>
          <a:p>
            <a:r>
              <a:t>Days 30–90 | Review existing commitments and prioritise the pipeline | Investment and transformation opportunity matrix</a:t>
            </a:r>
          </a:p>
          <a:p/>
          <a:p>
            <a:r>
              <a:t>Days 60–120 | Develop priority business cases | Taman Dayu, integrated-city, industrial, and hospitality workstreams</a:t>
            </a:r>
          </a:p>
          <a:p/>
          <a:p>
            <a:r>
              <a:t>Days 90–150 | Establish customer and operating standards | Super-Serving measures and partner responsibilities</a:t>
            </a:r>
          </a:p>
          <a:p/>
          <a:p>
            <a:r>
              <a:t>Days 120–180 | Approve the funded transformation plan | Roadmap, accountable owners, and quarterly scorecard</a:t>
            </a:r>
          </a:p>
          <a:p/>
          <a:p>
            <a:r>
              <a:t>Governance</a:t>
            </a:r>
          </a:p>
          <a:p/>
          <a:p>
            <a:r>
              <a:t>Create an executive-led steering committee representing finance, development, commercial, operations, corporate strategy, and relevant operating partners.</a:t>
            </a:r>
          </a:p>
          <a:p/>
          <a:p>
            <a:r>
              <a:t>Rubicube can support strategy, brand governance, concept development, and communication architecture.</a:t>
            </a:r>
          </a:p>
          <a:p/>
          <a:p>
            <a:r>
              <a:t>Investment and operating decisions remain with TANRISE management and qualified delivery partners.</a:t>
            </a:r>
          </a:p>
          <a:p/>
          <a:p>
            <a:r>
              <a:t>Closing Statement</a:t>
            </a:r>
          </a:p>
          <a:p/>
          <a:p>
            <a:r>
              <a:t>We Build Places. We Create Possibilities. We Elevate Life.</a:t>
            </a:r>
          </a:p>
          <a:p/>
          <a:p>
            <a:r>
              <a:t>The future of TANRISE will be shaped by the lives we enrich, the businesses we enable, the communities we strengthen, and the lasting value we create.</a:t>
            </a:r>
          </a:p>
          <a:p/>
          <a:p>
            <a:r>
              <a:t>TANRISE — Elevating Life.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40 — The First 180 Days</a:t>
            </a:r>
          </a:p>
          <a:p>
            <a:r>
              <a:t>Document pages: 44, 45</a:t>
            </a:r>
          </a:p>
          <a:p/>
          <a:p>
            <a:r>
              <a:t>COMPLETE SOURCE TEXT</a:t>
            </a:r>
          </a:p>
          <a:p>
            <a:r>
              <a:t>Turn Portfolio Clarity Into Executive Decisions.</a:t>
            </a:r>
          </a:p>
          <a:p/>
          <a:p>
            <a:r>
              <a:t>Period | Priority action | Deliverable</a:t>
            </a:r>
          </a:p>
          <a:p/>
          <a:p>
            <a:r>
              <a:t>Days 1–30 | Reconcile all projects, names, statuses, ownership interests, and management relationships | Approved master portfolio register</a:t>
            </a:r>
          </a:p>
          <a:p/>
          <a:p>
            <a:r>
              <a:t>Days 1–45 | Audit financial and operating performance | Profitability, capital, cash-flow, and productivity baseline</a:t>
            </a:r>
          </a:p>
          <a:p/>
          <a:p>
            <a:r>
              <a:t>Days 30–60 | Approve corporate brand platform and naming governance | Brand strategy and endorsement framework</a:t>
            </a:r>
          </a:p>
          <a:p/>
          <a:p>
            <a:r>
              <a:t>Days 30–90 | Review existing commitments and prioritise the pipeline | Investment and transformation opportunity matrix</a:t>
            </a:r>
          </a:p>
          <a:p/>
          <a:p>
            <a:r>
              <a:t>Days 60–120 | Develop priority business cases | Taman Dayu, integrated-city, industrial, and hospitality workstreams</a:t>
            </a:r>
          </a:p>
          <a:p/>
          <a:p>
            <a:r>
              <a:t>Days 90–150 | Establish customer and operating standards | Super-Serving measures and partner responsibilities</a:t>
            </a:r>
          </a:p>
          <a:p/>
          <a:p>
            <a:r>
              <a:t>Days 120–180 | Approve the funded transformation plan | Roadmap, accountable owners, and quarterly scorecard</a:t>
            </a:r>
          </a:p>
          <a:p/>
          <a:p>
            <a:r>
              <a:t>Governance</a:t>
            </a:r>
          </a:p>
          <a:p/>
          <a:p>
            <a:r>
              <a:t>Create an executive-led steering committee representing finance, development, commercial, operations, corporate strategy, and relevant operating partners.</a:t>
            </a:r>
          </a:p>
          <a:p/>
          <a:p>
            <a:r>
              <a:t>Rubicube can support strategy, brand governance, concept development, and communication architecture.</a:t>
            </a:r>
          </a:p>
          <a:p/>
          <a:p>
            <a:r>
              <a:t>Investment and operating decisions remain with TANRISE management and qualified delivery partners.</a:t>
            </a:r>
          </a:p>
          <a:p/>
          <a:p>
            <a:r>
              <a:t>Closing Statement</a:t>
            </a:r>
          </a:p>
          <a:p/>
          <a:p>
            <a:r>
              <a:t>We Build Places. We Create Possibilities. We Elevate Life.</a:t>
            </a:r>
          </a:p>
          <a:p/>
          <a:p>
            <a:r>
              <a:t>The future of TANRISE will be shaped by the lives we enrich, the businesses we enable, the communities we strengthen, and the lasting value we create.</a:t>
            </a:r>
          </a:p>
          <a:p/>
          <a:p>
            <a:r>
              <a:t>TANRISE — Elevating Life.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A1 — Integrated City</a:t>
            </a:r>
          </a:p>
          <a:p>
            <a:r>
              <a:t>Document pages: 45, 46</a:t>
            </a:r>
          </a:p>
          <a:p/>
          <a:p>
            <a:r>
              <a:t>COMPLETE SOURCE TEXT</a:t>
            </a:r>
          </a:p>
          <a:p>
            <a:r>
              <a:t>Project | Status in client materials | Naming and interpretation</a:t>
            </a:r>
          </a:p>
          <a:p/>
          <a:p>
            <a:r>
              <a:t>Tanrise Taman Dayu Pandaan | Existing | Integrated destination; distinguish it from golf, resort, Driving Range, and other components</a:t>
            </a:r>
          </a:p>
          <a:p/>
          <a:p>
            <a:r>
              <a:t>Tanrise Bandung | Ongoing | Integrated development in Bandung</a:t>
            </a:r>
          </a:p>
          <a:p/>
          <a:p>
            <a:r>
              <a:t>Tanrise City Sidoarjo | Ongoing | Integrated-city development in Sidoarjo</a:t>
            </a:r>
          </a:p>
          <a:p/>
          <a:p>
            <a:r>
              <a:t>Swiss of Taman Dayu Pandaan | Ongoing | Separate development reference within the wider Taman Dayu context</a:t>
            </a:r>
          </a:p>
          <a:p/>
          <a:p>
            <a:r>
              <a:t>Tanrise Taman Dayu / Taman Dayu | Brand and destination references | Use the approved full destination name consistently</a:t>
            </a:r>
          </a:p>
          <a:p/>
          <a:p>
            <a:r>
              <a:t>Tanrise City Sidoarjo logo treatment | Brand portfolio proposal | Naming exists in investor materials; final visual lockup requires approval</a:t>
            </a:r>
          </a:p>
          <a:p/>
          <a:p>
            <a:r>
              <a:t>Rule: Do not merge the wider Taman Dayu destination and its component assets into a single undifferentiated investment.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A1 — Integrated City</a:t>
            </a:r>
          </a:p>
          <a:p>
            <a:r>
              <a:t>Document pages: 45, 46</a:t>
            </a:r>
          </a:p>
          <a:p/>
          <a:p>
            <a:r>
              <a:t>COMPLETE SOURCE TEXT</a:t>
            </a:r>
          </a:p>
          <a:p>
            <a:r>
              <a:t>Project | Status in client materials | Naming and interpretation</a:t>
            </a:r>
          </a:p>
          <a:p/>
          <a:p>
            <a:r>
              <a:t>Tanrise Taman Dayu Pandaan | Existing | Integrated destination; distinguish it from golf, resort, Driving Range, and other components</a:t>
            </a:r>
          </a:p>
          <a:p/>
          <a:p>
            <a:r>
              <a:t>Tanrise Bandung | Ongoing | Integrated development in Bandung</a:t>
            </a:r>
          </a:p>
          <a:p/>
          <a:p>
            <a:r>
              <a:t>Tanrise City Sidoarjo | Ongoing | Integrated-city development in Sidoarjo</a:t>
            </a:r>
          </a:p>
          <a:p/>
          <a:p>
            <a:r>
              <a:t>Swiss of Taman Dayu Pandaan | Ongoing | Separate development reference within the wider Taman Dayu context</a:t>
            </a:r>
          </a:p>
          <a:p/>
          <a:p>
            <a:r>
              <a:t>Tanrise Taman Dayu / Taman Dayu | Brand and destination references | Use the approved full destination name consistently</a:t>
            </a:r>
          </a:p>
          <a:p/>
          <a:p>
            <a:r>
              <a:t>Tanrise City Sidoarjo logo treatment | Brand portfolio proposal | Naming exists in investor materials; final visual lockup requires approval</a:t>
            </a:r>
          </a:p>
          <a:p/>
          <a:p>
            <a:r>
              <a:t>Rule: Do not merge the wider Taman Dayu destination and its component assets into a single undifferentiated investment.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A2 — Community Living and High-Rise Residential</a:t>
            </a:r>
          </a:p>
          <a:p>
            <a:r>
              <a:t>Document pages: 46, 47, 48</a:t>
            </a:r>
          </a:p>
          <a:p/>
          <a:p>
            <a:r>
              <a:t>COMPLETE SOURCE TEXT</a:t>
            </a:r>
          </a:p>
          <a:p>
            <a:r>
              <a:t>Project or name | Status or evidence | Treatment</a:t>
            </a:r>
          </a:p>
          <a:p/>
          <a:p>
            <a:r>
              <a:t>Grand Sunrise Menganti | Existing in investor deck | Retain</a:t>
            </a:r>
          </a:p>
          <a:p/>
          <a:p>
            <a:r>
              <a:t>Grand Sunrise | Established brand reference | Use location descriptor where approved</a:t>
            </a:r>
          </a:p>
          <a:p/>
          <a:p>
            <a:r>
              <a:t>Jumana Residence | Existing public-facing name and investor milestone | Retain as a recognised name during transition</a:t>
            </a:r>
          </a:p>
          <a:p/>
          <a:p>
            <a:r>
              <a:t>Sunrise Residence Sidoarjo | Existing listing in investor deck; proposed replacement for Jumana in brand deck | Record as one project with a naming transition</a:t>
            </a:r>
          </a:p>
          <a:p/>
          <a:p>
            <a:r>
              <a:t>Kyo Society | Existing | Residential apartment project</a:t>
            </a:r>
          </a:p>
          <a:p/>
          <a:p>
            <a:r>
              <a:t>Kyo Apartment | Descriptive label in branding deck | Do not count separately from Kyo Society</a:t>
            </a:r>
          </a:p>
          <a:p/>
          <a:p>
            <a:r>
              <a:t>ARC100 / ARC 100 | Documented apartment brand and investor milestones | Use consistent approved styling; confirm relationship to other accommodation names</a:t>
            </a:r>
          </a:p>
          <a:p/>
          <a:p>
            <a:r>
              <a:t>Sunrise Residence Malang | Ongoing in investor deck | Confirm final name and scope</a:t>
            </a:r>
          </a:p>
          <a:p/>
          <a:p>
            <a:r>
              <a:t>Sunrise Garden Malang | Name used on investor portfolio map | Reconcile with other Malang references</a:t>
            </a:r>
          </a:p>
          <a:p/>
          <a:p>
            <a:r>
              <a:t>Grand Sunrise Malang | Shown in proposed naming and project rendering | Confirm whether separate from, or a naming alternative to, Sunrise Residence Malang</a:t>
            </a:r>
          </a:p>
          <a:p/>
          <a:p>
            <a:r>
              <a:t>Aegis Avenue | Historical launch reference in investor milestones | Retain in historical register; confirm current name, classification, and relationship to other projects</a:t>
            </a:r>
          </a:p>
          <a:p/>
          <a:p>
            <a:r>
              <a:t>Critical rule: Jumana Residence and Sunrise Residence Sidoarjo should not be counted as two separate projects without evidence of distinct assets.</a:t>
            </a:r>
          </a:p>
          <a:p/>
          <a:p>
            <a:r>
              <a:t>Malang rule: Do not assume that every Malang name represents a separate development.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A2 — Community Living and High-Rise Residential</a:t>
            </a:r>
          </a:p>
          <a:p>
            <a:r>
              <a:t>Document pages: 46, 47, 48</a:t>
            </a:r>
          </a:p>
          <a:p/>
          <a:p>
            <a:r>
              <a:t>COMPLETE SOURCE TEXT</a:t>
            </a:r>
          </a:p>
          <a:p>
            <a:r>
              <a:t>Project or name | Status or evidence | Treatment</a:t>
            </a:r>
          </a:p>
          <a:p/>
          <a:p>
            <a:r>
              <a:t>Grand Sunrise Menganti | Existing in investor deck | Retain</a:t>
            </a:r>
          </a:p>
          <a:p/>
          <a:p>
            <a:r>
              <a:t>Grand Sunrise | Established brand reference | Use location descriptor where approved</a:t>
            </a:r>
          </a:p>
          <a:p/>
          <a:p>
            <a:r>
              <a:t>Jumana Residence | Existing public-facing name and investor milestone | Retain as a recognised name during transition</a:t>
            </a:r>
          </a:p>
          <a:p/>
          <a:p>
            <a:r>
              <a:t>Sunrise Residence Sidoarjo | Existing listing in investor deck; proposed replacement for Jumana in brand deck | Record as one project with a naming transition</a:t>
            </a:r>
          </a:p>
          <a:p/>
          <a:p>
            <a:r>
              <a:t>Kyo Society | Existing | Residential apartment project</a:t>
            </a:r>
          </a:p>
          <a:p/>
          <a:p>
            <a:r>
              <a:t>Kyo Apartment | Descriptive label in branding deck | Do not count separately from Kyo Society</a:t>
            </a:r>
          </a:p>
          <a:p/>
          <a:p>
            <a:r>
              <a:t>ARC100 / ARC 100 | Documented apartment brand and investor milestones | Use consistent approved styling; confirm relationship to other accommodation names</a:t>
            </a:r>
          </a:p>
          <a:p/>
          <a:p>
            <a:r>
              <a:t>Sunrise Residence Malang | Ongoing in investor deck | Confirm final name and scope</a:t>
            </a:r>
          </a:p>
          <a:p/>
          <a:p>
            <a:r>
              <a:t>Sunrise Garden Malang | Name used on investor portfolio map | Reconcile with other Malang references</a:t>
            </a:r>
          </a:p>
          <a:p/>
          <a:p>
            <a:r>
              <a:t>Grand Sunrise Malang | Shown in proposed naming and project rendering | Confirm whether separate from, or a naming alternative to, Sunrise Residence Malang</a:t>
            </a:r>
          </a:p>
          <a:p/>
          <a:p>
            <a:r>
              <a:t>Aegis Avenue | Historical launch reference in investor milestones | Retain in historical register; confirm current name, classification, and relationship to other projects</a:t>
            </a:r>
          </a:p>
          <a:p/>
          <a:p>
            <a:r>
              <a:t>Critical rule: Jumana Residence and Sunrise Residence Sidoarjo should not be counted as two separate projects without evidence of distinct assets.</a:t>
            </a:r>
          </a:p>
          <a:p/>
          <a:p>
            <a:r>
              <a:t>Malang rule: Do not assume that every Malang name represents a separate development.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A2 — Community Living and High-Rise Residential</a:t>
            </a:r>
          </a:p>
          <a:p>
            <a:r>
              <a:t>Document pages: 46, 47, 48</a:t>
            </a:r>
          </a:p>
          <a:p/>
          <a:p>
            <a:r>
              <a:t>COMPLETE SOURCE TEXT</a:t>
            </a:r>
          </a:p>
          <a:p>
            <a:r>
              <a:t>Project or name | Status or evidence | Treatment</a:t>
            </a:r>
          </a:p>
          <a:p/>
          <a:p>
            <a:r>
              <a:t>Grand Sunrise Menganti | Existing in investor deck | Retain</a:t>
            </a:r>
          </a:p>
          <a:p/>
          <a:p>
            <a:r>
              <a:t>Grand Sunrise | Established brand reference | Use location descriptor where approved</a:t>
            </a:r>
          </a:p>
          <a:p/>
          <a:p>
            <a:r>
              <a:t>Jumana Residence | Existing public-facing name and investor milestone | Retain as a recognised name during transition</a:t>
            </a:r>
          </a:p>
          <a:p/>
          <a:p>
            <a:r>
              <a:t>Sunrise Residence Sidoarjo | Existing listing in investor deck; proposed replacement for Jumana in brand deck | Record as one project with a naming transition</a:t>
            </a:r>
          </a:p>
          <a:p/>
          <a:p>
            <a:r>
              <a:t>Kyo Society | Existing | Residential apartment project</a:t>
            </a:r>
          </a:p>
          <a:p/>
          <a:p>
            <a:r>
              <a:t>Kyo Apartment | Descriptive label in branding deck | Do not count separately from Kyo Society</a:t>
            </a:r>
          </a:p>
          <a:p/>
          <a:p>
            <a:r>
              <a:t>ARC100 / ARC 100 | Documented apartment brand and investor milestones | Use consistent approved styling; confirm relationship to other accommodation names</a:t>
            </a:r>
          </a:p>
          <a:p/>
          <a:p>
            <a:r>
              <a:t>Sunrise Residence Malang | Ongoing in investor deck | Confirm final name and scope</a:t>
            </a:r>
          </a:p>
          <a:p/>
          <a:p>
            <a:r>
              <a:t>Sunrise Garden Malang | Name used on investor portfolio map | Reconcile with other Malang references</a:t>
            </a:r>
          </a:p>
          <a:p/>
          <a:p>
            <a:r>
              <a:t>Grand Sunrise Malang | Shown in proposed naming and project rendering | Confirm whether separate from, or a naming alternative to, Sunrise Residence Malang</a:t>
            </a:r>
          </a:p>
          <a:p/>
          <a:p>
            <a:r>
              <a:t>Aegis Avenue | Historical launch reference in investor milestones | Retain in historical register; confirm current name, classification, and relationship to other projects</a:t>
            </a:r>
          </a:p>
          <a:p/>
          <a:p>
            <a:r>
              <a:t>Critical rule: Jumana Residence and Sunrise Residence Sidoarjo should not be counted as two separate projects without evidence of distinct assets.</a:t>
            </a:r>
          </a:p>
          <a:p/>
          <a:p>
            <a:r>
              <a:t>Malang rule: Do not assume that every Malang name represents a separate development.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A3 — Business Districts, Commercial, and Retail</a:t>
            </a:r>
          </a:p>
          <a:p>
            <a:r>
              <a:t>Document pages: 48, 49</a:t>
            </a:r>
          </a:p>
          <a:p/>
          <a:p>
            <a:r>
              <a:t>COMPLETE SOURCE TEXT</a:t>
            </a:r>
          </a:p>
          <a:p>
            <a:r>
              <a:t>Project | Status or evidence | Treatment</a:t>
            </a:r>
          </a:p>
          <a:p/>
          <a:p>
            <a:r>
              <a:t>Voza Tower | Existing | Office development</a:t>
            </a:r>
          </a:p>
          <a:p/>
          <a:p>
            <a:r>
              <a:t>Rame-Rame | Existing listing; 2026 launch year shown | Commercial destination with stalls, sportainment, and cinema components</a:t>
            </a:r>
          </a:p>
          <a:p/>
          <a:p>
            <a:r>
              <a:t>Grand Central Bandung | Ongoing | Commercial development associated with the Bandung site</a:t>
            </a:r>
          </a:p>
          <a:p/>
          <a:p>
            <a:r>
              <a:t>Midpoint Kayoon | Included in brand portfolio deck | Commercial project; confirm current completion and operating status</a:t>
            </a:r>
          </a:p>
          <a:p/>
          <a:p>
            <a:r>
              <a:t>Bali Bites | Existing listing in investor portfolio map and brand deck | Commercial/F&amp;B destination</a:t>
            </a:r>
          </a:p>
          <a:p/>
          <a:p>
            <a:r>
              <a:t>Temu Kamu | Named within the Bali Bites reference | F&amp;B operating concept; distinguish from the property asset</a:t>
            </a:r>
          </a:p>
          <a:p/>
          <a:p>
            <a:r>
              <a:t>Chamas | Named within the Bali Bites reference | F&amp;B operating concept; distinguish from the property asset</a:t>
            </a:r>
          </a:p>
          <a:p/>
          <a:p>
            <a:r>
              <a:t>Kyo Society under Commercial &amp; Retail | Classification used in branding deck | Explain investment marketing separately; retain primary residential-apartment classification</a:t>
            </a:r>
          </a:p>
          <a:p/>
          <a:p>
            <a:r>
              <a:t>Commercial-component rule: Shophouses and retail areas within housing, warehouse, or township projects are components of those developments unless documented as separate brands or assets.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A3 — Business Districts, Commercial, and Retail</a:t>
            </a:r>
          </a:p>
          <a:p>
            <a:r>
              <a:t>Document pages: 48, 49</a:t>
            </a:r>
          </a:p>
          <a:p/>
          <a:p>
            <a:r>
              <a:t>COMPLETE SOURCE TEXT</a:t>
            </a:r>
          </a:p>
          <a:p>
            <a:r>
              <a:t>Project | Status or evidence | Treatment</a:t>
            </a:r>
          </a:p>
          <a:p/>
          <a:p>
            <a:r>
              <a:t>Voza Tower | Existing | Office development</a:t>
            </a:r>
          </a:p>
          <a:p/>
          <a:p>
            <a:r>
              <a:t>Rame-Rame | Existing listing; 2026 launch year shown | Commercial destination with stalls, sportainment, and cinema components</a:t>
            </a:r>
          </a:p>
          <a:p/>
          <a:p>
            <a:r>
              <a:t>Grand Central Bandung | Ongoing | Commercial development associated with the Bandung site</a:t>
            </a:r>
          </a:p>
          <a:p/>
          <a:p>
            <a:r>
              <a:t>Midpoint Kayoon | Included in brand portfolio deck | Commercial project; confirm current completion and operating status</a:t>
            </a:r>
          </a:p>
          <a:p/>
          <a:p>
            <a:r>
              <a:t>Bali Bites | Existing listing in investor portfolio map and brand deck | Commercial/F&amp;B destination</a:t>
            </a:r>
          </a:p>
          <a:p/>
          <a:p>
            <a:r>
              <a:t>Temu Kamu | Named within the Bali Bites reference | F&amp;B operating concept; distinguish from the property asset</a:t>
            </a:r>
          </a:p>
          <a:p/>
          <a:p>
            <a:r>
              <a:t>Chamas | Named within the Bali Bites reference | F&amp;B operating concept; distinguish from the property asset</a:t>
            </a:r>
          </a:p>
          <a:p/>
          <a:p>
            <a:r>
              <a:t>Kyo Society under Commercial &amp; Retail | Classification used in branding deck | Explain investment marketing separately; retain primary residential-apartment classification</a:t>
            </a:r>
          </a:p>
          <a:p/>
          <a:p>
            <a:r>
              <a:t>Commercial-component rule: Shophouses and retail areas within housing, warehouse, or township projects are components of those developments unless documented as separate brands or assets.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A4 — Logistics and Warehouse Portfolio</a:t>
            </a:r>
          </a:p>
          <a:p>
            <a:r>
              <a:t>Document pages: 49, 50, 51</a:t>
            </a:r>
          </a:p>
          <a:p/>
          <a:p>
            <a:r>
              <a:t>COMPLETE SOURCE TEXT</a:t>
            </a:r>
          </a:p>
          <a:p>
            <a:r>
              <a:t>Project or brand | Status in client materials | Treatment</a:t>
            </a:r>
          </a:p>
          <a:p/>
          <a:p>
            <a:r>
              <a:t>Tritan Surabaya | Existing | Retain approved location naming</a:t>
            </a:r>
          </a:p>
          <a:p/>
          <a:p>
            <a:r>
              <a:t>Tritan Medan | Existing | Warehouse development; do not automatically rename as an industrial park</a:t>
            </a:r>
          </a:p>
          <a:p/>
          <a:p>
            <a:r>
              <a:t>Tritan Wedi 1 — Sidoarjo | Existing | Retain</a:t>
            </a:r>
          </a:p>
          <a:p/>
          <a:p>
            <a:r>
              <a:t>Tritan Wedi 2 — Sidoarjo | Existing | Retain</a:t>
            </a:r>
          </a:p>
          <a:p/>
          <a:p>
            <a:r>
              <a:t>Tritan Taman — Sidoarjo | Existing | Retain</a:t>
            </a:r>
          </a:p>
          <a:p/>
          <a:p>
            <a:r>
              <a:t>Tritan Southgate / South Gate | Existing and historical references | Standardise approved spelling</a:t>
            </a:r>
          </a:p>
          <a:p/>
          <a:p>
            <a:r>
              <a:t>Tritan Banyu Urip | Historical development reference | Confirm relationship to current Surabaya naming before counting separately</a:t>
            </a:r>
          </a:p>
          <a:p/>
          <a:p>
            <a:r>
              <a:t>Tritan Point Bandung | Historical warehouse reference | Distinguish from the newer Tanrise Bandung integrated development</a:t>
            </a:r>
          </a:p>
          <a:p/>
          <a:p>
            <a:r>
              <a:t>Tritan Gresik | Ongoing | Confirm latest delivery status</a:t>
            </a:r>
          </a:p>
          <a:p/>
          <a:p>
            <a:r>
              <a:t>Tritan Gempol Pasuruan | Ongoing | Confirm location record and latest delivery status</a:t>
            </a:r>
          </a:p>
          <a:p/>
          <a:p>
            <a:r>
              <a:t>TritanPoint / Tritan Point | Existing brand reference | Record alongside proposed naming transition</a:t>
            </a:r>
          </a:p>
          <a:p/>
          <a:p>
            <a:r>
              <a:t>TritanHub / Tritan Hub | Existing brand reference and milestones | Record alongside proposed naming transition</a:t>
            </a:r>
          </a:p>
          <a:p/>
          <a:p>
            <a:r>
              <a:t>TRITAN + Location | Proposed consolidated naming system | Do not describe as fully implemented without approval</a:t>
            </a:r>
          </a:p>
          <a:p/>
          <a:p>
            <a:r>
              <a:t>Tritan Kediri | Shown in proposed brand architecture | Project scope and operating/development status require confirmation</a:t>
            </a:r>
          </a:p>
          <a:p/>
          <a:p>
            <a:r>
              <a:t>Rule: Location-based naming proposals do not, by themselves, establish that each location is an operating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A4 — Logistics and Warehouse Portfolio</a:t>
            </a:r>
          </a:p>
          <a:p>
            <a:r>
              <a:t>Document pages: 49, 50, 51</a:t>
            </a:r>
          </a:p>
          <a:p/>
          <a:p>
            <a:r>
              <a:t>COMPLETE SOURCE TEXT</a:t>
            </a:r>
          </a:p>
          <a:p>
            <a:r>
              <a:t>Project or brand | Status in client materials | Treatment</a:t>
            </a:r>
          </a:p>
          <a:p/>
          <a:p>
            <a:r>
              <a:t>Tritan Surabaya | Existing | Retain approved location naming</a:t>
            </a:r>
          </a:p>
          <a:p/>
          <a:p>
            <a:r>
              <a:t>Tritan Medan | Existing | Warehouse development; do not automatically rename as an industrial park</a:t>
            </a:r>
          </a:p>
          <a:p/>
          <a:p>
            <a:r>
              <a:t>Tritan Wedi 1 — Sidoarjo | Existing | Retain</a:t>
            </a:r>
          </a:p>
          <a:p/>
          <a:p>
            <a:r>
              <a:t>Tritan Wedi 2 — Sidoarjo | Existing | Retain</a:t>
            </a:r>
          </a:p>
          <a:p/>
          <a:p>
            <a:r>
              <a:t>Tritan Taman — Sidoarjo | Existing | Retain</a:t>
            </a:r>
          </a:p>
          <a:p/>
          <a:p>
            <a:r>
              <a:t>Tritan Southgate / South Gate | Existing and historical references | Standardise approved spelling</a:t>
            </a:r>
          </a:p>
          <a:p/>
          <a:p>
            <a:r>
              <a:t>Tritan Banyu Urip | Historical development reference | Confirm relationship to current Surabaya naming before counting separately</a:t>
            </a:r>
          </a:p>
          <a:p/>
          <a:p>
            <a:r>
              <a:t>Tritan Point Bandung | Historical warehouse reference | Distinguish from the newer Tanrise Bandung integrated development</a:t>
            </a:r>
          </a:p>
          <a:p/>
          <a:p>
            <a:r>
              <a:t>Tritan Gresik | Ongoing | Confirm latest delivery status</a:t>
            </a:r>
          </a:p>
          <a:p/>
          <a:p>
            <a:r>
              <a:t>Tritan Gempol Pasuruan | Ongoing | Confirm location record and latest delivery status</a:t>
            </a:r>
          </a:p>
          <a:p/>
          <a:p>
            <a:r>
              <a:t>TritanPoint / Tritan Point | Existing brand reference | Record alongside proposed naming transition</a:t>
            </a:r>
          </a:p>
          <a:p/>
          <a:p>
            <a:r>
              <a:t>TritanHub / Tritan Hub | Existing brand reference and milestones | Record alongside proposed naming transition</a:t>
            </a:r>
          </a:p>
          <a:p/>
          <a:p>
            <a:r>
              <a:t>TRITAN + Location | Proposed consolidated naming system | Do not describe as fully implemented without approval</a:t>
            </a:r>
          </a:p>
          <a:p/>
          <a:p>
            <a:r>
              <a:t>Tritan Kediri | Shown in proposed brand architecture | Project scope and operating/development status require confirmation</a:t>
            </a:r>
          </a:p>
          <a:p/>
          <a:p>
            <a:r>
              <a:t>Rule: Location-based naming proposals do not, by themselves, establish that each location is an operating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A4 — Logistics and Warehouse Portfolio</a:t>
            </a:r>
          </a:p>
          <a:p>
            <a:r>
              <a:t>Document pages: 49, 50, 51</a:t>
            </a:r>
          </a:p>
          <a:p/>
          <a:p>
            <a:r>
              <a:t>COMPLETE SOURCE TEXT</a:t>
            </a:r>
          </a:p>
          <a:p>
            <a:r>
              <a:t>Project or brand | Status in client materials | Treatment</a:t>
            </a:r>
          </a:p>
          <a:p/>
          <a:p>
            <a:r>
              <a:t>Tritan Surabaya | Existing | Retain approved location naming</a:t>
            </a:r>
          </a:p>
          <a:p/>
          <a:p>
            <a:r>
              <a:t>Tritan Medan | Existing | Warehouse development; do not automatically rename as an industrial park</a:t>
            </a:r>
          </a:p>
          <a:p/>
          <a:p>
            <a:r>
              <a:t>Tritan Wedi 1 — Sidoarjo | Existing | Retain</a:t>
            </a:r>
          </a:p>
          <a:p/>
          <a:p>
            <a:r>
              <a:t>Tritan Wedi 2 — Sidoarjo | Existing | Retain</a:t>
            </a:r>
          </a:p>
          <a:p/>
          <a:p>
            <a:r>
              <a:t>Tritan Taman — Sidoarjo | Existing | Retain</a:t>
            </a:r>
          </a:p>
          <a:p/>
          <a:p>
            <a:r>
              <a:t>Tritan Southgate / South Gate | Existing and historical references | Standardise approved spelling</a:t>
            </a:r>
          </a:p>
          <a:p/>
          <a:p>
            <a:r>
              <a:t>Tritan Banyu Urip | Historical development reference | Confirm relationship to current Surabaya naming before counting separately</a:t>
            </a:r>
          </a:p>
          <a:p/>
          <a:p>
            <a:r>
              <a:t>Tritan Point Bandung | Historical warehouse reference | Distinguish from the newer Tanrise Bandung integrated development</a:t>
            </a:r>
          </a:p>
          <a:p/>
          <a:p>
            <a:r>
              <a:t>Tritan Gresik | Ongoing | Confirm latest delivery status</a:t>
            </a:r>
          </a:p>
          <a:p/>
          <a:p>
            <a:r>
              <a:t>Tritan Gempol Pasuruan | Ongoing | Confirm location record and latest delivery status</a:t>
            </a:r>
          </a:p>
          <a:p/>
          <a:p>
            <a:r>
              <a:t>TritanPoint / Tritan Point | Existing brand reference | Record alongside proposed naming transition</a:t>
            </a:r>
          </a:p>
          <a:p/>
          <a:p>
            <a:r>
              <a:t>TritanHub / Tritan Hub | Existing brand reference and milestones | Record alongside proposed naming transition</a:t>
            </a:r>
          </a:p>
          <a:p/>
          <a:p>
            <a:r>
              <a:t>TRITAN + Location | Proposed consolidated naming system | Do not describe as fully implemented without approval</a:t>
            </a:r>
          </a:p>
          <a:p/>
          <a:p>
            <a:r>
              <a:t>Tritan Kediri | Shown in proposed brand architecture | Project scope and operating/development status require confirmation</a:t>
            </a:r>
          </a:p>
          <a:p/>
          <a:p>
            <a:r>
              <a:t>Rule: Location-based naming proposals do not, by themselves, establish that each location is an operating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A5 — Industrial Parks</a:t>
            </a:r>
          </a:p>
          <a:p>
            <a:r>
              <a:t>Document pages: 51</a:t>
            </a:r>
          </a:p>
          <a:p/>
          <a:p>
            <a:r>
              <a:t>COMPLETE SOURCE TEXT</a:t>
            </a:r>
          </a:p>
          <a:p>
            <a:r>
              <a:t>Project | Status in client materials | Naming and interpretation</a:t>
            </a:r>
          </a:p>
          <a:p/>
          <a:p>
            <a:r>
              <a:t>Treatment</a:t>
            </a:r>
          </a:p>
          <a:p/>
          <a:p>
            <a:r>
              <a:t>Tanrise Industrial Park Palembang | Ongoing | Confirm development area definitions and current milestone status</a:t>
            </a:r>
          </a:p>
          <a:p/>
          <a:p>
            <a:r>
              <a:t>Tanrise Industrial Park Banjarbaru | Ongoing | Use Banjarbaru consistently; abbreviated “Banjar” references should be reconciled</a:t>
            </a:r>
          </a:p>
          <a:p/>
          <a:p>
            <a:r>
              <a:t>Tanrise Industrial Park Medan | Shown in proposed branding deck | Confirm whether this is a separate project, future plan, or proposed naming treatment</a:t>
            </a:r>
          </a:p>
          <a:p/>
          <a:p>
            <a:r>
              <a:t>Rule: Keep Tritan Medan and Tanrise Industrial Park Medan distinct in the register until their relationship is established.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A6 — Existing Hospitality and Leisure References</a:t>
            </a:r>
          </a:p>
          <a:p>
            <a:r>
              <a:t>Document pages: 52, 53</a:t>
            </a:r>
          </a:p>
          <a:p/>
          <a:p>
            <a:r>
              <a:t>COMPLETE SOURCE TEXT</a:t>
            </a:r>
          </a:p>
          <a:p>
            <a:r>
              <a:t>Property or asset | Naming in client materials | Treatment</a:t>
            </a:r>
          </a:p>
          <a:p/>
          <a:p>
            <a:r>
              <a:t>Vasa Hotel Surabaya | VASA, HR Muhammad — Surabaya | Existing hotel reference</a:t>
            </a:r>
          </a:p>
          <a:p/>
          <a:p>
            <a:r>
              <a:t>Vasa Suite Surabaya | VASA, Gubeng — Surabaya | Existing accommodation reference; standardise Suite/Suites styling</a:t>
            </a:r>
          </a:p>
          <a:p/>
          <a:p>
            <a:r>
              <a:t>Cleo Business Hotel Basuki Rahmat | Investor portfolio and milestones | Existing hotel reference</a:t>
            </a:r>
          </a:p>
          <a:p/>
          <a:p>
            <a:r>
              <a:t>Cleo Business Hotel Walikota Mustajab | Investor portfolio and milestones | Existing hotel reference</a:t>
            </a:r>
          </a:p>
          <a:p/>
          <a:p>
            <a:r>
              <a:t>Cleo Business Hotel Jemursari | Investor portfolio and milestones | Existing hotel reference</a:t>
            </a:r>
          </a:p>
          <a:p/>
          <a:p>
            <a:r>
              <a:t>Solaris Hotel Kuta Bali | Investor portfolio | Existing hotel reference</a:t>
            </a:r>
          </a:p>
          <a:p/>
          <a:p>
            <a:r>
              <a:t>Solaris Hotel Malang | Historical and portfolio references | Existing hotel reference</a:t>
            </a:r>
          </a:p>
          <a:p/>
          <a:p>
            <a:r>
              <a:t>Solaris Villa Bali / Villa Solaris Bali | Investor portfolio and milestones | Existing listing; use approved styling</a:t>
            </a:r>
          </a:p>
          <a:p/>
          <a:p>
            <a:r>
              <a:t>Solaris Villa Malang / Solaris Villa Extension Malang | Investor portfolio and milestones | Existing listing; identify the villa extension separately from the hotel</a:t>
            </a:r>
          </a:p>
          <a:p/>
          <a:p>
            <a:r>
              <a:t>Golf Taman Dayu | Investor asset schedule | Golf asset</a:t>
            </a:r>
          </a:p>
          <a:p/>
          <a:p>
            <a:r>
              <a:t>Driving Range | Investor asset schedule | Separate leisure asset within the Taman Dayu context</a:t>
            </a:r>
          </a:p>
          <a:p/>
          <a:p>
            <a:r>
              <a:t>Taman Dayu Golf &amp; Resort | TANLY operating/destination name | Map its relationship to the underlying property assets and operating arrangements</a:t>
            </a:r>
          </a:p>
          <a:p/>
          <a:p>
            <a:r>
              <a:t>Rule: A hotel brand, legal owner, developer, and management company may occupy different levels of the architecture.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A6 — Existing Hospitality and Leisure References</a:t>
            </a:r>
          </a:p>
          <a:p>
            <a:r>
              <a:t>Document pages: 52, 53</a:t>
            </a:r>
          </a:p>
          <a:p/>
          <a:p>
            <a:r>
              <a:t>COMPLETE SOURCE TEXT</a:t>
            </a:r>
          </a:p>
          <a:p>
            <a:r>
              <a:t>Property or asset | Naming in client materials | Treatment</a:t>
            </a:r>
          </a:p>
          <a:p/>
          <a:p>
            <a:r>
              <a:t>Vasa Hotel Surabaya | VASA, HR Muhammad — Surabaya | Existing hotel reference</a:t>
            </a:r>
          </a:p>
          <a:p/>
          <a:p>
            <a:r>
              <a:t>Vasa Suite Surabaya | VASA, Gubeng — Surabaya | Existing accommodation reference; standardise Suite/Suites styling</a:t>
            </a:r>
          </a:p>
          <a:p/>
          <a:p>
            <a:r>
              <a:t>Cleo Business Hotel Basuki Rahmat | Investor portfolio and milestones | Existing hotel reference</a:t>
            </a:r>
          </a:p>
          <a:p/>
          <a:p>
            <a:r>
              <a:t>Cleo Business Hotel Walikota Mustajab | Investor portfolio and milestones | Existing hotel reference</a:t>
            </a:r>
          </a:p>
          <a:p/>
          <a:p>
            <a:r>
              <a:t>Cleo Business Hotel Jemursari | Investor portfolio and milestones | Existing hotel reference</a:t>
            </a:r>
          </a:p>
          <a:p/>
          <a:p>
            <a:r>
              <a:t>Solaris Hotel Kuta Bali | Investor portfolio | Existing hotel reference</a:t>
            </a:r>
          </a:p>
          <a:p/>
          <a:p>
            <a:r>
              <a:t>Solaris Hotel Malang | Historical and portfolio references | Existing hotel reference</a:t>
            </a:r>
          </a:p>
          <a:p/>
          <a:p>
            <a:r>
              <a:t>Solaris Villa Bali / Villa Solaris Bali | Investor portfolio and milestones | Existing listing; use approved styling</a:t>
            </a:r>
          </a:p>
          <a:p/>
          <a:p>
            <a:r>
              <a:t>Solaris Villa Malang / Solaris Villa Extension Malang | Investor portfolio and milestones | Existing listing; identify the villa extension separately from the hotel</a:t>
            </a:r>
          </a:p>
          <a:p/>
          <a:p>
            <a:r>
              <a:t>Golf Taman Dayu | Investor asset schedule | Golf asset</a:t>
            </a:r>
          </a:p>
          <a:p/>
          <a:p>
            <a:r>
              <a:t>Driving Range | Investor asset schedule | Separate leisure asset within the Taman Dayu context</a:t>
            </a:r>
          </a:p>
          <a:p/>
          <a:p>
            <a:r>
              <a:t>Taman Dayu Golf &amp; Resort | TANLY operating/destination name | Map its relationship to the underlying property assets and operating arrangements</a:t>
            </a:r>
          </a:p>
          <a:p/>
          <a:p>
            <a:r>
              <a:t>Rule: A hotel brand, legal owner, developer, and management company may occupy different levels of the architecture.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A6 — Existing Hospitality and Leisure References</a:t>
            </a:r>
          </a:p>
          <a:p>
            <a:r>
              <a:t>Document pages: 52, 53</a:t>
            </a:r>
          </a:p>
          <a:p/>
          <a:p>
            <a:r>
              <a:t>COMPLETE SOURCE TEXT</a:t>
            </a:r>
          </a:p>
          <a:p>
            <a:r>
              <a:t>Property or asset | Naming in client materials | Treatment</a:t>
            </a:r>
          </a:p>
          <a:p/>
          <a:p>
            <a:r>
              <a:t>Vasa Hotel Surabaya | VASA, HR Muhammad — Surabaya | Existing hotel reference</a:t>
            </a:r>
          </a:p>
          <a:p/>
          <a:p>
            <a:r>
              <a:t>Vasa Suite Surabaya | VASA, Gubeng — Surabaya | Existing accommodation reference; standardise Suite/Suites styling</a:t>
            </a:r>
          </a:p>
          <a:p/>
          <a:p>
            <a:r>
              <a:t>Cleo Business Hotel Basuki Rahmat | Investor portfolio and milestones | Existing hotel reference</a:t>
            </a:r>
          </a:p>
          <a:p/>
          <a:p>
            <a:r>
              <a:t>Cleo Business Hotel Walikota Mustajab | Investor portfolio and milestones | Existing hotel reference</a:t>
            </a:r>
          </a:p>
          <a:p/>
          <a:p>
            <a:r>
              <a:t>Cleo Business Hotel Jemursari | Investor portfolio and milestones | Existing hotel reference</a:t>
            </a:r>
          </a:p>
          <a:p/>
          <a:p>
            <a:r>
              <a:t>Solaris Hotel Kuta Bali | Investor portfolio | Existing hotel reference</a:t>
            </a:r>
          </a:p>
          <a:p/>
          <a:p>
            <a:r>
              <a:t>Solaris Hotel Malang | Historical and portfolio references | Existing hotel reference</a:t>
            </a:r>
          </a:p>
          <a:p/>
          <a:p>
            <a:r>
              <a:t>Solaris Villa Bali / Villa Solaris Bali | Investor portfolio and milestones | Existing listing; use approved styling</a:t>
            </a:r>
          </a:p>
          <a:p/>
          <a:p>
            <a:r>
              <a:t>Solaris Villa Malang / Solaris Villa Extension Malang | Investor portfolio and milestones | Existing listing; identify the villa extension separately from the hotel</a:t>
            </a:r>
          </a:p>
          <a:p/>
          <a:p>
            <a:r>
              <a:t>Golf Taman Dayu | Investor asset schedule | Golf asset</a:t>
            </a:r>
          </a:p>
          <a:p/>
          <a:p>
            <a:r>
              <a:t>Driving Range | Investor asset schedule | Separate leisure asset within the Taman Dayu context</a:t>
            </a:r>
          </a:p>
          <a:p/>
          <a:p>
            <a:r>
              <a:t>Taman Dayu Golf &amp; Resort | TANLY operating/destination name | Map its relationship to the underlying property assets and operating arrangements</a:t>
            </a:r>
          </a:p>
          <a:p/>
          <a:p>
            <a:r>
              <a:t>Rule: A hotel brand, legal owner, developer, and management company may occupy different levels of the architecture.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A7 — TANRISE Hospitality Development Pipeline</a:t>
            </a:r>
          </a:p>
          <a:p>
            <a:r>
              <a:t>Document pages: 53, 54</a:t>
            </a:r>
          </a:p>
          <a:p/>
          <a:p>
            <a:r>
              <a:t>COMPLETE SOURCE TEXT</a:t>
            </a:r>
          </a:p>
          <a:p>
            <a:r>
              <a:t>Project | Status in investor deck | Treatment</a:t>
            </a:r>
          </a:p>
          <a:p/>
          <a:p>
            <a:r>
              <a:t>VASA Ubud | Ongoing | Vasa Resort Ubud naming also appears publicly; confirm final approved name</a:t>
            </a:r>
          </a:p>
          <a:p/>
          <a:p>
            <a:r>
              <a:t>VASA Bromo | Ongoing | Vasa Hotel/Resort Bromo styling should be standardised</a:t>
            </a:r>
          </a:p>
          <a:p/>
          <a:p>
            <a:r>
              <a:t>VASA Canggu | Upcoming | Do not present as operating</a:t>
            </a:r>
          </a:p>
          <a:p/>
          <a:p>
            <a:r>
              <a:t>VASA Malang | Upcoming | Distinguish from Solaris Malang and other Malang developments</a:t>
            </a:r>
          </a:p>
          <a:p/>
          <a:p>
            <a:r>
              <a:t>GOED Malang | Upcoming | Separate brand/project entry within the Malang development context</a:t>
            </a:r>
          </a:p>
          <a:p/>
          <a:p>
            <a:r>
              <a:t>Ownership figures for Ubud and Bromo conflict between the summary and detailed pages. Do not reproduce a single percentage without reconciliation.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A7 — TANRISE Hospitality Development Pipeline</a:t>
            </a:r>
          </a:p>
          <a:p>
            <a:r>
              <a:t>Document pages: 53, 54</a:t>
            </a:r>
          </a:p>
          <a:p/>
          <a:p>
            <a:r>
              <a:t>COMPLETE SOURCE TEXT</a:t>
            </a:r>
          </a:p>
          <a:p>
            <a:r>
              <a:t>Project | Status in investor deck | Treatment</a:t>
            </a:r>
          </a:p>
          <a:p/>
          <a:p>
            <a:r>
              <a:t>VASA Ubud | Ongoing | Vasa Resort Ubud naming also appears publicly; confirm final approved name</a:t>
            </a:r>
          </a:p>
          <a:p/>
          <a:p>
            <a:r>
              <a:t>VASA Bromo | Ongoing | Vasa Hotel/Resort Bromo styling should be standardised</a:t>
            </a:r>
          </a:p>
          <a:p/>
          <a:p>
            <a:r>
              <a:t>VASA Canggu | Upcoming | Do not present as operating</a:t>
            </a:r>
          </a:p>
          <a:p/>
          <a:p>
            <a:r>
              <a:t>VASA Malang | Upcoming | Distinguish from Solaris Malang and other Malang developments</a:t>
            </a:r>
          </a:p>
          <a:p/>
          <a:p>
            <a:r>
              <a:t>GOED Malang | Upcoming | Separate brand/project entry within the Malang development context</a:t>
            </a:r>
          </a:p>
          <a:p/>
          <a:p>
            <a:r>
              <a:t>Ownership figures for Ubud and Bromo conflict between the summary and detailed pages. Do not reproduce a single percentage without reconciliation.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A8 — Wider TANLY Pipeline — Separate From Confirmed TANRISE Asset Ownership</a:t>
            </a:r>
          </a:p>
          <a:p>
            <a:r>
              <a:t>Document pages: 54</a:t>
            </a:r>
          </a:p>
          <a:p/>
          <a:p>
            <a:r>
              <a:t>COMPLETE SOURCE TEXT</a:t>
            </a:r>
          </a:p>
          <a:p>
            <a:r>
              <a:t>TANLY’s publicly listed future collection also includes:</a:t>
            </a:r>
          </a:p>
          <a:p/>
          <a:p>
            <a:r>
              <a:t>● Vasa Hotel Manado. ● Vasa Hotel Benoa. ● Vasa Hotel Nilaya, Batu. ● GOED President Pacitan.</a:t>
            </a:r>
          </a:p>
          <a:p/>
          <a:p>
            <a:r>
              <a:t>These are wider hospitality-management portfolio references.</a:t>
            </a:r>
          </a:p>
          <a:p/>
          <a:p>
            <a:r>
              <a:t>Do not add them to TANRISE’s owned or invested asset list unless the client confirms the relevant property interest.</a:t>
            </a:r>
          </a:p>
          <a:p/>
          <a:p>
            <a:r>
              <a:t>Public hotel naming also differs from some investor-deck labels. Maintain an alias field rather than creating duplicate project entries.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B1 — Naming and Classification Decisions</a:t>
            </a:r>
          </a:p>
          <a:p>
            <a:r>
              <a:t>Document pages: 55, 56</a:t>
            </a:r>
          </a:p>
          <a:p/>
          <a:p>
            <a:r>
              <a:t>COMPLETE SOURCE TEXT</a:t>
            </a:r>
          </a:p>
          <a:p>
            <a:r>
              <a:t>Issue | Required decision</a:t>
            </a:r>
          </a:p>
          <a:p/>
          <a:p>
            <a:r>
              <a:t>Jumana → Sunrise Residence Sidoarjo | Confirm whether the change is approved and implemented</a:t>
            </a:r>
          </a:p>
          <a:p/>
          <a:p>
            <a:r>
              <a:t>Grand Sunrise Malang / Sunrise Residence Malang / Sunrise Garden Malang | Confirm number of projects, approved names, and scopes</a:t>
            </a:r>
          </a:p>
          <a:p/>
          <a:p>
            <a:r>
              <a:t>TritanPoint / TritanHub → TRITAN | Confirm implementation and location mapping</a:t>
            </a:r>
          </a:p>
          <a:p/>
          <a:p>
            <a:r>
              <a:t>Kyo Society classified under Commercial | Agree primary classification and explain the investment proposition separately</a:t>
            </a:r>
          </a:p>
          <a:p/>
          <a:p>
            <a:r>
              <a:t>ARC100 and accommodation references | Confirm current brand, asset, and operating relationships</a:t>
            </a:r>
          </a:p>
          <a:p/>
          <a:p>
            <a:r>
              <a:t>Midpoint Kayoon | Confirm current project status and commercial model</a:t>
            </a:r>
          </a:p>
          <a:p/>
          <a:p>
            <a:r>
              <a:t>Bali Bites | Clarify asset ownership, destination identity, and restaurant-management relationships</a:t>
            </a:r>
          </a:p>
          <a:p/>
          <a:p>
            <a:r>
              <a:t>The House of VASA | Confirm whether this is an approved architecture or an unapproved proposal</a:t>
            </a:r>
          </a:p>
          <a:p/>
          <a:p>
            <a:r>
              <a:t>Education and Healthcare | Identify any committed facilities or operating businesses before presenting them as established units</a:t>
            </a:r>
          </a:p>
          <a:p/>
          <a:p>
            <a:r>
              <a:t>Five business pillars versus seven product categories | Approve one reporting hierarchy and a clear cross-reference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B1 — Naming and Classification Decisions</a:t>
            </a:r>
          </a:p>
          <a:p>
            <a:r>
              <a:t>Document pages: 55, 56</a:t>
            </a:r>
          </a:p>
          <a:p/>
          <a:p>
            <a:r>
              <a:t>COMPLETE SOURCE TEXT</a:t>
            </a:r>
          </a:p>
          <a:p>
            <a:r>
              <a:t>Issue | Required decision</a:t>
            </a:r>
          </a:p>
          <a:p/>
          <a:p>
            <a:r>
              <a:t>Jumana → Sunrise Residence Sidoarjo | Confirm whether the change is approved and implemented</a:t>
            </a:r>
          </a:p>
          <a:p/>
          <a:p>
            <a:r>
              <a:t>Grand Sunrise Malang / Sunrise Residence Malang / Sunrise Garden Malang | Confirm number of projects, approved names, and scopes</a:t>
            </a:r>
          </a:p>
          <a:p/>
          <a:p>
            <a:r>
              <a:t>TritanPoint / TritanHub → TRITAN | Confirm implementation and location mapping</a:t>
            </a:r>
          </a:p>
          <a:p/>
          <a:p>
            <a:r>
              <a:t>Kyo Society classified under Commercial | Agree primary classification and explain the investment proposition separately</a:t>
            </a:r>
          </a:p>
          <a:p/>
          <a:p>
            <a:r>
              <a:t>ARC100 and accommodation references | Confirm current brand, asset, and operating relationships</a:t>
            </a:r>
          </a:p>
          <a:p/>
          <a:p>
            <a:r>
              <a:t>Midpoint Kayoon | Confirm current project status and commercial model</a:t>
            </a:r>
          </a:p>
          <a:p/>
          <a:p>
            <a:r>
              <a:t>Bali Bites | Clarify asset ownership, destination identity, and restaurant-management relationships</a:t>
            </a:r>
          </a:p>
          <a:p/>
          <a:p>
            <a:r>
              <a:t>The House of VASA | Confirm whether this is an approved architecture or an unapproved proposal</a:t>
            </a:r>
          </a:p>
          <a:p/>
          <a:p>
            <a:r>
              <a:t>Education and Healthcare | Identify any committed facilities or operating businesses before presenting them as established units</a:t>
            </a:r>
          </a:p>
          <a:p/>
          <a:p>
            <a:r>
              <a:t>Five business pillars versus seven product categories | Approve one reporting hierarchy and a clear cross-reference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B1 — Naming and Classification Decisions</a:t>
            </a:r>
          </a:p>
          <a:p>
            <a:r>
              <a:t>Document pages: 55, 56</a:t>
            </a:r>
          </a:p>
          <a:p/>
          <a:p>
            <a:r>
              <a:t>COMPLETE SOURCE TEXT</a:t>
            </a:r>
          </a:p>
          <a:p>
            <a:r>
              <a:t>Issue | Required decision</a:t>
            </a:r>
          </a:p>
          <a:p/>
          <a:p>
            <a:r>
              <a:t>Jumana → Sunrise Residence Sidoarjo | Confirm whether the change is approved and implemented</a:t>
            </a:r>
          </a:p>
          <a:p/>
          <a:p>
            <a:r>
              <a:t>Grand Sunrise Malang / Sunrise Residence Malang / Sunrise Garden Malang | Confirm number of projects, approved names, and scopes</a:t>
            </a:r>
          </a:p>
          <a:p/>
          <a:p>
            <a:r>
              <a:t>TritanPoint / TritanHub → TRITAN | Confirm implementation and location mapping</a:t>
            </a:r>
          </a:p>
          <a:p/>
          <a:p>
            <a:r>
              <a:t>Kyo Society classified under Commercial | Agree primary classification and explain the investment proposition separately</a:t>
            </a:r>
          </a:p>
          <a:p/>
          <a:p>
            <a:r>
              <a:t>ARC100 and accommodation references | Confirm current brand, asset, and operating relationships</a:t>
            </a:r>
          </a:p>
          <a:p/>
          <a:p>
            <a:r>
              <a:t>Midpoint Kayoon | Confirm current project status and commercial model</a:t>
            </a:r>
          </a:p>
          <a:p/>
          <a:p>
            <a:r>
              <a:t>Bali Bites | Clarify asset ownership, destination identity, and restaurant-management relationships</a:t>
            </a:r>
          </a:p>
          <a:p/>
          <a:p>
            <a:r>
              <a:t>The House of VASA | Confirm whether this is an approved architecture or an unapproved proposal</a:t>
            </a:r>
          </a:p>
          <a:p/>
          <a:p>
            <a:r>
              <a:t>Education and Healthcare | Identify any committed facilities or operating businesses before presenting them as established units</a:t>
            </a:r>
          </a:p>
          <a:p/>
          <a:p>
            <a:r>
              <a:t>Five business pillars versus seven product categories | Approve one reporting hierarchy and a clear cross-reference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B2 — Internal Numerical Conflicts in the Investor Deck</a:t>
            </a:r>
          </a:p>
          <a:p>
            <a:r>
              <a:t>Document pages: 56</a:t>
            </a:r>
          </a:p>
          <a:p/>
          <a:p>
            <a:r>
              <a:t>COMPLETE SOURCE TEXT</a:t>
            </a:r>
          </a:p>
          <a:p>
            <a:r>
              <a:t>Item | Conflicting information</a:t>
            </a:r>
          </a:p>
          <a:p/>
          <a:p>
            <a:r>
              <a:t>VASA Ubud ownership | Summary: 100%; detailed project page: 73.3%</a:t>
            </a:r>
          </a:p>
          <a:p/>
          <a:p>
            <a:r>
              <a:t>VASA Bromo ownership | Summary: 73.3%; detailed project page: 100%</a:t>
            </a:r>
          </a:p>
          <a:p/>
          <a:p>
            <a:r>
              <a:t>Swiss of Taman Dayu ownership | Summary: 45.0%; detailed page: 45.5%</a:t>
            </a:r>
          </a:p>
          <a:p/>
          <a:p>
            <a:r>
              <a:t>Palembang industrial-park area | Table: 131.1 hectares; rendering caption: 212 hectares</a:t>
            </a:r>
          </a:p>
          <a:p/>
          <a:p>
            <a:r>
              <a:t>Tritan Gempol location | Project name/map: Pasuruan; detailed table: Sidoarjo</a:t>
            </a:r>
          </a:p>
          <a:p/>
          <a:p>
            <a:r>
              <a:t>Rounded versus detailed ownership figures | Several summary percentages differ slightly from detailed legal-interest figures</a:t>
            </a:r>
          </a:p>
          <a:p/>
          <a:p>
            <a:r>
              <a:t>Differences may reflect rounding, effective ownership, legal ownership, development phases, or errors. The decks do not provide sufficient reconciliation.</a:t>
            </a:r>
          </a:p>
          <a:p/>
          <a:p>
            <a:r>
              <a:t>Presentation rule: Omit disputed percentages and areas from the leadership narrative until clarified.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B2 — Internal Numerical Conflicts in the Investor Deck</a:t>
            </a:r>
          </a:p>
          <a:p>
            <a:r>
              <a:t>Document pages: 56</a:t>
            </a:r>
          </a:p>
          <a:p/>
          <a:p>
            <a:r>
              <a:t>COMPLETE SOURCE TEXT</a:t>
            </a:r>
          </a:p>
          <a:p>
            <a:r>
              <a:t>Item | Conflicting information</a:t>
            </a:r>
          </a:p>
          <a:p/>
          <a:p>
            <a:r>
              <a:t>VASA Ubud ownership | Summary: 100%; detailed project page: 73.3%</a:t>
            </a:r>
          </a:p>
          <a:p/>
          <a:p>
            <a:r>
              <a:t>VASA Bromo ownership | Summary: 73.3%; detailed project page: 100%</a:t>
            </a:r>
          </a:p>
          <a:p/>
          <a:p>
            <a:r>
              <a:t>Swiss of Taman Dayu ownership | Summary: 45.0%; detailed page: 45.5%</a:t>
            </a:r>
          </a:p>
          <a:p/>
          <a:p>
            <a:r>
              <a:t>Palembang industrial-park area | Table: 131.1 hectares; rendering caption: 212 hectares</a:t>
            </a:r>
          </a:p>
          <a:p/>
          <a:p>
            <a:r>
              <a:t>Tritan Gempol location | Project name/map: Pasuruan; detailed table: Sidoarjo</a:t>
            </a:r>
          </a:p>
          <a:p/>
          <a:p>
            <a:r>
              <a:t>Rounded versus detailed ownership figures | Several summary percentages differ slightly from detailed legal-interest figures</a:t>
            </a:r>
          </a:p>
          <a:p/>
          <a:p>
            <a:r>
              <a:t>Differences may reflect rounding, effective ownership, legal ownership, development phases, or errors. The decks do not provide sufficient reconciliation.</a:t>
            </a:r>
          </a:p>
          <a:p/>
          <a:p>
            <a:r>
              <a:t>Presentation rule: Omit disputed percentages and areas from the leadership narrative until clarified.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C — Financial Validation Workstream</a:t>
            </a:r>
          </a:p>
          <a:p>
            <a:r>
              <a:t>Document pages: 57</a:t>
            </a:r>
          </a:p>
          <a:p/>
          <a:p>
            <a:r>
              <a:t>COMPLETE SOURCE TEXT</a:t>
            </a:r>
          </a:p>
          <a:p>
            <a:r>
              <a:t>TANRISE 2035 Financial Gap Analysis and Growth Scenarios</a:t>
            </a:r>
          </a:p>
          <a:p/>
          <a:p>
            <a:r>
              <a:t>Establish:</a:t>
            </a:r>
          </a:p>
          <a:p/>
          <a:p>
            <a:r>
              <a:t>1. Current audited revenue, attributable profit, assets, debt, and operating cash flow. 2. Consistent peer revenue and attributable-profit rankings. 3. Projected 2035 thresholds under different competitor-growth assumptions. 4. Contributions required from the five business pillars. 5. Revenue and cash-flow timing from existing, ongoing, and upcoming projects. 6. Ownership-adjusted earnings contribution. 7. Capital investment and funding requirements. 8. Contributions from partnerships and potential acquisitions. 9. Annual milestones and downside scenarios.</a:t>
            </a:r>
          </a:p>
          <a:p/>
          <a:p>
            <a:r>
              <a:t>Recommended deliverable: TANRISE 2035 Financial Gap Analysis &amp; Growth Scenarios.</a:t>
            </a:r>
          </a:p>
          <a:p/>
          <a:p>
            <a:r>
              <a:t>Use audited financial statements as the primary financial baseline and reconcile differences with presentation summaries.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C — Financial Validation Workstream</a:t>
            </a:r>
          </a:p>
          <a:p>
            <a:r>
              <a:t>Document pages: 57</a:t>
            </a:r>
          </a:p>
          <a:p/>
          <a:p>
            <a:r>
              <a:t>COMPLETE SOURCE TEXT</a:t>
            </a:r>
          </a:p>
          <a:p>
            <a:r>
              <a:t>TANRISE 2035 Financial Gap Analysis and Growth Scenarios</a:t>
            </a:r>
          </a:p>
          <a:p/>
          <a:p>
            <a:r>
              <a:t>Establish:</a:t>
            </a:r>
          </a:p>
          <a:p/>
          <a:p>
            <a:r>
              <a:t>1. Current audited revenue, attributable profit, assets, debt, and operating cash flow. 2. Consistent peer revenue and attributable-profit rankings. 3. Projected 2035 thresholds under different competitor-growth assumptions. 4. Contributions required from the five business pillars. 5. Revenue and cash-flow timing from existing, ongoing, and upcoming projects. 6. Ownership-adjusted earnings contribution. 7. Capital investment and funding requirements. 8. Contributions from partnerships and potential acquisitions. 9. Annual milestones and downside scenarios.</a:t>
            </a:r>
          </a:p>
          <a:p/>
          <a:p>
            <a:r>
              <a:t>Recommended deliverable: TANRISE 2035 Financial Gap Analysis &amp; Growth Scenarios.</a:t>
            </a:r>
          </a:p>
          <a:p/>
          <a:p>
            <a:r>
              <a:t>Use audited financial statements as the primary financial baseline and reconcile differences with presentation summaries.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D — Turning Strategy Into Business Cases</a:t>
            </a:r>
          </a:p>
          <a:p>
            <a:r>
              <a:t>Document pages: 57, 58</a:t>
            </a:r>
          </a:p>
          <a:p/>
          <a:p>
            <a:r>
              <a:t>COMPLETE SOURCE TEXT</a:t>
            </a:r>
          </a:p>
          <a:p>
            <a:r>
              <a:t>Every Initiative Should Answer Three Questions</a:t>
            </a:r>
          </a:p>
          <a:p/>
          <a:p>
            <a:r>
              <a:t>1. What Opportunity Are We Pursuing?</a:t>
            </a:r>
          </a:p>
          <a:p/>
          <a:p>
            <a:r>
              <a:t>Examples:</a:t>
            </a:r>
          </a:p>
          <a:p/>
          <a:p>
            <a:r>
              <a:t>● Improve Taman Dayu destination utilisation. ● Strengthen early-phase demand in Sidoarjo and Bandung. ● Improve industrial occupier acquisition. ● Increase productivity of retained commercial and hospitality assets.</a:t>
            </a:r>
          </a:p>
          <a:p/>
          <a:p>
            <a:r>
              <a:t>2. What Capabilities Are Required?</a:t>
            </a:r>
          </a:p>
          <a:p/>
          <a:p>
            <a:r>
              <a:t>● Development and infrastructure delivery. ● Commercial leasing and tenant curation. ● Destination programming. ● Partnerships. ● Customer and membership management. ● Asset management. ● Hospitality operations. ● Reliable portfolio and financial reporting.</a:t>
            </a:r>
          </a:p>
          <a:p/>
          <a:p>
            <a:r>
              <a:t>3. How Will Success Be Measured?</a:t>
            </a:r>
          </a:p>
          <a:p/>
          <a:p>
            <a:r>
              <a:t>Use appropriate measures for each asset:</a:t>
            </a:r>
          </a:p>
          <a:p/>
          <a:p>
            <a:r>
              <a:t>● Sales absorption and margin. ● Handover and opening readiness. ● Occupancy and retention. ● Visitation and repeat visits. ● RevPAR and operating profit. ● NOI and cash contribution. ● Customer satisfaction. ● Return on invested capital.</a:t>
            </a:r>
          </a:p>
          <a:p/>
          <a:p>
            <a:r>
              <a:t>Rule: Every business case needs an accountable owner, investment envelope, milestones, assumptions, and review dates.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D — Turning Strategy Into Business Cases</a:t>
            </a:r>
          </a:p>
          <a:p>
            <a:r>
              <a:t>Document pages: 57, 58</a:t>
            </a:r>
          </a:p>
          <a:p/>
          <a:p>
            <a:r>
              <a:t>COMPLETE SOURCE TEXT</a:t>
            </a:r>
          </a:p>
          <a:p>
            <a:r>
              <a:t>Every Initiative Should Answer Three Questions</a:t>
            </a:r>
          </a:p>
          <a:p/>
          <a:p>
            <a:r>
              <a:t>1. What Opportunity Are We Pursuing?</a:t>
            </a:r>
          </a:p>
          <a:p/>
          <a:p>
            <a:r>
              <a:t>Examples:</a:t>
            </a:r>
          </a:p>
          <a:p/>
          <a:p>
            <a:r>
              <a:t>● Improve Taman Dayu destination utilisation. ● Strengthen early-phase demand in Sidoarjo and Bandung. ● Improve industrial occupier acquisition. ● Increase productivity of retained commercial and hospitality assets.</a:t>
            </a:r>
          </a:p>
          <a:p/>
          <a:p>
            <a:r>
              <a:t>2. What Capabilities Are Required?</a:t>
            </a:r>
          </a:p>
          <a:p/>
          <a:p>
            <a:r>
              <a:t>● Development and infrastructure delivery. ● Commercial leasing and tenant curation. ● Destination programming. ● Partnerships. ● Customer and membership management. ● Asset management. ● Hospitality operations. ● Reliable portfolio and financial reporting.</a:t>
            </a:r>
          </a:p>
          <a:p/>
          <a:p>
            <a:r>
              <a:t>3. How Will Success Be Measured?</a:t>
            </a:r>
          </a:p>
          <a:p/>
          <a:p>
            <a:r>
              <a:t>Use appropriate measures for each asset:</a:t>
            </a:r>
          </a:p>
          <a:p/>
          <a:p>
            <a:r>
              <a:t>● Sales absorption and margin. ● Handover and opening readiness. ● Occupancy and retention. ● Visitation and repeat visits. ● RevPAR and operating profit. ● NOI and cash contribution. ● Customer satisfaction. ● Return on invested capital.</a:t>
            </a:r>
          </a:p>
          <a:p/>
          <a:p>
            <a:r>
              <a:t>Rule: Every business case needs an accountable owner, investment envelope, milestones, assumptions, and review dates.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D — Turning Strategy Into Business Cases</a:t>
            </a:r>
          </a:p>
          <a:p>
            <a:r>
              <a:t>Document pages: 57, 58</a:t>
            </a:r>
          </a:p>
          <a:p/>
          <a:p>
            <a:r>
              <a:t>COMPLETE SOURCE TEXT</a:t>
            </a:r>
          </a:p>
          <a:p>
            <a:r>
              <a:t>Every Initiative Should Answer Three Questions</a:t>
            </a:r>
          </a:p>
          <a:p/>
          <a:p>
            <a:r>
              <a:t>1. What Opportunity Are We Pursuing?</a:t>
            </a:r>
          </a:p>
          <a:p/>
          <a:p>
            <a:r>
              <a:t>Examples:</a:t>
            </a:r>
          </a:p>
          <a:p/>
          <a:p>
            <a:r>
              <a:t>● Improve Taman Dayu destination utilisation. ● Strengthen early-phase demand in Sidoarjo and Bandung. ● Improve industrial occupier acquisition. ● Increase productivity of retained commercial and hospitality assets.</a:t>
            </a:r>
          </a:p>
          <a:p/>
          <a:p>
            <a:r>
              <a:t>2. What Capabilities Are Required?</a:t>
            </a:r>
          </a:p>
          <a:p/>
          <a:p>
            <a:r>
              <a:t>● Development and infrastructure delivery. ● Commercial leasing and tenant curation. ● Destination programming. ● Partnerships. ● Customer and membership management. ● Asset management. ● Hospitality operations. ● Reliable portfolio and financial reporting.</a:t>
            </a:r>
          </a:p>
          <a:p/>
          <a:p>
            <a:r>
              <a:t>3. How Will Success Be Measured?</a:t>
            </a:r>
          </a:p>
          <a:p/>
          <a:p>
            <a:r>
              <a:t>Use appropriate measures for each asset:</a:t>
            </a:r>
          </a:p>
          <a:p/>
          <a:p>
            <a:r>
              <a:t>● Sales absorption and margin. ● Handover and opening readiness. ● Occupancy and retention. ● Visitation and repeat visits. ● RevPAR and operating profit. ● NOI and cash contribution. ● Customer satisfaction. ● Return on invested capital.</a:t>
            </a:r>
          </a:p>
          <a:p/>
          <a:p>
            <a:r>
              <a:t>Rule: Every business case needs an accountable owner, investment envelope, milestones, assumptions, and review dates.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D — Turning Strategy Into Business Cases</a:t>
            </a:r>
          </a:p>
          <a:p>
            <a:r>
              <a:t>Document pages: 57, 58</a:t>
            </a:r>
          </a:p>
          <a:p/>
          <a:p>
            <a:r>
              <a:t>COMPLETE SOURCE TEXT</a:t>
            </a:r>
          </a:p>
          <a:p>
            <a:r>
              <a:t>Every Initiative Should Answer Three Questions</a:t>
            </a:r>
          </a:p>
          <a:p/>
          <a:p>
            <a:r>
              <a:t>1. What Opportunity Are We Pursuing?</a:t>
            </a:r>
          </a:p>
          <a:p/>
          <a:p>
            <a:r>
              <a:t>Examples:</a:t>
            </a:r>
          </a:p>
          <a:p/>
          <a:p>
            <a:r>
              <a:t>● Improve Taman Dayu destination utilisation. ● Strengthen early-phase demand in Sidoarjo and Bandung. ● Improve industrial occupier acquisition. ● Increase productivity of retained commercial and hospitality assets.</a:t>
            </a:r>
          </a:p>
          <a:p/>
          <a:p>
            <a:r>
              <a:t>2. What Capabilities Are Required?</a:t>
            </a:r>
          </a:p>
          <a:p/>
          <a:p>
            <a:r>
              <a:t>● Development and infrastructure delivery. ● Commercial leasing and tenant curation. ● Destination programming. ● Partnerships. ● Customer and membership management. ● Asset management. ● Hospitality operations. ● Reliable portfolio and financial reporting.</a:t>
            </a:r>
          </a:p>
          <a:p/>
          <a:p>
            <a:r>
              <a:t>3. How Will Success Be Measured?</a:t>
            </a:r>
          </a:p>
          <a:p/>
          <a:p>
            <a:r>
              <a:t>Use appropriate measures for each asset:</a:t>
            </a:r>
          </a:p>
          <a:p/>
          <a:p>
            <a:r>
              <a:t>● Sales absorption and margin. ● Handover and opening readiness. ● Occupancy and retention. ● Visitation and repeat visits. ● RevPAR and operating profit. ● NOI and cash contribution. ● Customer satisfaction. ● Return on invested capital.</a:t>
            </a:r>
          </a:p>
          <a:p/>
          <a:p>
            <a:r>
              <a:t>Rule: Every business case needs an accountable owner, investment envelope, milestones, assumptions, and review dates.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E — Executive Decisions Required</a:t>
            </a:r>
          </a:p>
          <a:p>
            <a:r>
              <a:t>Document pages: 58, 59</a:t>
            </a:r>
          </a:p>
          <a:p/>
          <a:p>
            <a:r>
              <a:t>COMPLETE SOURCE TEXT</a:t>
            </a:r>
          </a:p>
          <a:p>
            <a:r>
              <a:t>Decision | Proposed recommendation</a:t>
            </a:r>
          </a:p>
          <a:p/>
          <a:p>
            <a:r>
              <a:t>Corporate positioning | Adopt Elevating Life as the primary corporate expression</a:t>
            </a:r>
          </a:p>
          <a:p/>
          <a:p>
            <a:r>
              <a:t>Portfolio reporting | Use the five documented business pillars as the current business-description baseline</a:t>
            </a:r>
          </a:p>
          <a:p/>
          <a:p>
            <a:r>
              <a:t>Naming governance | Preserve established names and implement only approved naming transitions</a:t>
            </a:r>
          </a:p>
          <a:p/>
          <a:p>
            <a:r>
              <a:t>Group architecture | Distinguish TANRISE’s property role from TANLY’s hospitality-management role</a:t>
            </a:r>
          </a:p>
          <a:p/>
          <a:p>
            <a:r>
              <a:t>Business model | Strengthen development performance and selectively improve recurring-income engines</a:t>
            </a:r>
          </a:p>
          <a:p/>
          <a:p>
            <a:r>
              <a:t>Strategic priorities | Advance Taman Dayu, integrated-city, industrial, and hospitality business cases according to feasibility</a:t>
            </a:r>
          </a:p>
          <a:p/>
          <a:p>
            <a:r>
              <a:t>2035 transformation | Establish a funded roadmap with annual milestones and executive accountability</a:t>
            </a:r>
          </a:p>
          <a:p/>
          <a:p>
            <a:r>
              <a:t>All recommendations require leadership approval.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E — Executive Decisions Required</a:t>
            </a:r>
          </a:p>
          <a:p>
            <a:r>
              <a:t>Document pages: 58, 59</a:t>
            </a:r>
          </a:p>
          <a:p/>
          <a:p>
            <a:r>
              <a:t>COMPLETE SOURCE TEXT</a:t>
            </a:r>
          </a:p>
          <a:p>
            <a:r>
              <a:t>Decision | Proposed recommendation</a:t>
            </a:r>
          </a:p>
          <a:p/>
          <a:p>
            <a:r>
              <a:t>Corporate positioning | Adopt Elevating Life as the primary corporate expression</a:t>
            </a:r>
          </a:p>
          <a:p/>
          <a:p>
            <a:r>
              <a:t>Portfolio reporting | Use the five documented business pillars as the current business-description baseline</a:t>
            </a:r>
          </a:p>
          <a:p/>
          <a:p>
            <a:r>
              <a:t>Naming governance | Preserve established names and implement only approved naming transitions</a:t>
            </a:r>
          </a:p>
          <a:p/>
          <a:p>
            <a:r>
              <a:t>Group architecture | Distinguish TANRISE’s property role from TANLY’s hospitality-management role</a:t>
            </a:r>
          </a:p>
          <a:p/>
          <a:p>
            <a:r>
              <a:t>Business model | Strengthen development performance and selectively improve recurring-income engines</a:t>
            </a:r>
          </a:p>
          <a:p/>
          <a:p>
            <a:r>
              <a:t>Strategic priorities | Advance Taman Dayu, integrated-city, industrial, and hospitality business cases according to feasibility</a:t>
            </a:r>
          </a:p>
          <a:p/>
          <a:p>
            <a:r>
              <a:t>2035 transformation | Establish a funded roadmap with annual milestones and executive accountability</a:t>
            </a:r>
          </a:p>
          <a:p/>
          <a:p>
            <a:r>
              <a:t>All recommendations require leadership approval.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F — Design And Source Guidance</a:t>
            </a:r>
          </a:p>
          <a:p>
            <a:r>
              <a:t>Document pages: 59, 60, 61</a:t>
            </a:r>
          </a:p>
          <a:p/>
          <a:p>
            <a:r>
              <a:t>COMPLETE SOURCE TEXT</a:t>
            </a:r>
          </a:p>
          <a:p>
            <a:r>
              <a:t>Presentation Structure</a:t>
            </a:r>
          </a:p>
          <a:p/>
          <a:p>
            <a:r>
              <a:t>Section | Slides | Objective</a:t>
            </a:r>
          </a:p>
          <a:p/>
          <a:p>
            <a:r>
              <a:t>Corporate research and diagnosis | 01–07 | Establish the business, portfolio, and growth challenge</a:t>
            </a:r>
          </a:p>
          <a:p/>
          <a:p>
            <a:r>
              <a:t>Competitive intelligence | 08–17 | Identify relevant competitive mechanisms</a:t>
            </a:r>
          </a:p>
          <a:p/>
          <a:p>
            <a:r>
              <a:t>Corporate and portfolio architecture | 18–21 | Clarify group roles, projects, naming, and status</a:t>
            </a:r>
          </a:p>
          <a:p/>
          <a:p>
            <a:r>
              <a:t>Three brand alternatives | 22–25 | Present strategic choices</a:t>
            </a:r>
          </a:p>
          <a:p/>
          <a:p>
            <a:r>
              <a:t>Recommended platform | 26–33 | Define identity, values, culture, and experience</a:t>
            </a:r>
          </a:p>
          <a:p/>
          <a:p>
            <a:r>
              <a:t>Business transformation | 34–37 | Connect the portfolio to commercial value</a:t>
            </a:r>
          </a:p>
          <a:p/>
          <a:p>
            <a:r>
              <a:t>Roadmap and execution | 38–40 | Translate ambition into action</a:t>
            </a:r>
          </a:p>
          <a:p/>
          <a:p>
            <a:r>
              <a:t>Visual Direction</a:t>
            </a:r>
          </a:p>
          <a:p/>
          <a:p>
            <a:r>
              <a:t>Portfolio research Use actual client project photography and renderings. Label renderings and future facilities clearly.</a:t>
            </a:r>
          </a:p>
          <a:p/>
          <a:p>
            <a:r>
              <a:t>Architecture Separate corporate group relationships, business pillars, destination brands, individual projects, and operators.</a:t>
            </a:r>
          </a:p>
          <a:p/>
          <a:p>
            <a:r>
              <a:t>Project status Use a consistent visual key for existing, ongoing, upcoming, proposed naming, and unresolved information.</a:t>
            </a:r>
          </a:p>
          <a:p/>
          <a:p>
            <a:r>
              <a:t>Financial comparisons Use consistent periods, definitions, and units. Show disputed or unreconciled figures only in the validation appendix.</a:t>
            </a:r>
          </a:p>
          <a:p/>
          <a:p>
            <a:r>
              <a:t>Brand options Maintain one presentation system while giving each strategic option a distinctive emphasis.</a:t>
            </a:r>
          </a:p>
          <a:p/>
          <a:p>
            <a:r>
              <a:t>Roadmap Distinguish the proposed corporate roadmap from individual project schedules.</a:t>
            </a:r>
          </a:p>
          <a:p/>
          <a:p>
            <a:r>
              <a:t>Primary Client Sources</a:t>
            </a:r>
          </a:p>
          <a:p/>
          <a:p>
            <a:r>
              <a:t>Client Source 1 RISE Investor Presentation — 1Q26 Result, dated 20 July 2026.</a:t>
            </a:r>
          </a:p>
          <a:p/>
          <a:p>
            <a:r>
              <a:t>Key references: corporate vision and mission; development milestones; company structure; five business pillars; project portfolio; existing assets; ongoing and upcoming developments.</a:t>
            </a:r>
          </a:p>
          <a:p/>
          <a:p>
            <a:r>
              <a:t>Client Source 2 Tanrise Brand Portfolio Strategy 2026.</a:t>
            </a:r>
          </a:p>
          <a:p/>
          <a:p>
            <a:r>
              <a:t>Key references: product categories; proposed residential naming; Jumana-to-Sunrise transition; location-based Grand Sunrise and TRITAN naming; industrial-park identities; commercial portfolio references.</a:t>
            </a:r>
          </a:p>
          <a:p/>
          <a:p>
            <a:r>
              <a:t>Central Leadership Message</a:t>
            </a:r>
          </a:p>
          <a:p/>
          <a:p>
            <a:r>
              <a:t>TANRISE already has a diversified asset base and a substantial development pipeline.</a:t>
            </a:r>
          </a:p>
          <a:p/>
          <a:p>
            <a:r>
              <a:t>Its next chapter should connect these strengths through clearer portfolio governance, purposeful development, dependable delivery, effective operating partnerships, and disciplined investment.</a:t>
            </a:r>
          </a:p>
          <a:p/>
          <a:p>
            <a:r>
              <a:t>TANRISE — Elevating Life.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F — Design And Source Guidance</a:t>
            </a:r>
          </a:p>
          <a:p>
            <a:r>
              <a:t>Document pages: 59, 60, 61</a:t>
            </a:r>
          </a:p>
          <a:p/>
          <a:p>
            <a:r>
              <a:t>COMPLETE SOURCE TEXT</a:t>
            </a:r>
          </a:p>
          <a:p>
            <a:r>
              <a:t>Presentation Structure</a:t>
            </a:r>
          </a:p>
          <a:p/>
          <a:p>
            <a:r>
              <a:t>Section | Slides | Objective</a:t>
            </a:r>
          </a:p>
          <a:p/>
          <a:p>
            <a:r>
              <a:t>Corporate research and diagnosis | 01–07 | Establish the business, portfolio, and growth challenge</a:t>
            </a:r>
          </a:p>
          <a:p/>
          <a:p>
            <a:r>
              <a:t>Competitive intelligence | 08–17 | Identify relevant competitive mechanisms</a:t>
            </a:r>
          </a:p>
          <a:p/>
          <a:p>
            <a:r>
              <a:t>Corporate and portfolio architecture | 18–21 | Clarify group roles, projects, naming, and status</a:t>
            </a:r>
          </a:p>
          <a:p/>
          <a:p>
            <a:r>
              <a:t>Three brand alternatives | 22–25 | Present strategic choices</a:t>
            </a:r>
          </a:p>
          <a:p/>
          <a:p>
            <a:r>
              <a:t>Recommended platform | 26–33 | Define identity, values, culture, and experience</a:t>
            </a:r>
          </a:p>
          <a:p/>
          <a:p>
            <a:r>
              <a:t>Business transformation | 34–37 | Connect the portfolio to commercial value</a:t>
            </a:r>
          </a:p>
          <a:p/>
          <a:p>
            <a:r>
              <a:t>Roadmap and execution | 38–40 | Translate ambition into action</a:t>
            </a:r>
          </a:p>
          <a:p/>
          <a:p>
            <a:r>
              <a:t>Visual Direction</a:t>
            </a:r>
          </a:p>
          <a:p/>
          <a:p>
            <a:r>
              <a:t>Portfolio research Use actual client project photography and renderings. Label renderings and future facilities clearly.</a:t>
            </a:r>
          </a:p>
          <a:p/>
          <a:p>
            <a:r>
              <a:t>Architecture Separate corporate group relationships, business pillars, destination brands, individual projects, and operators.</a:t>
            </a:r>
          </a:p>
          <a:p/>
          <a:p>
            <a:r>
              <a:t>Project status Use a consistent visual key for existing, ongoing, upcoming, proposed naming, and unresolved information.</a:t>
            </a:r>
          </a:p>
          <a:p/>
          <a:p>
            <a:r>
              <a:t>Financial comparisons Use consistent periods, definitions, and units. Show disputed or unreconciled figures only in the validation appendix.</a:t>
            </a:r>
          </a:p>
          <a:p/>
          <a:p>
            <a:r>
              <a:t>Brand options Maintain one presentation system while giving each strategic option a distinctive emphasis.</a:t>
            </a:r>
          </a:p>
          <a:p/>
          <a:p>
            <a:r>
              <a:t>Roadmap Distinguish the proposed corporate roadmap from individual project schedules.</a:t>
            </a:r>
          </a:p>
          <a:p/>
          <a:p>
            <a:r>
              <a:t>Primary Client Sources</a:t>
            </a:r>
          </a:p>
          <a:p/>
          <a:p>
            <a:r>
              <a:t>Client Source 1 RISE Investor Presentation — 1Q26 Result, dated 20 July 2026.</a:t>
            </a:r>
          </a:p>
          <a:p/>
          <a:p>
            <a:r>
              <a:t>Key references: corporate vision and mission; development milestones; company structure; five business pillars; project portfolio; existing assets; ongoing and upcoming developments.</a:t>
            </a:r>
          </a:p>
          <a:p/>
          <a:p>
            <a:r>
              <a:t>Client Source 2 Tanrise Brand Portfolio Strategy 2026.</a:t>
            </a:r>
          </a:p>
          <a:p/>
          <a:p>
            <a:r>
              <a:t>Key references: product categories; proposed residential naming; Jumana-to-Sunrise transition; location-based Grand Sunrise and TRITAN naming; industrial-park identities; commercial portfolio references.</a:t>
            </a:r>
          </a:p>
          <a:p/>
          <a:p>
            <a:r>
              <a:t>Central Leadership Message</a:t>
            </a:r>
          </a:p>
          <a:p/>
          <a:p>
            <a:r>
              <a:t>TANRISE already has a diversified asset base and a substantial development pipeline.</a:t>
            </a:r>
          </a:p>
          <a:p/>
          <a:p>
            <a:r>
              <a:t>Its next chapter should connect these strengths through clearer portfolio governance, purposeful development, dependable delivery, effective operating partnerships, and disciplined investment.</a:t>
            </a:r>
          </a:p>
          <a:p/>
          <a:p>
            <a:r>
              <a:t>TANRISE — Elevating Life.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F — Design And Source Guidance</a:t>
            </a:r>
          </a:p>
          <a:p>
            <a:r>
              <a:t>Document pages: 59, 60, 61</a:t>
            </a:r>
          </a:p>
          <a:p/>
          <a:p>
            <a:r>
              <a:t>COMPLETE SOURCE TEXT</a:t>
            </a:r>
          </a:p>
          <a:p>
            <a:r>
              <a:t>Presentation Structure</a:t>
            </a:r>
          </a:p>
          <a:p/>
          <a:p>
            <a:r>
              <a:t>Section | Slides | Objective</a:t>
            </a:r>
          </a:p>
          <a:p/>
          <a:p>
            <a:r>
              <a:t>Corporate research and diagnosis | 01–07 | Establish the business, portfolio, and growth challenge</a:t>
            </a:r>
          </a:p>
          <a:p/>
          <a:p>
            <a:r>
              <a:t>Competitive intelligence | 08–17 | Identify relevant competitive mechanisms</a:t>
            </a:r>
          </a:p>
          <a:p/>
          <a:p>
            <a:r>
              <a:t>Corporate and portfolio architecture | 18–21 | Clarify group roles, projects, naming, and status</a:t>
            </a:r>
          </a:p>
          <a:p/>
          <a:p>
            <a:r>
              <a:t>Three brand alternatives | 22–25 | Present strategic choices</a:t>
            </a:r>
          </a:p>
          <a:p/>
          <a:p>
            <a:r>
              <a:t>Recommended platform | 26–33 | Define identity, values, culture, and experience</a:t>
            </a:r>
          </a:p>
          <a:p/>
          <a:p>
            <a:r>
              <a:t>Business transformation | 34–37 | Connect the portfolio to commercial value</a:t>
            </a:r>
          </a:p>
          <a:p/>
          <a:p>
            <a:r>
              <a:t>Roadmap and execution | 38–40 | Translate ambition into action</a:t>
            </a:r>
          </a:p>
          <a:p/>
          <a:p>
            <a:r>
              <a:t>Visual Direction</a:t>
            </a:r>
          </a:p>
          <a:p/>
          <a:p>
            <a:r>
              <a:t>Portfolio research Use actual client project photography and renderings. Label renderings and future facilities clearly.</a:t>
            </a:r>
          </a:p>
          <a:p/>
          <a:p>
            <a:r>
              <a:t>Architecture Separate corporate group relationships, business pillars, destination brands, individual projects, and operators.</a:t>
            </a:r>
          </a:p>
          <a:p/>
          <a:p>
            <a:r>
              <a:t>Project status Use a consistent visual key for existing, ongoing, upcoming, proposed naming, and unresolved information.</a:t>
            </a:r>
          </a:p>
          <a:p/>
          <a:p>
            <a:r>
              <a:t>Financial comparisons Use consistent periods, definitions, and units. Show disputed or unreconciled figures only in the validation appendix.</a:t>
            </a:r>
          </a:p>
          <a:p/>
          <a:p>
            <a:r>
              <a:t>Brand options Maintain one presentation system while giving each strategic option a distinctive emphasis.</a:t>
            </a:r>
          </a:p>
          <a:p/>
          <a:p>
            <a:r>
              <a:t>Roadmap Distinguish the proposed corporate roadmap from individual project schedules.</a:t>
            </a:r>
          </a:p>
          <a:p/>
          <a:p>
            <a:r>
              <a:t>Primary Client Sources</a:t>
            </a:r>
          </a:p>
          <a:p/>
          <a:p>
            <a:r>
              <a:t>Client Source 1 RISE Investor Presentation — 1Q26 Result, dated 20 July 2026.</a:t>
            </a:r>
          </a:p>
          <a:p/>
          <a:p>
            <a:r>
              <a:t>Key references: corporate vision and mission; development milestones; company structure; five business pillars; project portfolio; existing assets; ongoing and upcoming developments.</a:t>
            </a:r>
          </a:p>
          <a:p/>
          <a:p>
            <a:r>
              <a:t>Client Source 2 Tanrise Brand Portfolio Strategy 2026.</a:t>
            </a:r>
          </a:p>
          <a:p/>
          <a:p>
            <a:r>
              <a:t>Key references: product categories; proposed residential naming; Jumana-to-Sunrise transition; location-based Grand Sunrise and TRITAN naming; industrial-park identities; commercial portfolio references.</a:t>
            </a:r>
          </a:p>
          <a:p/>
          <a:p>
            <a:r>
              <a:t>Central Leadership Message</a:t>
            </a:r>
          </a:p>
          <a:p/>
          <a:p>
            <a:r>
              <a:t>TANRISE already has a diversified asset base and a substantial development pipeline.</a:t>
            </a:r>
          </a:p>
          <a:p/>
          <a:p>
            <a:r>
              <a:t>Its next chapter should connect these strengths through clearer portfolio governance, purposeful development, dependable delivery, effective operating partnerships, and disciplined investment.</a:t>
            </a:r>
          </a:p>
          <a:p/>
          <a:p>
            <a:r>
              <a:t>TANRISE — Elevating Life.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APP F — Design And Source Guidance</a:t>
            </a:r>
          </a:p>
          <a:p>
            <a:r>
              <a:t>Document pages: 59, 60, 61</a:t>
            </a:r>
          </a:p>
          <a:p/>
          <a:p>
            <a:r>
              <a:t>COMPLETE SOURCE TEXT</a:t>
            </a:r>
          </a:p>
          <a:p>
            <a:r>
              <a:t>Presentation Structure</a:t>
            </a:r>
          </a:p>
          <a:p/>
          <a:p>
            <a:r>
              <a:t>Section | Slides | Objective</a:t>
            </a:r>
          </a:p>
          <a:p/>
          <a:p>
            <a:r>
              <a:t>Corporate research and diagnosis | 01–07 | Establish the business, portfolio, and growth challenge</a:t>
            </a:r>
          </a:p>
          <a:p/>
          <a:p>
            <a:r>
              <a:t>Competitive intelligence | 08–17 | Identify relevant competitive mechanisms</a:t>
            </a:r>
          </a:p>
          <a:p/>
          <a:p>
            <a:r>
              <a:t>Corporate and portfolio architecture | 18–21 | Clarify group roles, projects, naming, and status</a:t>
            </a:r>
          </a:p>
          <a:p/>
          <a:p>
            <a:r>
              <a:t>Three brand alternatives | 22–25 | Present strategic choices</a:t>
            </a:r>
          </a:p>
          <a:p/>
          <a:p>
            <a:r>
              <a:t>Recommended platform | 26–33 | Define identity, values, culture, and experience</a:t>
            </a:r>
          </a:p>
          <a:p/>
          <a:p>
            <a:r>
              <a:t>Business transformation | 34–37 | Connect the portfolio to commercial value</a:t>
            </a:r>
          </a:p>
          <a:p/>
          <a:p>
            <a:r>
              <a:t>Roadmap and execution | 38–40 | Translate ambition into action</a:t>
            </a:r>
          </a:p>
          <a:p/>
          <a:p>
            <a:r>
              <a:t>Visual Direction</a:t>
            </a:r>
          </a:p>
          <a:p/>
          <a:p>
            <a:r>
              <a:t>Portfolio research Use actual client project photography and renderings. Label renderings and future facilities clearly.</a:t>
            </a:r>
          </a:p>
          <a:p/>
          <a:p>
            <a:r>
              <a:t>Architecture Separate corporate group relationships, business pillars, destination brands, individual projects, and operators.</a:t>
            </a:r>
          </a:p>
          <a:p/>
          <a:p>
            <a:r>
              <a:t>Project status Use a consistent visual key for existing, ongoing, upcoming, proposed naming, and unresolved information.</a:t>
            </a:r>
          </a:p>
          <a:p/>
          <a:p>
            <a:r>
              <a:t>Financial comparisons Use consistent periods, definitions, and units. Show disputed or unreconciled figures only in the validation appendix.</a:t>
            </a:r>
          </a:p>
          <a:p/>
          <a:p>
            <a:r>
              <a:t>Brand options Maintain one presentation system while giving each strategic option a distinctive emphasis.</a:t>
            </a:r>
          </a:p>
          <a:p/>
          <a:p>
            <a:r>
              <a:t>Roadmap Distinguish the proposed corporate roadmap from individual project schedules.</a:t>
            </a:r>
          </a:p>
          <a:p/>
          <a:p>
            <a:r>
              <a:t>Primary Client Sources</a:t>
            </a:r>
          </a:p>
          <a:p/>
          <a:p>
            <a:r>
              <a:t>Client Source 1 RISE Investor Presentation — 1Q26 Result, dated 20 July 2026.</a:t>
            </a:r>
          </a:p>
          <a:p/>
          <a:p>
            <a:r>
              <a:t>Key references: corporate vision and mission; development milestones; company structure; five business pillars; project portfolio; existing assets; ongoing and upcoming developments.</a:t>
            </a:r>
          </a:p>
          <a:p/>
          <a:p>
            <a:r>
              <a:t>Client Source 2 Tanrise Brand Portfolio Strategy 2026.</a:t>
            </a:r>
          </a:p>
          <a:p/>
          <a:p>
            <a:r>
              <a:t>Key references: product categories; proposed residential naming; Jumana-to-Sunrise transition; location-based Grand Sunrise and TRITAN naming; industrial-park identities; commercial portfolio references.</a:t>
            </a:r>
          </a:p>
          <a:p/>
          <a:p>
            <a:r>
              <a:t>Central Leadership Message</a:t>
            </a:r>
          </a:p>
          <a:p/>
          <a:p>
            <a:r>
              <a:t>TANRISE already has a diversified asset base and a substantial development pipeline.</a:t>
            </a:r>
          </a:p>
          <a:p/>
          <a:p>
            <a:r>
              <a:t>Its next chapter should connect these strengths through clearer portfolio governance, purposeful development, dependable delivery, effective operating partnerships, and disciplined investment.</a:t>
            </a:r>
          </a:p>
          <a:p/>
          <a:p>
            <a:r>
              <a:t>TANRISE — Elevating Life.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R01 — Research title</a:t>
            </a:r>
          </a:p>
          <a:p>
            <a:r>
              <a:t>Document pages: 62</a:t>
            </a:r>
          </a:p>
          <a:p/>
          <a:p>
            <a:r>
              <a:t>COMPLETE SOURCE TEXT</a:t>
            </a:r>
          </a:p>
          <a:p>
            <a:r>
              <a:t>TANRISE: Learning from Indonesia’s Major Property Developers</a:t>
            </a:r>
          </a:p>
          <a:p/>
          <a:p>
            <a:r>
              <a:t>Subtitle: Company origins, growth models, competitive advantages, financial scale, and implications for TANRISE’s Top Five ambition in 2035.</a:t>
            </a:r>
          </a:p>
          <a:p/>
          <a:p>
            <a:r>
              <a:t>Research scope: Ten selected listed developers and their relevant group backgrounds.</a:t>
            </a:r>
          </a:p>
          <a:p/>
          <a:p>
            <a:r>
              <a:t>Financial comparison: FY2025 full-year results.</a:t>
            </a:r>
          </a:p>
          <a:p/>
          <a:p>
            <a:r>
              <a:t>Research reference date: 29 October 2026.</a:t>
            </a:r>
          </a:p>
          <a:p/>
          <a:p>
            <a:r>
              <a:t>Suggested visual: A company landscape showing the ten issuers, with TANRISE positioned separately as the company applying the lessons.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R02 — The ten companies being studied</a:t>
            </a:r>
          </a:p>
          <a:p>
            <a:r>
              <a:t>Document pages: 62, 63</a:t>
            </a:r>
          </a:p>
          <a:p/>
          <a:p>
            <a:r>
              <a:t>COMPLETE SOURCE TEXT</a:t>
            </a:r>
          </a:p>
          <a:p>
            <a:r>
              <a:t>Case | Correct company name | Ticker | Important distinction</a:t>
            </a:r>
          </a:p>
          <a:p/>
          <a:p>
            <a:r>
              <a:t>1 | PT Bumi Serpong Damai Tbk | BSDE | A listed company within Sinar Mas Land</a:t>
            </a:r>
          </a:p>
          <a:p/>
          <a:p>
            <a:r>
              <a:t>2 | PT Lippo Karawaci Tbk | LPKR | One listed platform within the broader Lippo Group</a:t>
            </a:r>
          </a:p>
          <a:p/>
          <a:p>
            <a:r>
              <a:t>3 | PT Ciputra Development Tbk | CTRA | The consolidated listed Ciputra development platform</a:t>
            </a:r>
          </a:p>
          <a:p/>
          <a:p>
            <a:r>
              <a:t>4 | PT Summarecon Agung Tbk | SMRA | The company intended by “Sinar Mas Agung”</a:t>
            </a:r>
          </a:p>
          <a:p/>
          <a:p>
            <a:r>
              <a:t>5 | PT Pakuwon Jati Tbk | PWON | The company intended by “Bakri Jati”</a:t>
            </a:r>
          </a:p>
          <a:p/>
          <a:p>
            <a:r>
              <a:t>6 | PT Agung Podomoro Land Tbk | APLN | Distinguish the listed issuer from the longer-established group</a:t>
            </a:r>
          </a:p>
          <a:p/>
          <a:p>
            <a:r>
              <a:t>7 | PT Duta Pertiwi Tbk | DUTI | A listed subsidiary consolidated within BSDE</a:t>
            </a:r>
          </a:p>
          <a:p/>
          <a:p>
            <a:r>
              <a:t>8 | PT Alam Sutera Realty Tbk | ASRI | Integrated township and property developer</a:t>
            </a:r>
          </a:p>
          <a:p/>
          <a:p>
            <a:r>
              <a:t>9 | PT Jaya Real Property Tbk | JRPT | Part of Pembangunan Jaya Group</a:t>
            </a:r>
          </a:p>
          <a:p/>
          <a:p>
            <a:r>
              <a:t>10 | PT Pantai Indah Kapuk Dua Tbk | PANI | A listed platform developing assets in the PIK2 area</a:t>
            </a:r>
          </a:p>
          <a:p/>
          <a:p>
            <a:r>
              <a:t>Key message: Case numbers are identifiers, not current market ranks.</a:t>
            </a:r>
          </a:p>
          <a:p/>
          <a:p>
            <a:r>
              <a:t>Suggested visual: An ownership map, particularly highlighting BSDE–DUTI and the distinction between group, issuer, and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R02 — The ten companies being studied</a:t>
            </a:r>
          </a:p>
          <a:p>
            <a:r>
              <a:t>Document pages: 62, 63</a:t>
            </a:r>
          </a:p>
          <a:p/>
          <a:p>
            <a:r>
              <a:t>COMPLETE SOURCE TEXT</a:t>
            </a:r>
          </a:p>
          <a:p>
            <a:r>
              <a:t>Case | Correct company name | Ticker | Important distinction</a:t>
            </a:r>
          </a:p>
          <a:p/>
          <a:p>
            <a:r>
              <a:t>1 | PT Bumi Serpong Damai Tbk | BSDE | A listed company within Sinar Mas Land</a:t>
            </a:r>
          </a:p>
          <a:p/>
          <a:p>
            <a:r>
              <a:t>2 | PT Lippo Karawaci Tbk | LPKR | One listed platform within the broader Lippo Group</a:t>
            </a:r>
          </a:p>
          <a:p/>
          <a:p>
            <a:r>
              <a:t>3 | PT Ciputra Development Tbk | CTRA | The consolidated listed Ciputra development platform</a:t>
            </a:r>
          </a:p>
          <a:p/>
          <a:p>
            <a:r>
              <a:t>4 | PT Summarecon Agung Tbk | SMRA | The company intended by “Sinar Mas Agung”</a:t>
            </a:r>
          </a:p>
          <a:p/>
          <a:p>
            <a:r>
              <a:t>5 | PT Pakuwon Jati Tbk | PWON | The company intended by “Bakri Jati”</a:t>
            </a:r>
          </a:p>
          <a:p/>
          <a:p>
            <a:r>
              <a:t>6 | PT Agung Podomoro Land Tbk | APLN | Distinguish the listed issuer from the longer-established group</a:t>
            </a:r>
          </a:p>
          <a:p/>
          <a:p>
            <a:r>
              <a:t>7 | PT Duta Pertiwi Tbk | DUTI | A listed subsidiary consolidated within BSDE</a:t>
            </a:r>
          </a:p>
          <a:p/>
          <a:p>
            <a:r>
              <a:t>8 | PT Alam Sutera Realty Tbk | ASRI | Integrated township and property developer</a:t>
            </a:r>
          </a:p>
          <a:p/>
          <a:p>
            <a:r>
              <a:t>9 | PT Jaya Real Property Tbk | JRPT | Part of Pembangunan Jaya Group</a:t>
            </a:r>
          </a:p>
          <a:p/>
          <a:p>
            <a:r>
              <a:t>10 | PT Pantai Indah Kapuk Dua Tbk | PANI | A listed platform developing assets in the PIK2 area</a:t>
            </a:r>
          </a:p>
          <a:p/>
          <a:p>
            <a:r>
              <a:t>Key message: Case numbers are identifiers, not current market ranks.</a:t>
            </a:r>
          </a:p>
          <a:p/>
          <a:p>
            <a:r>
              <a:t>Suggested visual: An ownership map, particularly highlighting BSDE–DUTI and the distinction between group, issuer, and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R02 — The ten companies being studied</a:t>
            </a:r>
          </a:p>
          <a:p>
            <a:r>
              <a:t>Document pages: 62, 63</a:t>
            </a:r>
          </a:p>
          <a:p/>
          <a:p>
            <a:r>
              <a:t>COMPLETE SOURCE TEXT</a:t>
            </a:r>
          </a:p>
          <a:p>
            <a:r>
              <a:t>Case | Correct company name | Ticker | Important distinction</a:t>
            </a:r>
          </a:p>
          <a:p/>
          <a:p>
            <a:r>
              <a:t>1 | PT Bumi Serpong Damai Tbk | BSDE | A listed company within Sinar Mas Land</a:t>
            </a:r>
          </a:p>
          <a:p/>
          <a:p>
            <a:r>
              <a:t>2 | PT Lippo Karawaci Tbk | LPKR | One listed platform within the broader Lippo Group</a:t>
            </a:r>
          </a:p>
          <a:p/>
          <a:p>
            <a:r>
              <a:t>3 | PT Ciputra Development Tbk | CTRA | The consolidated listed Ciputra development platform</a:t>
            </a:r>
          </a:p>
          <a:p/>
          <a:p>
            <a:r>
              <a:t>4 | PT Summarecon Agung Tbk | SMRA | The company intended by “Sinar Mas Agung”</a:t>
            </a:r>
          </a:p>
          <a:p/>
          <a:p>
            <a:r>
              <a:t>5 | PT Pakuwon Jati Tbk | PWON | The company intended by “Bakri Jati”</a:t>
            </a:r>
          </a:p>
          <a:p/>
          <a:p>
            <a:r>
              <a:t>6 | PT Agung Podomoro Land Tbk | APLN | Distinguish the listed issuer from the longer-established group</a:t>
            </a:r>
          </a:p>
          <a:p/>
          <a:p>
            <a:r>
              <a:t>7 | PT Duta Pertiwi Tbk | DUTI | A listed subsidiary consolidated within BSDE</a:t>
            </a:r>
          </a:p>
          <a:p/>
          <a:p>
            <a:r>
              <a:t>8 | PT Alam Sutera Realty Tbk | ASRI | Integrated township and property developer</a:t>
            </a:r>
          </a:p>
          <a:p/>
          <a:p>
            <a:r>
              <a:t>9 | PT Jaya Real Property Tbk | JRPT | Part of Pembangunan Jaya Group</a:t>
            </a:r>
          </a:p>
          <a:p/>
          <a:p>
            <a:r>
              <a:t>10 | PT Pantai Indah Kapuk Dua Tbk | PANI | A listed platform developing assets in the PIK2 area</a:t>
            </a:r>
          </a:p>
          <a:p/>
          <a:p>
            <a:r>
              <a:t>Key message: Case numbers are identifiers, not current market ranks.</a:t>
            </a:r>
          </a:p>
          <a:p/>
          <a:p>
            <a:r>
              <a:t>Suggested visual: An ownership map, particularly highlighting BSDE–DUTI and the distinction between group, issuer, and project.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R03 — How to interpret this research</a:t>
            </a:r>
          </a:p>
          <a:p>
            <a:r>
              <a:t>Document pages: 63, 64</a:t>
            </a:r>
          </a:p>
          <a:p/>
          <a:p>
            <a:r>
              <a:t>COMPLETE SOURCE TEXT</a:t>
            </a:r>
          </a:p>
          <a:p>
            <a:r>
              <a:t>Three evidence categories</a:t>
            </a:r>
          </a:p>
          <a:p/>
          <a:p>
            <a:r>
              <a:t>● Reported fact: Information disclosed in company reports, financial statements, or</a:t>
            </a:r>
          </a:p>
          <a:p/>
          <a:p>
            <a:r>
              <a:t>official histories. ● Analyst assessment: An interpretation of how a business model creates</a:t>
            </a:r>
          </a:p>
          <a:p/>
          <a:p>
            <a:r>
              <a:t>advantages or exposes the company to risk. ● Proposed application: A recommendation for TANRISE that requires feasibility</a:t>
            </a:r>
          </a:p>
          <a:p/>
          <a:p>
            <a:r>
              <a:t>testing and management approval.</a:t>
            </a:r>
          </a:p>
          <a:p/>
          <a:p>
            <a:r>
              <a:t>Comparison rules</a:t>
            </a:r>
          </a:p>
          <a:p/>
          <a:p>
            <a:r>
              <a:t>● Revenue, marketing sales, profit, and market capitalisation measure different</a:t>
            </a:r>
          </a:p>
          <a:p/>
          <a:p>
            <a:r>
              <a:t>things. ● Consolidated group results must not be added to subsidiary results. ● Total profit differs from profit attributable to the parent. ● Acquisitions, divestments, and handover timing can change apparent</a:t>
            </a:r>
          </a:p>
          <a:p/>
          <a:p>
            <a:r>
              <a:t>performance. ● FY2025 provides a common full-year baseline; it is not a substitute for all</a:t>
            </a:r>
          </a:p>
          <a:p/>
          <a:p>
            <a:r>
              <a:t>subsequent 2026 disclosures.</a:t>
            </a:r>
          </a:p>
          <a:p/>
          <a:p>
            <a:r>
              <a:t>Suggested visual: A three-column evidence legend to repeat throughout the deck.</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R03 — How to interpret this research</a:t>
            </a:r>
          </a:p>
          <a:p>
            <a:r>
              <a:t>Document pages: 63, 64</a:t>
            </a:r>
          </a:p>
          <a:p/>
          <a:p>
            <a:r>
              <a:t>COMPLETE SOURCE TEXT</a:t>
            </a:r>
          </a:p>
          <a:p>
            <a:r>
              <a:t>Three evidence categories</a:t>
            </a:r>
          </a:p>
          <a:p/>
          <a:p>
            <a:r>
              <a:t>● Reported fact: Information disclosed in company reports, financial statements, or</a:t>
            </a:r>
          </a:p>
          <a:p/>
          <a:p>
            <a:r>
              <a:t>official histories. ● Analyst assessment: An interpretation of how a business model creates</a:t>
            </a:r>
          </a:p>
          <a:p/>
          <a:p>
            <a:r>
              <a:t>advantages or exposes the company to risk. ● Proposed application: A recommendation for TANRISE that requires feasibility</a:t>
            </a:r>
          </a:p>
          <a:p/>
          <a:p>
            <a:r>
              <a:t>testing and management approval.</a:t>
            </a:r>
          </a:p>
          <a:p/>
          <a:p>
            <a:r>
              <a:t>Comparison rules</a:t>
            </a:r>
          </a:p>
          <a:p/>
          <a:p>
            <a:r>
              <a:t>● Revenue, marketing sales, profit, and market capitalisation measure different</a:t>
            </a:r>
          </a:p>
          <a:p/>
          <a:p>
            <a:r>
              <a:t>things. ● Consolidated group results must not be added to subsidiary results. ● Total profit differs from profit attributable to the parent. ● Acquisitions, divestments, and handover timing can change apparent</a:t>
            </a:r>
          </a:p>
          <a:p/>
          <a:p>
            <a:r>
              <a:t>performance. ● FY2025 provides a common full-year baseline; it is not a substitute for all</a:t>
            </a:r>
          </a:p>
          <a:p/>
          <a:p>
            <a:r>
              <a:t>subsequent 2026 disclosures.</a:t>
            </a:r>
          </a:p>
          <a:p/>
          <a:p>
            <a:r>
              <a:t>Suggested visual: A three-column evidence legend to repeat throughout the deck.</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R04 — FY2025 revenue comparison within the selected cohort</a:t>
            </a:r>
          </a:p>
          <a:p>
            <a:r>
              <a:t>Document pages: 64, 65</a:t>
            </a:r>
          </a:p>
          <a:p/>
          <a:p>
            <a:r>
              <a:t>COMPLETE SOURCE TEXT</a:t>
            </a:r>
          </a:p>
          <a:p>
            <a:r>
              <a:t>Reported consolidated revenue, approximately Rp trillion</a:t>
            </a:r>
          </a:p>
          <a:p/>
          <a:p>
            <a:r>
              <a:t>Position within this cohort | Issuer | FY2025 revenue</a:t>
            </a:r>
          </a:p>
          <a:p/>
          <a:p>
            <a:r>
              <a:t>1 | BSDE | 12.79</a:t>
            </a:r>
          </a:p>
          <a:p/>
          <a:p>
            <a:r>
              <a:t>2 | CTRA | 12.62</a:t>
            </a:r>
          </a:p>
          <a:p/>
          <a:p>
            <a:r>
              <a:t>3 | LPKR | 9.03</a:t>
            </a:r>
          </a:p>
          <a:p/>
          <a:p>
            <a:r>
              <a:t>4 | SMRA | 8.77</a:t>
            </a:r>
          </a:p>
          <a:p/>
          <a:p>
            <a:r>
              <a:t>5 | PWON | 7.11</a:t>
            </a:r>
          </a:p>
          <a:p/>
          <a:p>
            <a:r>
              <a:t>6 | PANI | 4.3</a:t>
            </a:r>
          </a:p>
          <a:p/>
          <a:p>
            <a:r>
              <a:t>7 | APLN | 3.57</a:t>
            </a:r>
          </a:p>
          <a:p/>
          <a:p>
            <a:r>
              <a:t>8 | JRPT | 3.27</a:t>
            </a:r>
          </a:p>
          <a:p/>
          <a:p>
            <a:r>
              <a:t>9 | ASRI | 2.93</a:t>
            </a:r>
          </a:p>
          <a:p/>
          <a:p>
            <a:r>
              <a:t>10 | DUTI | 2.73</a:t>
            </a:r>
          </a:p>
          <a:p/>
          <a:p>
            <a:r>
              <a:t>Interpretation</a:t>
            </a:r>
          </a:p>
          <a:p/>
          <a:p>
            <a:r>
              <a:t>This table describes the selected issuers. It does not establish Indonesia’s complete Top Ten.</a:t>
            </a:r>
          </a:p>
          <a:p/>
          <a:p>
            <a:r>
              <a:t>LPKR also reports revenue after final tax of approximately Rp8.84 trillion; the table uses its headline revenue line. PANI is shown at the precision of its financial-results release.</a:t>
            </a:r>
          </a:p>
          <a:p/>
          <a:p>
            <a:r>
              <a:t>Suggested chart: Horizontal bars, with DUTI marked “included within BSDE consolidation.” Do not sum the bars into a market total.</a:t>
            </a:r>
          </a:p>
          <a:p/>
          <a:p>
            <a:r>
              <a:t>Sources: BSDE annual report, Ciputra reporting, LPKR results announcement, Summarecon presentation, Pakuwon annual report, PANI results, APLN annual report, JRPT results, ASRI annual report, DUTI annual report.</a:t>
            </a:r>
          </a:p>
          <a:p/>
          <a:p>
            <a:r>
              <a:t>SOURCE HYPERLINKS (as embedded in Mario’s PDF; not independently reverified)</a:t>
            </a:r>
          </a:p>
          <a:p>
            <a:r>
              <a:t>https://www.bsdcity.com/app/uploads/2026/05/AR-BSDE-2025.pdf</a:t>
            </a:r>
          </a:p>
          <a:p>
            <a:r>
              <a:t>https://ciputradevelopment.com/wp-content/uploads/2026/05/Laporan_Keberlanjutan_2025_CTRA.pdf</a:t>
            </a:r>
          </a:p>
          <a:p>
            <a:r>
              <a:t>https://www.lippokarawaci.co.id/news/pt-lippo-karawaci-tbk-announces-new-board-of-directors-and-commissioners-at-2026-annual-general-meeting-of-shareholders</a:t>
            </a:r>
          </a:p>
          <a:p>
            <a:r>
              <a:t>https://www.summarecon.com/files/article/SMRA%20Presentation%202026-05.pdf</a:t>
            </a:r>
          </a:p>
          <a:p>
            <a:r>
              <a:t>https://www.pakuwonjati.com/upload/2026/04/69f2e5afd9760-ar-pakuwonjati-2025.pdf</a:t>
            </a:r>
          </a:p>
          <a:p>
            <a:r>
              <a:t>https://storage.googleapis.com/panifiles/pdf/PANI_Press_Release_Financial_Results_FY2025.pdf</a:t>
            </a:r>
          </a:p>
          <a:p>
            <a:r>
              <a:t>https://www.agungpodomoroland.com/en/investor-relation/download/908</a:t>
            </a:r>
          </a:p>
          <a:p>
            <a:r>
              <a:t>https://jayaproperty.com/</a:t>
            </a:r>
          </a:p>
          <a:p>
            <a:r>
              <a:t>https://alamsuterarealty.co.id/public/assets/annualreport/Annual%20Report%20ASRI%202025.pdf</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R04 — FY2025 revenue comparison within the selected cohort</a:t>
            </a:r>
          </a:p>
          <a:p>
            <a:r>
              <a:t>Document pages: 64, 65</a:t>
            </a:r>
          </a:p>
          <a:p/>
          <a:p>
            <a:r>
              <a:t>COMPLETE SOURCE TEXT</a:t>
            </a:r>
          </a:p>
          <a:p>
            <a:r>
              <a:t>Reported consolidated revenue, approximately Rp trillion</a:t>
            </a:r>
          </a:p>
          <a:p/>
          <a:p>
            <a:r>
              <a:t>Position within this cohort | Issuer | FY2025 revenue</a:t>
            </a:r>
          </a:p>
          <a:p/>
          <a:p>
            <a:r>
              <a:t>1 | BSDE | 12.79</a:t>
            </a:r>
          </a:p>
          <a:p/>
          <a:p>
            <a:r>
              <a:t>2 | CTRA | 12.62</a:t>
            </a:r>
          </a:p>
          <a:p/>
          <a:p>
            <a:r>
              <a:t>3 | LPKR | 9.03</a:t>
            </a:r>
          </a:p>
          <a:p/>
          <a:p>
            <a:r>
              <a:t>4 | SMRA | 8.77</a:t>
            </a:r>
          </a:p>
          <a:p/>
          <a:p>
            <a:r>
              <a:t>5 | PWON | 7.11</a:t>
            </a:r>
          </a:p>
          <a:p/>
          <a:p>
            <a:r>
              <a:t>6 | PANI | 4.3</a:t>
            </a:r>
          </a:p>
          <a:p/>
          <a:p>
            <a:r>
              <a:t>7 | APLN | 3.57</a:t>
            </a:r>
          </a:p>
          <a:p/>
          <a:p>
            <a:r>
              <a:t>8 | JRPT | 3.27</a:t>
            </a:r>
          </a:p>
          <a:p/>
          <a:p>
            <a:r>
              <a:t>9 | ASRI | 2.93</a:t>
            </a:r>
          </a:p>
          <a:p/>
          <a:p>
            <a:r>
              <a:t>10 | DUTI | 2.73</a:t>
            </a:r>
          </a:p>
          <a:p/>
          <a:p>
            <a:r>
              <a:t>Interpretation</a:t>
            </a:r>
          </a:p>
          <a:p/>
          <a:p>
            <a:r>
              <a:t>This table describes the selected issuers. It does not establish Indonesia’s complete Top Ten.</a:t>
            </a:r>
          </a:p>
          <a:p/>
          <a:p>
            <a:r>
              <a:t>LPKR also reports revenue after final tax of approximately Rp8.84 trillion; the table uses its headline revenue line. PANI is shown at the precision of its financial-results release.</a:t>
            </a:r>
          </a:p>
          <a:p/>
          <a:p>
            <a:r>
              <a:t>Suggested chart: Horizontal bars, with DUTI marked “included within BSDE consolidation.” Do not sum the bars into a market total.</a:t>
            </a:r>
          </a:p>
          <a:p/>
          <a:p>
            <a:r>
              <a:t>Sources: BSDE annual report, Ciputra reporting, LPKR results announcement, Summarecon presentation, Pakuwon annual report, PANI results, APLN annual report, JRPT results, ASRI annual report, DUTI annual report.</a:t>
            </a:r>
          </a:p>
          <a:p/>
          <a:p>
            <a:r>
              <a:t>SOURCE HYPERLINKS (as embedded in Mario’s PDF; not independently reverified)</a:t>
            </a:r>
          </a:p>
          <a:p>
            <a:r>
              <a:t>https://www.bsdcity.com/app/uploads/2026/05/AR-BSDE-2025.pdf</a:t>
            </a:r>
          </a:p>
          <a:p>
            <a:r>
              <a:t>https://ciputradevelopment.com/wp-content/uploads/2026/05/Laporan_Keberlanjutan_2025_CTRA.pdf</a:t>
            </a:r>
          </a:p>
          <a:p>
            <a:r>
              <a:t>https://www.lippokarawaci.co.id/news/pt-lippo-karawaci-tbk-announces-new-board-of-directors-and-commissioners-at-2026-annual-general-meeting-of-shareholders</a:t>
            </a:r>
          </a:p>
          <a:p>
            <a:r>
              <a:t>https://www.summarecon.com/files/article/SMRA%20Presentation%202026-05.pdf</a:t>
            </a:r>
          </a:p>
          <a:p>
            <a:r>
              <a:t>https://www.pakuwonjati.com/upload/2026/04/69f2e5afd9760-ar-pakuwonjati-2025.pdf</a:t>
            </a:r>
          </a:p>
          <a:p>
            <a:r>
              <a:t>https://storage.googleapis.com/panifiles/pdf/PANI_Press_Release_Financial_Results_FY2025.pdf</a:t>
            </a:r>
          </a:p>
          <a:p>
            <a:r>
              <a:t>https://www.agungpodomoroland.com/en/investor-relation/download/908</a:t>
            </a:r>
          </a:p>
          <a:p>
            <a:r>
              <a:t>https://jayaproperty.com/</a:t>
            </a:r>
          </a:p>
          <a:p>
            <a:r>
              <a:t>https://alamsuterarealty.co.id/public/assets/annualreport/Annual%20Report%20ASRI%202025.pdf</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R04 — FY2025 revenue comparison within the selected cohort</a:t>
            </a:r>
          </a:p>
          <a:p>
            <a:r>
              <a:t>Document pages: 64, 65</a:t>
            </a:r>
          </a:p>
          <a:p/>
          <a:p>
            <a:r>
              <a:t>COMPLETE SOURCE TEXT</a:t>
            </a:r>
          </a:p>
          <a:p>
            <a:r>
              <a:t>Reported consolidated revenue, approximately Rp trillion</a:t>
            </a:r>
          </a:p>
          <a:p/>
          <a:p>
            <a:r>
              <a:t>Position within this cohort | Issuer | FY2025 revenue</a:t>
            </a:r>
          </a:p>
          <a:p/>
          <a:p>
            <a:r>
              <a:t>1 | BSDE | 12.79</a:t>
            </a:r>
          </a:p>
          <a:p/>
          <a:p>
            <a:r>
              <a:t>2 | CTRA | 12.62</a:t>
            </a:r>
          </a:p>
          <a:p/>
          <a:p>
            <a:r>
              <a:t>3 | LPKR | 9.03</a:t>
            </a:r>
          </a:p>
          <a:p/>
          <a:p>
            <a:r>
              <a:t>4 | SMRA | 8.77</a:t>
            </a:r>
          </a:p>
          <a:p/>
          <a:p>
            <a:r>
              <a:t>5 | PWON | 7.11</a:t>
            </a:r>
          </a:p>
          <a:p/>
          <a:p>
            <a:r>
              <a:t>6 | PANI | 4.3</a:t>
            </a:r>
          </a:p>
          <a:p/>
          <a:p>
            <a:r>
              <a:t>7 | APLN | 3.57</a:t>
            </a:r>
          </a:p>
          <a:p/>
          <a:p>
            <a:r>
              <a:t>8 | JRPT | 3.27</a:t>
            </a:r>
          </a:p>
          <a:p/>
          <a:p>
            <a:r>
              <a:t>9 | ASRI | 2.93</a:t>
            </a:r>
          </a:p>
          <a:p/>
          <a:p>
            <a:r>
              <a:t>10 | DUTI | 2.73</a:t>
            </a:r>
          </a:p>
          <a:p/>
          <a:p>
            <a:r>
              <a:t>Interpretation</a:t>
            </a:r>
          </a:p>
          <a:p/>
          <a:p>
            <a:r>
              <a:t>This table describes the selected issuers. It does not establish Indonesia’s complete Top Ten.</a:t>
            </a:r>
          </a:p>
          <a:p/>
          <a:p>
            <a:r>
              <a:t>LPKR also reports revenue after final tax of approximately Rp8.84 trillion; the table uses its headline revenue line. PANI is shown at the precision of its financial-results release.</a:t>
            </a:r>
          </a:p>
          <a:p/>
          <a:p>
            <a:r>
              <a:t>Suggested chart: Horizontal bars, with DUTI marked “included within BSDE consolidation.” Do not sum the bars into a market total.</a:t>
            </a:r>
          </a:p>
          <a:p/>
          <a:p>
            <a:r>
              <a:t>Sources: BSDE annual report, Ciputra reporting, LPKR results announcement, Summarecon presentation, Pakuwon annual report, PANI results, APLN annual report, JRPT results, ASRI annual report, DUTI annual report.</a:t>
            </a:r>
          </a:p>
          <a:p/>
          <a:p>
            <a:r>
              <a:t>SOURCE HYPERLINKS (as embedded in Mario’s PDF; not independently reverified)</a:t>
            </a:r>
          </a:p>
          <a:p>
            <a:r>
              <a:t>https://www.bsdcity.com/app/uploads/2026/05/AR-BSDE-2025.pdf</a:t>
            </a:r>
          </a:p>
          <a:p>
            <a:r>
              <a:t>https://ciputradevelopment.com/wp-content/uploads/2026/05/Laporan_Keberlanjutan_2025_CTRA.pdf</a:t>
            </a:r>
          </a:p>
          <a:p>
            <a:r>
              <a:t>https://www.lippokarawaci.co.id/news/pt-lippo-karawaci-tbk-announces-new-board-of-directors-and-commissioners-at-2026-annual-general-meeting-of-shareholders</a:t>
            </a:r>
          </a:p>
          <a:p>
            <a:r>
              <a:t>https://www.summarecon.com/files/article/SMRA%20Presentation%202026-05.pdf</a:t>
            </a:r>
          </a:p>
          <a:p>
            <a:r>
              <a:t>https://www.pakuwonjati.com/upload/2026/04/69f2e5afd9760-ar-pakuwonjati-2025.pdf</a:t>
            </a:r>
          </a:p>
          <a:p>
            <a:r>
              <a:t>https://storage.googleapis.com/panifiles/pdf/PANI_Press_Release_Financial_Results_FY2025.pdf</a:t>
            </a:r>
          </a:p>
          <a:p>
            <a:r>
              <a:t>https://www.agungpodomoroland.com/en/investor-relation/download/908</a:t>
            </a:r>
          </a:p>
          <a:p>
            <a:r>
              <a:t>https://jayaproperty.com/</a:t>
            </a:r>
          </a:p>
          <a:p>
            <a:r>
              <a:t>https://alamsuterarealty.co.id/public/assets/annualreport/Annual%20Report%20ASRI%202025.pdf</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R05 — BSDE: Company background and 5W1H</a:t>
            </a:r>
          </a:p>
          <a:p>
            <a:r>
              <a:t>Document pages: 65, 66</a:t>
            </a:r>
          </a:p>
          <a:p/>
          <a:p>
            <a:r>
              <a:t>COMPLETE SOURCE TEXT</a:t>
            </a:r>
          </a:p>
          <a:p>
            <a:r>
              <a:t>● Who: PT Bumi Serpong Damai Tbk, a listed township developer within Sinar Mas</a:t>
            </a:r>
          </a:p>
          <a:p/>
          <a:p>
            <a:r>
              <a:t>Land.</a:t>
            </a:r>
          </a:p>
          <a:p/>
          <a:p>
            <a:r>
              <a:t>● What: Residential, commercial, and supporting urban development, with BSD City</a:t>
            </a:r>
          </a:p>
          <a:p/>
          <a:p>
            <a:r>
              <a:t>as its flagship. ● Where: Its principal development identity is centred on the Serpong–Tangerang</a:t>
            </a:r>
          </a:p>
          <a:p/>
          <a:p>
            <a:r>
              <a:t>area, alongside a wider portfolio. ● When: Established in 1984; listed in 2008. ● Who is behind it: The Sinar Mas Land platform and the Widjaja business-family</a:t>
            </a:r>
          </a:p>
          <a:p/>
          <a:p>
            <a:r>
              <a:t>legacy. This group association should not be mistaken for a claim that one individual alone founded the original BSD venture. ● Why and how — analyst interpretation: Long-term control of development land</a:t>
            </a:r>
          </a:p>
          <a:p/>
          <a:p>
            <a:r>
              <a:t>enables infrastructure and amenities to increase the attractiveness of successive property releases.</a:t>
            </a:r>
          </a:p>
          <a:p/>
          <a:p>
            <a:r>
              <a:t>Suggested visual: Group → listed issuer → flagship township diagram.</a:t>
            </a:r>
          </a:p>
          <a:p/>
          <a:p>
            <a:r>
              <a:t>Source: Official BSDE history.</a:t>
            </a:r>
          </a:p>
          <a:p/>
          <a:p>
            <a:r>
              <a:t>SOURCE HYPERLINKS (as embedded in Mario’s PDF; not independently reverified)</a:t>
            </a:r>
          </a:p>
          <a:p>
            <a:r>
              <a:t>https://www.sinarmasland.com/about-us/history-bumi-serpong-damai</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R06 — BSDE: Milestones and strategic inflection points</a:t>
            </a:r>
          </a:p>
          <a:p>
            <a:r>
              <a:t>Document pages: 66, 67</a:t>
            </a:r>
          </a:p>
          <a:p/>
          <a:p>
            <a:r>
              <a:t>COMPLETE SOURCE TEXT</a:t>
            </a:r>
          </a:p>
          <a:p>
            <a:r>
              <a:t>Period | Milestone | Strategic significance</a:t>
            </a:r>
          </a:p>
          <a:p/>
          <a:p>
            <a:r>
              <a:t>1984 | Company established | Beginning of the development platform</a:t>
            </a:r>
          </a:p>
          <a:p/>
          <a:p>
            <a:r>
              <a:t>1990s–20 00s | Residential development and supporting amenities | Building a functioning township over successive phases</a:t>
            </a:r>
          </a:p>
          <a:p/>
          <a:p>
            <a:r>
              <a:t>2008 | Stock-market listing | Access to public equity capital</a:t>
            </a:r>
          </a:p>
          <a:p/>
          <a:p>
            <a:r>
              <a:t>2010 | Acquisition of Duta Pertiwi and other property entities | Expansion through corporate consolidation</a:t>
            </a:r>
          </a:p>
          <a:p/>
          <a:p>
            <a:r>
              <a:t>2010s | Additional retail and commercial anchors | More reasons to live, work, and visit</a:t>
            </a:r>
          </a:p>
          <a:p/>
          <a:p>
            <a:r>
              <a:t>FY2025 | Revenue approximately Rp12.79 trillion | Evidence of the scale reached by the consolidated platform</a:t>
            </a:r>
          </a:p>
          <a:p/>
          <a:p>
            <a:r>
              <a:t>Analyst interpretation: Growth combined development over time with acquisitions; it was not solely organic sales growth inside one township.</a:t>
            </a:r>
          </a:p>
          <a:p/>
          <a:p>
            <a:r>
              <a:t>Suggested visual: Timeline with separate tracks for township development and corporate transactions.</a:t>
            </a:r>
          </a:p>
          <a:p/>
          <a:p>
            <a:r>
              <a:t>Sources: Official history, 2025 annual report.</a:t>
            </a:r>
          </a:p>
          <a:p/>
          <a:p>
            <a:r>
              <a:t>SOURCE HYPERLINKS (as embedded in Mario’s PDF; not independently reverified)</a:t>
            </a:r>
          </a:p>
          <a:p>
            <a:r>
              <a:t>https://www.sinarmasland.com/about-us/history-bumi-serpong-damai</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R06 — BSDE: Milestones and strategic inflection points</a:t>
            </a:r>
          </a:p>
          <a:p>
            <a:r>
              <a:t>Document pages: 66, 67</a:t>
            </a:r>
          </a:p>
          <a:p/>
          <a:p>
            <a:r>
              <a:t>COMPLETE SOURCE TEXT</a:t>
            </a:r>
          </a:p>
          <a:p>
            <a:r>
              <a:t>Period | Milestone | Strategic significance</a:t>
            </a:r>
          </a:p>
          <a:p/>
          <a:p>
            <a:r>
              <a:t>1984 | Company established | Beginning of the development platform</a:t>
            </a:r>
          </a:p>
          <a:p/>
          <a:p>
            <a:r>
              <a:t>1990s–20 00s | Residential development and supporting amenities | Building a functioning township over successive phases</a:t>
            </a:r>
          </a:p>
          <a:p/>
          <a:p>
            <a:r>
              <a:t>2008 | Stock-market listing | Access to public equity capital</a:t>
            </a:r>
          </a:p>
          <a:p/>
          <a:p>
            <a:r>
              <a:t>2010 | Acquisition of Duta Pertiwi and other property entities | Expansion through corporate consolidation</a:t>
            </a:r>
          </a:p>
          <a:p/>
          <a:p>
            <a:r>
              <a:t>2010s | Additional retail and commercial anchors | More reasons to live, work, and visit</a:t>
            </a:r>
          </a:p>
          <a:p/>
          <a:p>
            <a:r>
              <a:t>FY2025 | Revenue approximately Rp12.79 trillion | Evidence of the scale reached by the consolidated platform</a:t>
            </a:r>
          </a:p>
          <a:p/>
          <a:p>
            <a:r>
              <a:t>Analyst interpretation: Growth combined development over time with acquisitions; it was not solely organic sales growth inside one township.</a:t>
            </a:r>
          </a:p>
          <a:p/>
          <a:p>
            <a:r>
              <a:t>Suggested visual: Timeline with separate tracks for township development and corporate transactions.</a:t>
            </a:r>
          </a:p>
          <a:p/>
          <a:p>
            <a:r>
              <a:t>Sources: Official history, 2025 annual report.</a:t>
            </a:r>
          </a:p>
          <a:p/>
          <a:p>
            <a:r>
              <a:t>SOURCE HYPERLINKS (as embedded in Mario’s PDF; not independently reverified)</a:t>
            </a:r>
          </a:p>
          <a:p>
            <a:r>
              <a:t>https://www.sinarmasland.com/about-us/history-bumi-serpong-damai</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R07 — BSDE: How the growth model works</a:t>
            </a:r>
          </a:p>
          <a:p>
            <a:r>
              <a:t>Document pages: 67</a:t>
            </a:r>
          </a:p>
          <a:p/>
          <a:p>
            <a:r>
              <a:t>COMPLETE SOURCE TEXT</a:t>
            </a:r>
          </a:p>
          <a:p>
            <a:r>
              <a:t>Analyst assessment</a:t>
            </a:r>
          </a:p>
          <a:p/>
          <a:p>
            <a:r>
              <a:t>1. Secure a substantial development pipeline. 2. Provide infrastructure and credible delivery. 3. Introduce residential products for different buyer segments. 4. Attract commercial and institutional activity. 5. Use an increasingly functional location to support subsequent releases. 6. Reinvest proceeds into development capacity and future inventory.</a:t>
            </a:r>
          </a:p>
          <a:p/>
          <a:p>
            <a:r>
              <a:t>Competitive advantage: The business can capture value across multiple development phases rather than relying on one completed building.</a:t>
            </a:r>
          </a:p>
          <a:p/>
          <a:p>
            <a:r>
              <a:t>Important qualification: Amenities consume capital before their benefits are fully realised. Land holdings alone do not create cash flow.</a:t>
            </a:r>
          </a:p>
          <a:p/>
          <a:p>
            <a:r>
              <a:t>Suggested diagram: Land → infrastructure → occupancy → amenities and employment → additional demand → subsequent releases.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R07 — BSDE: How the growth model works</a:t>
            </a:r>
          </a:p>
          <a:p>
            <a:r>
              <a:t>Document pages: 67</a:t>
            </a:r>
          </a:p>
          <a:p/>
          <a:p>
            <a:r>
              <a:t>COMPLETE SOURCE TEXT</a:t>
            </a:r>
          </a:p>
          <a:p>
            <a:r>
              <a:t>Analyst assessment</a:t>
            </a:r>
          </a:p>
          <a:p/>
          <a:p>
            <a:r>
              <a:t>1. Secure a substantial development pipeline. 2. Provide infrastructure and credible delivery. 3. Introduce residential products for different buyer segments. 4. Attract commercial and institutional activity. 5. Use an increasingly functional location to support subsequent releases. 6. Reinvest proceeds into development capacity and future inventory.</a:t>
            </a:r>
          </a:p>
          <a:p/>
          <a:p>
            <a:r>
              <a:t>Competitive advantage: The business can capture value across multiple development phases rather than relying on one completed building.</a:t>
            </a:r>
          </a:p>
          <a:p/>
          <a:p>
            <a:r>
              <a:t>Important qualification: Amenities consume capital before their benefits are fully realised. Land holdings alone do not create cash flow.</a:t>
            </a:r>
          </a:p>
          <a:p/>
          <a:p>
            <a:r>
              <a:t>Suggested diagram: Land → infrastructure → occupancy → amenities and employment → additional demand → subsequent releases.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R08 — BSDE: Financial scale and its interpretation</a:t>
            </a:r>
          </a:p>
          <a:p>
            <a:r>
              <a:t>Document pages: 67, 68</a:t>
            </a:r>
          </a:p>
          <a:p/>
          <a:p>
            <a:r>
              <a:t>COMPLETE SOURCE TEXT</a:t>
            </a:r>
          </a:p>
          <a:p>
            <a:r>
              <a:t>FY2025 reported results, rounded</a:t>
            </a:r>
          </a:p>
          <a:p/>
          <a:p>
            <a:r>
              <a:t>● Revenue: Rp12.79 trillion ● Profit attributable to owners: Rp2.55 trillion ● FY2024 revenue: approximately Rp13.80 trillion ● FY2024 attributable profit: approximately Rp4.36 trillion</a:t>
            </a:r>
          </a:p>
          <a:p/>
          <a:p>
            <a:r>
              <a:t>What this tells us</a:t>
            </a:r>
          </a:p>
          <a:p/>
          <a:p>
            <a:r>
              <a:t>BSDE has substantial revenue and earnings capacity, but scale does not remove volatility. FY2025 revenue and attributable profit were lower than FY2024.</a:t>
            </a:r>
          </a:p>
          <a:p/>
          <a:p>
            <a:r>
              <a:t>What this does not prove</a:t>
            </a:r>
          </a:p>
          <a:p/>
          <a:p>
            <a:r>
              <a:t>The figures do not establish that every project is equally profitable or that reported profit converts immediately into unrestricted cash.</a:t>
            </a:r>
          </a:p>
          <a:p/>
          <a:p>
            <a:r>
              <a:t>Suggested chart: Separate FY2024–FY2025 revenue and attributable-profit comparisons.</a:t>
            </a:r>
          </a:p>
          <a:p/>
          <a:p>
            <a:r>
              <a:t>Source: BSDE 2025 annual report — financial highlights.</a:t>
            </a:r>
          </a:p>
          <a:p/>
          <a:p>
            <a:r>
              <a:t>SOURCE HYPERLINKS (as embedded in Mario’s PDF; not independently reverified)</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R08 — BSDE: Financial scale and its interpretation</a:t>
            </a:r>
          </a:p>
          <a:p>
            <a:r>
              <a:t>Document pages: 67, 68</a:t>
            </a:r>
          </a:p>
          <a:p/>
          <a:p>
            <a:r>
              <a:t>COMPLETE SOURCE TEXT</a:t>
            </a:r>
          </a:p>
          <a:p>
            <a:r>
              <a:t>FY2025 reported results, rounded</a:t>
            </a:r>
          </a:p>
          <a:p/>
          <a:p>
            <a:r>
              <a:t>● Revenue: Rp12.79 trillion ● Profit attributable to owners: Rp2.55 trillion ● FY2024 revenue: approximately Rp13.80 trillion ● FY2024 attributable profit: approximately Rp4.36 trillion</a:t>
            </a:r>
          </a:p>
          <a:p/>
          <a:p>
            <a:r>
              <a:t>What this tells us</a:t>
            </a:r>
          </a:p>
          <a:p/>
          <a:p>
            <a:r>
              <a:t>BSDE has substantial revenue and earnings capacity, but scale does not remove volatility. FY2025 revenue and attributable profit were lower than FY2024.</a:t>
            </a:r>
          </a:p>
          <a:p/>
          <a:p>
            <a:r>
              <a:t>What this does not prove</a:t>
            </a:r>
          </a:p>
          <a:p/>
          <a:p>
            <a:r>
              <a:t>The figures do not establish that every project is equally profitable or that reported profit converts immediately into unrestricted cash.</a:t>
            </a:r>
          </a:p>
          <a:p/>
          <a:p>
            <a:r>
              <a:t>Suggested chart: Separate FY2024–FY2025 revenue and attributable-profit comparisons.</a:t>
            </a:r>
          </a:p>
          <a:p/>
          <a:p>
            <a:r>
              <a:t>Source: BSDE 2025 annual report — financial highlights.</a:t>
            </a:r>
          </a:p>
          <a:p/>
          <a:p>
            <a:r>
              <a:t>SOURCE HYPERLINKS (as embedded in Mario’s PDF; not independently reverified)</a:t>
            </a:r>
          </a:p>
          <a:p>
            <a:r>
              <a:t>https://www.bsdcity.com/app/uploads/2026/05/AR-BSDE-2025.pdf</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R09 — BSDE: SWOT</a:t>
            </a:r>
          </a:p>
          <a:p>
            <a:r>
              <a:t>Document pages: 68, 69</a:t>
            </a:r>
          </a:p>
          <a:p/>
          <a:p>
            <a:r>
              <a:t>COMPLETE SOURCE TEXT</a:t>
            </a:r>
          </a:p>
          <a:p>
            <a:r>
              <a:t>Analyst assessment</a:t>
            </a:r>
          </a:p>
          <a:p/>
          <a:p>
            <a:r>
              <a:t>Strengths | Weaknesses / structural constraints</a:t>
            </a:r>
          </a:p>
          <a:p/>
          <a:p>
            <a:r>
              <a:t>Established township platform and group capabilities | Substantial infrastructure and land capital requirements</a:t>
            </a:r>
          </a:p>
          <a:p/>
          <a:p>
            <a:r>
              <a:t>Multiple property products and development phases | Handover and transaction timing affect annual results</a:t>
            </a:r>
          </a:p>
          <a:p/>
          <a:p>
            <a:r>
              <a:t>Ability to coordinate land use and amenities | Large developments require sustained organisational coordination</a:t>
            </a:r>
          </a:p>
          <a:p/>
          <a:p>
            <a:r>
              <a:t>Opportunities | Threats</a:t>
            </a:r>
          </a:p>
          <a:p/>
          <a:p>
            <a:r>
              <a:t>Additional employment, education, and commercial activity | Mortgage affordability and weaker purchasing power</a:t>
            </a:r>
          </a:p>
          <a:p/>
          <a:p>
            <a:r>
              <a:t>More productive use of existing infrastructure | Competing township supply</a:t>
            </a:r>
          </a:p>
          <a:p/>
          <a:p>
            <a:r>
              <a:t>Partnerships that broaden destination functions | Construction-cost, infrastructure, and environmental risks</a:t>
            </a:r>
          </a:p>
          <a:p/>
          <a:p>
            <a:r>
              <a:t>Suggested visual: SWOT matrix with factual foundations distinguished from analytical conclusions.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R10 — BSDE: Lessons for TANRISE</a:t>
            </a:r>
          </a:p>
          <a:p>
            <a:r>
              <a:t>Document pages: 69</a:t>
            </a:r>
          </a:p>
          <a:p/>
          <a:p>
            <a:r>
              <a:t>COMPLETE SOURCE TEXT</a:t>
            </a:r>
          </a:p>
          <a:p>
            <a:r>
              <a:t>Proposed applications</a:t>
            </a:r>
          </a:p>
          <a:p/>
          <a:p>
            <a:r>
              <a:t>● Give each integrated development a phased economic plan, not only a masterplan</a:t>
            </a:r>
          </a:p>
          <a:p/>
          <a:p>
            <a:r>
              <a:t>image. ● Connect residential releases to credible access, services, and employment</a:t>
            </a:r>
          </a:p>
          <a:p/>
          <a:p>
            <a:r>
              <a:t>demand. ● Assess anchors by their contribution to occupancy and sales, alongside their</a:t>
            </a:r>
          </a:p>
          <a:p/>
          <a:p>
            <a:r>
              <a:t>standalone economics. ● Maintain a rolling land and launch pipeline. ● Evaluate acquisitions separately from organic operating performance.</a:t>
            </a:r>
          </a:p>
          <a:p/>
          <a:p>
            <a:r>
              <a:t>Avoid copying prematurely: The scale of BSD’s infrastructure expenditure or the breadth of its portfolio.</a:t>
            </a:r>
          </a:p>
          <a:p/>
          <a:p>
            <a:r>
              <a:t>First test: Prepare one TANRISE project’s ten-year land, infrastructure, launch, collection, and funding schedule.</a:t>
            </a:r>
          </a:p>
          <a:p/>
          <a:p>
            <a:r>
              <a:t>Suggested visual: A phased development plan linking investment decisions to cash-generation milestones.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R11 — Lippo Karawaci: Company background and 5W1H</a:t>
            </a:r>
          </a:p>
          <a:p>
            <a:r>
              <a:t>Document pages: 70</a:t>
            </a:r>
          </a:p>
          <a:p/>
          <a:p>
            <a:r>
              <a:t>COMPLETE SOURCE TEXT</a:t>
            </a:r>
          </a:p>
          <a:p>
            <a:r>
              <a:t>● Who: PT Lippo Karawaci Tbk, a listed property platform associated with the</a:t>
            </a:r>
          </a:p>
          <a:p/>
          <a:p>
            <a:r>
              <a:t>broader Lippo Group. ● What: Property development and asset-related businesses, with a portfolio</a:t>
            </a:r>
          </a:p>
          <a:p/>
          <a:p>
            <a:r>
              <a:t>shaped by major corporate transactions. ● Where: Established township markets include Lippo Village and Lippo Cikarang,</a:t>
            </a:r>
          </a:p>
          <a:p/>
          <a:p>
            <a:r>
              <a:t>alongside other locations. ● When: Incorporated in 1990 under its original corporate name. ● Who is behind it: The Lippo business-group legacy associated with Mochtar</a:t>
            </a:r>
          </a:p>
          <a:p/>
          <a:p>
            <a:r>
              <a:t>Riady; issuer management and ownership must be distinguished from the broader family group. ● Why and how — analyst interpretation: Build residential demand through</a:t>
            </a:r>
          </a:p>
          <a:p/>
          <a:p>
            <a:r>
              <a:t>integrated urban services, then adapt product and capital allocation as market conditions change.</a:t>
            </a:r>
          </a:p>
          <a:p/>
          <a:p>
            <a:r>
              <a:t>Suggested visual: Lippo Group, LPKR, and associated businesses shown as distinct entities.</a:t>
            </a:r>
          </a:p>
          <a:p/>
          <a:p>
            <a:r>
              <a:t>Sources: Official corporate disclosure, annual reports.</a:t>
            </a:r>
          </a:p>
          <a:p/>
          <a:p>
            <a:r>
              <a:t>SOURCE HYPERLINKS (as embedded in Mario’s PDF; not independently reverified)</a:t>
            </a:r>
          </a:p>
          <a:p>
            <a:r>
              <a:t>https://www.lippokarawaci.co.id/uploads/file/KI-Penambahan-Kegiatan-Usaha-LPKR%202024_Eng.pdf</a:t>
            </a:r>
          </a:p>
          <a:p>
            <a:r>
              <a:t>https://www.lippokarawaci.co.id/investor-relations/reports-disclosures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R12 — Lippo Karawaci: Growth and portfolio reset</a:t>
            </a:r>
          </a:p>
          <a:p>
            <a:r>
              <a:t>Document pages: 70</a:t>
            </a:r>
          </a:p>
          <a:p/>
          <a:p>
            <a:r>
              <a:t>COMPLETE SOURCE TEXT</a:t>
            </a:r>
          </a:p>
          <a:p>
            <a:r>
              <a:t>Milestone sequence</a:t>
            </a:r>
          </a:p>
          <a:p/>
          <a:p>
            <a:r>
              <a:t>● 1990: Incorporation of the issuer’s predecessor. ● Subsequent decades: Expansion of township and associated urban-service</a:t>
            </a:r>
          </a:p>
          <a:p/>
          <a:p>
            <a:r>
              <a:t>businesses. ● Diversification period: Healthcare became an important part of the historical</a:t>
            </a:r>
          </a:p>
          <a:p/>
          <a:p>
            <a:r>
              <a:t>consolidated portfolio. ● 2024: Siloam-related divestment and deconsolidation changed the earnings and</a:t>
            </a:r>
          </a:p>
          <a:p/>
          <a:p>
            <a:r>
              <a:t>revenue comparison. ● 2025–2026: Greater emphasis on property execution, capital discipline, and</a:t>
            </a:r>
          </a:p>
          <a:p/>
          <a:p>
            <a:r>
              <a:t>portfolio optimisation. ● May 2026: Indra Yuwana appointed President Director.</a:t>
            </a:r>
          </a:p>
          <a:p/>
          <a:p>
            <a:r>
              <a:t>Analyst interpretation: Lippo is a case study in both ecosystem development and the need to simplify or reset a complex portfolio.</a:t>
            </a:r>
          </a:p>
          <a:p/>
          <a:p>
            <a:r>
              <a:t>Suggested visual: A timeline showing expansion, diversification, divestment, and refocusing.</a:t>
            </a:r>
          </a:p>
          <a:p/>
          <a:p>
            <a:r>
              <a:t>Sources: Siloam transaction disclosure, 2026 AGM announcement.</a:t>
            </a:r>
          </a:p>
          <a:p/>
          <a:p>
            <a:r>
              <a:t>SOURCE HYPERLINKS (as embedded in Mario’s PDF; not independently reverified)</a:t>
            </a:r>
          </a:p>
          <a:p>
            <a:r>
              <a:t>https://www.lippokarawaci.co.id/uploads/file/LPKR%20Keterbukaan%20Informasi%20Sight_English_Ver.pdf</a:t>
            </a:r>
          </a:p>
          <a:p>
            <a:r>
              <a:t>https://www.lippokarawaci.co.id/news/pt-lippo-karawaci-tbk-announces-new-board-of-directors-and-commissioners-at-2026-annual-general-meeting-of-shareholders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R13 — Lippo Karawaci: How the growth model works</a:t>
            </a:r>
          </a:p>
          <a:p>
            <a:r>
              <a:t>Document pages: 71</a:t>
            </a:r>
          </a:p>
          <a:p/>
          <a:p>
            <a:r>
              <a:t>COMPLETE SOURCE TEXT</a:t>
            </a:r>
          </a:p>
          <a:p>
            <a:r>
              <a:t>Analyst assessment</a:t>
            </a:r>
          </a:p>
          <a:p/>
          <a:p>
            <a:r>
              <a:t>The historical model sought to make large residential locations more attractive by combining housing with supporting urban functions.</a:t>
            </a:r>
          </a:p>
          <a:p/>
          <a:p>
            <a:r>
              <a:t>The operating challenge is to match three things:</a:t>
            </a:r>
          </a:p>
          <a:p/>
          <a:p>
            <a:r>
              <a:t>● Products that households can afford. ● Construction and handover capacity. ● Funding that remains available throughout development.</a:t>
            </a:r>
          </a:p>
          <a:p/>
          <a:p>
            <a:r>
              <a:t>Competitive advantage: Existing township infrastructure and customer recognition can support repeat launches.</a:t>
            </a:r>
          </a:p>
          <a:p/>
          <a:p>
            <a:r>
              <a:t>Strategic tension: A broad ecosystem can increase demand, but owning too many different businesses can also increase capital requirements and management complexity.</a:t>
            </a:r>
          </a:p>
          <a:p/>
          <a:p>
            <a:r>
              <a:t>Suggested diagram: Customer affordability → bookings → construction → handover → collections, with financing shown underneath.</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R13 — Lippo Karawaci: How the growth model works</a:t>
            </a:r>
          </a:p>
          <a:p>
            <a:r>
              <a:t>Document pages: 71</a:t>
            </a:r>
          </a:p>
          <a:p/>
          <a:p>
            <a:r>
              <a:t>COMPLETE SOURCE TEXT</a:t>
            </a:r>
          </a:p>
          <a:p>
            <a:r>
              <a:t>Analyst assessment</a:t>
            </a:r>
          </a:p>
          <a:p/>
          <a:p>
            <a:r>
              <a:t>The historical model sought to make large residential locations more attractive by combining housing with supporting urban functions.</a:t>
            </a:r>
          </a:p>
          <a:p/>
          <a:p>
            <a:r>
              <a:t>The operating challenge is to match three things:</a:t>
            </a:r>
          </a:p>
          <a:p/>
          <a:p>
            <a:r>
              <a:t>● Products that households can afford. ● Construction and handover capacity. ● Funding that remains available throughout development.</a:t>
            </a:r>
          </a:p>
          <a:p/>
          <a:p>
            <a:r>
              <a:t>Competitive advantage: Existing township infrastructure and customer recognition can support repeat launches.</a:t>
            </a:r>
          </a:p>
          <a:p/>
          <a:p>
            <a:r>
              <a:t>Strategic tension: A broad ecosystem can increase demand, but owning too many different businesses can also increase capital requirements and management complexity.</a:t>
            </a:r>
          </a:p>
          <a:p/>
          <a:p>
            <a:r>
              <a:t>Suggested diagram: Customer affordability → bookings → construction → handover → collections, with financing shown underneath.</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R14 — Lippo Karawaci: Financial comparison requires adjustment</a:t>
            </a:r>
          </a:p>
          <a:p>
            <a:r>
              <a:t>Document pages: 71, 72</a:t>
            </a:r>
          </a:p>
          <a:p/>
          <a:p>
            <a:r>
              <a:t>COMPLETE SOURCE TEXT</a:t>
            </a:r>
          </a:p>
          <a:p>
            <a:r>
              <a:t>FY2025 reported figures, rounded</a:t>
            </a:r>
          </a:p>
          <a:p/>
          <a:p>
            <a:r>
              <a:t>● Headline revenue: Rp9.03 trillion ● Revenue after final tax: Rp8.84 trillion ● Profit attributable to owners: Rp470 billion</a:t>
            </a:r>
          </a:p>
          <a:p/>
          <a:p>
            <a:r>
              <a:t>Critical interpretation</a:t>
            </a:r>
          </a:p>
          <a:p/>
          <a:p>
            <a:r>
              <a:t>FY2024 contained significant effects associated with the Siloam transaction. A simple profit-growth comparison would give a misleading picture of recurring property performance.</a:t>
            </a:r>
          </a:p>
          <a:p/>
          <a:p>
            <a:r>
              <a:t>Questions to examine separately</a:t>
            </a:r>
          </a:p>
          <a:p/>
          <a:p>
            <a:r>
              <a:t>● Continuing property revenue and margins. ● Cash collections and construction obligations. ● Financing expense and debt maturity.</a:t>
            </a:r>
          </a:p>
          <a:p/>
          <a:p>
            <a:r>
              <a:t>● Disposal proceeds versus repeatable operating cash flow.</a:t>
            </a:r>
          </a:p>
          <a:p/>
          <a:p>
            <a:r>
              <a:t>Suggested chart: A reconciliation graphic separating operating results, transaction effects, and changes in consolidation.</a:t>
            </a:r>
          </a:p>
          <a:p/>
          <a:p>
            <a:r>
              <a:t>Sources: Official results announcement, financial-report repository.</a:t>
            </a:r>
          </a:p>
          <a:p/>
          <a:p>
            <a:r>
              <a:t>SOURCE HYPERLINKS (as embedded in Mario’s PDF; not independently reverified)</a:t>
            </a:r>
          </a:p>
          <a:p>
            <a:r>
              <a:t>https://www.lippokarawaci.co.id/news/pt-lippo-karawaci-tbk-announces-new-board-of-directors-and-commissioners-at-2026-annual-general-meeting-of-shareholders</a:t>
            </a:r>
          </a:p>
          <a:p>
            <a:r>
              <a:t>https://www.lippokarawaci.co.id/investor-relations/reports-disclosures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R14 — Lippo Karawaci: Financial comparison requires adjustment</a:t>
            </a:r>
          </a:p>
          <a:p>
            <a:r>
              <a:t>Document pages: 71, 72</a:t>
            </a:r>
          </a:p>
          <a:p/>
          <a:p>
            <a:r>
              <a:t>COMPLETE SOURCE TEXT</a:t>
            </a:r>
          </a:p>
          <a:p>
            <a:r>
              <a:t>FY2025 reported figures, rounded</a:t>
            </a:r>
          </a:p>
          <a:p/>
          <a:p>
            <a:r>
              <a:t>● Headline revenue: Rp9.03 trillion ● Revenue after final tax: Rp8.84 trillion ● Profit attributable to owners: Rp470 billion</a:t>
            </a:r>
          </a:p>
          <a:p/>
          <a:p>
            <a:r>
              <a:t>Critical interpretation</a:t>
            </a:r>
          </a:p>
          <a:p/>
          <a:p>
            <a:r>
              <a:t>FY2024 contained significant effects associated with the Siloam transaction. A simple profit-growth comparison would give a misleading picture of recurring property performance.</a:t>
            </a:r>
          </a:p>
          <a:p/>
          <a:p>
            <a:r>
              <a:t>Questions to examine separately</a:t>
            </a:r>
          </a:p>
          <a:p/>
          <a:p>
            <a:r>
              <a:t>● Continuing property revenue and margins. ● Cash collections and construction obligations. ● Financing expense and debt maturity.</a:t>
            </a:r>
          </a:p>
          <a:p/>
          <a:p>
            <a:r>
              <a:t>● Disposal proceeds versus repeatable operating cash flow.</a:t>
            </a:r>
          </a:p>
          <a:p/>
          <a:p>
            <a:r>
              <a:t>Suggested chart: A reconciliation graphic separating operating results, transaction effects, and changes in consolidation.</a:t>
            </a:r>
          </a:p>
          <a:p/>
          <a:p>
            <a:r>
              <a:t>Sources: Official results announcement, financial-report repository.</a:t>
            </a:r>
          </a:p>
          <a:p/>
          <a:p>
            <a:r>
              <a:t>SOURCE HYPERLINKS (as embedded in Mario’s PDF; not independently reverified)</a:t>
            </a:r>
          </a:p>
          <a:p>
            <a:r>
              <a:t>https://www.lippokarawaci.co.id/news/pt-lippo-karawaci-tbk-announces-new-board-of-directors-and-commissioners-at-2026-annual-general-meeting-of-shareholders</a:t>
            </a:r>
          </a:p>
          <a:p>
            <a:r>
              <a:t>https://www.lippokarawaci.co.id/investor-relations/reports-disclosures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R15 — Lippo Karawaci: SWOT</a:t>
            </a:r>
          </a:p>
          <a:p>
            <a:r>
              <a:t>Document pages: 72, 73</a:t>
            </a:r>
          </a:p>
          <a:p/>
          <a:p>
            <a:r>
              <a:t>COMPLETE SOURCE TEXT</a:t>
            </a:r>
          </a:p>
          <a:p>
            <a:r>
              <a:t>Analyst assessment</a:t>
            </a:r>
          </a:p>
          <a:p/>
          <a:p>
            <a:r>
              <a:t>Strengths | Weaknesses / structural constraints</a:t>
            </a:r>
          </a:p>
          <a:p/>
          <a:p>
            <a:r>
              <a:t>Established township locations and market recognition | Legacy portfolio complexity</a:t>
            </a:r>
          </a:p>
          <a:p/>
          <a:p>
            <a:r>
              <a:t>Experience serving multiple residential segments | Financing costs can constrain operating flexibility</a:t>
            </a:r>
          </a:p>
          <a:p/>
          <a:p>
            <a:r>
              <a:t>Existing development infrastructure | Corporate transactions complicate performance assessment</a:t>
            </a:r>
          </a:p>
          <a:p/>
          <a:p>
            <a:r>
              <a:t>Opportunities | Threats</a:t>
            </a:r>
          </a:p>
          <a:p/>
          <a:p>
            <a:r>
              <a:t>More affordable, clearly segmented residential products | Mortgage rejection, cancellations, and affordability pressure</a:t>
            </a:r>
          </a:p>
          <a:p/>
          <a:p>
            <a:r>
              <a:t>Monetisation of underproductive assets | Competition from other suburban developers</a:t>
            </a:r>
          </a:p>
          <a:p/>
          <a:p>
            <a:r>
              <a:t>Simpler portfolio and stronger cash discipline | Refinancing, construction-cost, and execution risks</a:t>
            </a:r>
          </a:p>
          <a:p/>
          <a:p>
            <a:r>
              <a:t>Suggested visual: SWOT supported by a separate “operating business versus corporate actions” distinction.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R16 — Lippo Karawaci: Lessons for TANRISE</a:t>
            </a:r>
          </a:p>
          <a:p>
            <a:r>
              <a:t>Document pages: 73</a:t>
            </a:r>
          </a:p>
          <a:p/>
          <a:p>
            <a:r>
              <a:t>COMPLETE SOURCE TEXT</a:t>
            </a:r>
          </a:p>
          <a:p>
            <a:r>
              <a:t>Proposed applications</a:t>
            </a:r>
          </a:p>
          <a:p/>
          <a:p>
            <a:r>
              <a:t>● Treat affordability as a complete household-payment equation. ● Track bookings, mortgage approvals, cancellations, collections, and handovers</a:t>
            </a:r>
          </a:p>
          <a:p/>
          <a:p>
            <a:r>
              <a:t>separately. ● Measure the capital and management burden of each additional business line. ● Distinguish asset-sale gains from repeatable development earnings. ● Use portfolio simplification when it releases capital for stronger growth engines.</a:t>
            </a:r>
          </a:p>
          <a:p/>
          <a:p>
            <a:r>
              <a:t>Avoid copying prematurely: Broad diversification justified only by the appeal of an “integrated ecosystem.”</a:t>
            </a:r>
          </a:p>
          <a:p/>
          <a:p>
            <a:r>
              <a:t>First test: Compare TANRISE’s planned residential products against household income, deposit capacity, bank approval, and monthly payments.</a:t>
            </a:r>
          </a:p>
          <a:p/>
          <a:p>
            <a:r>
              <a:t>Suggested visual: An affordability funnel with points where potential buyers drop out.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R17 — Ciputra: Company background and 5W1H</a:t>
            </a:r>
          </a:p>
          <a:p>
            <a:r>
              <a:t>Document pages: 73, 74</a:t>
            </a:r>
          </a:p>
          <a:p/>
          <a:p>
            <a:r>
              <a:t>COMPLETE SOURCE TEXT</a:t>
            </a:r>
          </a:p>
          <a:p>
            <a:r>
              <a:t>● Who: PT Ciputra Development Tbk. ● What: A development platform combining residential projects with selected</a:t>
            </a:r>
          </a:p>
          <a:p/>
          <a:p>
            <a:r>
              <a:t>commercial and recurring-income assets. ● Where: A geographically distributed Indonesian portfolio. ● When: Established in 1981; listed in 1994. ● Who is behind it: Founder Ir. Ciputra and the Ciputra business-family legacy; the</a:t>
            </a:r>
          </a:p>
          <a:p/>
          <a:p>
            <a:r>
              <a:t>listed company institutionalised the founder’s development approach.</a:t>
            </a:r>
          </a:p>
          <a:p/>
          <a:p>
            <a:r>
              <a:t>● Why and how — analyst interpretation: Replicate a recognisable development</a:t>
            </a:r>
          </a:p>
          <a:p/>
          <a:p>
            <a:r>
              <a:t>capability across locations while adapting projects to local markets and partnerships.</a:t>
            </a:r>
          </a:p>
          <a:p/>
          <a:p>
            <a:r>
              <a:t>Core research question: How can a developer expand without purchasing and independently funding every land parcel?</a:t>
            </a:r>
          </a:p>
          <a:p/>
          <a:p>
            <a:r>
              <a:t>Suggested visual: National project map paired with a developer–landowner partnership model.</a:t>
            </a:r>
          </a:p>
          <a:p/>
          <a:p>
            <a:r>
              <a:t>Source: Ciputra annual report — company history and business model.</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R17 — Ciputra: Company background and 5W1H</a:t>
            </a:r>
          </a:p>
          <a:p>
            <a:r>
              <a:t>Document pages: 73, 74</a:t>
            </a:r>
          </a:p>
          <a:p/>
          <a:p>
            <a:r>
              <a:t>COMPLETE SOURCE TEXT</a:t>
            </a:r>
          </a:p>
          <a:p>
            <a:r>
              <a:t>● Who: PT Ciputra Development Tbk. ● What: A development platform combining residential projects with selected</a:t>
            </a:r>
          </a:p>
          <a:p/>
          <a:p>
            <a:r>
              <a:t>commercial and recurring-income assets. ● Where: A geographically distributed Indonesian portfolio. ● When: Established in 1981; listed in 1994. ● Who is behind it: Founder Ir. Ciputra and the Ciputra business-family legacy; the</a:t>
            </a:r>
          </a:p>
          <a:p/>
          <a:p>
            <a:r>
              <a:t>listed company institutionalised the founder’s development approach.</a:t>
            </a:r>
          </a:p>
          <a:p/>
          <a:p>
            <a:r>
              <a:t>● Why and how — analyst interpretation: Replicate a recognisable development</a:t>
            </a:r>
          </a:p>
          <a:p/>
          <a:p>
            <a:r>
              <a:t>capability across locations while adapting projects to local markets and partnerships.</a:t>
            </a:r>
          </a:p>
          <a:p/>
          <a:p>
            <a:r>
              <a:t>Core research question: How can a developer expand without purchasing and independently funding every land parcel?</a:t>
            </a:r>
          </a:p>
          <a:p/>
          <a:p>
            <a:r>
              <a:t>Suggested visual: National project map paired with a developer–landowner partnership model.</a:t>
            </a:r>
          </a:p>
          <a:p/>
          <a:p>
            <a:r>
              <a:t>Source: Ciputra annual report — company history and business model.</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R18 — Ciputra: Milestones in building a repeatable platform</a:t>
            </a:r>
          </a:p>
          <a:p>
            <a:r>
              <a:t>Document pages: 74, 75</a:t>
            </a:r>
          </a:p>
          <a:p/>
          <a:p>
            <a:r>
              <a:t>COMPLETE SOURCE TEXT</a:t>
            </a:r>
          </a:p>
          <a:p>
            <a:r>
              <a:t>Period | Milestone</a:t>
            </a:r>
          </a:p>
          <a:p/>
          <a:p>
            <a:r>
              <a:t>1981 | Establishment of the original development company</a:t>
            </a:r>
          </a:p>
          <a:p/>
          <a:p>
            <a:r>
              <a:t>1984 | Early CitraGarden City development</a:t>
            </a:r>
          </a:p>
          <a:p/>
          <a:p>
            <a:r>
              <a:t>1990s | Expansion of major residential and commercial projects</a:t>
            </a:r>
          </a:p>
          <a:p/>
          <a:p>
            <a:r>
              <a:t>1994 | Public listing</a:t>
            </a:r>
          </a:p>
          <a:p/>
          <a:p>
            <a:r>
              <a:t>1997–1998 and aftermath | Crisis management and restructuring period</a:t>
            </a:r>
          </a:p>
          <a:p/>
          <a:p>
            <a:r>
              <a:t>2017 | Merger of Ciputra Surya and Ciputra Property into CTRA</a:t>
            </a:r>
          </a:p>
          <a:p/>
          <a:p>
            <a:r>
              <a:t>FY2025 | Reported revenue approximately Rp12.62 trillion</a:t>
            </a:r>
          </a:p>
          <a:p/>
          <a:p>
            <a:r>
              <a:t>Analyst interpretation: The important transition was from founder-led projects to a repeatable, consolidated operating platform.</a:t>
            </a:r>
          </a:p>
          <a:p/>
          <a:p>
            <a:r>
              <a:t>Suggested visual: Timeline separating project expansion, capital-market access, and organisational consolidation.</a:t>
            </a:r>
          </a:p>
          <a:p/>
          <a:p>
            <a:r>
              <a:t>Sources: Historical results presentation, merger disclosure.</a:t>
            </a:r>
          </a:p>
          <a:p/>
          <a:p>
            <a:r>
              <a:t>SOURCE HYPERLINKS (as embedded in Mario’s PDF; not independently reverified)</a:t>
            </a:r>
          </a:p>
          <a:p>
            <a:r>
              <a:t>https://www.ciputradevelopment.com/files/CTRA_Results_Presentation_9M_2017.pdf</a:t>
            </a:r>
          </a:p>
          <a:p>
            <a:r>
              <a:t>https://www.ciputradevelopment.com/files/KI%20Rancangan%20Penggabungan%20CTRA%20dan%20atau%20CTRS%20dan%20atau%20CTRP_22%20Des_English.pdf</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R18 — Ciputra: Milestones in building a repeatable platform</a:t>
            </a:r>
          </a:p>
          <a:p>
            <a:r>
              <a:t>Document pages: 74, 75</a:t>
            </a:r>
          </a:p>
          <a:p/>
          <a:p>
            <a:r>
              <a:t>COMPLETE SOURCE TEXT</a:t>
            </a:r>
          </a:p>
          <a:p>
            <a:r>
              <a:t>Period | Milestone</a:t>
            </a:r>
          </a:p>
          <a:p/>
          <a:p>
            <a:r>
              <a:t>1981 | Establishment of the original development company</a:t>
            </a:r>
          </a:p>
          <a:p/>
          <a:p>
            <a:r>
              <a:t>1984 | Early CitraGarden City development</a:t>
            </a:r>
          </a:p>
          <a:p/>
          <a:p>
            <a:r>
              <a:t>1990s | Expansion of major residential and commercial projects</a:t>
            </a:r>
          </a:p>
          <a:p/>
          <a:p>
            <a:r>
              <a:t>1994 | Public listing</a:t>
            </a:r>
          </a:p>
          <a:p/>
          <a:p>
            <a:r>
              <a:t>1997–1998 and aftermath | Crisis management and restructuring period</a:t>
            </a:r>
          </a:p>
          <a:p/>
          <a:p>
            <a:r>
              <a:t>2017 | Merger of Ciputra Surya and Ciputra Property into CTRA</a:t>
            </a:r>
          </a:p>
          <a:p/>
          <a:p>
            <a:r>
              <a:t>FY2025 | Reported revenue approximately Rp12.62 trillion</a:t>
            </a:r>
          </a:p>
          <a:p/>
          <a:p>
            <a:r>
              <a:t>Analyst interpretation: The important transition was from founder-led projects to a repeatable, consolidated operating platform.</a:t>
            </a:r>
          </a:p>
          <a:p/>
          <a:p>
            <a:r>
              <a:t>Suggested visual: Timeline separating project expansion, capital-market access, and organisational consolidation.</a:t>
            </a:r>
          </a:p>
          <a:p/>
          <a:p>
            <a:r>
              <a:t>Sources: Historical results presentation, merger disclosure.</a:t>
            </a:r>
          </a:p>
          <a:p/>
          <a:p>
            <a:r>
              <a:t>SOURCE HYPERLINKS (as embedded in Mario’s PDF; not independently reverified)</a:t>
            </a:r>
          </a:p>
          <a:p>
            <a:r>
              <a:t>https://www.ciputradevelopment.com/files/CTRA_Results_Presentation_9M_2017.pdf</a:t>
            </a:r>
          </a:p>
          <a:p>
            <a:r>
              <a:t>https://www.ciputradevelopment.com/files/KI%20Rancangan%20Penggabungan%20CTRA%20dan%20atau%20CTRS%20dan%20atau%20CTRP_22%20Des_English.pdf</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R19 — Ciputra: How the growth model works</a:t>
            </a:r>
          </a:p>
          <a:p>
            <a:r>
              <a:t>Document pages: 75</a:t>
            </a:r>
          </a:p>
          <a:p/>
          <a:p>
            <a:r>
              <a:t>COMPLETE SOURCE TEXT</a:t>
            </a:r>
          </a:p>
          <a:p>
            <a:r>
              <a:t>Analyst assessment</a:t>
            </a:r>
          </a:p>
          <a:p/>
          <a:p>
            <a:r>
              <a:t>Ciputra’s partnership approach is especially relevant to developers whose expansion is constrained by land acquisition and capital.</a:t>
            </a:r>
          </a:p>
          <a:p/>
          <a:p>
            <a:r>
              <a:t>Operating logic</a:t>
            </a:r>
          </a:p>
          <a:p/>
          <a:p>
            <a:r>
              <a:t>● Combine development, branding, planning, and sales capabilities with access to</a:t>
            </a:r>
          </a:p>
          <a:p/>
          <a:p>
            <a:r>
              <a:t>local land. ● Adapt products and pricing to each city. ● Reuse operating knowledge across projects. ● Maintain central standards while allowing local commercial decisions.</a:t>
            </a:r>
          </a:p>
          <a:p/>
          <a:p>
            <a:r>
              <a:t>Competitive advantage: Replication of capabilities across multiple markets.</a:t>
            </a:r>
          </a:p>
          <a:p/>
          <a:p>
            <a:r>
              <a:t>Trade-off: Partnerships reduce some upfront burdens but create profit-sharing, governance, approval, and execution dependencies.</a:t>
            </a:r>
          </a:p>
          <a:p/>
          <a:p>
            <a:r>
              <a:t>Suggested diagram: Landowner contribution + developer capabilities + project funding → jointly governed development → shared proceeds.</a:t>
            </a:r>
          </a:p>
          <a:p/>
          <a:p>
            <a:r>
              <a:t>Evidence reference: Ciputra annual report.</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R19 — Ciputra: How the growth model works</a:t>
            </a:r>
          </a:p>
          <a:p>
            <a:r>
              <a:t>Document pages: 75</a:t>
            </a:r>
          </a:p>
          <a:p/>
          <a:p>
            <a:r>
              <a:t>COMPLETE SOURCE TEXT</a:t>
            </a:r>
          </a:p>
          <a:p>
            <a:r>
              <a:t>Analyst assessment</a:t>
            </a:r>
          </a:p>
          <a:p/>
          <a:p>
            <a:r>
              <a:t>Ciputra’s partnership approach is especially relevant to developers whose expansion is constrained by land acquisition and capital.</a:t>
            </a:r>
          </a:p>
          <a:p/>
          <a:p>
            <a:r>
              <a:t>Operating logic</a:t>
            </a:r>
          </a:p>
          <a:p/>
          <a:p>
            <a:r>
              <a:t>● Combine development, branding, planning, and sales capabilities with access to</a:t>
            </a:r>
          </a:p>
          <a:p/>
          <a:p>
            <a:r>
              <a:t>local land. ● Adapt products and pricing to each city. ● Reuse operating knowledge across projects. ● Maintain central standards while allowing local commercial decisions.</a:t>
            </a:r>
          </a:p>
          <a:p/>
          <a:p>
            <a:r>
              <a:t>Competitive advantage: Replication of capabilities across multiple markets.</a:t>
            </a:r>
          </a:p>
          <a:p/>
          <a:p>
            <a:r>
              <a:t>Trade-off: Partnerships reduce some upfront burdens but create profit-sharing, governance, approval, and execution dependencies.</a:t>
            </a:r>
          </a:p>
          <a:p/>
          <a:p>
            <a:r>
              <a:t>Suggested diagram: Landowner contribution + developer capabilities + project funding → jointly governed development → shared proceeds.</a:t>
            </a:r>
          </a:p>
          <a:p/>
          <a:p>
            <a:r>
              <a:t>Evidence reference: Ciputra annual report.</a:t>
            </a:r>
          </a:p>
          <a:p/>
          <a:p>
            <a:r>
              <a:t>SOURCE HYPERLINKS (as embedded in Mario’s PDF; not independently reverified)</a:t>
            </a:r>
          </a:p>
          <a:p>
            <a:r>
              <a:t>https://ciputradevelopment.com/rups2022/CTRA_Annual_Report_2021.pdf</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R20 — Ciputra: Financial scale and operating momentum</a:t>
            </a:r>
          </a:p>
          <a:p>
            <a:r>
              <a:t>Document pages: 75, 76</a:t>
            </a:r>
          </a:p>
          <a:p/>
          <a:p>
            <a:r>
              <a:t>COMPLETE SOURCE TEXT</a:t>
            </a:r>
          </a:p>
          <a:p>
            <a:r>
              <a:t>FY2025 reported figures, rounded</a:t>
            </a:r>
          </a:p>
          <a:p/>
          <a:p>
            <a:r>
              <a:t>● Revenue: Rp12.62 trillion</a:t>
            </a:r>
          </a:p>
          <a:p/>
          <a:p>
            <a:r>
              <a:t>● Reported net profit: Rp2.66 trillion ● Marketing sales: approximately Rp9.46 trillion ● FY2024 revenue: Rp11.19 trillion</a:t>
            </a:r>
          </a:p>
          <a:p/>
          <a:p>
            <a:r>
              <a:t>Interpretation</a:t>
            </a:r>
          </a:p>
          <a:p/>
          <a:p>
            <a:r>
              <a:t>Revenue and marketing sales describe different stages of the business. FY2025 revenue can include handovers from sales made in earlier periods.</a:t>
            </a:r>
          </a:p>
          <a:p/>
          <a:p>
            <a:r>
              <a:t>Competitive significance: A broad launch and handover pipeline supports scale, but geographical breadth requires strong controls and local execution.</a:t>
            </a:r>
          </a:p>
          <a:p/>
          <a:p>
            <a:r>
              <a:t>Suggested chart: Separate revenue and marketing-sales series; do not combine them into one total.</a:t>
            </a:r>
          </a:p>
          <a:p/>
          <a:p>
            <a:r>
              <a:t>Source: Ciputra 2025 sustainability report — financial and operational performance.</a:t>
            </a:r>
          </a:p>
          <a:p/>
          <a:p>
            <a:r>
              <a:t>SOURCE HYPERLINKS (as embedded in Mario’s PDF; not independently reverified)</a:t>
            </a:r>
          </a:p>
          <a:p>
            <a:r>
              <a:t>https://ciputradevelopment.com/wp-content/uploads/2026/05/Laporan_Keberlanjutan_2025_CTRA.pdf</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R21 — Ciputra: SWOT</a:t>
            </a:r>
          </a:p>
          <a:p>
            <a:r>
              <a:t>Document pages: 76, 77</a:t>
            </a:r>
          </a:p>
          <a:p/>
          <a:p>
            <a:r>
              <a:t>COMPLETE SOURCE TEXT</a:t>
            </a:r>
          </a:p>
          <a:p>
            <a:r>
              <a:t>Analyst assessment</a:t>
            </a:r>
          </a:p>
          <a:p/>
          <a:p>
            <a:r>
              <a:t>Strengths | Weaknesses / structural constraints</a:t>
            </a:r>
          </a:p>
          <a:p/>
          <a:p>
            <a:r>
              <a:t>Replicable development capabilities and brand familiarity | Managing many locations increases organisational complexity</a:t>
            </a:r>
          </a:p>
          <a:p/>
          <a:p>
            <a:r>
              <a:t>Partnership experience | Shared economics and partner dependencies</a:t>
            </a:r>
          </a:p>
          <a:p/>
          <a:p>
            <a:r>
              <a:t>Geographic diversification | Local markets can behave differently</a:t>
            </a:r>
          </a:p>
          <a:p/>
          <a:p>
            <a:r>
              <a:t>Opportunities | Threats</a:t>
            </a:r>
          </a:p>
          <a:p/>
          <a:p>
            <a:r>
              <a:t>Selective expansion with suitable land partners | Weak local demand despite national housing need</a:t>
            </a:r>
          </a:p>
          <a:p/>
          <a:p>
            <a:r>
              <a:t>New phases within established projects | Inconsistent execution across locations</a:t>
            </a:r>
          </a:p>
          <a:p/>
          <a:p>
            <a:r>
              <a:t>Better product adaptation and operating systems | Land, approval, financing, and construction risks</a:t>
            </a:r>
          </a:p>
          <a:p/>
          <a:p>
            <a:r>
              <a:t>Suggested visual: SWOT with an accompanying map of “central standards versus local adaptation.”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R22 — Ciputra: Lessons for TANRISE</a:t>
            </a:r>
          </a:p>
          <a:p>
            <a:r>
              <a:t>Document pages: 77</a:t>
            </a:r>
          </a:p>
          <a:p/>
          <a:p>
            <a:r>
              <a:t>COMPLETE SOURCE TEXT</a:t>
            </a:r>
          </a:p>
          <a:p>
            <a:r>
              <a:t>Proposed applications</a:t>
            </a:r>
          </a:p>
          <a:p/>
          <a:p>
            <a:r>
              <a:t>● Build a formal land-partnership offer. ● Define what TANRISE contributes beyond its corporate name. ● Establish clear responsibilities for land readiness, permits, infrastructure,</a:t>
            </a:r>
          </a:p>
          <a:p/>
          <a:p>
            <a:r>
              <a:t>marketing, construction, and funding. ● Develop a repeatable residential delivery system before expanding widely. ● Select partners for governance quality as well as land location.</a:t>
            </a:r>
          </a:p>
          <a:p/>
          <a:p>
            <a:r>
              <a:t>Avoid copying prematurely: Entering many cities before project leadership and control systems are ready.</a:t>
            </a:r>
          </a:p>
          <a:p/>
          <a:p>
            <a:r>
              <a:t>First test: Screen a small number of potential land partnerships using one investment and governance template.</a:t>
            </a:r>
          </a:p>
          <a:p/>
          <a:p>
            <a:r>
              <a:t>Suggested visual: Partnership-screening funnel: location → legal readiness → demand → economics → governance.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R23 — Summarecon: Company background and 5W1H</a:t>
            </a:r>
          </a:p>
          <a:p>
            <a:r>
              <a:t>Document pages: 77, 78</a:t>
            </a:r>
          </a:p>
          <a:p/>
          <a:p>
            <a:r>
              <a:t>COMPLETE SOURCE TEXT</a:t>
            </a:r>
          </a:p>
          <a:p>
            <a:r>
              <a:t>● Who: PT Summarecon Agung Tbk.</a:t>
            </a:r>
          </a:p>
          <a:p/>
          <a:p>
            <a:r>
              <a:t>● What: Township development, investment-property management, and</a:t>
            </a:r>
          </a:p>
          <a:p/>
          <a:p>
            <a:r>
              <a:t>leisure/hospitality activities. ● Where: Originated in Kelapa Gading and expanded into additional township</a:t>
            </a:r>
          </a:p>
          <a:p/>
          <a:p>
            <a:r>
              <a:t>markets. ● When: Established in 1975; listed in 1990. ● Who is behind it: Soetjipto Nagaria and associates; the Nagaria family remains</a:t>
            </a:r>
          </a:p>
          <a:p/>
          <a:p>
            <a:r>
              <a:t>associated with the company’s development legacy. ● Why and how — analyst interpretation: Create neighbourhoods whose commercial</a:t>
            </a:r>
          </a:p>
          <a:p/>
          <a:p>
            <a:r>
              <a:t>and everyday functions strengthen residential demand over time.</a:t>
            </a:r>
          </a:p>
          <a:p/>
          <a:p>
            <a:r>
              <a:t>Core research question: How does a developer make a new location commercially credible before it is fully mature?</a:t>
            </a:r>
          </a:p>
          <a:p/>
          <a:p>
            <a:r>
              <a:t>Suggested visual: A township ecosystem linking residents, retail, education, access, and estate management.</a:t>
            </a:r>
          </a:p>
          <a:p/>
          <a:p>
            <a:r>
              <a:t>Sources: Official company overview, May 2026 investor presentation.</a:t>
            </a:r>
          </a:p>
          <a:p/>
          <a:p>
            <a:r>
              <a:t>SOURCE HYPERLINKS (as embedded in Mario’s PDF; not independently reverified)</a:t>
            </a:r>
          </a:p>
          <a:p>
            <a:r>
              <a:t>https://www.summarecon.com/id/profile/company-overview</a:t>
            </a:r>
          </a:p>
          <a:p>
            <a:r>
              <a:t>https://www.summarecon.com/files/article/SMRA%20Presentation%202026-05.pdf</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R24 — Summarecon: Growth through successive townships</a:t>
            </a:r>
          </a:p>
          <a:p>
            <a:r>
              <a:t>Document pages: 78</a:t>
            </a:r>
          </a:p>
          <a:p/>
          <a:p>
            <a:r>
              <a:t>COMPLETE SOURCE TEXT</a:t>
            </a:r>
          </a:p>
          <a:p>
            <a:r>
              <a:t>Milestone sequence</a:t>
            </a:r>
          </a:p>
          <a:p/>
          <a:p>
            <a:r>
              <a:t>● 1975: Establishment and early development in Kelapa Gading. ● 1990: Stock-market listing. ● Later expansion: Application of township capabilities to Serpong and other</a:t>
            </a:r>
          </a:p>
          <a:p/>
          <a:p>
            <a:r>
              <a:t>markets. ● Subsequent development: A broader portfolio including Bekasi, Bandung,</a:t>
            </a:r>
          </a:p>
          <a:p/>
          <a:p>
            <a:r>
              <a:t>Karawang, Makassar, Bogor, and other locations. ● Current platform: Development sales supported by retained commercial and</a:t>
            </a:r>
          </a:p>
          <a:p/>
          <a:p>
            <a:r>
              <a:t>supporting assets.</a:t>
            </a:r>
          </a:p>
          <a:p/>
          <a:p>
            <a:r>
              <a:t>Analyst interpretation: The capability being replicated is the coordination of a township—not simply a cluster design or a mall.</a:t>
            </a:r>
          </a:p>
          <a:p/>
          <a:p>
            <a:r>
              <a:t>Suggested visual: A chronological map showing township expansion, with dates taken directly from the investor presentation.</a:t>
            </a:r>
          </a:p>
          <a:p/>
          <a:p>
            <a:r>
              <a:t>Sources: Official company overview, investor presentation and township histories.</a:t>
            </a:r>
          </a:p>
          <a:p/>
          <a:p>
            <a:r>
              <a:t>SOURCE HYPERLINKS (as embedded in Mario’s PDF; not independently reverified)</a:t>
            </a:r>
          </a:p>
          <a:p>
            <a:r>
              <a:t>https://www.summarecon.com/id/profile/company-overview</a:t>
            </a:r>
          </a:p>
          <a:p>
            <a:r>
              <a:t>https://www.summarecon.com/files/article/SMRA%20Presentation%202026-05.pdf</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R25 — Summarecon: How the growth model works</a:t>
            </a:r>
          </a:p>
          <a:p>
            <a:r>
              <a:t>Document pages: 78, 79</a:t>
            </a:r>
          </a:p>
          <a:p/>
          <a:p>
            <a:r>
              <a:t>COMPLETE SOURCE TEXT</a:t>
            </a:r>
          </a:p>
          <a:p>
            <a:r>
              <a:t>Analyst assessment</a:t>
            </a:r>
          </a:p>
          <a:p/>
          <a:p>
            <a:r>
              <a:t>The model connects three activities:</a:t>
            </a:r>
          </a:p>
          <a:p/>
          <a:p>
            <a:r>
              <a:t>1. Residential development generates sales and an initial population. 2. Commercial and community functions make the location more useful. 3. Estate and asset management help preserve the experience after handover.</a:t>
            </a:r>
          </a:p>
          <a:p/>
          <a:p>
            <a:r>
              <a:t>Competitive advantage: Repeated coordination of physical development, commercial activity, and ongoing operations.</a:t>
            </a:r>
          </a:p>
          <a:p/>
          <a:p>
            <a:r>
              <a:t>Economic tension: A facility may help sell surrounding property while taking years to achieve attractive standalone returns.</a:t>
            </a:r>
          </a:p>
          <a:p/>
          <a:p>
            <a:r>
              <a:t>Suggested diagram: Residential occupancy ↔ everyday activity ↔ commercial demand ↔ stronger subsequent releases.</a:t>
            </a:r>
          </a:p>
          <a:p/>
          <a:p>
            <a:r>
              <a:t>Designer note: Show mutual relationships rather than implying that one mall automatically creates a successful township.</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R26 — Summarecon: Financial performance and profit definitions</a:t>
            </a:r>
          </a:p>
          <a:p>
            <a:r>
              <a:t>Document pages: 79</a:t>
            </a:r>
          </a:p>
          <a:p/>
          <a:p>
            <a:r>
              <a:t>COMPLETE SOURCE TEXT</a:t>
            </a:r>
          </a:p>
          <a:p>
            <a:r>
              <a:t>FY2025 reported figures, rounded</a:t>
            </a:r>
          </a:p>
          <a:p/>
          <a:p>
            <a:r>
              <a:t>● Revenue: Rp8.77 trillion ● Total profit for the year: Rp1.20 trillion ● Profit attributable to company owners: Rp767 billion ● FY2024 revenue: Rp10.62 trillion</a:t>
            </a:r>
          </a:p>
          <a:p/>
          <a:p>
            <a:r>
              <a:t>Interpretation</a:t>
            </a:r>
          </a:p>
          <a:p/>
          <a:p>
            <a:r>
              <a:t>The difference between total profit and attributable profit is material. The two figures must not be interchanged in a peer comparison.</a:t>
            </a:r>
          </a:p>
          <a:p/>
          <a:p>
            <a:r>
              <a:t>Lower annual revenue also demonstrates the importance of development recognition and project timing.</a:t>
            </a:r>
          </a:p>
          <a:p/>
          <a:p>
            <a:r>
              <a:t>Suggested chart: Revenue comparison plus a profit bridge separating owners and non-controlling interests.</a:t>
            </a:r>
          </a:p>
          <a:p/>
          <a:p>
            <a:r>
              <a:t>Source: Summarecon May 2026 presentation — consolidated income statements.</a:t>
            </a:r>
          </a:p>
          <a:p/>
          <a:p>
            <a:r>
              <a:t>SOURCE HYPERLINKS (as embedded in Mario’s PDF; not independently reverified)</a:t>
            </a:r>
          </a:p>
          <a:p>
            <a:r>
              <a:t>https://www.summarecon.com/files/article/SMRA%20Presentation%202026-05.pdf</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R27 — Summarecon: SWOT</a:t>
            </a:r>
          </a:p>
          <a:p>
            <a:r>
              <a:t>Document pages: 79, 80</a:t>
            </a:r>
          </a:p>
          <a:p/>
          <a:p>
            <a:r>
              <a:t>COMPLETE SOURCE TEXT</a:t>
            </a:r>
          </a:p>
          <a:p>
            <a:r>
              <a:t>Analyst assessment</a:t>
            </a:r>
          </a:p>
          <a:p/>
          <a:p>
            <a:r>
              <a:t>Strengths | Weaknesses / structural constraints</a:t>
            </a:r>
          </a:p>
          <a:p/>
          <a:p>
            <a:r>
              <a:t>Established township-development capabilities | Significant spending before township maturity</a:t>
            </a:r>
          </a:p>
          <a:p/>
          <a:p>
            <a:r>
              <a:t>Experience coordinating residential and commercial functions | Simultaneous projects compete for capital and management</a:t>
            </a:r>
          </a:p>
          <a:p/>
          <a:p>
            <a:r>
              <a:t>Recognisable development identity | Annual results remain sensitive to handovers</a:t>
            </a:r>
          </a:p>
          <a:p/>
          <a:p>
            <a:r>
              <a:t>Opportunities | Threats</a:t>
            </a:r>
          </a:p>
          <a:p/>
          <a:p>
            <a:r>
              <a:t>Further development within established townships | Buyers delaying purchases</a:t>
            </a:r>
          </a:p>
          <a:p/>
          <a:p>
            <a:r>
              <a:t>Better use of existing commercial infrastructure | Oversupply of similar suburban products</a:t>
            </a:r>
          </a:p>
          <a:p/>
          <a:p>
            <a:r>
              <a:t>Selective replication in suitable markets | Financing costs and delayed infrastructure</a:t>
            </a:r>
          </a:p>
          <a:p/>
          <a:p>
            <a:r>
              <a:t>Suggested visual: SWOT linked to a township maturity curve.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R28 — Summarecon: Lessons for TANRISE</a:t>
            </a:r>
          </a:p>
          <a:p>
            <a:r>
              <a:t>Document pages: 80, 81</a:t>
            </a:r>
          </a:p>
          <a:p/>
          <a:p>
            <a:r>
              <a:t>COMPLETE SOURCE TEXT</a:t>
            </a:r>
          </a:p>
          <a:p>
            <a:r>
              <a:t>Proposed applications</a:t>
            </a:r>
          </a:p>
          <a:p/>
          <a:p>
            <a:r>
              <a:t>● Define what makes each TANRISE location useful on an ordinary weekday. ● Sequence access, basic services, residential occupancy, and larger anchors. ● Give estate management a role in the development strategy. ● Set separate objectives for an anchor’s operating return and its contribution to</a:t>
            </a:r>
          </a:p>
          <a:p/>
          <a:p>
            <a:r>
              <a:t>surrounding property. ● Use smaller facilities to test demand before committing to major capital</a:t>
            </a:r>
          </a:p>
          <a:p/>
          <a:p>
            <a:r>
              <a:t>expenditure.</a:t>
            </a:r>
          </a:p>
          <a:p/>
          <a:p>
            <a:r>
              <a:t>First test: Create an activation and anchor plan for Sidoarjo, with timing tied to realistic occupancy.</a:t>
            </a:r>
          </a:p>
          <a:p/>
          <a:p>
            <a:r>
              <a:t>Avoid copying prematurely: Building a major retail anchor solely because mature competitors own malls.</a:t>
            </a:r>
          </a:p>
          <a:p/>
          <a:p>
            <a:r>
              <a:t>Suggested visual: Township phasing tied to resident numbers and verified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R29 — Pakuwon: Company background and 5W1H</a:t>
            </a:r>
          </a:p>
          <a:p>
            <a:r>
              <a:t>Document pages: 81</a:t>
            </a:r>
          </a:p>
          <a:p/>
          <a:p>
            <a:r>
              <a:t>COMPLETE SOURCE TEXT</a:t>
            </a:r>
          </a:p>
          <a:p>
            <a:r>
              <a:t>● Who: PT Pakuwon Jati Tbk. ● What: Mixed-use development with a substantial retained commercial-property</a:t>
            </a:r>
          </a:p>
          <a:p/>
          <a:p>
            <a:r>
              <a:t>platform. ● Where: Originated in Surabaya and subsequently expanded, including into</a:t>
            </a:r>
          </a:p>
          <a:p/>
          <a:p>
            <a:r>
              <a:t>Jakarta. ● When: Established in 1982; listed in 1989. ● Who is behind it: Alexander Tedja and the founding business-family legacy. ● Why and how — analyst interpretation: Combine retained assets that generate</a:t>
            </a:r>
          </a:p>
          <a:p/>
          <a:p>
            <a:r>
              <a:t>recurring income with property development and sales.</a:t>
            </a:r>
          </a:p>
          <a:p/>
          <a:p>
            <a:r>
              <a:t>Relevant projects: Tunjungan City, Pakuwon Mall, Gandaria City, and Kota Kasablanka.</a:t>
            </a:r>
          </a:p>
          <a:p/>
          <a:p>
            <a:r>
              <a:t>Suggested visual: A mixed-use development diagram separating assets held for income from units developed for sale.</a:t>
            </a:r>
          </a:p>
          <a:p/>
          <a:p>
            <a:r>
              <a:t>Sources: Official history and portfolio, 2025 annual report.</a:t>
            </a:r>
          </a:p>
          <a:p/>
          <a:p>
            <a:r>
              <a:t>SOURCE HYPERLINKS (as embedded in Mario’s PDF; not independently reverified)</a:t>
            </a:r>
          </a:p>
          <a:p>
            <a:r>
              <a:t>https://www.pakuwonjati.com/id/pages/3/history</a:t>
            </a:r>
          </a:p>
          <a:p>
            <a:r>
              <a:t>https://www.pakuwonjati.com/upload/2026/04/69f2e5afd9760-ar-pakuwonjati-2025.pdf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R30 — Pakuwon: Milestones in building recurring income</a:t>
            </a:r>
          </a:p>
          <a:p>
            <a:r>
              <a:t>Document pages: 82</a:t>
            </a:r>
          </a:p>
          <a:p/>
          <a:p>
            <a:r>
              <a:t>COMPLETE SOURCE TEXT</a:t>
            </a:r>
          </a:p>
          <a:p>
            <a:r>
              <a:t>Period | Milestone | Strategic meaning</a:t>
            </a:r>
          </a:p>
          <a:p/>
          <a:p>
            <a:r>
              <a:t>1982 | Company established | Beginning of the platform</a:t>
            </a:r>
          </a:p>
          <a:p/>
          <a:p>
            <a:r>
              <a:t>1986 | Tunjungan Plaza I | Foundational retained retail asset</a:t>
            </a:r>
          </a:p>
          <a:p/>
          <a:p>
            <a:r>
              <a:t>1989 | Public listing | Broader capital access</a:t>
            </a:r>
          </a:p>
          <a:p/>
          <a:p>
            <a:r>
              <a:t>2007 | Entry into Jakarta | Geographic expansion</a:t>
            </a:r>
          </a:p>
          <a:p/>
          <a:p>
            <a:r>
              <a:t>2010 | Gandaria City opened | Replication of mixed-use development</a:t>
            </a:r>
          </a:p>
          <a:p/>
          <a:p>
            <a:r>
              <a:t>2012 | Kota Kasablanka opened | Further expansion of retained commercial income</a:t>
            </a:r>
          </a:p>
          <a:p/>
          <a:p>
            <a:r>
              <a:t>FY2025 Revenue approximately Rp7.11</a:t>
            </a:r>
          </a:p>
          <a:p/>
          <a:p>
            <a:r>
              <a:t>trillion</a:t>
            </a:r>
          </a:p>
          <a:p/>
          <a:p>
            <a:r>
              <a:t>Scale supported by recurring operations</a:t>
            </a:r>
          </a:p>
          <a:p/>
          <a:p>
            <a:r>
              <a:t>Analyst interpretation: Retained assets became a cumulative income base, rather than being replaced each year through new sales.</a:t>
            </a:r>
          </a:p>
          <a:p/>
          <a:p>
            <a:r>
              <a:t>Suggested visual: Timeline with a second line tracking the accumulation of retained assets.</a:t>
            </a:r>
          </a:p>
          <a:p/>
          <a:p>
            <a:r>
              <a:t>Source: Pakuwon company history.</a:t>
            </a:r>
          </a:p>
          <a:p/>
          <a:p>
            <a:r>
              <a:t>SOURCE HYPERLINKS (as embedded in Mario’s PDF; not independently reverified)</a:t>
            </a:r>
          </a:p>
          <a:p>
            <a:r>
              <a:t>https://www.pakuwonjati.com/id/pages/3/history</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R30 — Pakuwon: Milestones in building recurring income</a:t>
            </a:r>
          </a:p>
          <a:p>
            <a:r>
              <a:t>Document pages: 82</a:t>
            </a:r>
          </a:p>
          <a:p/>
          <a:p>
            <a:r>
              <a:t>COMPLETE SOURCE TEXT</a:t>
            </a:r>
          </a:p>
          <a:p>
            <a:r>
              <a:t>Period | Milestone | Strategic meaning</a:t>
            </a:r>
          </a:p>
          <a:p/>
          <a:p>
            <a:r>
              <a:t>1982 | Company established | Beginning of the platform</a:t>
            </a:r>
          </a:p>
          <a:p/>
          <a:p>
            <a:r>
              <a:t>1986 | Tunjungan Plaza I | Foundational retained retail asset</a:t>
            </a:r>
          </a:p>
          <a:p/>
          <a:p>
            <a:r>
              <a:t>1989 | Public listing | Broader capital access</a:t>
            </a:r>
          </a:p>
          <a:p/>
          <a:p>
            <a:r>
              <a:t>2007 | Entry into Jakarta | Geographic expansion</a:t>
            </a:r>
          </a:p>
          <a:p/>
          <a:p>
            <a:r>
              <a:t>2010 | Gandaria City opened | Replication of mixed-use development</a:t>
            </a:r>
          </a:p>
          <a:p/>
          <a:p>
            <a:r>
              <a:t>2012 | Kota Kasablanka opened | Further expansion of retained commercial income</a:t>
            </a:r>
          </a:p>
          <a:p/>
          <a:p>
            <a:r>
              <a:t>FY2025 Revenue approximately Rp7.11</a:t>
            </a:r>
          </a:p>
          <a:p/>
          <a:p>
            <a:r>
              <a:t>trillion</a:t>
            </a:r>
          </a:p>
          <a:p/>
          <a:p>
            <a:r>
              <a:t>Scale supported by recurring operations</a:t>
            </a:r>
          </a:p>
          <a:p/>
          <a:p>
            <a:r>
              <a:t>Analyst interpretation: Retained assets became a cumulative income base, rather than being replaced each year through new sales.</a:t>
            </a:r>
          </a:p>
          <a:p/>
          <a:p>
            <a:r>
              <a:t>Suggested visual: Timeline with a second line tracking the accumulation of retained assets.</a:t>
            </a:r>
          </a:p>
          <a:p/>
          <a:p>
            <a:r>
              <a:t>Source: Pakuwon company history.</a:t>
            </a:r>
          </a:p>
          <a:p/>
          <a:p>
            <a:r>
              <a:t>SOURCE HYPERLINKS (as embedded in Mario’s PDF; not independently reverified)</a:t>
            </a:r>
          </a:p>
          <a:p>
            <a:r>
              <a:t>https://www.pakuwonjati.com/id/pages/3/history</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R31 — Pakuwon: How the growth model works</a:t>
            </a:r>
          </a:p>
          <a:p>
            <a:r>
              <a:t>Document pages: 82, 83</a:t>
            </a:r>
          </a:p>
          <a:p/>
          <a:p>
            <a:r>
              <a:t>COMPLETE SOURCE TEXT</a:t>
            </a:r>
          </a:p>
          <a:p>
            <a:r>
              <a:t>Analyst assessment</a:t>
            </a:r>
          </a:p>
          <a:p/>
          <a:p>
            <a:r>
              <a:t>● Retain selected commercial assets.</a:t>
            </a:r>
          </a:p>
          <a:p/>
          <a:p>
            <a:r>
              <a:t>● Develop an attractive tenant mix and visitor proposition. ● Maintain and improve the operating assets. ● Use adjacent residential, hotel, and office functions where commercially justified. ● Add further phases or locations when demand and funding support them.</a:t>
            </a:r>
          </a:p>
          <a:p/>
          <a:p>
            <a:r>
              <a:t>Competitive advantage: An operating asset can generate income repeatedly, reducing reliance on new development handovers.</a:t>
            </a:r>
          </a:p>
          <a:p/>
          <a:p>
            <a:r>
              <a:t>Trade-off: Retention ties up capital and creates continuing leasing, maintenance, refurbishment, and operating obligations.</a:t>
            </a:r>
          </a:p>
          <a:p/>
          <a:p>
            <a:r>
              <a:t>Suggested diagram: Retained asset → occupancy and tenant trading → rental income → maintenance and reinvestment → further capacity.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R31 — Pakuwon: How the growth model works</a:t>
            </a:r>
          </a:p>
          <a:p>
            <a:r>
              <a:t>Document pages: 82, 83</a:t>
            </a:r>
          </a:p>
          <a:p/>
          <a:p>
            <a:r>
              <a:t>COMPLETE SOURCE TEXT</a:t>
            </a:r>
          </a:p>
          <a:p>
            <a:r>
              <a:t>Analyst assessment</a:t>
            </a:r>
          </a:p>
          <a:p/>
          <a:p>
            <a:r>
              <a:t>● Retain selected commercial assets.</a:t>
            </a:r>
          </a:p>
          <a:p/>
          <a:p>
            <a:r>
              <a:t>● Develop an attractive tenant mix and visitor proposition. ● Maintain and improve the operating assets. ● Use adjacent residential, hotel, and office functions where commercially justified. ● Add further phases or locations when demand and funding support them.</a:t>
            </a:r>
          </a:p>
          <a:p/>
          <a:p>
            <a:r>
              <a:t>Competitive advantage: An operating asset can generate income repeatedly, reducing reliance on new development handovers.</a:t>
            </a:r>
          </a:p>
          <a:p/>
          <a:p>
            <a:r>
              <a:t>Trade-off: Retention ties up capital and creates continuing leasing, maintenance, refurbishment, and operating obligations.</a:t>
            </a:r>
          </a:p>
          <a:p/>
          <a:p>
            <a:r>
              <a:t>Suggested diagram: Retained asset → occupancy and tenant trading → rental income → maintenance and reinvestment → further capacity.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R32 — Pakuwon: Financial evidence of the model</a:t>
            </a:r>
          </a:p>
          <a:p>
            <a:r>
              <a:t>Document pages: 83</a:t>
            </a:r>
          </a:p>
          <a:p/>
          <a:p>
            <a:r>
              <a:t>COMPLETE SOURCE TEXT</a:t>
            </a:r>
          </a:p>
          <a:p>
            <a:r>
              <a:t>FY2025 reported figures, rounded</a:t>
            </a:r>
          </a:p>
          <a:p/>
          <a:p>
            <a:r>
              <a:t>● Revenue: Rp7.11 trillion ● Recurring revenue: approximately Rp5.62 trillion ● Recurring share of revenue: approximately 79% ● Profit attributable to owners: Rp2.35 trillion ● Total profit for the year: approximately Rp2.76 trillion</a:t>
            </a:r>
          </a:p>
          <a:p/>
          <a:p>
            <a:r>
              <a:t>Interpretation</a:t>
            </a:r>
          </a:p>
          <a:p/>
          <a:p>
            <a:r>
              <a:t>Pakuwon provides a useful example of a large recurring-income base. This is different from assuming that any hotel or commercial asset will deliver the same economics.</a:t>
            </a:r>
          </a:p>
          <a:p/>
          <a:p>
            <a:r>
              <a:t>Suggested charts: Revenue composition and a separate attributable-profit figure.</a:t>
            </a:r>
          </a:p>
          <a:p/>
          <a:p>
            <a:r>
              <a:t>Source: Pakuwon 2025 annual report — financial highlights and segment discussion.</a:t>
            </a:r>
          </a:p>
          <a:p/>
          <a:p>
            <a:r>
              <a:t>SOURCE HYPERLINKS (as embedded in Mario’s PDF; not independently reverified)</a:t>
            </a:r>
          </a:p>
          <a:p>
            <a:r>
              <a:t>https://www.pakuwonjati.com/upload/2026/04/69f2e5afd9760-ar-pakuwonjati-2025.pdf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R33 — Pakuwon: SWOT</a:t>
            </a:r>
          </a:p>
          <a:p>
            <a:r>
              <a:t>Document pages: 83, 84</a:t>
            </a:r>
          </a:p>
          <a:p/>
          <a:p>
            <a:r>
              <a:t>COMPLETE SOURCE TEXT</a:t>
            </a:r>
          </a:p>
          <a:p>
            <a:r>
              <a:t>Analyst assessment</a:t>
            </a:r>
          </a:p>
          <a:p/>
          <a:p>
            <a:r>
              <a:t>Strengths | Weaknesses / structural constraints</a:t>
            </a:r>
          </a:p>
          <a:p/>
          <a:p>
            <a:r>
              <a:t>Significant recurring-income platform | Large amount of capital retained in physical assets</a:t>
            </a:r>
          </a:p>
          <a:p/>
          <a:p>
            <a:r>
              <a:t>Experience in retail operations and mixed-use development | Continuing refurbishment and operating expenditure</a:t>
            </a:r>
          </a:p>
          <a:p/>
          <a:p>
            <a:r>
              <a:t>Established destination assets | Exposure to retail and consumer activity</a:t>
            </a:r>
          </a:p>
          <a:p/>
          <a:p>
            <a:r>
              <a:t>Opportunities | Threats</a:t>
            </a:r>
          </a:p>
          <a:p/>
          <a:p>
            <a:r>
              <a:t>Improving productivity of existing space | Weaker tenant trading and household spending</a:t>
            </a:r>
          </a:p>
          <a:p/>
          <a:p>
            <a:r>
              <a:t>Selective extensions and redevelopment | New competing destinations</a:t>
            </a:r>
          </a:p>
          <a:p/>
          <a:p>
            <a:r>
              <a:t>Replication where demand is established | Financing costs, operating-cost inflation, and execution risk</a:t>
            </a:r>
          </a:p>
          <a:p/>
          <a:p>
            <a:r>
              <a:t>Suggested visual: SWOT with a separate distinction between asset ownership and asset-operating capability.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R34 — Pakuwon: Lessons for TANRISE</a:t>
            </a:r>
          </a:p>
          <a:p>
            <a:r>
              <a:t>Document pages: 84, 85</a:t>
            </a:r>
          </a:p>
          <a:p/>
          <a:p>
            <a:r>
              <a:t>COMPLETE SOURCE TEXT</a:t>
            </a:r>
          </a:p>
          <a:p>
            <a:r>
              <a:t>Proposed applications</a:t>
            </a:r>
          </a:p>
          <a:p/>
          <a:p>
            <a:r>
              <a:t>● Build recurring income only where there is demonstrable demand and operating</a:t>
            </a:r>
          </a:p>
          <a:p/>
          <a:p>
            <a:r>
              <a:t>capability.</a:t>
            </a:r>
          </a:p>
          <a:p/>
          <a:p>
            <a:r>
              <a:t>● Measure cash contribution after maintenance and necessary reinvestment. ● Separate an attractive building from an attractive investment. ● Improve the productivity of existing retained assets before expanding the</a:t>
            </a:r>
          </a:p>
          <a:p/>
          <a:p>
            <a:r>
              <a:t>category. ● Use specialist operators where they improve outcomes under clear contracts.</a:t>
            </a:r>
          </a:p>
          <a:p/>
          <a:p>
            <a:r>
              <a:t>First test: Review TANRISE’s retained assets by occupancy, cash contribution, required capital expenditure, and return on invested capital.</a:t>
            </a:r>
          </a:p>
          <a:p/>
          <a:p>
            <a:r>
              <a:t>Avoid copying prematurely: Attempting to build a Pakuwon-sized retail portfolio.</a:t>
            </a:r>
          </a:p>
          <a:p/>
          <a:p>
            <a:r>
              <a:t>Suggested visual: Hold, improve, partner, repurpose, or dispose decision matrix.</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R35 — Agung Podomoro Land: Company background and 5W1H</a:t>
            </a:r>
          </a:p>
          <a:p>
            <a:r>
              <a:t>Document pages: 85</a:t>
            </a:r>
          </a:p>
          <a:p/>
          <a:p>
            <a:r>
              <a:t>COMPLETE SOURCE TEXT</a:t>
            </a:r>
          </a:p>
          <a:p>
            <a:r>
              <a:t>● Who: PT Agung Podomoro Land Tbk. ● What: Residential and mixed-use development, with development sales and</a:t>
            </a:r>
          </a:p>
          <a:p/>
          <a:p>
            <a:r>
              <a:t>selected recurring assets. ● Where: A portfolio extending beyond its original Jakarta base. ● When: The group traces its origins to 1969; the listed issuer was established in</a:t>
            </a:r>
          </a:p>
          <a:p/>
          <a:p>
            <a:r>
              <a:t>2004 and listed in 2010. ● Who is behind it: Group founder Anton Haliman and subsequent leadership</a:t>
            </a:r>
          </a:p>
          <a:p/>
          <a:p>
            <a:r>
              <a:t>associated with Trihatma Kusuma Haliman. ● Why and how — analyst interpretation: Combine multiple uses within</a:t>
            </a:r>
          </a:p>
          <a:p/>
          <a:p>
            <a:r>
              <a:t>developments, supported by development execution and selective retention of operating assets.</a:t>
            </a:r>
          </a:p>
          <a:p/>
          <a:p>
            <a:r>
              <a:t>Key distinction: Group heritage is older than the listed company.</a:t>
            </a:r>
          </a:p>
          <a:p/>
          <a:p>
            <a:r>
              <a:t>Suggested visual: Two parallel timelines: group history and listed-issuer history.</a:t>
            </a:r>
          </a:p>
          <a:p/>
          <a:p>
            <a:r>
              <a:t>Sources: Group history, issuer overview.</a:t>
            </a:r>
          </a:p>
          <a:p/>
          <a:p>
            <a:r>
              <a:t>SOURCE HYPERLINKS (as embedded in Mario’s PDF; not independently reverified)</a:t>
            </a:r>
          </a:p>
          <a:p>
            <a:r>
              <a:t>https://www.agungpodomoroland.com/en/about-us/about/41/history</a:t>
            </a:r>
          </a:p>
          <a:p>
            <a:r>
              <a:t>https://www.agungpodomoroland.com/en/about-us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R36 — Agung Podomoro Land: Milestones and changing emphasis</a:t>
            </a:r>
          </a:p>
          <a:p>
            <a:r>
              <a:t>Document pages: 85, 86</a:t>
            </a:r>
          </a:p>
          <a:p/>
          <a:p>
            <a:r>
              <a:t>COMPLETE SOURCE TEXT</a:t>
            </a:r>
          </a:p>
          <a:p>
            <a:r>
              <a:t>● 1969: Agung Podomoro Group established. ● 1973: Early Simprug completion and Sunter development. ● 1986: Leadership transition to Trihatma Kusuma Haliman. ● 2004: Establishment of the entity that became APLN.</a:t>
            </a:r>
          </a:p>
          <a:p/>
          <a:p>
            <a:r>
              <a:t>● 2010: Asset consolidation and stock-market listing. ● Subsequent period: Expansion through urban mixed-use and residential projects. ● Recent period: Greater importance of asset monetisation, funding discipline, and</a:t>
            </a:r>
          </a:p>
          <a:p/>
          <a:p>
            <a:r>
              <a:t>selective development.</a:t>
            </a:r>
          </a:p>
          <a:p/>
          <a:p>
            <a:r>
              <a:t>Analyst interpretation: Large accumulated portfolios create both opportunities and capital-management obligations.</a:t>
            </a:r>
          </a:p>
          <a:p/>
          <a:p>
            <a:r>
              <a:t>Suggested visual: Timeline with transactions and development milestones clearly differentiated.</a:t>
            </a:r>
          </a:p>
          <a:p/>
          <a:p>
            <a:r>
              <a:t>Sources: Official history, 2025 annual report.</a:t>
            </a:r>
          </a:p>
          <a:p/>
          <a:p>
            <a:r>
              <a:t>SOURCE HYPERLINKS (as embedded in Mario’s PDF; not independently reverified)</a:t>
            </a:r>
          </a:p>
          <a:p>
            <a:r>
              <a:t>https://www.agungpodomoroland.com/en/about-us/about/41/history</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R37 — Agung Podomoro Land: How the model creates value</a:t>
            </a:r>
          </a:p>
          <a:p>
            <a:r>
              <a:t>Document pages: 86</a:t>
            </a:r>
          </a:p>
          <a:p/>
          <a:p>
            <a:r>
              <a:t>COMPLETE SOURCE TEXT</a:t>
            </a:r>
          </a:p>
          <a:p>
            <a:r>
              <a:t>Analyst assessment</a:t>
            </a:r>
          </a:p>
          <a:p/>
          <a:p>
            <a:r>
              <a:t>A mixed-use project can combine:</a:t>
            </a:r>
          </a:p>
          <a:p/>
          <a:p>
            <a:r>
              <a:t>● Units sold to customers. ● Retained space that produces operating income. ● Shared access, infrastructure, and public areas. ● Commercial activity that supports surrounding property.</a:t>
            </a:r>
          </a:p>
          <a:p/>
          <a:p>
            <a:r>
              <a:t>Potential advantage: Several uses can reinforce one another within a relatively concentrated site.</a:t>
            </a:r>
          </a:p>
          <a:p/>
          <a:p>
            <a:r>
              <a:t>Potential weakness: Complex projects increase construction, leasing, phasing, financing, and governance requirements.</a:t>
            </a:r>
          </a:p>
          <a:p/>
          <a:p>
            <a:r>
              <a:t>Research distinction: Selling a completed operating asset can release capital, but it may also reduce future recurring income.</a:t>
            </a:r>
          </a:p>
          <a:p/>
          <a:p>
            <a:r>
              <a:t>Suggested diagram: A mixed-use project with separate cash flows for sales, leases, operating costs, and asset disposals.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R37 — Agung Podomoro Land: How the model creates value</a:t>
            </a:r>
          </a:p>
          <a:p>
            <a:r>
              <a:t>Document pages: 86</a:t>
            </a:r>
          </a:p>
          <a:p/>
          <a:p>
            <a:r>
              <a:t>COMPLETE SOURCE TEXT</a:t>
            </a:r>
          </a:p>
          <a:p>
            <a:r>
              <a:t>Analyst assessment</a:t>
            </a:r>
          </a:p>
          <a:p/>
          <a:p>
            <a:r>
              <a:t>A mixed-use project can combine:</a:t>
            </a:r>
          </a:p>
          <a:p/>
          <a:p>
            <a:r>
              <a:t>● Units sold to customers. ● Retained space that produces operating income. ● Shared access, infrastructure, and public areas. ● Commercial activity that supports surrounding property.</a:t>
            </a:r>
          </a:p>
          <a:p/>
          <a:p>
            <a:r>
              <a:t>Potential advantage: Several uses can reinforce one another within a relatively concentrated site.</a:t>
            </a:r>
          </a:p>
          <a:p/>
          <a:p>
            <a:r>
              <a:t>Potential weakness: Complex projects increase construction, leasing, phasing, financing, and governance requirements.</a:t>
            </a:r>
          </a:p>
          <a:p/>
          <a:p>
            <a:r>
              <a:t>Research distinction: Selling a completed operating asset can release capital, but it may also reduce future recurring income.</a:t>
            </a:r>
          </a:p>
          <a:p/>
          <a:p>
            <a:r>
              <a:t>Suggested diagram: A mixed-use project with separate cash flows for sales, leases, operating costs, and asset disposals.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R38 — Agung Podomoro Land: Financial scale and variability</a:t>
            </a:r>
          </a:p>
          <a:p>
            <a:r>
              <a:t>Document pages: 86, 87</a:t>
            </a:r>
          </a:p>
          <a:p/>
          <a:p>
            <a:r>
              <a:t>COMPLETE SOURCE TEXT</a:t>
            </a:r>
          </a:p>
          <a:p>
            <a:r>
              <a:t>FY2025 reported figures, rounded</a:t>
            </a:r>
          </a:p>
          <a:p/>
          <a:p>
            <a:r>
              <a:t>● Revenue: Rp3.57 trillion ● FY2024 revenue: Rp5.58 trillion</a:t>
            </a:r>
          </a:p>
          <a:p/>
          <a:p>
            <a:r>
              <a:t>● Recurring revenue: approximately Rp1.36 trillion ● Profit attributable to owners: approximately Rp113 billion ● Total profit for the year: approximately Rp239 billion</a:t>
            </a:r>
          </a:p>
          <a:p/>
          <a:p>
            <a:r>
              <a:t>Interpretation</a:t>
            </a:r>
          </a:p>
          <a:p/>
          <a:p>
            <a:r>
              <a:t>A sizeable physical portfolio does not automatically produce high attributable earnings.</a:t>
            </a:r>
          </a:p>
          <a:p/>
          <a:p>
            <a:r>
              <a:t>The year-to-year decline requires examination of handovers, asset disposals, financing, and operating mix—not a conclusion that the brand alone weakened.</a:t>
            </a:r>
          </a:p>
          <a:p/>
          <a:p>
            <a:r>
              <a:t>Suggested chart: Revenue composition alongside a revenue-to-attributable-profit bridge.</a:t>
            </a:r>
          </a:p>
          <a:p/>
          <a:p>
            <a:r>
              <a:t>Source: APLN 2025 annual report — financial highlights and operating review.</a:t>
            </a:r>
          </a:p>
          <a:p/>
          <a:p>
            <a:r>
              <a:t>SOURCE HYPERLINKS (as embedded in Mario’s PDF; not independently reverified)</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R38 — Agung Podomoro Land: Financial scale and variability</a:t>
            </a:r>
          </a:p>
          <a:p>
            <a:r>
              <a:t>Document pages: 86, 87</a:t>
            </a:r>
          </a:p>
          <a:p/>
          <a:p>
            <a:r>
              <a:t>COMPLETE SOURCE TEXT</a:t>
            </a:r>
          </a:p>
          <a:p>
            <a:r>
              <a:t>FY2025 reported figures, rounded</a:t>
            </a:r>
          </a:p>
          <a:p/>
          <a:p>
            <a:r>
              <a:t>● Revenue: Rp3.57 trillion ● FY2024 revenue: Rp5.58 trillion</a:t>
            </a:r>
          </a:p>
          <a:p/>
          <a:p>
            <a:r>
              <a:t>● Recurring revenue: approximately Rp1.36 trillion ● Profit attributable to owners: approximately Rp113 billion ● Total profit for the year: approximately Rp239 billion</a:t>
            </a:r>
          </a:p>
          <a:p/>
          <a:p>
            <a:r>
              <a:t>Interpretation</a:t>
            </a:r>
          </a:p>
          <a:p/>
          <a:p>
            <a:r>
              <a:t>A sizeable physical portfolio does not automatically produce high attributable earnings.</a:t>
            </a:r>
          </a:p>
          <a:p/>
          <a:p>
            <a:r>
              <a:t>The year-to-year decline requires examination of handovers, asset disposals, financing, and operating mix—not a conclusion that the brand alone weakened.</a:t>
            </a:r>
          </a:p>
          <a:p/>
          <a:p>
            <a:r>
              <a:t>Suggested chart: Revenue composition alongside a revenue-to-attributable-profit bridge.</a:t>
            </a:r>
          </a:p>
          <a:p/>
          <a:p>
            <a:r>
              <a:t>Source: APLN 2025 annual report — financial highlights and operating review.</a:t>
            </a:r>
          </a:p>
          <a:p/>
          <a:p>
            <a:r>
              <a:t>SOURCE HYPERLINKS (as embedded in Mario’s PDF; not independently reverified)</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R39 — Agung Podomoro Land: SWOT</a:t>
            </a:r>
          </a:p>
          <a:p>
            <a:r>
              <a:t>Document pages: 87, 88</a:t>
            </a:r>
          </a:p>
          <a:p/>
          <a:p>
            <a:r>
              <a:t>COMPLETE SOURCE TEXT</a:t>
            </a:r>
          </a:p>
          <a:p>
            <a:r>
              <a:t>Analyst assessment</a:t>
            </a:r>
          </a:p>
          <a:p/>
          <a:p>
            <a:r>
              <a:t>Strengths | Weaknesses / structural constraints</a:t>
            </a:r>
          </a:p>
          <a:p/>
          <a:p>
            <a:r>
              <a:t>Mixed-use development experience | Complex development and financing requirements</a:t>
            </a:r>
          </a:p>
          <a:p/>
          <a:p>
            <a:r>
              <a:t>Recognisable projects and accumulated assets | Asset monetisation may reduce future operating income</a:t>
            </a:r>
          </a:p>
          <a:p/>
          <a:p>
            <a:r>
              <a:t>Ability to combine sale and retained components | Portfolio size can exceed available capital or management capacity</a:t>
            </a:r>
          </a:p>
          <a:p/>
          <a:p>
            <a:r>
              <a:t>Opportunities | Threats</a:t>
            </a:r>
          </a:p>
          <a:p/>
          <a:p>
            <a:r>
              <a:t>More focused allocation of capital | Slow absorption of high-rise inventory</a:t>
            </a:r>
          </a:p>
          <a:p/>
          <a:p>
            <a:r>
              <a:t>Partnerships and asset recycling | Refinancing and construction-cost pressures</a:t>
            </a:r>
          </a:p>
          <a:p/>
          <a:p>
            <a:r>
              <a:t>Selective growth in suitable residential locations | Retail, office, or residential oversupply in individual markets</a:t>
            </a:r>
          </a:p>
          <a:p/>
          <a:p>
            <a:r>
              <a:t>Suggested visual: SWOT with capital allocation at its centre.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R40 — Agung Podomoro Land: Lessons for TANRISE</a:t>
            </a:r>
          </a:p>
          <a:p>
            <a:r>
              <a:t>Document pages: 88</a:t>
            </a:r>
          </a:p>
          <a:p/>
          <a:p>
            <a:r>
              <a:t>COMPLETE SOURCE TEXT</a:t>
            </a:r>
          </a:p>
          <a:p>
            <a:r>
              <a:t>Proposed applications</a:t>
            </a:r>
          </a:p>
          <a:p/>
          <a:p>
            <a:r>
              <a:t>● Give every major development a complete funding plan. ● Evaluate retained components separately from saleable inventory. ● Track capital tied up in completed but unproductive assets. ● Use partnerships or asset recycling where they improve returns. ● Match portfolio complexity to management capacity.</a:t>
            </a:r>
          </a:p>
          <a:p/>
          <a:p>
            <a:r>
              <a:t>First test: Establish a capital-productivity review for Voza Tower and other material inventory or retained assets, using client-confirmed ownership and operating data.</a:t>
            </a:r>
          </a:p>
          <a:p/>
          <a:p>
            <a:r>
              <a:t>Avoid copying prematurely: Complex mixed-use development without a clear sequence of demand, delivery, and financing.</a:t>
            </a:r>
          </a:p>
          <a:p/>
          <a:p>
            <a:r>
              <a:t>Suggested visual: Capital deployed versus cash generated by asset.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R41 — Duta Pertiwi: Company background and 5W1H</a:t>
            </a:r>
          </a:p>
          <a:p>
            <a:r>
              <a:t>Document pages: 88, 89</a:t>
            </a:r>
          </a:p>
          <a:p/>
          <a:p>
            <a:r>
              <a:t>COMPLETE SOURCE TEXT</a:t>
            </a:r>
          </a:p>
          <a:p>
            <a:r>
              <a:t>● Who: PT Duta Pertiwi Tbk, a listed company within the BSDE/Sinar Mas Land</a:t>
            </a:r>
          </a:p>
          <a:p/>
          <a:p>
            <a:r>
              <a:t>structure. ● What: Township, residential, commercial, and managed-property activities. ● Where: Greater Jakarta and selected other Indonesian locations. ● When: Established in 1972; listed in 1994.</a:t>
            </a:r>
          </a:p>
          <a:p/>
          <a:p>
            <a:r>
              <a:t>● Who is behind it: Its present group context is Sinar Mas Land through BSDE. Do</a:t>
            </a:r>
          </a:p>
          <a:p/>
          <a:p>
            <a:r>
              <a:t>not invent an individual founder where the reviewed evidence does not establish one. ● Why and how — analyst interpretation: Build on commercial-development</a:t>
            </a:r>
          </a:p>
          <a:p/>
          <a:p>
            <a:r>
              <a:t>experience while expanding into residential and township activities.</a:t>
            </a:r>
          </a:p>
          <a:p/>
          <a:p>
            <a:r>
              <a:t>Critical distinction: DUTI’s financial results are consolidated within BSDE.</a:t>
            </a:r>
          </a:p>
          <a:p/>
          <a:p>
            <a:r>
              <a:t>Suggested visual: Ownership structure with a prominent consolidation boundary.</a:t>
            </a:r>
          </a:p>
          <a:p/>
          <a:p>
            <a:r>
              <a:t>Source: DUTI 2025 annual report — company profile and ownership.</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R42 — Duta Pertiwi: Milestones</a:t>
            </a:r>
          </a:p>
          <a:p>
            <a:r>
              <a:t>Document pages: 89, 90</a:t>
            </a:r>
          </a:p>
          <a:p/>
          <a:p>
            <a:r>
              <a:t>COMPLETE SOURCE TEXT</a:t>
            </a:r>
          </a:p>
          <a:p>
            <a:r>
              <a:t>Period | Milestone</a:t>
            </a:r>
          </a:p>
          <a:p/>
          <a:p>
            <a:r>
              <a:t>1972 | Company established</a:t>
            </a:r>
          </a:p>
          <a:p/>
          <a:p>
            <a:r>
              <a:t>1987 | Early commercial and residential development</a:t>
            </a:r>
          </a:p>
          <a:p/>
          <a:p>
            <a:r>
              <a:t>1989 | Development of the Mangga Dua commercial concept</a:t>
            </a:r>
          </a:p>
          <a:p/>
          <a:p>
            <a:r>
              <a:t>1994 | Public listing</a:t>
            </a:r>
          </a:p>
          <a:p/>
          <a:p>
            <a:r>
              <a:t>1996–1997 | Kota Wisata and Legenda Wisata development milestones</a:t>
            </a:r>
          </a:p>
          <a:p/>
          <a:p>
            <a:r>
              <a:t>2010 | Acquisition into BSDE’s consolidated platform</a:t>
            </a:r>
          </a:p>
          <a:p/>
          <a:p>
            <a:r>
              <a:t>Subsequent period | Further township and commercial-asset development</a:t>
            </a:r>
          </a:p>
          <a:p/>
          <a:p>
            <a:r>
              <a:t>Research caution: An official group webpage compresses the establishment and later ownership chronology. The presentation should not imply that DUTI was founded in 1972 as a subsidiary of BSDE, which was established later.</a:t>
            </a:r>
          </a:p>
          <a:p/>
          <a:p>
            <a:r>
              <a:t>Suggested visual: Timeline separating establishment from changes in ownership.</a:t>
            </a:r>
          </a:p>
          <a:p/>
          <a:p>
            <a:r>
              <a:t>Sources: DUTI history, BSDE history.</a:t>
            </a:r>
          </a:p>
          <a:p/>
          <a:p>
            <a:r>
              <a:t>SOURCE HYPERLINKS (as embedded in Mario’s PDF; not independently reverified)</a:t>
            </a:r>
          </a:p>
          <a:p>
            <a:r>
              <a:t>https://www.sinarmasland.com/about-us/history-duta-pertiwi</a:t>
            </a:r>
          </a:p>
          <a:p>
            <a:r>
              <a:t>https://www.sinarmasland.com/about-us/history-bumi-serpong-damai</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R42 — Duta Pertiwi: Milestones</a:t>
            </a:r>
          </a:p>
          <a:p>
            <a:r>
              <a:t>Document pages: 89, 90</a:t>
            </a:r>
          </a:p>
          <a:p/>
          <a:p>
            <a:r>
              <a:t>COMPLETE SOURCE TEXT</a:t>
            </a:r>
          </a:p>
          <a:p>
            <a:r>
              <a:t>Period | Milestone</a:t>
            </a:r>
          </a:p>
          <a:p/>
          <a:p>
            <a:r>
              <a:t>1972 | Company established</a:t>
            </a:r>
          </a:p>
          <a:p/>
          <a:p>
            <a:r>
              <a:t>1987 | Early commercial and residential development</a:t>
            </a:r>
          </a:p>
          <a:p/>
          <a:p>
            <a:r>
              <a:t>1989 | Development of the Mangga Dua commercial concept</a:t>
            </a:r>
          </a:p>
          <a:p/>
          <a:p>
            <a:r>
              <a:t>1994 | Public listing</a:t>
            </a:r>
          </a:p>
          <a:p/>
          <a:p>
            <a:r>
              <a:t>1996–1997 | Kota Wisata and Legenda Wisata development milestones</a:t>
            </a:r>
          </a:p>
          <a:p/>
          <a:p>
            <a:r>
              <a:t>2010 | Acquisition into BSDE’s consolidated platform</a:t>
            </a:r>
          </a:p>
          <a:p/>
          <a:p>
            <a:r>
              <a:t>Subsequent period | Further township and commercial-asset development</a:t>
            </a:r>
          </a:p>
          <a:p/>
          <a:p>
            <a:r>
              <a:t>Research caution: An official group webpage compresses the establishment and later ownership chronology. The presentation should not imply that DUTI was founded in 1972 as a subsidiary of BSDE, which was established later.</a:t>
            </a:r>
          </a:p>
          <a:p/>
          <a:p>
            <a:r>
              <a:t>Suggested visual: Timeline separating establishment from changes in ownership.</a:t>
            </a:r>
          </a:p>
          <a:p/>
          <a:p>
            <a:r>
              <a:t>Sources: DUTI history, BSDE history.</a:t>
            </a:r>
          </a:p>
          <a:p/>
          <a:p>
            <a:r>
              <a:t>SOURCE HYPERLINKS (as embedded in Mario’s PDF; not independently reverified)</a:t>
            </a:r>
          </a:p>
          <a:p>
            <a:r>
              <a:t>https://www.sinarmasland.com/about-us/history-duta-pertiwi</a:t>
            </a:r>
          </a:p>
          <a:p>
            <a:r>
              <a:t>https://www.sinarmasland.com/about-us/history-bumi-serpong-damai</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R43 — Duta Pertiwi: How the model works</a:t>
            </a:r>
          </a:p>
          <a:p>
            <a:r>
              <a:t>Document pages: 90</a:t>
            </a:r>
          </a:p>
          <a:p/>
          <a:p>
            <a:r>
              <a:t>COMPLETE SOURCE TEXT</a:t>
            </a:r>
          </a:p>
          <a:p>
            <a:r>
              <a:t>Analyst assessment</a:t>
            </a:r>
          </a:p>
          <a:p/>
          <a:p>
            <a:r>
              <a:t>DUTI illustrates the interaction between:</a:t>
            </a:r>
          </a:p>
          <a:p/>
          <a:p>
            <a:r>
              <a:t>● Property developed for sale. ● Commercial properties and related activities. ● Township expansion. ● Capabilities and resources available within a larger group.</a:t>
            </a:r>
          </a:p>
          <a:p/>
          <a:p>
            <a:r>
              <a:t>Competitive advantage: Experience accumulated across different property formats can support new development phases.</a:t>
            </a:r>
          </a:p>
          <a:p/>
          <a:p>
            <a:r>
              <a:t>Important qualification: Affiliation does not make capital free, eliminate minority-shareholder interests, or guarantee equal profitability across projects.</a:t>
            </a:r>
          </a:p>
          <a:p/>
          <a:p>
            <a:r>
              <a:t>Suggested diagram: DUTI’s operating activities inside the BSDE consolidation boundary, with parent and subsidiary cash flows kept distinct.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R43 — Duta Pertiwi: How the model works</a:t>
            </a:r>
          </a:p>
          <a:p>
            <a:r>
              <a:t>Document pages: 90</a:t>
            </a:r>
          </a:p>
          <a:p/>
          <a:p>
            <a:r>
              <a:t>COMPLETE SOURCE TEXT</a:t>
            </a:r>
          </a:p>
          <a:p>
            <a:r>
              <a:t>Analyst assessment</a:t>
            </a:r>
          </a:p>
          <a:p/>
          <a:p>
            <a:r>
              <a:t>DUTI illustrates the interaction between:</a:t>
            </a:r>
          </a:p>
          <a:p/>
          <a:p>
            <a:r>
              <a:t>● Property developed for sale. ● Commercial properties and related activities. ● Township expansion. ● Capabilities and resources available within a larger group.</a:t>
            </a:r>
          </a:p>
          <a:p/>
          <a:p>
            <a:r>
              <a:t>Competitive advantage: Experience accumulated across different property formats can support new development phases.</a:t>
            </a:r>
          </a:p>
          <a:p/>
          <a:p>
            <a:r>
              <a:t>Important qualification: Affiliation does not make capital free, eliminate minority-shareholder interests, or guarantee equal profitability across projects.</a:t>
            </a:r>
          </a:p>
          <a:p/>
          <a:p>
            <a:r>
              <a:t>Suggested diagram: DUTI’s operating activities inside the BSDE consolidation boundary, with parent and subsidiary cash flows kept distinct.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R44 — Duta Pertiwi: Financial scale and consolidation</a:t>
            </a:r>
          </a:p>
          <a:p>
            <a:r>
              <a:t>Document pages: 90, 91</a:t>
            </a:r>
          </a:p>
          <a:p/>
          <a:p>
            <a:r>
              <a:t>COMPLETE SOURCE TEXT</a:t>
            </a:r>
          </a:p>
          <a:p>
            <a:r>
              <a:t>FY2025 reported figures, rounded</a:t>
            </a:r>
          </a:p>
          <a:p/>
          <a:p>
            <a:r>
              <a:t>● Revenue: Rp2.73 trillion ● FY2024 revenue: Rp4.42 trillion ● Profit attributable to owners: approximately Rp422 billion ● Total profit for the year: approximately Rp624 billion</a:t>
            </a:r>
          </a:p>
          <a:p/>
          <a:p>
            <a:r>
              <a:t>Interpretation</a:t>
            </a:r>
          </a:p>
          <a:p/>
          <a:p>
            <a:r>
              <a:t>DUTI is a useful operating case, but counting it independently alongside BSDE creates an overlap when assessing developer groups.</a:t>
            </a:r>
          </a:p>
          <a:p/>
          <a:p>
            <a:r>
              <a:t>Comparison rule: Choose either an issuer-based comparison or a group-based comparison, then apply the rule consistently.</a:t>
            </a:r>
          </a:p>
          <a:p/>
          <a:p>
            <a:r>
              <a:t>Suggested visual: A consolidation diagram showing why BSDE revenue plus DUTI revenue is not an independent group total.</a:t>
            </a:r>
          </a:p>
          <a:p/>
          <a:p>
            <a:r>
              <a:t>Source: DUTI 2025 annual report — financial highlights.</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R45 — Duta Pertiwi: SWOT</a:t>
            </a:r>
          </a:p>
          <a:p>
            <a:r>
              <a:t>Document pages: 91, 92</a:t>
            </a:r>
          </a:p>
          <a:p/>
          <a:p>
            <a:r>
              <a:t>COMPLETE SOURCE TEXT</a:t>
            </a:r>
          </a:p>
          <a:p>
            <a:r>
              <a:t>Analyst assessment</a:t>
            </a:r>
          </a:p>
          <a:p/>
          <a:p>
            <a:r>
              <a:t>Strengths | Weaknesses / structural constraints</a:t>
            </a:r>
          </a:p>
          <a:p/>
          <a:p>
            <a:r>
              <a:t>Established development experience | Complex group and subsidiary comparisons</a:t>
            </a:r>
          </a:p>
          <a:p/>
          <a:p>
            <a:r>
              <a:t>Mix of development and managed assets | Development revenue remains sensitive to timing</a:t>
            </a:r>
          </a:p>
          <a:p/>
          <a:p>
            <a:r>
              <a:t>Access to a broader group platform | Different asset formats require different operating capabilities</a:t>
            </a:r>
          </a:p>
          <a:p/>
          <a:p>
            <a:r>
              <a:t>Opportunities | Threats</a:t>
            </a:r>
          </a:p>
          <a:p/>
          <a:p>
            <a:r>
              <a:t>New phases within established locations | Changes in retail and commercial demand</a:t>
            </a:r>
          </a:p>
          <a:p/>
          <a:p>
            <a:r>
              <a:t>Better productivity of existing assets | Competition from newer destinations</a:t>
            </a:r>
          </a:p>
          <a:p/>
          <a:p>
            <a:r>
              <a:t>Selective reuse or repositioning of mature properties | Affordability, construction, and financing pressures</a:t>
            </a:r>
          </a:p>
          <a:p/>
          <a:p>
            <a:r>
              <a:t>Suggested visual: SWOT with distinct icons for development, asset management, and group structure.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R46 — Duta Pertiwi: Lessons for TANRISE</a:t>
            </a:r>
          </a:p>
          <a:p>
            <a:r>
              <a:t>Document pages: 92</a:t>
            </a:r>
          </a:p>
          <a:p/>
          <a:p>
            <a:r>
              <a:t>COMPLETE SOURCE TEXT</a:t>
            </a:r>
          </a:p>
          <a:p>
            <a:r>
              <a:t>Proposed applications</a:t>
            </a:r>
          </a:p>
          <a:p/>
          <a:p>
            <a:r>
              <a:t>● Make ownership, operation, and brand endorsement explicit. ● Establish a single project register across the relevant TANRISE reporting</a:t>
            </a:r>
          </a:p>
          <a:p/>
          <a:p>
            <a:r>
              <a:t>perimeter. ● Separate management arrangements from asset ownership. ● Report project economics before and after minority interests. ● Avoid double counting projects, revenue, or earnings across related platforms.</a:t>
            </a:r>
          </a:p>
          <a:p/>
          <a:p>
            <a:r>
              <a:t>First test: Produce a verified map of TANRISE entities, project companies, assets, operators, and reporting treatment.</a:t>
            </a:r>
          </a:p>
          <a:p/>
          <a:p>
            <a:r>
              <a:t>Avoid copying prematurely: A complicated corporate architecture without a clear commercial or financing purpose.</a:t>
            </a:r>
          </a:p>
          <a:p/>
          <a:p>
            <a:r>
              <a:t>Suggested visual: Legal entity → asset owner → operator → customer-facing brand.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R47 — Alam Sutera: Company background and 5W1H</a:t>
            </a:r>
          </a:p>
          <a:p>
            <a:r>
              <a:t>Document pages: 92, 93</a:t>
            </a:r>
          </a:p>
          <a:p/>
          <a:p>
            <a:r>
              <a:t>COMPLETE SOURCE TEXT</a:t>
            </a:r>
          </a:p>
          <a:p>
            <a:r>
              <a:t>● Who: PT Alam Sutera Realty Tbk. ● What: Integrated residential and commercial development with selected operating</a:t>
            </a:r>
          </a:p>
          <a:p/>
          <a:p>
            <a:r>
              <a:t>assets. ● Where: Principal township identities include Alam Sutera and Suvarna Sutera; the</a:t>
            </a:r>
          </a:p>
          <a:p/>
          <a:p>
            <a:r>
              <a:t>portfolio also includes GWK Cultural Park in Bali.</a:t>
            </a:r>
          </a:p>
          <a:p/>
          <a:p>
            <a:r>
              <a:t>● When: The corporate entity predates the Alam Sutera development, which began</a:t>
            </a:r>
          </a:p>
          <a:p/>
          <a:p>
            <a:r>
              <a:t>in 1994; public listing followed in 2007. ● Who is behind it: Haryanto Tirtohadiguno and the founding business-family</a:t>
            </a:r>
          </a:p>
          <a:p/>
          <a:p>
            <a:r>
              <a:t>legacy. ● Why and how — analyst interpretation: Build residential appeal through a</a:t>
            </a:r>
          </a:p>
          <a:p/>
          <a:p>
            <a:r>
              <a:t>coordinated environment and supporting commercial functions.</a:t>
            </a:r>
          </a:p>
          <a:p/>
          <a:p>
            <a:r>
              <a:t>Suggested visual: Portfolio map distinguishing townships, commercial assets, and tourism exposure.</a:t>
            </a:r>
          </a:p>
          <a:p/>
          <a:p>
            <a:r>
              <a:t>Sources: Official portfolio overview, 2025 annual report.</a:t>
            </a:r>
          </a:p>
          <a:p/>
          <a:p>
            <a:r>
              <a:t>SOURCE HYPERLINKS (as embedded in Mario’s PDF; not independently reverified)</a:t>
            </a:r>
          </a:p>
          <a:p>
            <a:r>
              <a:t>https://alamsuterarealty.co.id/overview</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R48 — Alam Sutera: Development milestones</a:t>
            </a:r>
          </a:p>
          <a:p>
            <a:r>
              <a:t>Document pages: 93</a:t>
            </a:r>
          </a:p>
          <a:p/>
          <a:p>
            <a:r>
              <a:t>COMPLETE SOURCE TEXT</a:t>
            </a:r>
          </a:p>
          <a:p>
            <a:r>
              <a:t>Milestone sequence</a:t>
            </a:r>
          </a:p>
          <a:p/>
          <a:p>
            <a:r>
              <a:t>● 1994: Alam Sutera township development began. ● 2007: Public listing. ● 2010s: Additional commercial and office functions developed. ● 2012: Mall @ Alam Sutera. ● Subsequent period: Further development of Suvarna Sutera and operating assets. ● Current portfolio: Township development combined with commercial and</a:t>
            </a:r>
          </a:p>
          <a:p/>
          <a:p>
            <a:r>
              <a:t>tourism-related activities.</a:t>
            </a:r>
          </a:p>
          <a:p/>
          <a:p>
            <a:r>
              <a:t>Analyst interpretation: The company demonstrates both the value of a coherent township identity and the additional complexity created by diversification.</a:t>
            </a:r>
          </a:p>
          <a:p/>
          <a:p>
            <a:r>
              <a:t>Suggested visual: A timeline with separate township, commercial, and tourism tracks.</a:t>
            </a:r>
          </a:p>
          <a:p/>
          <a:p>
            <a:r>
              <a:t>Source: Official Alam Sutera overview and portfolio.</a:t>
            </a:r>
          </a:p>
          <a:p/>
          <a:p>
            <a:r>
              <a:t>SOURCE HYPERLINKS (as embedded in Mario’s PDF; not independently reverified)</a:t>
            </a:r>
          </a:p>
          <a:p>
            <a:r>
              <a:t>https://alamsuterarealty.co.id/overview</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R49 — Alam Sutera: How the growth model works</a:t>
            </a:r>
          </a:p>
          <a:p>
            <a:r>
              <a:t>Document pages: 93, 94</a:t>
            </a:r>
          </a:p>
          <a:p/>
          <a:p>
            <a:r>
              <a:t>COMPLETE SOURCE TEXT</a:t>
            </a:r>
          </a:p>
          <a:p>
            <a:r>
              <a:t>Analyst assessment</a:t>
            </a:r>
          </a:p>
          <a:p/>
          <a:p>
            <a:r>
              <a:t>The township model depends on creating confidence in a location through:</a:t>
            </a:r>
          </a:p>
          <a:p/>
          <a:p>
            <a:r>
              <a:t>● Access and infrastructure. ● Residential delivery. ● Supporting facilities. ● Commercial activity. ● Continuing estate quality.</a:t>
            </a:r>
          </a:p>
          <a:p/>
          <a:p>
            <a:r>
              <a:t>Competitive advantage: A recognisable environment can support customer preference across development phases.</a:t>
            </a:r>
          </a:p>
          <a:p/>
          <a:p>
            <a:r>
              <a:t>Strategic tension: Diversification can introduce different demand cycles and operating requirements. Tourism assets, offices, retail, and residential projects should not be assessed using the same performance measures.</a:t>
            </a:r>
          </a:p>
          <a:p/>
          <a:p>
            <a:r>
              <a:t>Suggested diagram: Separate operating models feeding into one corporate capital-allocation process.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R49 — Alam Sutera: How the growth model works</a:t>
            </a:r>
          </a:p>
          <a:p>
            <a:r>
              <a:t>Document pages: 93, 94</a:t>
            </a:r>
          </a:p>
          <a:p/>
          <a:p>
            <a:r>
              <a:t>COMPLETE SOURCE TEXT</a:t>
            </a:r>
          </a:p>
          <a:p>
            <a:r>
              <a:t>Analyst assessment</a:t>
            </a:r>
          </a:p>
          <a:p/>
          <a:p>
            <a:r>
              <a:t>The township model depends on creating confidence in a location through:</a:t>
            </a:r>
          </a:p>
          <a:p/>
          <a:p>
            <a:r>
              <a:t>● Access and infrastructure. ● Residential delivery. ● Supporting facilities. ● Commercial activity. ● Continuing estate quality.</a:t>
            </a:r>
          </a:p>
          <a:p/>
          <a:p>
            <a:r>
              <a:t>Competitive advantage: A recognisable environment can support customer preference across development phases.</a:t>
            </a:r>
          </a:p>
          <a:p/>
          <a:p>
            <a:r>
              <a:t>Strategic tension: Diversification can introduce different demand cycles and operating requirements. Tourism assets, offices, retail, and residential projects should not be assessed using the same performance measures.</a:t>
            </a:r>
          </a:p>
          <a:p/>
          <a:p>
            <a:r>
              <a:t>Suggested diagram: Separate operating models feeding into one corporate capital-allocation process.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R50 — Alam Sutera: Financial results and earnings quality</a:t>
            </a:r>
          </a:p>
          <a:p>
            <a:r>
              <a:t>Document pages: 94</a:t>
            </a:r>
          </a:p>
          <a:p/>
          <a:p>
            <a:r>
              <a:t>COMPLETE SOURCE TEXT</a:t>
            </a:r>
          </a:p>
          <a:p>
            <a:r>
              <a:t>FY2025 reported figures, rounded</a:t>
            </a:r>
          </a:p>
          <a:p/>
          <a:p>
            <a:r>
              <a:t>● Revenue: Rp2.93 trillion ● FY2024 revenue: Rp3.43 trillion ● Profit attributable to owners: approximately Rp313 billion ● FY2024 attributable profit: approximately Rp55 billion</a:t>
            </a:r>
          </a:p>
          <a:p/>
          <a:p>
            <a:r>
              <a:t>Interpretation</a:t>
            </a:r>
          </a:p>
          <a:p/>
          <a:p>
            <a:r>
              <a:t>Attributable profit increased despite lower revenue. This requires examination of margins, financing, and other income or expenses before attributing the improvement to sales growth.</a:t>
            </a:r>
          </a:p>
          <a:p/>
          <a:p>
            <a:r>
              <a:t>Data rule: Do not substitute comprehensive income for net profit.</a:t>
            </a:r>
          </a:p>
          <a:p/>
          <a:p>
            <a:r>
              <a:t>Suggested chart: Revenue and attributable profit in separate panels.</a:t>
            </a:r>
          </a:p>
          <a:p/>
          <a:p>
            <a:r>
              <a:t>Source: ASRI 2025 annual report — audited financial statements.</a:t>
            </a:r>
          </a:p>
          <a:p/>
          <a:p>
            <a:r>
              <a:t>SOURCE HYPERLINKS (as embedded in Mario’s PDF; not independently reverified)</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R51 — Alam Sutera: SWOT</a:t>
            </a:r>
          </a:p>
          <a:p>
            <a:r>
              <a:t>Document pages: 94, 95</a:t>
            </a:r>
          </a:p>
          <a:p/>
          <a:p>
            <a:r>
              <a:t>COMPLETE SOURCE TEXT</a:t>
            </a:r>
          </a:p>
          <a:p>
            <a:r>
              <a:t>Analyst assessment</a:t>
            </a:r>
          </a:p>
          <a:p/>
          <a:p>
            <a:r>
              <a:t>Strengths | Weaknesses / structural constraints</a:t>
            </a:r>
          </a:p>
          <a:p/>
          <a:p>
            <a:r>
              <a:t>Established township identity | Capital committed across different business formats</a:t>
            </a:r>
          </a:p>
          <a:p/>
          <a:p>
            <a:r>
              <a:t>Integrated residential and commercial environment | Financing can reduce flexibility</a:t>
            </a:r>
          </a:p>
          <a:p/>
          <a:p>
            <a:r>
              <a:t>Experience in long-term area development | Mature areas require future pipeline replenishment</a:t>
            </a:r>
          </a:p>
          <a:p/>
          <a:p>
            <a:r>
              <a:t>Opportunities | Threats</a:t>
            </a:r>
          </a:p>
          <a:p/>
          <a:p>
            <a:r>
              <a:t>Additional phases in suitable locations | Competing residential products</a:t>
            </a:r>
          </a:p>
          <a:p/>
          <a:p>
            <a:r>
              <a:t>Greater productivity of existing assets | Interest-rate and refinancing pressures</a:t>
            </a:r>
          </a:p>
          <a:p/>
          <a:p>
            <a:r>
              <a:t>Better alignment of product and local demand | Tourism volatility and environmental risks</a:t>
            </a:r>
          </a:p>
          <a:p/>
          <a:p>
            <a:r>
              <a:t>Suggested visual: SWOT with a portfolio-concentration and funding lens.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R52 — Alam Sutera: Lessons for TANRISE</a:t>
            </a:r>
          </a:p>
          <a:p>
            <a:r>
              <a:t>Document pages: 95, 96</a:t>
            </a:r>
          </a:p>
          <a:p/>
          <a:p>
            <a:r>
              <a:t>COMPLETE SOURCE TEXT</a:t>
            </a:r>
          </a:p>
          <a:p>
            <a:r>
              <a:t>Proposed applications</a:t>
            </a:r>
          </a:p>
          <a:p/>
          <a:p>
            <a:r>
              <a:t>● Make each development’s promise visible in its physical environment. ● Protect basic delivery and estate standards. ● Replenish the pipeline before mature projects run short of suitable inventory. ● Evaluate diversification against capital availability and operating capability. ● Test whether a destination attracts repeat use rather than occasional visits.</a:t>
            </a:r>
          </a:p>
          <a:p/>
          <a:p>
            <a:r>
              <a:t>First test: For Taman Dayu, distinguish permanent residents, weekday users, weekend visitors, and event-driven demand.</a:t>
            </a:r>
          </a:p>
          <a:p/>
          <a:p>
            <a:r>
              <a:t>Avoid copying prematurely: Diversification justified by the appeal of a destination concept without validated economics.</a:t>
            </a:r>
          </a:p>
          <a:p/>
          <a:p>
            <a:r>
              <a:t>Suggested visual: A weekly activity calendar showing resident and visitor demand separately.</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R53 — Jaya Real Property: Company background and 5W1H</a:t>
            </a:r>
          </a:p>
          <a:p>
            <a:r>
              <a:t>Document pages: 96</a:t>
            </a:r>
          </a:p>
          <a:p/>
          <a:p>
            <a:r>
              <a:t>COMPLETE SOURCE TEXT</a:t>
            </a:r>
          </a:p>
          <a:p>
            <a:r>
              <a:t>● Who: PT Jaya Real Property Tbk, part of Pembangunan Jaya Group. ● What: Residential development, commercial property, and supporting urban</a:t>
            </a:r>
          </a:p>
          <a:p/>
          <a:p>
            <a:r>
              <a:t>businesses. ● Where: Primarily South Jakarta and Tangerang, with Bintaro Jaya as its</a:t>
            </a:r>
          </a:p>
          <a:p/>
          <a:p>
            <a:r>
              <a:t>foundational development. ● When: Established as PT Bintaro Raya in 1979; listed in 1994. ● Who is behind it: Pembangunan Jaya Group. Its broader group history must not</a:t>
            </a:r>
          </a:p>
          <a:p/>
          <a:p>
            <a:r>
              <a:t>be substituted for the issuer’s own establishment story. ● Why and how — analyst interpretation: Serve residential demand through livable</a:t>
            </a:r>
          </a:p>
          <a:p/>
          <a:p>
            <a:r>
              <a:t>communities, useful amenities, and connectivity.</a:t>
            </a:r>
          </a:p>
          <a:p/>
          <a:p>
            <a:r>
              <a:t>Suggested visual: A Bintaro-area ecosystem map.</a:t>
            </a:r>
          </a:p>
          <a:p/>
          <a:p>
            <a:r>
              <a:t>Sources: Official corporate profile, historical annual report.</a:t>
            </a:r>
          </a:p>
          <a:p/>
          <a:p>
            <a:r>
              <a:t>SOURCE HYPERLINKS (as embedded in Mario’s PDF; not independently reverified)</a:t>
            </a:r>
          </a:p>
          <a:p>
            <a:r>
              <a:t>https://jayaproperty.com/aboutus</a:t>
            </a:r>
          </a:p>
          <a:p>
            <a:r>
              <a:t>https://www.jayaproperty.com/frontend/annual_report/JRPT%20AR%202020.pdf</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R54 — Jaya Real Property: Milestones in community development</a:t>
            </a:r>
          </a:p>
          <a:p>
            <a:r>
              <a:t>Document pages: 96, 97</a:t>
            </a:r>
          </a:p>
          <a:p/>
          <a:p>
            <a:r>
              <a:t>COMPLETE SOURCE TEXT</a:t>
            </a:r>
          </a:p>
          <a:p>
            <a:r>
              <a:t>● 1979: Establishment as PT Bintaro Raya. ● Subsequent development: Progressive expansion of Bintaro Jaya. ● 1992: Change to the Jaya Real Property name. ● 1994: Public listing. ● Later phases: Additional commercial, leisure, and supporting urban functions. ● 2024: DoubleTree by Hilton Jakarta Bintaro Jaya opening and Jurangmangu</a:t>
            </a:r>
          </a:p>
          <a:p/>
          <a:p>
            <a:r>
              <a:t>station service improvements. ● FY2025: Reported revenue approximately Rp3.27 trillion.</a:t>
            </a:r>
          </a:p>
          <a:p/>
          <a:p>
            <a:r>
              <a:t>Analyst interpretation: The case illustrates the cumulative value of a location becoming more convenient and useful over decades.</a:t>
            </a:r>
          </a:p>
          <a:p/>
          <a:p>
            <a:r>
              <a:t>Suggested visual: Development timeline paired with access and amenity milestones.</a:t>
            </a:r>
          </a:p>
          <a:p/>
          <a:p>
            <a:r>
              <a:t>Sources: Historical annual report, official results and announcements.</a:t>
            </a:r>
          </a:p>
          <a:p/>
          <a:p>
            <a:r>
              <a:t>SOURCE HYPERLINKS (as embedded in Mario’s PDF; not independently reverified)</a:t>
            </a:r>
          </a:p>
          <a:p>
            <a:r>
              <a:t>https://www.jayaproperty.com/frontend/annual_report/JRPT%20AR%202020.pdf</a:t>
            </a:r>
          </a:p>
          <a:p>
            <a:r>
              <a:t>https://jayaproperty.com/</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R55 — Jaya Real Property: How the growth model works</a:t>
            </a:r>
          </a:p>
          <a:p>
            <a:r>
              <a:t>Document pages: 97</a:t>
            </a:r>
          </a:p>
          <a:p/>
          <a:p>
            <a:r>
              <a:t>COMPLETE SOURCE TEXT</a:t>
            </a:r>
          </a:p>
          <a:p>
            <a:r>
              <a:t>Analyst assessment</a:t>
            </a:r>
          </a:p>
          <a:p/>
          <a:p>
            <a:r>
              <a:t>● Develop residential communities in successive phases. ● Improve the practical experience of living in the area. ● Add commercial functions as the population and catchment support them. ● Strengthen access and connectivity. ● Manage the area to preserve its appeal.</a:t>
            </a:r>
          </a:p>
          <a:p/>
          <a:p>
            <a:r>
              <a:t>Competitive advantage: Everyday usefulness can be more durable than a launch campaign.</a:t>
            </a:r>
          </a:p>
          <a:p/>
          <a:p>
            <a:r>
              <a:t>Strategic qualification: A successful mature township does not mean every supporting facility should be built immediately in a new location.</a:t>
            </a:r>
          </a:p>
          <a:p/>
          <a:p>
            <a:r>
              <a:t>Suggested diagram: Resident population → everyday demand → viable amenities → stronger livability → subsequent housing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R56 — Jaya Real Property: Financial scale and disclosure caution</a:t>
            </a:r>
          </a:p>
          <a:p>
            <a:r>
              <a:t>Document pages: 97, 98</a:t>
            </a:r>
          </a:p>
          <a:p/>
          <a:p>
            <a:r>
              <a:t>COMPLETE SOURCE TEXT</a:t>
            </a:r>
          </a:p>
          <a:p>
            <a:r>
              <a:t>FY2025 figures displayed by the company</a:t>
            </a:r>
          </a:p>
          <a:p/>
          <a:p>
            <a:r>
              <a:t>● Revenue: approximately Rp3.27 trillion ● Income for the year: approximately Rp1.32 trillion ● Marketing sales: approximately Rp2.47 trillion</a:t>
            </a:r>
          </a:p>
          <a:p/>
          <a:p>
            <a:r>
              <a:t>Important distinction</a:t>
            </a:r>
          </a:p>
          <a:p/>
          <a:p>
            <a:r>
              <a:t>The headline income figure should not automatically be treated as profit attributable to owners. The audited attributable-profit line must be used before building a uniform profit-ranking chart.</a:t>
            </a:r>
          </a:p>
          <a:p/>
          <a:p>
            <a:r>
              <a:t>Analyst interpretation: This case is useful for studying disciplined community development, rather than simply pursuing maximum reported revenue.</a:t>
            </a:r>
          </a:p>
          <a:p/>
          <a:p>
            <a:r>
              <a:t>Suggested chart: Revenue and marketing sales shown separately; total income clearly labelled.</a:t>
            </a:r>
          </a:p>
          <a:p/>
          <a:p>
            <a:r>
              <a:t>Source: Jaya Real Property — official latest results.</a:t>
            </a:r>
          </a:p>
          <a:p/>
          <a:p>
            <a:r>
              <a:t>SOURCE HYPERLINKS (as embedded in Mario’s PDF; not independently reverified)</a:t>
            </a:r>
          </a:p>
          <a:p>
            <a:r>
              <a:t>https://jayaproperty.com/</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R57 — Jaya Real Property: SWOT</a:t>
            </a:r>
          </a:p>
          <a:p>
            <a:r>
              <a:t>Document pages: 98, 99</a:t>
            </a:r>
          </a:p>
          <a:p/>
          <a:p>
            <a:r>
              <a:t>COMPLETE SOURCE TEXT</a:t>
            </a:r>
          </a:p>
          <a:p>
            <a:r>
              <a:t>Analyst assessment</a:t>
            </a:r>
          </a:p>
          <a:p/>
          <a:p>
            <a:r>
              <a:t>Strengths | Weaknesses / structural constraints</a:t>
            </a:r>
          </a:p>
          <a:p/>
          <a:p>
            <a:r>
              <a:t>Established community and location identity | Concentration in a limited number of geographic markets</a:t>
            </a:r>
          </a:p>
          <a:p/>
          <a:p>
            <a:r>
              <a:t>Integrated residential and commercial functions | Mature areas require careful pipeline planning</a:t>
            </a:r>
          </a:p>
          <a:p/>
          <a:p>
            <a:r>
              <a:t>Connectivity and accumulated amenities | Long development periods tie up capital</a:t>
            </a:r>
          </a:p>
          <a:p/>
          <a:p>
            <a:r>
              <a:t>Opportunities | Threats</a:t>
            </a:r>
          </a:p>
          <a:p/>
          <a:p>
            <a:r>
              <a:t>Better use of established catchments | New competing townships</a:t>
            </a:r>
          </a:p>
          <a:p/>
          <a:p>
            <a:r>
              <a:t>Additional services supported by resident demand | Infrastructure congestion</a:t>
            </a:r>
          </a:p>
          <a:p/>
          <a:p>
            <a:r>
              <a:t>Selective development and asset improvements | Affordability and mortgage constraints</a:t>
            </a:r>
          </a:p>
          <a:p/>
          <a:p>
            <a:r>
              <a:t>Suggested visual: SWOT with geographic concentration explicitly identified as a trade-off, not automatically a failure.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R58 — Jaya Real Property: Lessons for TANRISE</a:t>
            </a:r>
          </a:p>
          <a:p>
            <a:r>
              <a:t>Document pages: 99</a:t>
            </a:r>
          </a:p>
          <a:p/>
          <a:p>
            <a:r>
              <a:t>COMPLETE SOURCE TEXT</a:t>
            </a:r>
          </a:p>
          <a:p>
            <a:r>
              <a:t>Proposed applications</a:t>
            </a:r>
          </a:p>
          <a:p/>
          <a:p>
            <a:r>
              <a:t>● Sell a credible daily-life proposition. ● Translate “best concept” into local needs, access, services, and price. ● Sequence commercial development around actual resident demand. ● Make connectivity a measurable part of product selection. ● Treat estate management as part of long-term value creation.</a:t>
            </a:r>
          </a:p>
          <a:p/>
          <a:p>
            <a:r>
              <a:t>First test: Develop a customer journey for a Sidoarjo household covering work, school, shopping, healthcare, travel time, and monthly housing cost.</a:t>
            </a:r>
          </a:p>
          <a:p/>
          <a:p>
            <a:r>
              <a:t>Avoid copying prematurely: Assuming that a new township can immediately reproduce the amenity depth of a mature community.</a:t>
            </a:r>
          </a:p>
          <a:p/>
          <a:p>
            <a:r>
              <a:t>Suggested visual: A weekday household journey through the proposed location.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R58 — Jaya Real Property: Lessons for TANRISE</a:t>
            </a:r>
          </a:p>
          <a:p>
            <a:r>
              <a:t>Document pages: 99</a:t>
            </a:r>
          </a:p>
          <a:p/>
          <a:p>
            <a:r>
              <a:t>COMPLETE SOURCE TEXT</a:t>
            </a:r>
          </a:p>
          <a:p>
            <a:r>
              <a:t>Proposed applications</a:t>
            </a:r>
          </a:p>
          <a:p/>
          <a:p>
            <a:r>
              <a:t>● Sell a credible daily-life proposition. ● Translate “best concept” into local needs, access, services, and price. ● Sequence commercial development around actual resident demand. ● Make connectivity a measurable part of product selection. ● Treat estate management as part of long-term value creation.</a:t>
            </a:r>
          </a:p>
          <a:p/>
          <a:p>
            <a:r>
              <a:t>First test: Develop a customer journey for a Sidoarjo household covering work, school, shopping, healthcare, travel time, and monthly housing cost.</a:t>
            </a:r>
          </a:p>
          <a:p/>
          <a:p>
            <a:r>
              <a:t>Avoid copying prematurely: Assuming that a new township can immediately reproduce the amenity depth of a mature community.</a:t>
            </a:r>
          </a:p>
          <a:p/>
          <a:p>
            <a:r>
              <a:t>Suggested visual: A weekday household journey through the proposed location.</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R59 — PANI: Company background and 5W1H</a:t>
            </a:r>
          </a:p>
          <a:p>
            <a:r>
              <a:t>Document pages: 99</a:t>
            </a:r>
          </a:p>
          <a:p/>
          <a:p>
            <a:r>
              <a:t>COMPLETE SOURCE TEXT</a:t>
            </a:r>
          </a:p>
          <a:p>
            <a:r>
              <a:t>● Who: PT Pantai Indah Kapuk Dua Tbk. ● What: A listed property-development platform associated with the PIK2 area. ● Where: The northern Jakarta–Tangerang/Banten coastal development corridor. ● When: The issuer originated in another industry and listed in 2018; its property</a:t>
            </a:r>
          </a:p>
          <a:p/>
          <a:p>
            <a:r>
              <a:t>transformation followed a controlling-shareholder change in 2021. ● Who is behind it: PT Multi Artha Pratama, with sponsorship associated with</a:t>
            </a:r>
          </a:p>
          <a:p/>
          <a:p>
            <a:r>
              <a:t>Agung Sedayu Group and Salim Group. ● Why and how — analyst interpretation: Combine a large development pipeline,</a:t>
            </a:r>
          </a:p>
          <a:p/>
          <a:p>
            <a:r>
              <a:t>sponsor capabilities, corporate transactions, and capital-market funding.</a:t>
            </a:r>
          </a:p>
          <a:p/>
          <a:p>
            <a:r>
              <a:t>Key distinction: PANI is not the entirety of either sponsor group or every asset carrying the PIK identity.</a:t>
            </a:r>
          </a:p>
          <a:p/>
          <a:p>
            <a:r>
              <a:t>Suggested visual: Sponsors → listed platform → project subsidiaries.</a:t>
            </a:r>
          </a:p>
          <a:p/>
          <a:p>
            <a:r>
              <a:t>Source: Official company history.</a:t>
            </a:r>
          </a:p>
          <a:p/>
          <a:p>
            <a:r>
              <a:t>SOURCE HYPERLINKS (as embedded in Mario’s PDF; not independently reverified)</a:t>
            </a:r>
          </a:p>
          <a:p>
            <a:r>
              <a:t>https://www.pantaiindahkapukdua.com/historycompany.html</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R60 — PANI: The transformation was accelerated by corporate actions</a:t>
            </a:r>
          </a:p>
          <a:p>
            <a:r>
              <a:t>Document pages: 100</a:t>
            </a:r>
          </a:p>
          <a:p/>
          <a:p>
            <a:r>
              <a:t>COMPLETE SOURCE TEXT</a:t>
            </a:r>
          </a:p>
          <a:p>
            <a:r>
              <a:t>Period | Milestone</a:t>
            </a:r>
          </a:p>
          <a:p/>
          <a:p>
            <a:r>
              <a:t>2001 | Commercial operations in can packaging</a:t>
            </a:r>
          </a:p>
          <a:p/>
          <a:p>
            <a:r>
              <a:t>2018 | Public listing</a:t>
            </a:r>
          </a:p>
          <a:p/>
          <a:p>
            <a:r>
              <a:t>2021 | Change in controlling shareholder</a:t>
            </a:r>
          </a:p>
          <a:p/>
          <a:p>
            <a:r>
              <a:t>2022 | Rights issue and property-platform expansion</a:t>
            </a:r>
          </a:p>
          <a:p/>
          <a:p>
            <a:r>
              <a:t>2023 | Further rights issue of approximately Rp10.5 trillion</a:t>
            </a:r>
          </a:p>
          <a:p/>
          <a:p>
            <a:r>
              <a:t>2024 | Private placements raising approximately Rp6.5 trillion</a:t>
            </a:r>
          </a:p>
          <a:p/>
          <a:p>
            <a:r>
              <a:t>2025 | CBDK subsidiary listing and further development of the operating platform</a:t>
            </a:r>
          </a:p>
          <a:p/>
          <a:p>
            <a:r>
              <a:t>Analyst interpretation: This is not a simple story of a small developer growing exclusively through retained profits. Capital raising and asset acquisition are central to the case.</a:t>
            </a:r>
          </a:p>
          <a:p/>
          <a:p>
            <a:r>
              <a:t>Suggested visual: A timeline separating operating development from equity funding and acquisitions.</a:t>
            </a:r>
          </a:p>
          <a:p/>
          <a:p>
            <a:r>
              <a:t>Source: PANI official history and corporate-action chronology.</a:t>
            </a:r>
          </a:p>
          <a:p/>
          <a:p>
            <a:r>
              <a:t>SOURCE HYPERLINKS (as embedded in Mario’s PDF; not independently reverified)</a:t>
            </a:r>
          </a:p>
          <a:p>
            <a:r>
              <a:t>https://www.pantaiindahkapukdua.com/historycompany.html</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R60 — PANI: The transformation was accelerated by corporate actions</a:t>
            </a:r>
          </a:p>
          <a:p>
            <a:r>
              <a:t>Document pages: 100</a:t>
            </a:r>
          </a:p>
          <a:p/>
          <a:p>
            <a:r>
              <a:t>COMPLETE SOURCE TEXT</a:t>
            </a:r>
          </a:p>
          <a:p>
            <a:r>
              <a:t>Period | Milestone</a:t>
            </a:r>
          </a:p>
          <a:p/>
          <a:p>
            <a:r>
              <a:t>2001 | Commercial operations in can packaging</a:t>
            </a:r>
          </a:p>
          <a:p/>
          <a:p>
            <a:r>
              <a:t>2018 | Public listing</a:t>
            </a:r>
          </a:p>
          <a:p/>
          <a:p>
            <a:r>
              <a:t>2021 | Change in controlling shareholder</a:t>
            </a:r>
          </a:p>
          <a:p/>
          <a:p>
            <a:r>
              <a:t>2022 | Rights issue and property-platform expansion</a:t>
            </a:r>
          </a:p>
          <a:p/>
          <a:p>
            <a:r>
              <a:t>2023 | Further rights issue of approximately Rp10.5 trillion</a:t>
            </a:r>
          </a:p>
          <a:p/>
          <a:p>
            <a:r>
              <a:t>2024 | Private placements raising approximately Rp6.5 trillion</a:t>
            </a:r>
          </a:p>
          <a:p/>
          <a:p>
            <a:r>
              <a:t>2025 | CBDK subsidiary listing and further development of the operating platform</a:t>
            </a:r>
          </a:p>
          <a:p/>
          <a:p>
            <a:r>
              <a:t>Analyst interpretation: This is not a simple story of a small developer growing exclusively through retained profits. Capital raising and asset acquisition are central to the case.</a:t>
            </a:r>
          </a:p>
          <a:p/>
          <a:p>
            <a:r>
              <a:t>Suggested visual: A timeline separating operating development from equity funding and acquisitions.</a:t>
            </a:r>
          </a:p>
          <a:p/>
          <a:p>
            <a:r>
              <a:t>Source: PANI official history and corporate-action chronology.</a:t>
            </a:r>
          </a:p>
          <a:p/>
          <a:p>
            <a:r>
              <a:t>SOURCE HYPERLINKS (as embedded in Mario’s PDF; not independently reverified)</a:t>
            </a:r>
          </a:p>
          <a:p>
            <a:r>
              <a:t>https://www.pantaiindahkapukdua.com/historycompany.html</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R61 — PANI: How the growth model works</a:t>
            </a:r>
          </a:p>
          <a:p>
            <a:r>
              <a:t>Document pages: 101</a:t>
            </a:r>
          </a:p>
          <a:p/>
          <a:p>
            <a:r>
              <a:t>COMPLETE SOURCE TEXT</a:t>
            </a:r>
          </a:p>
          <a:p>
            <a:r>
              <a:t>Analyst assessment</a:t>
            </a:r>
          </a:p>
          <a:p/>
          <a:p>
            <a:r>
              <a:t>The model connects:</a:t>
            </a:r>
          </a:p>
          <a:p/>
          <a:p>
            <a:r>
              <a:t>● Sponsor development experience. ● Access to a substantial project pipeline. ● Capital raised through listed entities. ● Residential and commercial handovers. ● Destination and connectivity investments intended to strengthen area demand.</a:t>
            </a:r>
          </a:p>
          <a:p/>
          <a:p>
            <a:r>
              <a:t>Competitive advantage: Funding capacity and coordinated development can accelerate the scale of a platform.</a:t>
            </a:r>
          </a:p>
          <a:p/>
          <a:p>
            <a:r>
              <a:t>Trade-offs: Dilution, transaction governance, land readiness, infrastructure delivery, and concentration all require close attention.</a:t>
            </a:r>
          </a:p>
          <a:p/>
          <a:p>
            <a:r>
              <a:t>Suggested diagram: Sponsor resources + equity funding + land pipeline → development and infrastructure → handovers and operating assets.</a:t>
            </a:r>
          </a:p>
          <a:p/>
          <a:p>
            <a:r>
              <a:t>Evidence reference: PANI financial-results release.</a:t>
            </a:r>
          </a:p>
          <a:p/>
          <a:p>
            <a:r>
              <a:t>SOURCE HYPERLINKS (as embedded in Mario’s PDF; not independently reverified)</a:t>
            </a:r>
          </a:p>
          <a:p>
            <a:r>
              <a:t>https://storage.googleapis.com/panifiles/pdf/PANI_Press_Release_Financial_Results_FY2025.pdf</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R61 — PANI: How the growth model works</a:t>
            </a:r>
          </a:p>
          <a:p>
            <a:r>
              <a:t>Document pages: 101</a:t>
            </a:r>
          </a:p>
          <a:p/>
          <a:p>
            <a:r>
              <a:t>COMPLETE SOURCE TEXT</a:t>
            </a:r>
          </a:p>
          <a:p>
            <a:r>
              <a:t>Analyst assessment</a:t>
            </a:r>
          </a:p>
          <a:p/>
          <a:p>
            <a:r>
              <a:t>The model connects:</a:t>
            </a:r>
          </a:p>
          <a:p/>
          <a:p>
            <a:r>
              <a:t>● Sponsor development experience. ● Access to a substantial project pipeline. ● Capital raised through listed entities. ● Residential and commercial handovers. ● Destination and connectivity investments intended to strengthen area demand.</a:t>
            </a:r>
          </a:p>
          <a:p/>
          <a:p>
            <a:r>
              <a:t>Competitive advantage: Funding capacity and coordinated development can accelerate the scale of a platform.</a:t>
            </a:r>
          </a:p>
          <a:p/>
          <a:p>
            <a:r>
              <a:t>Trade-offs: Dilution, transaction governance, land readiness, infrastructure delivery, and concentration all require close attention.</a:t>
            </a:r>
          </a:p>
          <a:p/>
          <a:p>
            <a:r>
              <a:t>Suggested diagram: Sponsor resources + equity funding + land pipeline → development and infrastructure → handovers and operating assets.</a:t>
            </a:r>
          </a:p>
          <a:p/>
          <a:p>
            <a:r>
              <a:t>Evidence reference: PANI financial-results release.</a:t>
            </a:r>
          </a:p>
          <a:p/>
          <a:p>
            <a:r>
              <a:t>SOURCE HYPERLINKS (as embedded in Mario’s PDF; not independently reverified)</a:t>
            </a:r>
          </a:p>
          <a:p>
            <a:r>
              <a:t>https://storage.googleapis.com/panifiles/pdf/PANI_Press_Release_Financial_Results_FY2025.pdf</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R62 — PANI: Financial scale and the limits of headline growth</a:t>
            </a:r>
          </a:p>
          <a:p>
            <a:r>
              <a:t>Document pages: 101</a:t>
            </a:r>
          </a:p>
          <a:p/>
          <a:p>
            <a:r>
              <a:t>COMPLETE SOURCE TEXT</a:t>
            </a:r>
          </a:p>
          <a:p>
            <a:r>
              <a:t>FY2025 reported figures, rounded</a:t>
            </a:r>
          </a:p>
          <a:p/>
          <a:p>
            <a:r>
              <a:t>● Revenue: approximately Rp4.3 trillion ● Profit attributable to the parent: approximately Rp1.1 trillion ● Reported revenue growth: approximately 52% ● Reported attributable-profit growth: approximately 83%</a:t>
            </a:r>
          </a:p>
          <a:p/>
          <a:p>
            <a:r>
              <a:t>Interpretation</a:t>
            </a:r>
          </a:p>
          <a:p/>
          <a:p>
            <a:r>
              <a:t>These results demonstrate expansion of the listed platform. They do not, by themselves, separate organic development growth from the effects of acquired assets, funding, or changes in the reporting perimeter.</a:t>
            </a:r>
          </a:p>
          <a:p/>
          <a:p>
            <a:r>
              <a:t>Suggested chart: Revenue and attributable-profit growth, accompanied by a corporate-actions timeline.</a:t>
            </a:r>
          </a:p>
          <a:p/>
          <a:p>
            <a:r>
              <a:t>Source: PANI FY2025 financial-results release.</a:t>
            </a:r>
          </a:p>
          <a:p/>
          <a:p>
            <a:r>
              <a:t>SOURCE HYPERLINKS (as embedded in Mario’s PDF; not independently reverified)</a:t>
            </a:r>
          </a:p>
          <a:p>
            <a:r>
              <a:t>https://storage.googleapis.com/panifiles/pdf/PANI_Press_Release_Financial_Results_FY2025.pdf</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R63 — PANI: SWOT</a:t>
            </a:r>
          </a:p>
          <a:p>
            <a:r>
              <a:t>Document pages: 102</a:t>
            </a:r>
          </a:p>
          <a:p/>
          <a:p>
            <a:r>
              <a:t>COMPLETE SOURCE TEXT</a:t>
            </a:r>
          </a:p>
          <a:p>
            <a:r>
              <a:t>Analyst assessment</a:t>
            </a:r>
          </a:p>
          <a:p/>
          <a:p>
            <a:r>
              <a:t>Strengths | Weaknesses / structural constraints</a:t>
            </a:r>
          </a:p>
          <a:p/>
          <a:p>
            <a:r>
              <a:t>Sponsor capabilities and capital-market access | Geographic concentration</a:t>
            </a:r>
          </a:p>
          <a:p/>
          <a:p>
            <a:r>
              <a:t>Large coordinated development opportunity | Dependence on infrastructure and staged delivery</a:t>
            </a:r>
          </a:p>
          <a:p/>
          <a:p>
            <a:r>
              <a:t>Ability to combine residential and commercial activity | Corporate actions complicate organic-growth assessment</a:t>
            </a:r>
          </a:p>
          <a:p/>
          <a:p>
            <a:r>
              <a:t>Opportunities | Threats</a:t>
            </a:r>
          </a:p>
          <a:p/>
          <a:p>
            <a:r>
              <a:t>More activity within the development corridor | Affordability and speculative-demand cycles</a:t>
            </a:r>
          </a:p>
          <a:p/>
          <a:p>
            <a:r>
              <a:t>Additional employment and destination functions | Land, permitting, and infrastructure execution risks</a:t>
            </a:r>
          </a:p>
          <a:p/>
          <a:p>
            <a:r>
              <a:t>Development of selected operating income | Coastal physical risks and environmental obligations</a:t>
            </a:r>
          </a:p>
          <a:p/>
          <a:p>
            <a:r>
              <a:t>Suggested visual: SWOT with funding, execution, and coastal resilience treated as separate subjects.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R64 — PANI: Lessons for TANRISE</a:t>
            </a:r>
          </a:p>
          <a:p>
            <a:r>
              <a:t>Document pages: 103</a:t>
            </a:r>
          </a:p>
          <a:p/>
          <a:p>
            <a:r>
              <a:t>COMPLETE SOURCE TEXT</a:t>
            </a:r>
          </a:p>
          <a:p>
            <a:r>
              <a:t>Proposed applications</a:t>
            </a:r>
          </a:p>
          <a:p/>
          <a:p>
            <a:r>
              <a:t>● Consider strategic investors, partnerships, and capital raising as possible tools. ● Match funding commitments to a verified development pipeline. ● Evaluate acquisitions using cash flow, legal readiness, and management capacity. ● Distinguish growth created through operations from growth created through</a:t>
            </a:r>
          </a:p>
          <a:p/>
          <a:p>
            <a:r>
              <a:t>transactions. ● Preserve shareholder economics when seeking scale.</a:t>
            </a:r>
          </a:p>
          <a:p/>
          <a:p>
            <a:r>
              <a:t>First test: Compare organic growth, land partnerships, and acquisition-led growth under one funding and return framework.</a:t>
            </a:r>
          </a:p>
          <a:p/>
          <a:p>
            <a:r>
              <a:t>Avoid copying prematurely: Assuming that public-market capital will be available on favourable terms whenever needed.</a:t>
            </a:r>
          </a:p>
          <a:p/>
          <a:p>
            <a:r>
              <a:t>Suggested visual: Three routes to scale with capital requirements, control, dilution, and execution risk.</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R65 — Ten companies, different sources of competitive advantage</a:t>
            </a:r>
          </a:p>
          <a:p>
            <a:r>
              <a:t>Document pages: 103, 104</a:t>
            </a:r>
          </a:p>
          <a:p/>
          <a:p>
            <a:r>
              <a:t>COMPLETE SOURCE TEXT</a:t>
            </a:r>
          </a:p>
          <a:p>
            <a:r>
              <a:t>Analyst synthesis</a:t>
            </a:r>
          </a:p>
          <a:p/>
          <a:p>
            <a:r>
              <a:t>Developer | Most useful capability to study</a:t>
            </a:r>
          </a:p>
          <a:p/>
          <a:p>
            <a:r>
              <a:t>BSDE | Long-term township development and pipeline coordination</a:t>
            </a:r>
          </a:p>
          <a:p/>
          <a:p>
            <a:r>
              <a:t>LPKR | Affordability, portfolio complexity, and strategic refocusing</a:t>
            </a:r>
          </a:p>
          <a:p/>
          <a:p>
            <a:r>
              <a:t>CTRA | Partnership-based replication across markets</a:t>
            </a:r>
          </a:p>
          <a:p/>
          <a:p>
            <a:r>
              <a:t>SMRA | Township sequencing and activation</a:t>
            </a:r>
          </a:p>
          <a:p/>
          <a:p>
            <a:r>
              <a:t>PWON | Retained-asset operations and recurring income</a:t>
            </a:r>
          </a:p>
          <a:p/>
          <a:p>
            <a:r>
              <a:t>APLN | Mixed-use economics and capital allocation</a:t>
            </a:r>
          </a:p>
          <a:p/>
          <a:p>
            <a:r>
              <a:t>DUTI | Project platforms within a consolidated group</a:t>
            </a:r>
          </a:p>
          <a:p/>
          <a:p>
            <a:r>
              <a:t>ASRI | Township identity, diversification, and funding discipline</a:t>
            </a:r>
          </a:p>
          <a:p/>
          <a:p>
            <a:r>
              <a:t>JRPT | Community usefulness and connectivity</a:t>
            </a:r>
          </a:p>
          <a:p/>
          <a:p>
            <a:r>
              <a:t>PANI | Sponsor-backed expansion and capital-market transactions</a:t>
            </a:r>
          </a:p>
          <a:p/>
          <a:p>
            <a:r>
              <a:t>Key conclusion: No single competitor provides a complete model for TANRISE.</a:t>
            </a:r>
          </a:p>
          <a:p/>
          <a:p>
            <a:r>
              <a:t>Suggested visual: Capability matrix. Avoid unsupported numerical scores or a “best developer” ranking.</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R65 — Ten companies, different sources of competitive advantage</a:t>
            </a:r>
          </a:p>
          <a:p>
            <a:r>
              <a:t>Document pages: 103, 104</a:t>
            </a:r>
          </a:p>
          <a:p/>
          <a:p>
            <a:r>
              <a:t>COMPLETE SOURCE TEXT</a:t>
            </a:r>
          </a:p>
          <a:p>
            <a:r>
              <a:t>Analyst synthesis</a:t>
            </a:r>
          </a:p>
          <a:p/>
          <a:p>
            <a:r>
              <a:t>Developer | Most useful capability to study</a:t>
            </a:r>
          </a:p>
          <a:p/>
          <a:p>
            <a:r>
              <a:t>BSDE | Long-term township development and pipeline coordination</a:t>
            </a:r>
          </a:p>
          <a:p/>
          <a:p>
            <a:r>
              <a:t>LPKR | Affordability, portfolio complexity, and strategic refocusing</a:t>
            </a:r>
          </a:p>
          <a:p/>
          <a:p>
            <a:r>
              <a:t>CTRA | Partnership-based replication across markets</a:t>
            </a:r>
          </a:p>
          <a:p/>
          <a:p>
            <a:r>
              <a:t>SMRA | Township sequencing and activation</a:t>
            </a:r>
          </a:p>
          <a:p/>
          <a:p>
            <a:r>
              <a:t>PWON | Retained-asset operations and recurring income</a:t>
            </a:r>
          </a:p>
          <a:p/>
          <a:p>
            <a:r>
              <a:t>APLN | Mixed-use economics and capital allocation</a:t>
            </a:r>
          </a:p>
          <a:p/>
          <a:p>
            <a:r>
              <a:t>DUTI | Project platforms within a consolidated group</a:t>
            </a:r>
          </a:p>
          <a:p/>
          <a:p>
            <a:r>
              <a:t>ASRI | Township identity, diversification, and funding discipline</a:t>
            </a:r>
          </a:p>
          <a:p/>
          <a:p>
            <a:r>
              <a:t>JRPT | Community usefulness and connectivity</a:t>
            </a:r>
          </a:p>
          <a:p/>
          <a:p>
            <a:r>
              <a:t>PANI | Sponsor-backed expansion and capital-market transactions</a:t>
            </a:r>
          </a:p>
          <a:p/>
          <a:p>
            <a:r>
              <a:t>Key conclusion: No single competitor provides a complete model for TANRISE.</a:t>
            </a:r>
          </a:p>
          <a:p/>
          <a:p>
            <a:r>
              <a:t>Suggested visual: Capability matrix. Avoid unsupported numerical scores or a “best developer” ranking.</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R66 — What TANRISE can adopt, adapt, or defer</a:t>
            </a:r>
          </a:p>
          <a:p>
            <a:r>
              <a:t>Document pages: 104, 105</a:t>
            </a:r>
          </a:p>
          <a:p/>
          <a:p>
            <a:r>
              <a:t>COMPLETE SOURCE TEXT</a:t>
            </a:r>
          </a:p>
          <a:p>
            <a:r>
              <a:t>Proposed application</a:t>
            </a:r>
          </a:p>
          <a:p/>
          <a:p>
            <a:r>
              <a:t>Adopt as operating discipline | Adapt through pilots | Defer until prerequisites exist</a:t>
            </a:r>
          </a:p>
          <a:p/>
          <a:p>
            <a:r>
              <a:t>Verified project and land register | Landowner partnerships | Very large speculative anchors</a:t>
            </a:r>
          </a:p>
          <a:p/>
          <a:p>
            <a:r>
              <a:t>Affordability and customer research | Employer-linked residential demand | Broad geographic expansion</a:t>
            </a:r>
          </a:p>
          <a:p/>
          <a:p>
            <a:r>
              <a:t>Phased development and cash planning | Smaller community and commercial facilities | Major acquisitions without integration capacity</a:t>
            </a:r>
          </a:p>
          <a:p/>
          <a:p>
            <a:r>
              <a:t>Inventory and asset-productivity reviews | Selective recurring-income investments | Complex mixed-use development without funding</a:t>
            </a:r>
          </a:p>
          <a:p/>
          <a:p>
            <a:r>
              <a:t>Clear owner/operator responsibilities | New locations after repeatable delivery | Diversification driven mainly by image</a:t>
            </a:r>
          </a:p>
          <a:p/>
          <a:p>
            <a:r>
              <a:t>Key message: TANRISE should copy decision quality before copying portfolio breadth.</a:t>
            </a:r>
          </a:p>
          <a:p/>
          <a:p>
            <a:r>
              <a:t>Suggested visual: Three-column prioritisation framework with explicit prerequisites.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R66 — What TANRISE can adopt, adapt, or defer</a:t>
            </a:r>
          </a:p>
          <a:p>
            <a:r>
              <a:t>Document pages: 104, 105</a:t>
            </a:r>
          </a:p>
          <a:p/>
          <a:p>
            <a:r>
              <a:t>COMPLETE SOURCE TEXT</a:t>
            </a:r>
          </a:p>
          <a:p>
            <a:r>
              <a:t>Proposed application</a:t>
            </a:r>
          </a:p>
          <a:p/>
          <a:p>
            <a:r>
              <a:t>Adopt as operating discipline | Adapt through pilots | Defer until prerequisites exist</a:t>
            </a:r>
          </a:p>
          <a:p/>
          <a:p>
            <a:r>
              <a:t>Verified project and land register | Landowner partnerships | Very large speculative anchors</a:t>
            </a:r>
          </a:p>
          <a:p/>
          <a:p>
            <a:r>
              <a:t>Affordability and customer research | Employer-linked residential demand | Broad geographic expansion</a:t>
            </a:r>
          </a:p>
          <a:p/>
          <a:p>
            <a:r>
              <a:t>Phased development and cash planning | Smaller community and commercial facilities | Major acquisitions without integration capacity</a:t>
            </a:r>
          </a:p>
          <a:p/>
          <a:p>
            <a:r>
              <a:t>Inventory and asset-productivity reviews | Selective recurring-income investments | Complex mixed-use development without funding</a:t>
            </a:r>
          </a:p>
          <a:p/>
          <a:p>
            <a:r>
              <a:t>Clear owner/operator responsibilities | New locations after repeatable delivery | Diversification driven mainly by image</a:t>
            </a:r>
          </a:p>
          <a:p/>
          <a:p>
            <a:r>
              <a:t>Key message: TANRISE should copy decision quality before copying portfolio breadth.</a:t>
            </a:r>
          </a:p>
          <a:p/>
          <a:p>
            <a:r>
              <a:t>Suggested visual: Three-column prioritisation framework with explicit prerequisites.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R67 — TANRISE’s current economics should shape the growth plan</a:t>
            </a:r>
          </a:p>
          <a:p>
            <a:r>
              <a:t>Document pages: 105, 106</a:t>
            </a:r>
          </a:p>
          <a:p/>
          <a:p>
            <a:r>
              <a:t>COMPLETE SOURCE TEXT</a:t>
            </a:r>
          </a:p>
          <a:p>
            <a:r>
              <a:t>FY2025 audited baseline</a:t>
            </a:r>
          </a:p>
          <a:p/>
          <a:p>
            <a:r>
              <a:t>● Consolidated revenue: approximately Rp410.7 billion ● Profit attributable to owners: approximately Rp87.2 billion ● Hotel revenue: approximately Rp180.5 billion ● Apartment sales: approximately Rp151.4 billion</a:t>
            </a:r>
          </a:p>
          <a:p/>
          <a:p>
            <a:r>
              <a:t>Analyst interpretation</a:t>
            </a:r>
          </a:p>
          <a:p/>
          <a:p>
            <a:r>
              <a:t>The existing revenue mix differs from the leadership ambition to make residential and industrial/warehousing the main growth engines.</a:t>
            </a:r>
          </a:p>
          <a:p/>
          <a:p>
            <a:r>
              <a:t>That creates a practical transition question: how will TANRISE fund and execute new growth while maintaining or improving the productivity of existing assets?</a:t>
            </a:r>
          </a:p>
          <a:p/>
          <a:p>
            <a:r>
              <a:t>Suggested chart: Current revenue composition beside the proposed future growth-engine structure. The future structure must remain unquantified until approved.</a:t>
            </a:r>
          </a:p>
          <a:p/>
          <a:p>
            <a:r>
              <a:t>Source: TANRISE FY2025 audited statements — revenue note 27 and profit-attribution statement.</a:t>
            </a:r>
          </a:p>
          <a:p/>
          <a:p>
            <a:r>
              <a:t>SOURCE HYPERLINKS (as embedded in Mario’s PDF; not independently reverified)</a:t>
            </a:r>
          </a:p>
          <a:p>
            <a:r>
              <a:t>https://tanrise.com/wp-content/uploads/2026/03/LAPORAN-KEUANGAN-KONSOLIDASIAN-31-DESEMBER-2025.pdf</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R68 — The 2035 ambition requires a moving-target calculation</a:t>
            </a:r>
          </a:p>
          <a:p>
            <a:r>
              <a:t>Document pages: 106, 107</a:t>
            </a:r>
          </a:p>
          <a:p/>
          <a:p>
            <a:r>
              <a:t>COMPLETE SOURCE TEXT</a:t>
            </a:r>
          </a:p>
          <a:p>
            <a:r>
              <a:t>Illustrative revenue scenarios, not forecasts</a:t>
            </a:r>
          </a:p>
          <a:p/>
          <a:p>
            <a:r>
              <a:t>PWON’s FY2025 revenue of approximately Rp7.11 trillion is the fifth-highest within this selected cohort.</a:t>
            </a:r>
          </a:p>
          <a:p/>
          <a:p>
            <a:r>
              <a:t>Starting from TANRISE’s FY2025 revenue of approximately Rp0.411 trillion:</a:t>
            </a:r>
          </a:p>
          <a:p/>
          <a:p>
            <a:r>
              <a:t>Assumed annual growth of that benchmark | Illustrative benchmark in 2035 | TANRISE revenue CAGR required, 2025–2035</a:t>
            </a:r>
          </a:p>
          <a:p/>
          <a:p>
            <a:r>
              <a:t>0% | Rp7.11 trillion | 33.0%</a:t>
            </a:r>
          </a:p>
          <a:p/>
          <a:p>
            <a:r>
              <a:t>3% | Rp9.56 trillion | 37.0%</a:t>
            </a:r>
          </a:p>
          <a:p/>
          <a:p>
            <a:r>
              <a:t>5% | Rp11.58 trillion | 39.6%</a:t>
            </a:r>
          </a:p>
          <a:p/>
          <a:p>
            <a:r>
              <a:t>8% | Rp15.35 trillion | 43.6%</a:t>
            </a:r>
          </a:p>
          <a:p/>
          <a:p>
            <a:r>
              <a:t>Interpretation</a:t>
            </a:r>
          </a:p>
          <a:p/>
          <a:p>
            <a:r>
              <a:t>Reaching the current benchmark requires approximately 17.3 times TANRISE’s FY2025 revenue. Competitors may grow, decline, merge, or change their portfolios.</a:t>
            </a:r>
          </a:p>
          <a:p/>
          <a:p>
            <a:r>
              <a:t>This calculation does not prove national Top Five status or address the separate profit ambition.</a:t>
            </a:r>
          </a:p>
          <a:p/>
          <a:p>
            <a:r>
              <a:t>Suggested chart: Four scenario lines, explicitly labelled “illustrative.”</a:t>
            </a:r>
          </a:p>
          <a:p/>
          <a:p>
            <a:r>
              <a:t>Calculation: Benchmark × (1 + assumed growth)¹⁰; required CAGR = (2035 benchmark ÷ TANRISE baseline)¹⁄¹⁰ − 1.</a:t>
            </a:r>
          </a:p>
          <a:p/>
          <a:p>
            <a:r>
              <a:t>Sources: PWON audited baseline, TANRISE audited baseline. Calculations are analyst-derived.</a:t>
            </a:r>
          </a:p>
          <a:p/>
          <a:p>
            <a:r>
              <a:t>SOURCE HYPERLINKS (as embedded in Mario’s PDF; not independently reverified)</a:t>
            </a:r>
          </a:p>
          <a:p>
            <a:r>
              <a:t>https://www.pakuwonjati.com/upload/2026/04/69f2e5afd9760-ar-pakuwonjati-2025.pdf</a:t>
            </a:r>
          </a:p>
          <a:p>
            <a:r>
              <a:t>https://tanrise.com/wp-content/uploads/2026/03/LAPORAN-KEUANGAN-KONSOLIDASIAN-31-DESEMBER-2025.pdf</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R68 — The 2035 ambition requires a moving-target calculation</a:t>
            </a:r>
          </a:p>
          <a:p>
            <a:r>
              <a:t>Document pages: 106, 107</a:t>
            </a:r>
          </a:p>
          <a:p/>
          <a:p>
            <a:r>
              <a:t>COMPLETE SOURCE TEXT</a:t>
            </a:r>
          </a:p>
          <a:p>
            <a:r>
              <a:t>Illustrative revenue scenarios, not forecasts</a:t>
            </a:r>
          </a:p>
          <a:p/>
          <a:p>
            <a:r>
              <a:t>PWON’s FY2025 revenue of approximately Rp7.11 trillion is the fifth-highest within this selected cohort.</a:t>
            </a:r>
          </a:p>
          <a:p/>
          <a:p>
            <a:r>
              <a:t>Starting from TANRISE’s FY2025 revenue of approximately Rp0.411 trillion:</a:t>
            </a:r>
          </a:p>
          <a:p/>
          <a:p>
            <a:r>
              <a:t>Assumed annual growth of that benchmark | Illustrative benchmark in 2035 | TANRISE revenue CAGR required, 2025–2035</a:t>
            </a:r>
          </a:p>
          <a:p/>
          <a:p>
            <a:r>
              <a:t>0% | Rp7.11 trillion | 33.0%</a:t>
            </a:r>
          </a:p>
          <a:p/>
          <a:p>
            <a:r>
              <a:t>3% | Rp9.56 trillion | 37.0%</a:t>
            </a:r>
          </a:p>
          <a:p/>
          <a:p>
            <a:r>
              <a:t>5% | Rp11.58 trillion | 39.6%</a:t>
            </a:r>
          </a:p>
          <a:p/>
          <a:p>
            <a:r>
              <a:t>8% | Rp15.35 trillion | 43.6%</a:t>
            </a:r>
          </a:p>
          <a:p/>
          <a:p>
            <a:r>
              <a:t>Interpretation</a:t>
            </a:r>
          </a:p>
          <a:p/>
          <a:p>
            <a:r>
              <a:t>Reaching the current benchmark requires approximately 17.3 times TANRISE’s FY2025 revenue. Competitors may grow, decline, merge, or change their portfolios.</a:t>
            </a:r>
          </a:p>
          <a:p/>
          <a:p>
            <a:r>
              <a:t>This calculation does not prove national Top Five status or address the separate profit ambition.</a:t>
            </a:r>
          </a:p>
          <a:p/>
          <a:p>
            <a:r>
              <a:t>Suggested chart: Four scenario lines, explicitly labelled “illustrative.”</a:t>
            </a:r>
          </a:p>
          <a:p/>
          <a:p>
            <a:r>
              <a:t>Calculation: Benchmark × (1 + assumed growth)¹⁰; required CAGR = (2035 benchmark ÷ TANRISE baseline)¹⁄¹⁰ − 1.</a:t>
            </a:r>
          </a:p>
          <a:p/>
          <a:p>
            <a:r>
              <a:t>Sources: PWON audited baseline, TANRISE audited baseline. Calculations are analyst-derived.</a:t>
            </a:r>
          </a:p>
          <a:p/>
          <a:p>
            <a:r>
              <a:t>SOURCE HYPERLINKS (as embedded in Mario’s PDF; not independently reverified)</a:t>
            </a:r>
          </a:p>
          <a:p>
            <a:r>
              <a:t>https://www.pakuwonjati.com/upload/2026/04/69f2e5afd9760-ar-pakuwonjati-2025.pdf</a:t>
            </a:r>
          </a:p>
          <a:p>
            <a:r>
              <a:t>https://tanrise.com/wp-content/uploads/2026/03/LAPORAN-KEUANGAN-KONSOLIDASIAN-31-DESEMBER-2025.pdf</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R69 — Proposed TANRISE capability roadmap</a:t>
            </a:r>
          </a:p>
          <a:p>
            <a:r>
              <a:t>Document pages: 107</a:t>
            </a:r>
          </a:p>
          <a:p/>
          <a:p>
            <a:r>
              <a:t>COMPLETE SOURCE TEXT</a:t>
            </a:r>
          </a:p>
          <a:p>
            <a:r>
              <a:t>2026–2027: Establish the operating foundation</a:t>
            </a:r>
          </a:p>
          <a:p/>
          <a:p>
            <a:r>
              <a:t>● Verify land, projects, ownership, and pipeline readiness. ● Validate priority customer segments. ● Improve capital productivity in existing assets. ● Strengthen project leadership and financial controls.</a:t>
            </a:r>
          </a:p>
          <a:p/>
          <a:p>
            <a:r>
              <a:t>2028–2030: Demonstrate repeatability</a:t>
            </a:r>
          </a:p>
          <a:p/>
          <a:p>
            <a:r>
              <a:t>● Deliver successive residential phases. ● Expand industrial/warehousing activity where demand is evidenced. ● Prove partnership governance and project economics. ● Add recurring assets selectively.</a:t>
            </a:r>
          </a:p>
          <a:p/>
          <a:p>
            <a:r>
              <a:t>2031–2033: Scale proven capabilities</a:t>
            </a:r>
          </a:p>
          <a:p/>
          <a:p>
            <a:r>
              <a:t>● Replicate successful models in suitable markets. ● Consider acquisitions only with funding and integration capacity. ● Expand organisational capacity alongside the pipeline.</a:t>
            </a:r>
          </a:p>
          <a:p/>
          <a:p>
            <a:r>
              <a:t>2034–2035: Assess competitive position</a:t>
            </a:r>
          </a:p>
          <a:p/>
          <a:p>
            <a:r>
              <a:t>● Recalculate the market benchmark. ● Compare revenue and attributable profit separately. ● Test cash generation, returns, and resilience.</a:t>
            </a:r>
          </a:p>
          <a:p/>
          <a:p>
            <a:r>
              <a:t>Suggested visual: Roadmap with decision gates rather than unconditional launch commitments.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R69 — Proposed TANRISE capability roadmap</a:t>
            </a:r>
          </a:p>
          <a:p>
            <a:r>
              <a:t>Document pages: 107</a:t>
            </a:r>
          </a:p>
          <a:p/>
          <a:p>
            <a:r>
              <a:t>COMPLETE SOURCE TEXT</a:t>
            </a:r>
          </a:p>
          <a:p>
            <a:r>
              <a:t>2026–2027: Establish the operating foundation</a:t>
            </a:r>
          </a:p>
          <a:p/>
          <a:p>
            <a:r>
              <a:t>● Verify land, projects, ownership, and pipeline readiness. ● Validate priority customer segments. ● Improve capital productivity in existing assets. ● Strengthen project leadership and financial controls.</a:t>
            </a:r>
          </a:p>
          <a:p/>
          <a:p>
            <a:r>
              <a:t>2028–2030: Demonstrate repeatability</a:t>
            </a:r>
          </a:p>
          <a:p/>
          <a:p>
            <a:r>
              <a:t>● Deliver successive residential phases. ● Expand industrial/warehousing activity where demand is evidenced. ● Prove partnership governance and project economics. ● Add recurring assets selectively.</a:t>
            </a:r>
          </a:p>
          <a:p/>
          <a:p>
            <a:r>
              <a:t>2031–2033: Scale proven capabilities</a:t>
            </a:r>
          </a:p>
          <a:p/>
          <a:p>
            <a:r>
              <a:t>● Replicate successful models in suitable markets. ● Consider acquisitions only with funding and integration capacity. ● Expand organisational capacity alongside the pipeline.</a:t>
            </a:r>
          </a:p>
          <a:p/>
          <a:p>
            <a:r>
              <a:t>2034–2035: Assess competitive position</a:t>
            </a:r>
          </a:p>
          <a:p/>
          <a:p>
            <a:r>
              <a:t>● Recalculate the market benchmark. ● Compare revenue and attributable profit separately. ● Test cash generation, returns, and resilience.</a:t>
            </a:r>
          </a:p>
          <a:p/>
          <a:p>
            <a:r>
              <a:t>Suggested visual: Roadmap with decision gates rather than unconditional launch commitments.</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R70 — Measures that connect ambition to execution</a:t>
            </a:r>
          </a:p>
          <a:p>
            <a:r>
              <a:t>Document pages: 107, 108</a:t>
            </a:r>
          </a:p>
          <a:p/>
          <a:p>
            <a:r>
              <a:t>COMPLETE SOURCE TEXT</a:t>
            </a:r>
          </a:p>
          <a:p>
            <a:r>
              <a:t>Proposed management scorecard</a:t>
            </a:r>
          </a:p>
          <a:p/>
          <a:p>
            <a:r>
              <a:t>Area | Measures</a:t>
            </a:r>
          </a:p>
          <a:p/>
          <a:p>
            <a:r>
              <a:t>Market position | Revenue and attributable-profit position within a defined peer universe</a:t>
            </a:r>
          </a:p>
          <a:p/>
          <a:p>
            <a:r>
              <a:t>Demand | Qualified leads, conversion, mortgage approval, cancellations</a:t>
            </a:r>
          </a:p>
          <a:p/>
          <a:p>
            <a:r>
              <a:t>Development | Launch readiness, absorption, construction progress, handover timeliness</a:t>
            </a:r>
          </a:p>
          <a:p/>
          <a:p>
            <a:r>
              <a:t>Cash | Collections, project cash requirements, liquidity headroom</a:t>
            </a:r>
          </a:p>
          <a:p/>
          <a:p>
            <a:r>
              <a:t>Land | Legally ready pipeline, replenishment, infrastructure readiness</a:t>
            </a:r>
          </a:p>
          <a:p/>
          <a:p>
            <a:r>
              <a:t>Capital productivity | Inventory age, asset cash contribution, return on invested capital</a:t>
            </a:r>
          </a:p>
          <a:p/>
          <a:p>
            <a:r>
              <a:t>Recurring operations | Occupancy, income collection, operating cash contribution, maintenance requirements</a:t>
            </a:r>
          </a:p>
          <a:p/>
          <a:p>
            <a:r>
              <a:t>Organisation | Project leadership capacity, delivery workload, reporting reliability</a:t>
            </a:r>
          </a:p>
          <a:p/>
          <a:p>
            <a:r>
              <a:t>Key message: Revenue rank is an outcome. These measures show whether the business can sustain it.</a:t>
            </a:r>
          </a:p>
          <a:p/>
          <a:p>
            <a:r>
              <a:t>Suggested visual: Strategy → operating measures → financial outcomes.</a:t>
            </a:r>
          </a:p>
          <a:p/>
          <a:p>
            <a:r>
              <a:t>Status: Proposed framework; numerical targets require TANRISE baseline data and approval.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R70 — Measures that connect ambition to execution</a:t>
            </a:r>
          </a:p>
          <a:p>
            <a:r>
              <a:t>Document pages: 107, 108</a:t>
            </a:r>
          </a:p>
          <a:p/>
          <a:p>
            <a:r>
              <a:t>COMPLETE SOURCE TEXT</a:t>
            </a:r>
          </a:p>
          <a:p>
            <a:r>
              <a:t>Proposed management scorecard</a:t>
            </a:r>
          </a:p>
          <a:p/>
          <a:p>
            <a:r>
              <a:t>Area | Measures</a:t>
            </a:r>
          </a:p>
          <a:p/>
          <a:p>
            <a:r>
              <a:t>Market position | Revenue and attributable-profit position within a defined peer universe</a:t>
            </a:r>
          </a:p>
          <a:p/>
          <a:p>
            <a:r>
              <a:t>Demand | Qualified leads, conversion, mortgage approval, cancellations</a:t>
            </a:r>
          </a:p>
          <a:p/>
          <a:p>
            <a:r>
              <a:t>Development | Launch readiness, absorption, construction progress, handover timeliness</a:t>
            </a:r>
          </a:p>
          <a:p/>
          <a:p>
            <a:r>
              <a:t>Cash | Collections, project cash requirements, liquidity headroom</a:t>
            </a:r>
          </a:p>
          <a:p/>
          <a:p>
            <a:r>
              <a:t>Land | Legally ready pipeline, replenishment, infrastructure readiness</a:t>
            </a:r>
          </a:p>
          <a:p/>
          <a:p>
            <a:r>
              <a:t>Capital productivity | Inventory age, asset cash contribution, return on invested capital</a:t>
            </a:r>
          </a:p>
          <a:p/>
          <a:p>
            <a:r>
              <a:t>Recurring operations | Occupancy, income collection, operating cash contribution, maintenance requirements</a:t>
            </a:r>
          </a:p>
          <a:p/>
          <a:p>
            <a:r>
              <a:t>Organisation | Project leadership capacity, delivery workload, reporting reliability</a:t>
            </a:r>
          </a:p>
          <a:p/>
          <a:p>
            <a:r>
              <a:t>Key message: Revenue rank is an outcome. These measures show whether the business can sustain it.</a:t>
            </a:r>
          </a:p>
          <a:p/>
          <a:p>
            <a:r>
              <a:t>Suggested visual: Strategy → operating measures → financial outcomes.</a:t>
            </a:r>
          </a:p>
          <a:p/>
          <a:p>
            <a:r>
              <a:t>Status: Proposed framework; numerical targets require TANRISE baseline data and approval.</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R71 — Research gaps before committing to a Top Five plan</a:t>
            </a:r>
          </a:p>
          <a:p>
            <a:r>
              <a:t>Document pages: 109</a:t>
            </a:r>
          </a:p>
          <a:p/>
          <a:p>
            <a:r>
              <a:t>COMPLETE SOURCE TEXT</a:t>
            </a:r>
          </a:p>
          <a:p>
            <a:r>
              <a:t>Market-definition gaps</a:t>
            </a:r>
          </a:p>
          <a:p/>
          <a:p>
            <a:r>
              <a:t>● Is the ambition based on listed issuers, consolidated groups, or all Indonesian</a:t>
            </a:r>
          </a:p>
          <a:p/>
          <a:p>
            <a:r>
              <a:t>developers? ● Are private developers included? ● What treatment applies to subsidiaries and mixed-sector businesses?</a:t>
            </a:r>
          </a:p>
          <a:p/>
          <a:p>
            <a:r>
              <a:t>Financial gaps</a:t>
            </a:r>
          </a:p>
          <a:p/>
          <a:p>
            <a:r>
              <a:t>● A complete attributable-profit comparison using consistent definitions. ● Normalisation of material disposals and other exceptional transactions. ● Project-level cash requirements and available funding.</a:t>
            </a:r>
          </a:p>
          <a:p/>
          <a:p>
            <a:r>
              <a:t>TANRISE-specific gaps</a:t>
            </a:r>
          </a:p>
          <a:p/>
          <a:p>
            <a:r>
              <a:t>● Verified land and project pipeline. ● Capacity of each project to support the required revenue scale. ● Household and employer demand for Sidoarjo. ● Industrial/warehousing tenant requirements. ● Asset-productivity options for existing holdings. ● Management and delivery capacity.</a:t>
            </a:r>
          </a:p>
          <a:p/>
          <a:p>
            <a:r>
              <a:t>Suggested visual: Evidence-gap register with owner, required data, decision affected, and completion date.</a:t>
            </a:r>
          </a:p>
          <a:p/>
          <a:p>
            <a:r>
              <a:t>Key message: The ambition becomes actionable when the missing operating and financial evidence is resolved.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R71 — Research gaps before committing to a Top Five plan</a:t>
            </a:r>
          </a:p>
          <a:p>
            <a:r>
              <a:t>Document pages: 109</a:t>
            </a:r>
          </a:p>
          <a:p/>
          <a:p>
            <a:r>
              <a:t>COMPLETE SOURCE TEXT</a:t>
            </a:r>
          </a:p>
          <a:p>
            <a:r>
              <a:t>Market-definition gaps</a:t>
            </a:r>
          </a:p>
          <a:p/>
          <a:p>
            <a:r>
              <a:t>● Is the ambition based on listed issuers, consolidated groups, or all Indonesian</a:t>
            </a:r>
          </a:p>
          <a:p/>
          <a:p>
            <a:r>
              <a:t>developers? ● Are private developers included? ● What treatment applies to subsidiaries and mixed-sector businesses?</a:t>
            </a:r>
          </a:p>
          <a:p/>
          <a:p>
            <a:r>
              <a:t>Financial gaps</a:t>
            </a:r>
          </a:p>
          <a:p/>
          <a:p>
            <a:r>
              <a:t>● A complete attributable-profit comparison using consistent definitions. ● Normalisation of material disposals and other exceptional transactions. ● Project-level cash requirements and available funding.</a:t>
            </a:r>
          </a:p>
          <a:p/>
          <a:p>
            <a:r>
              <a:t>TANRISE-specific gaps</a:t>
            </a:r>
          </a:p>
          <a:p/>
          <a:p>
            <a:r>
              <a:t>● Verified land and project pipeline. ● Capacity of each project to support the required revenue scale. ● Household and employer demand for Sidoarjo. ● Industrial/warehousing tenant requirements. ● Asset-productivity options for existing holdings. ● Management and delivery capacity.</a:t>
            </a:r>
          </a:p>
          <a:p/>
          <a:p>
            <a:r>
              <a:t>Suggested visual: Evidence-gap register with owner, required data, decision affected, and completion date.</a:t>
            </a:r>
          </a:p>
          <a:p/>
          <a:p>
            <a:r>
              <a:t>Key message: The ambition becomes actionable when the missing operating and financial evidence is resolved.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R72 — Designer research and asset brief</a:t>
            </a:r>
          </a:p>
          <a:p>
            <a:r>
              <a:t>Document pages: 109, 110, 111</a:t>
            </a:r>
          </a:p>
          <a:p/>
          <a:p>
            <a:r>
              <a:t>COMPLETE SOURCE TEXT</a:t>
            </a:r>
          </a:p>
          <a:p>
            <a:r>
              <a:t>Recommended visual materials</a:t>
            </a:r>
          </a:p>
          <a:p/>
          <a:p>
            <a:r>
              <a:t>1. Ownership diagrams: Distinguish group, issuer, subsidiary, project owner, and</a:t>
            </a:r>
          </a:p>
          <a:p/>
          <a:p>
            <a:r>
              <a:t>operator. 2. Company timelines: Separate operating milestones from corporate transactions. 3. Project maps: Use verified locations and label selected examples rather than</a:t>
            </a:r>
          </a:p>
          <a:p/>
          <a:p>
            <a:r>
              <a:t>implying exhaustive coverage. 4. Financial charts: Preserve reporting period, units, profit definition, and</a:t>
            </a:r>
          </a:p>
          <a:p/>
          <a:p>
            <a:r>
              <a:t>consolidation caveats. 5. Business-model diagrams: Label these as analytical interpretations. 6. SWOT matrices: Label as analyst assessment. 7. TANRISE roadmap: Label as proposed.</a:t>
            </a:r>
          </a:p>
          <a:p/>
          <a:p>
            <a:r>
              <a:t>8. Project imagery: Use official photographs, masterplans, or annual-report images</a:t>
            </a:r>
          </a:p>
          <a:p/>
          <a:p>
            <a:r>
              <a:t>with permission where required.</a:t>
            </a:r>
          </a:p>
          <a:p/>
          <a:p>
            <a:r>
              <a:t>Suggested company imagery</a:t>
            </a:r>
          </a:p>
          <a:p/>
          <a:p>
            <a:r>
              <a:t>Company | Useful visual subjects</a:t>
            </a:r>
          </a:p>
          <a:p/>
          <a:p>
            <a:r>
              <a:t>BSDE | BSD City masterplan and township infrastructure</a:t>
            </a:r>
          </a:p>
          <a:p/>
          <a:p>
            <a:r>
              <a:t>LPKR | Lippo Village and residential product examples</a:t>
            </a:r>
          </a:p>
          <a:p/>
          <a:p>
            <a:r>
              <a:t>CTRA | Examples of projects in different cities</a:t>
            </a:r>
          </a:p>
          <a:p/>
          <a:p>
            <a:r>
              <a:t>SMRA | Township phasing and functioning commercial anchors</a:t>
            </a:r>
          </a:p>
          <a:p/>
          <a:p>
            <a:r>
              <a:t>PWON | Tunjungan City, Gandaria City, Kota Kasablanka</a:t>
            </a:r>
          </a:p>
          <a:p/>
          <a:p>
            <a:r>
              <a:t>APLN | Mixed-use developments and contrasting asset formats</a:t>
            </a:r>
          </a:p>
          <a:p/>
          <a:p>
            <a:r>
              <a:t>DUTI | Mangga Dua and township examples</a:t>
            </a:r>
          </a:p>
          <a:p/>
          <a:p>
            <a:r>
              <a:t>ASRI | Alam Sutera, Suvarna Sutera, and separately labelled GWK</a:t>
            </a:r>
          </a:p>
          <a:p/>
          <a:p>
            <a:r>
              <a:t>JRPT | Bintaro Jaya, everyday amenities, and connectivity</a:t>
            </a:r>
          </a:p>
          <a:p/>
          <a:p>
            <a:r>
              <a:t>PANI | PIK2 development area and corporate-action chronology</a:t>
            </a:r>
          </a:p>
          <a:p/>
          <a:p>
            <a:r>
              <a:t>Image-use instruction</a:t>
            </a:r>
          </a:p>
          <a:p/>
          <a:p>
            <a:r>
              <a:t>Official website availability does not establish an open licence. Record the image owner, source, publication date, and permission or licence status. Keep architectural renderings clearly labelled as renderings.</a:t>
            </a:r>
          </a:p>
          <a:p/>
          <a:p>
            <a:r>
              <a:t>Final research principle</a:t>
            </a:r>
          </a:p>
          <a:p/>
          <a:p>
            <a:r>
              <a:t>TANRISE’s advantage should come from a focused growth model that it can fund, deliver, and repeat—supported by a credible brand and measurable customer value.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D01 — What makes a developer’s strategy effective?</a:t>
            </a:r>
          </a:p>
          <a:p>
            <a:r>
              <a:t>Document pages: 111, 112</a:t>
            </a:r>
          </a:p>
          <a:p/>
          <a:p>
            <a:r>
              <a:t>COMPLETE SOURCE TEXT</a:t>
            </a:r>
          </a:p>
          <a:p>
            <a:r>
              <a:t>A developer’s competitive advantage comes from how several decisions reinforce one another:</a:t>
            </a:r>
          </a:p>
          <a:p/>
          <a:p>
            <a:r>
              <a:t>1. Market selection: Which customers and locations does it prioritise? 2. Product economics: What can those customers afford, and what can the</a:t>
            </a:r>
          </a:p>
          <a:p/>
          <a:p>
            <a:r>
              <a:t>developer deliver profitably? 3. Brand strategy: What gives customers, landowners, banks, and tenants</a:t>
            </a:r>
          </a:p>
          <a:p/>
          <a:p>
            <a:r>
              <a:t>confidence? 4. Demand creation: Why would people want to live, work, or operate there? 5. Sales conversion: How does the developer remove obstacles between interest and</a:t>
            </a:r>
          </a:p>
          <a:p/>
          <a:p>
            <a:r>
              <a:t>purchase? 6. Capital strategy: How does it fund the next phase without exhausting cash? 7. Delivery: Does the completed experience support the next launch?</a:t>
            </a:r>
          </a:p>
          <a:p/>
          <a:p>
            <a:r>
              <a:t>Analytical principle: A strong campaign cannot permanently compensate for an unsuitable location, unaffordable product, or unreliable delivery.</a:t>
            </a:r>
          </a:p>
          <a:p/>
          <a:p>
            <a:r>
              <a:t>Suggested diagram: These seven decisions arranged as a reinforcing system, with delivery feeding back into reputation and future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D01 — What makes a developer’s strategy effective?</a:t>
            </a:r>
          </a:p>
          <a:p>
            <a:r>
              <a:t>Document pages: 111, 112</a:t>
            </a:r>
          </a:p>
          <a:p/>
          <a:p>
            <a:r>
              <a:t>COMPLETE SOURCE TEXT</a:t>
            </a:r>
          </a:p>
          <a:p>
            <a:r>
              <a:t>A developer’s competitive advantage comes from how several decisions reinforce one another:</a:t>
            </a:r>
          </a:p>
          <a:p/>
          <a:p>
            <a:r>
              <a:t>1. Market selection: Which customers and locations does it prioritise? 2. Product economics: What can those customers afford, and what can the</a:t>
            </a:r>
          </a:p>
          <a:p/>
          <a:p>
            <a:r>
              <a:t>developer deliver profitably? 3. Brand strategy: What gives customers, landowners, banks, and tenants</a:t>
            </a:r>
          </a:p>
          <a:p/>
          <a:p>
            <a:r>
              <a:t>confidence? 4. Demand creation: Why would people want to live, work, or operate there? 5. Sales conversion: How does the developer remove obstacles between interest and</a:t>
            </a:r>
          </a:p>
          <a:p/>
          <a:p>
            <a:r>
              <a:t>purchase? 6. Capital strategy: How does it fund the next phase without exhausting cash? 7. Delivery: Does the completed experience support the next launch?</a:t>
            </a:r>
          </a:p>
          <a:p/>
          <a:p>
            <a:r>
              <a:t>Analytical principle: A strong campaign cannot permanently compensate for an unsuitable location, unaffordable product, or unreliable delivery.</a:t>
            </a:r>
          </a:p>
          <a:p/>
          <a:p>
            <a:r>
              <a:t>Suggested diagram: These seven decisions arranged as a reinforcing system, with delivery feeding back into reputation and future demand.</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D02 — The brands operate at different levels</a:t>
            </a:r>
          </a:p>
          <a:p>
            <a:r>
              <a:t>Document pages: 112, 113</a:t>
            </a:r>
          </a:p>
          <a:p/>
          <a:p>
            <a:r>
              <a:t>COMPLETE SOURCE TEXT</a:t>
            </a:r>
          </a:p>
          <a:p>
            <a:r>
              <a:t>Analytical interpretation of the observed portfolios</a:t>
            </a:r>
          </a:p>
          <a:p/>
          <a:p>
            <a:r>
              <a:t>Developer | Most useful brand mechanism to examine | Commercial purpose</a:t>
            </a:r>
          </a:p>
          <a:p/>
          <a:p>
            <a:r>
              <a:t>BSDE / Sinar Mas Land | Corporate endorsement + BSD destination identity + cluster brands | Combine delivery confidence with different product propositions</a:t>
            </a:r>
          </a:p>
          <a:p/>
          <a:p>
            <a:r>
              <a:t>Lippo Karawaci | Township identity + clearly differentiated housing series | Make products relevant to distinct budgets and household needs</a:t>
            </a:r>
          </a:p>
          <a:p/>
          <a:p>
            <a:r>
              <a:t>Ciputra | Recognisable development identity across locally adapted projects | Transfer confidence across cities and attract land partners</a:t>
            </a:r>
          </a:p>
          <a:p/>
          <a:p>
            <a:r>
              <a:t>Summarecon | Corporate name closely attached to township names | Transfer expectations from established places to new developments</a:t>
            </a:r>
          </a:p>
          <a:p/>
          <a:p>
            <a:r>
              <a:t>Pakuwon | Strong destination brands within an operating portfolio | Attract visitors, tenants, residents, and hotel customers</a:t>
            </a:r>
          </a:p>
          <a:p/>
          <a:p>
            <a:r>
              <a:t>Agung Podomoro | Developer endorsement + project identity + tangible design propositions | Make products recognisable and easier to evaluate</a:t>
            </a:r>
          </a:p>
          <a:p/>
          <a:p>
            <a:r>
              <a:t>Duta Pertiwi | Township brands combined with specialist partner brands | Add credible capabilities to existing locations</a:t>
            </a:r>
          </a:p>
          <a:p/>
          <a:p>
            <a:r>
              <a:t>Alam Sutera | Place identity supported by a range of project and cluster propositions | Serve different purchasing capacities without one uniform offer</a:t>
            </a:r>
          </a:p>
          <a:p/>
          <a:p>
            <a:r>
              <a:t>Jaya Real Property | Established place brands supported by practical livability | Sell an everyday living environment</a:t>
            </a:r>
          </a:p>
          <a:p/>
          <a:p>
            <a:r>
              <a:t>PANI | PIK2 destination identity supporting multiple product categories | Connect residential and commercial demand to an expanding location</a:t>
            </a:r>
          </a:p>
          <a:p/>
          <a:p>
            <a:r>
              <a:t>These are analytical descriptions, not claims that the companies formally use these exact brand-strategy terms.</a:t>
            </a:r>
          </a:p>
          <a:p/>
          <a:p>
            <a:r>
              <a:t>Suggested visual: Corporate brand → township/destination → cluster/product, with different emphasis for each developer.</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D02 — The brands operate at different levels</a:t>
            </a:r>
          </a:p>
          <a:p>
            <a:r>
              <a:t>Document pages: 112, 113</a:t>
            </a:r>
          </a:p>
          <a:p/>
          <a:p>
            <a:r>
              <a:t>COMPLETE SOURCE TEXT</a:t>
            </a:r>
          </a:p>
          <a:p>
            <a:r>
              <a:t>Analytical interpretation of the observed portfolios</a:t>
            </a:r>
          </a:p>
          <a:p/>
          <a:p>
            <a:r>
              <a:t>Developer | Most useful brand mechanism to examine | Commercial purpose</a:t>
            </a:r>
          </a:p>
          <a:p/>
          <a:p>
            <a:r>
              <a:t>BSDE / Sinar Mas Land | Corporate endorsement + BSD destination identity + cluster brands | Combine delivery confidence with different product propositions</a:t>
            </a:r>
          </a:p>
          <a:p/>
          <a:p>
            <a:r>
              <a:t>Lippo Karawaci | Township identity + clearly differentiated housing series | Make products relevant to distinct budgets and household needs</a:t>
            </a:r>
          </a:p>
          <a:p/>
          <a:p>
            <a:r>
              <a:t>Ciputra | Recognisable development identity across locally adapted projects | Transfer confidence across cities and attract land partners</a:t>
            </a:r>
          </a:p>
          <a:p/>
          <a:p>
            <a:r>
              <a:t>Summarecon | Corporate name closely attached to township names | Transfer expectations from established places to new developments</a:t>
            </a:r>
          </a:p>
          <a:p/>
          <a:p>
            <a:r>
              <a:t>Pakuwon | Strong destination brands within an operating portfolio | Attract visitors, tenants, residents, and hotel customers</a:t>
            </a:r>
          </a:p>
          <a:p/>
          <a:p>
            <a:r>
              <a:t>Agung Podomoro | Developer endorsement + project identity + tangible design propositions | Make products recognisable and easier to evaluate</a:t>
            </a:r>
          </a:p>
          <a:p/>
          <a:p>
            <a:r>
              <a:t>Duta Pertiwi | Township brands combined with specialist partner brands | Add credible capabilities to existing locations</a:t>
            </a:r>
          </a:p>
          <a:p/>
          <a:p>
            <a:r>
              <a:t>Alam Sutera | Place identity supported by a range of project and cluster propositions | Serve different purchasing capacities without one uniform offer</a:t>
            </a:r>
          </a:p>
          <a:p/>
          <a:p>
            <a:r>
              <a:t>Jaya Real Property | Established place brands supported by practical livability | Sell an everyday living environment</a:t>
            </a:r>
          </a:p>
          <a:p/>
          <a:p>
            <a:r>
              <a:t>PANI | PIK2 destination identity supporting multiple product categories | Connect residential and commercial demand to an expanding location</a:t>
            </a:r>
          </a:p>
          <a:p/>
          <a:p>
            <a:r>
              <a:t>These are analytical descriptions, not claims that the companies formally use these exact brand-strategy terms.</a:t>
            </a:r>
          </a:p>
          <a:p/>
          <a:p>
            <a:r>
              <a:t>Suggested visual: Corporate brand → township/destination → cluster/product, with different emphasis for each developer.</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D02 — The brands operate at different levels</a:t>
            </a:r>
          </a:p>
          <a:p>
            <a:r>
              <a:t>Document pages: 112, 113</a:t>
            </a:r>
          </a:p>
          <a:p/>
          <a:p>
            <a:r>
              <a:t>COMPLETE SOURCE TEXT</a:t>
            </a:r>
          </a:p>
          <a:p>
            <a:r>
              <a:t>Analytical interpretation of the observed portfolios</a:t>
            </a:r>
          </a:p>
          <a:p/>
          <a:p>
            <a:r>
              <a:t>Developer | Most useful brand mechanism to examine | Commercial purpose</a:t>
            </a:r>
          </a:p>
          <a:p/>
          <a:p>
            <a:r>
              <a:t>BSDE / Sinar Mas Land | Corporate endorsement + BSD destination identity + cluster brands | Combine delivery confidence with different product propositions</a:t>
            </a:r>
          </a:p>
          <a:p/>
          <a:p>
            <a:r>
              <a:t>Lippo Karawaci | Township identity + clearly differentiated housing series | Make products relevant to distinct budgets and household needs</a:t>
            </a:r>
          </a:p>
          <a:p/>
          <a:p>
            <a:r>
              <a:t>Ciputra | Recognisable development identity across locally adapted projects | Transfer confidence across cities and attract land partners</a:t>
            </a:r>
          </a:p>
          <a:p/>
          <a:p>
            <a:r>
              <a:t>Summarecon | Corporate name closely attached to township names | Transfer expectations from established places to new developments</a:t>
            </a:r>
          </a:p>
          <a:p/>
          <a:p>
            <a:r>
              <a:t>Pakuwon | Strong destination brands within an operating portfolio | Attract visitors, tenants, residents, and hotel customers</a:t>
            </a:r>
          </a:p>
          <a:p/>
          <a:p>
            <a:r>
              <a:t>Agung Podomoro | Developer endorsement + project identity + tangible design propositions | Make products recognisable and easier to evaluate</a:t>
            </a:r>
          </a:p>
          <a:p/>
          <a:p>
            <a:r>
              <a:t>Duta Pertiwi | Township brands combined with specialist partner brands | Add credible capabilities to existing locations</a:t>
            </a:r>
          </a:p>
          <a:p/>
          <a:p>
            <a:r>
              <a:t>Alam Sutera | Place identity supported by a range of project and cluster propositions | Serve different purchasing capacities without one uniform offer</a:t>
            </a:r>
          </a:p>
          <a:p/>
          <a:p>
            <a:r>
              <a:t>Jaya Real Property | Established place brands supported by practical livability | Sell an everyday living environment</a:t>
            </a:r>
          </a:p>
          <a:p/>
          <a:p>
            <a:r>
              <a:t>PANI | PIK2 destination identity supporting multiple product categories | Connect residential and commercial demand to an expanding location</a:t>
            </a:r>
          </a:p>
          <a:p/>
          <a:p>
            <a:r>
              <a:t>These are analytical descriptions, not claims that the companies formally use these exact brand-strategy terms.</a:t>
            </a:r>
          </a:p>
          <a:p/>
          <a:p>
            <a:r>
              <a:t>Suggested visual: Corporate brand → township/destination → cluster/product, with different emphasis for each developer.</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D03 — BSDE: Building an economic identity for the location</a:t>
            </a:r>
          </a:p>
          <a:p>
            <a:r>
              <a:t>Document pages: 113, 114</a:t>
            </a:r>
          </a:p>
          <a:p/>
          <a:p>
            <a:r>
              <a:t>COMPLETE SOURCE TEXT</a:t>
            </a:r>
          </a:p>
          <a:p>
            <a:r>
              <a:t>Documented strategic decision</a:t>
            </a:r>
          </a:p>
          <a:p/>
          <a:p>
            <a:r>
              <a:t>BSD’s Digital Hub was introduced in 2017 as a dedicated technology and digital-business area. An official 2021 disclosure identified an ecosystem including Apple Developer Academy, Traveloka, NTT, SIRCLO, and other businesses. These are different forms of participation; they should not all be described as identical tenants or investments. Source: Sinar Mas Land’s Digital Hub disclosure.</a:t>
            </a:r>
          </a:p>
          <a:p/>
          <a:p>
            <a:r>
              <a:t>Brand strategy — analytical interpretation</a:t>
            </a:r>
          </a:p>
          <a:p/>
          <a:p>
            <a:r>
              <a:t>BSD is being positioned as a place with an economic purpose, beyond its residential inventory. Technology businesses and education provide tangible support for that identity.</a:t>
            </a:r>
          </a:p>
          <a:p/>
          <a:p>
            <a:r>
              <a:t>Business mechanism</a:t>
            </a:r>
          </a:p>
          <a:p/>
          <a:p>
            <a:r>
              <a:t>● Employers create reasons to travel to the area. ● Education and talent activity make the location more relevant to businesses. ● Workers, students, and visitors can support surrounding services. ● The broader activity base can improve the proposition for residential and</a:t>
            </a:r>
          </a:p>
          <a:p/>
          <a:p>
            <a:r>
              <a:t>commercial property.</a:t>
            </a:r>
          </a:p>
          <a:p/>
          <a:p>
            <a:r>
              <a:t>The important strategic move is recruiting the organisations that make the destination promise credible.</a:t>
            </a:r>
          </a:p>
          <a:p/>
          <a:p>
            <a:r>
              <a:t>Why this can be effective</a:t>
            </a:r>
          </a:p>
          <a:p/>
          <a:p>
            <a:r>
              <a:t>A location connected to employment and education can address a more enduring need than a residential theme alone.</a:t>
            </a:r>
          </a:p>
          <a:p/>
          <a:p>
            <a:r>
              <a:t>Evidence limit</a:t>
            </a:r>
          </a:p>
          <a:p/>
          <a:p>
            <a:r>
              <a:t>The reviewed disclosure does not quantify how much Digital Hub increased housing prices, absorption, or profit.</a:t>
            </a:r>
          </a:p>
          <a:p/>
          <a:p>
            <a:r>
              <a:t>Suggested diagram: Institutional anchors → employment and talent → daily activity → demand for housing and services.</a:t>
            </a:r>
          </a:p>
          <a:p/>
          <a:p>
            <a:r>
              <a:t>SOURCE HYPERLINKS (as embedded in Mario’s PDF; not independently reverified)</a:t>
            </a:r>
          </a:p>
          <a:p>
            <a:r>
              <a:t>https://www.sinarmasland.com/news/perusahaan-ti-dari-as-lengkapi-ekosistem-digital-hub-bsd-city</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D03 — BSDE: Building an economic identity for the location</a:t>
            </a:r>
          </a:p>
          <a:p>
            <a:r>
              <a:t>Document pages: 113, 114</a:t>
            </a:r>
          </a:p>
          <a:p/>
          <a:p>
            <a:r>
              <a:t>COMPLETE SOURCE TEXT</a:t>
            </a:r>
          </a:p>
          <a:p>
            <a:r>
              <a:t>Documented strategic decision</a:t>
            </a:r>
          </a:p>
          <a:p/>
          <a:p>
            <a:r>
              <a:t>BSD’s Digital Hub was introduced in 2017 as a dedicated technology and digital-business area. An official 2021 disclosure identified an ecosystem including Apple Developer Academy, Traveloka, NTT, SIRCLO, and other businesses. These are different forms of participation; they should not all be described as identical tenants or investments. Source: Sinar Mas Land’s Digital Hub disclosure.</a:t>
            </a:r>
          </a:p>
          <a:p/>
          <a:p>
            <a:r>
              <a:t>Brand strategy — analytical interpretation</a:t>
            </a:r>
          </a:p>
          <a:p/>
          <a:p>
            <a:r>
              <a:t>BSD is being positioned as a place with an economic purpose, beyond its residential inventory. Technology businesses and education provide tangible support for that identity.</a:t>
            </a:r>
          </a:p>
          <a:p/>
          <a:p>
            <a:r>
              <a:t>Business mechanism</a:t>
            </a:r>
          </a:p>
          <a:p/>
          <a:p>
            <a:r>
              <a:t>● Employers create reasons to travel to the area. ● Education and talent activity make the location more relevant to businesses. ● Workers, students, and visitors can support surrounding services. ● The broader activity base can improve the proposition for residential and</a:t>
            </a:r>
          </a:p>
          <a:p/>
          <a:p>
            <a:r>
              <a:t>commercial property.</a:t>
            </a:r>
          </a:p>
          <a:p/>
          <a:p>
            <a:r>
              <a:t>The important strategic move is recruiting the organisations that make the destination promise credible.</a:t>
            </a:r>
          </a:p>
          <a:p/>
          <a:p>
            <a:r>
              <a:t>Why this can be effective</a:t>
            </a:r>
          </a:p>
          <a:p/>
          <a:p>
            <a:r>
              <a:t>A location connected to employment and education can address a more enduring need than a residential theme alone.</a:t>
            </a:r>
          </a:p>
          <a:p/>
          <a:p>
            <a:r>
              <a:t>Evidence limit</a:t>
            </a:r>
          </a:p>
          <a:p/>
          <a:p>
            <a:r>
              <a:t>The reviewed disclosure does not quantify how much Digital Hub increased housing prices, absorption, or profit.</a:t>
            </a:r>
          </a:p>
          <a:p/>
          <a:p>
            <a:r>
              <a:t>Suggested diagram: Institutional anchors → employment and talent → daily activity → demand for housing and services.</a:t>
            </a:r>
          </a:p>
          <a:p/>
          <a:p>
            <a:r>
              <a:t>SOURCE HYPERLINKS (as embedded in Mario’s PDF; not independently reverified)</a:t>
            </a:r>
          </a:p>
          <a:p>
            <a:r>
              <a:t>https://www.sinarmasland.com/news/perusahaan-ti-dari-as-lengkapi-ekosistem-digital-hub-bsd-city</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D04 — BSDE: Combining brand confidence with purchase-friction removal</a:t>
            </a:r>
          </a:p>
          <a:p>
            <a:r>
              <a:t>Document pages: 114, 115</a:t>
            </a:r>
          </a:p>
          <a:p/>
          <a:p>
            <a:r>
              <a:t>COMPLETE SOURCE TEXT</a:t>
            </a:r>
          </a:p>
          <a:p>
            <a:r>
              <a:t>Documented marketing execution</a:t>
            </a:r>
          </a:p>
          <a:p/>
          <a:p>
            <a:r>
              <a:t>The 2025 Move in Quickly programme used three sales periods and product-dependent incentives, including price reductions, down-payment support, transaction-cost relief, and other benefits. Separate participation in BCA Expo placed property offers alongside a financing-related customer occasion. These were historical offers subject to conditions, not current universal prices. Sources: programme structure, BCA Expo campaign.</a:t>
            </a:r>
          </a:p>
          <a:p/>
          <a:p>
            <a:r>
              <a:t>Why the mechanism matters — analysis</a:t>
            </a:r>
          </a:p>
          <a:p/>
          <a:p>
            <a:r>
              <a:t>A customer can trust a developer and want its product while still being unable to transact.</a:t>
            </a:r>
          </a:p>
          <a:p/>
          <a:p>
            <a:r>
              <a:t>Different incentives address different obstacles:</a:t>
            </a:r>
          </a:p>
          <a:p/>
          <a:p>
            <a:r>
              <a:t>Obstacle | Relevant commercial response</a:t>
            </a:r>
          </a:p>
          <a:p/>
          <a:p>
            <a:r>
              <a:t>Insufficient initial cash | Down-payment support</a:t>
            </a:r>
          </a:p>
          <a:p/>
          <a:p>
            <a:r>
              <a:t>High all-in acquisition cost | Tax or transaction-fee assistance</a:t>
            </a:r>
          </a:p>
          <a:p/>
          <a:p>
            <a:r>
              <a:t>Uncertainty about financing | Bank-linked sales channels</a:t>
            </a:r>
          </a:p>
          <a:p/>
          <a:p>
            <a:r>
              <a:t>Delayed decision | Clearly defined campaign periods</a:t>
            </a:r>
          </a:p>
          <a:p/>
          <a:p>
            <a:r>
              <a:t>Difficulty comparing inventory | Searchable product information and sales support</a:t>
            </a:r>
          </a:p>
          <a:p/>
          <a:p>
            <a:r>
              <a:t>Business implication</a:t>
            </a:r>
          </a:p>
          <a:p/>
          <a:p>
            <a:r>
              <a:t>Marketing is coordinating inventory, financing, timing, and communication—not merely generating awareness.</a:t>
            </a:r>
          </a:p>
          <a:p/>
          <a:p>
            <a:r>
              <a:t>TANRISE application</a:t>
            </a:r>
          </a:p>
          <a:p/>
          <a:p>
            <a:r>
              <a:t>Identify the actual barrier for each priority segment before designing a promotion. Track the net realised selling price and collections after incentives, rather than celebrating bookings alone.</a:t>
            </a:r>
          </a:p>
          <a:p/>
          <a:p>
            <a:r>
              <a:t>Suggested visual: Buyer obstacle → offer → conversion measure → margin impact.</a:t>
            </a:r>
          </a:p>
          <a:p/>
          <a:p>
            <a:r>
              <a:t>SOURCE HYPERLINKS (as embedded in Mario’s PDF; not independently reverified)</a:t>
            </a:r>
          </a:p>
          <a:p>
            <a:r>
              <a:t>https://hrsmile.sinarmasland.com/news-events/kemudahan-miliki-properti-program-move-in-quickly-hadir-kembali/</a:t>
            </a:r>
          </a:p>
          <a:p>
            <a:r>
              <a:t>https://www.sinarmasland.com/news/keuntungan-dari-sinar-mas-land-di-bca-expoversary-2025-ice-bsd-city</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D04 — BSDE: Combining brand confidence with purchase-friction removal</a:t>
            </a:r>
          </a:p>
          <a:p>
            <a:r>
              <a:t>Document pages: 114, 115</a:t>
            </a:r>
          </a:p>
          <a:p/>
          <a:p>
            <a:r>
              <a:t>COMPLETE SOURCE TEXT</a:t>
            </a:r>
          </a:p>
          <a:p>
            <a:r>
              <a:t>Documented marketing execution</a:t>
            </a:r>
          </a:p>
          <a:p/>
          <a:p>
            <a:r>
              <a:t>The 2025 Move in Quickly programme used three sales periods and product-dependent incentives, including price reductions, down-payment support, transaction-cost relief, and other benefits. Separate participation in BCA Expo placed property offers alongside a financing-related customer occasion. These were historical offers subject to conditions, not current universal prices. Sources: programme structure, BCA Expo campaign.</a:t>
            </a:r>
          </a:p>
          <a:p/>
          <a:p>
            <a:r>
              <a:t>Why the mechanism matters — analysis</a:t>
            </a:r>
          </a:p>
          <a:p/>
          <a:p>
            <a:r>
              <a:t>A customer can trust a developer and want its product while still being unable to transact.</a:t>
            </a:r>
          </a:p>
          <a:p/>
          <a:p>
            <a:r>
              <a:t>Different incentives address different obstacles:</a:t>
            </a:r>
          </a:p>
          <a:p/>
          <a:p>
            <a:r>
              <a:t>Obstacle | Relevant commercial response</a:t>
            </a:r>
          </a:p>
          <a:p/>
          <a:p>
            <a:r>
              <a:t>Insufficient initial cash | Down-payment support</a:t>
            </a:r>
          </a:p>
          <a:p/>
          <a:p>
            <a:r>
              <a:t>High all-in acquisition cost | Tax or transaction-fee assistance</a:t>
            </a:r>
          </a:p>
          <a:p/>
          <a:p>
            <a:r>
              <a:t>Uncertainty about financing | Bank-linked sales channels</a:t>
            </a:r>
          </a:p>
          <a:p/>
          <a:p>
            <a:r>
              <a:t>Delayed decision | Clearly defined campaign periods</a:t>
            </a:r>
          </a:p>
          <a:p/>
          <a:p>
            <a:r>
              <a:t>Difficulty comparing inventory | Searchable product information and sales support</a:t>
            </a:r>
          </a:p>
          <a:p/>
          <a:p>
            <a:r>
              <a:t>Business implication</a:t>
            </a:r>
          </a:p>
          <a:p/>
          <a:p>
            <a:r>
              <a:t>Marketing is coordinating inventory, financing, timing, and communication—not merely generating awareness.</a:t>
            </a:r>
          </a:p>
          <a:p/>
          <a:p>
            <a:r>
              <a:t>TANRISE application</a:t>
            </a:r>
          </a:p>
          <a:p/>
          <a:p>
            <a:r>
              <a:t>Identify the actual barrier for each priority segment before designing a promotion. Track the net realised selling price and collections after incentives, rather than celebrating bookings alone.</a:t>
            </a:r>
          </a:p>
          <a:p/>
          <a:p>
            <a:r>
              <a:t>Suggested visual: Buyer obstacle → offer → conversion measure → margin impact.</a:t>
            </a:r>
          </a:p>
          <a:p/>
          <a:p>
            <a:r>
              <a:t>SOURCE HYPERLINKS (as embedded in Mario’s PDF; not independently reverified)</a:t>
            </a:r>
          </a:p>
          <a:p>
            <a:r>
              <a:t>https://hrsmile.sinarmasland.com/news-events/kemudahan-miliki-properti-program-move-in-quickly-hadir-kembali/</a:t>
            </a:r>
          </a:p>
          <a:p>
            <a:r>
              <a:t>https://www.sinarmasland.com/news/keuntungan-dari-sinar-mas-land-di-bca-expoversary-2025-ice-bsd-city</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D04 — BSDE: Combining brand confidence with purchase-friction removal</a:t>
            </a:r>
          </a:p>
          <a:p>
            <a:r>
              <a:t>Document pages: 114, 115</a:t>
            </a:r>
          </a:p>
          <a:p/>
          <a:p>
            <a:r>
              <a:t>COMPLETE SOURCE TEXT</a:t>
            </a:r>
          </a:p>
          <a:p>
            <a:r>
              <a:t>Documented marketing execution</a:t>
            </a:r>
          </a:p>
          <a:p/>
          <a:p>
            <a:r>
              <a:t>The 2025 Move in Quickly programme used three sales periods and product-dependent incentives, including price reductions, down-payment support, transaction-cost relief, and other benefits. Separate participation in BCA Expo placed property offers alongside a financing-related customer occasion. These were historical offers subject to conditions, not current universal prices. Sources: programme structure, BCA Expo campaign.</a:t>
            </a:r>
          </a:p>
          <a:p/>
          <a:p>
            <a:r>
              <a:t>Why the mechanism matters — analysis</a:t>
            </a:r>
          </a:p>
          <a:p/>
          <a:p>
            <a:r>
              <a:t>A customer can trust a developer and want its product while still being unable to transact.</a:t>
            </a:r>
          </a:p>
          <a:p/>
          <a:p>
            <a:r>
              <a:t>Different incentives address different obstacles:</a:t>
            </a:r>
          </a:p>
          <a:p/>
          <a:p>
            <a:r>
              <a:t>Obstacle | Relevant commercial response</a:t>
            </a:r>
          </a:p>
          <a:p/>
          <a:p>
            <a:r>
              <a:t>Insufficient initial cash | Down-payment support</a:t>
            </a:r>
          </a:p>
          <a:p/>
          <a:p>
            <a:r>
              <a:t>High all-in acquisition cost | Tax or transaction-fee assistance</a:t>
            </a:r>
          </a:p>
          <a:p/>
          <a:p>
            <a:r>
              <a:t>Uncertainty about financing | Bank-linked sales channels</a:t>
            </a:r>
          </a:p>
          <a:p/>
          <a:p>
            <a:r>
              <a:t>Delayed decision | Clearly defined campaign periods</a:t>
            </a:r>
          </a:p>
          <a:p/>
          <a:p>
            <a:r>
              <a:t>Difficulty comparing inventory | Searchable product information and sales support</a:t>
            </a:r>
          </a:p>
          <a:p/>
          <a:p>
            <a:r>
              <a:t>Business implication</a:t>
            </a:r>
          </a:p>
          <a:p/>
          <a:p>
            <a:r>
              <a:t>Marketing is coordinating inventory, financing, timing, and communication—not merely generating awareness.</a:t>
            </a:r>
          </a:p>
          <a:p/>
          <a:p>
            <a:r>
              <a:t>TANRISE application</a:t>
            </a:r>
          </a:p>
          <a:p/>
          <a:p>
            <a:r>
              <a:t>Identify the actual barrier for each priority segment before designing a promotion. Track the net realised selling price and collections after incentives, rather than celebrating bookings alone.</a:t>
            </a:r>
          </a:p>
          <a:p/>
          <a:p>
            <a:r>
              <a:t>Suggested visual: Buyer obstacle → offer → conversion measure → margin impact.</a:t>
            </a:r>
          </a:p>
          <a:p/>
          <a:p>
            <a:r>
              <a:t>SOURCE HYPERLINKS (as embedded in Mario’s PDF; not independently reverified)</a:t>
            </a:r>
          </a:p>
          <a:p>
            <a:r>
              <a:t>https://hrsmile.sinarmasland.com/news-events/kemudahan-miliki-properti-program-move-in-quickly-hadir-kembali/</a:t>
            </a:r>
          </a:p>
          <a:p>
            <a:r>
              <a:t>https://www.sinarmasland.com/news/keuntungan-dari-sinar-mas-land-di-bca-expoversary-2025-ice-bsd-city</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D05 — Lippo: Changing the product to reach a different customer</a:t>
            </a:r>
          </a:p>
          <a:p>
            <a:r>
              <a:t>Document pages: 115, 116</a:t>
            </a:r>
          </a:p>
          <a:p/>
          <a:p>
            <a:r>
              <a:t>COMPLETE SOURCE TEXT</a:t>
            </a:r>
          </a:p>
          <a:p>
            <a:r>
              <a:t>Documented strategic decision</a:t>
            </a:r>
          </a:p>
          <a:p/>
          <a:p>
            <a:r>
              <a:t>Lippo’s sustainability reporting describes market studies and ethnographic research into younger Indonesian buyers. It links that work to housing products at different price points and a shift toward community-oriented living environments.</a:t>
            </a:r>
          </a:p>
          <a:p/>
          <a:p>
            <a:r>
              <a:t>XYZ Livin was presented at approximately Rp300–600 million, targeting young families and professionals. These were historical disclosed prices. Source: Lippo’s product-research and XYZ Livin discussion.</a:t>
            </a:r>
          </a:p>
          <a:p/>
          <a:p>
            <a:r>
              <a:t>Brand strategy — analytical interpretation</a:t>
            </a:r>
          </a:p>
          <a:p/>
          <a:p>
            <a:r>
              <a:t>Product-series identities allow the developer to communicate different combinations of affordability, layout, functionality, and aspiration within a larger township.</a:t>
            </a:r>
          </a:p>
          <a:p/>
          <a:p>
            <a:r>
              <a:t>Business mechanism</a:t>
            </a:r>
          </a:p>
          <a:p/>
          <a:p>
            <a:r>
              <a:t>The strategic sequence is:</a:t>
            </a:r>
          </a:p>
          <a:p/>
          <a:p>
            <a:r>
              <a:t>Understand purchasing capacity → redesign the product → define the relevant lifestyle proposition → organise financing and selling.</a:t>
            </a:r>
          </a:p>
          <a:p/>
          <a:p>
            <a:r>
              <a:t>This is more consequential than applying a youthful campaign to an unchanged, unaffordable house.</a:t>
            </a:r>
          </a:p>
          <a:p/>
          <a:p>
            <a:r>
              <a:t>Why it can be effective</a:t>
            </a:r>
          </a:p>
          <a:p/>
          <a:p>
            <a:r>
              <a:t>A lower total ticket can expand the pool of eligible buyers. Functional design can help smaller homes remain desirable.</a:t>
            </a:r>
          </a:p>
          <a:p/>
          <a:p>
            <a:r>
              <a:t>Critical trade-off</a:t>
            </a:r>
          </a:p>
          <a:p/>
          <a:p>
            <a:r>
              <a:t>Lower ticket prices must still support adequate margins, acceptable living quality, and manageable infrastructure costs per unit.</a:t>
            </a:r>
          </a:p>
          <a:p/>
          <a:p>
            <a:r>
              <a:t>Suggested visual: Household budget translated into land area, building area, layout, specification, and payment structure.</a:t>
            </a:r>
          </a:p>
          <a:p/>
          <a:p>
            <a:r>
              <a:t>SOURCE HYPERLINKS (as embedded in Mario’s PDF; not independently reverified)</a:t>
            </a:r>
          </a:p>
          <a:p>
            <a:r>
              <a:t>https://www.lippokarawaci.co.id/uploads/file/LPKR%20-%20ENGLISH%20-%20FINAL_LowRes.pdf</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D05 — Lippo: Changing the product to reach a different customer</a:t>
            </a:r>
          </a:p>
          <a:p>
            <a:r>
              <a:t>Document pages: 115, 116</a:t>
            </a:r>
          </a:p>
          <a:p/>
          <a:p>
            <a:r>
              <a:t>COMPLETE SOURCE TEXT</a:t>
            </a:r>
          </a:p>
          <a:p>
            <a:r>
              <a:t>Documented strategic decision</a:t>
            </a:r>
          </a:p>
          <a:p/>
          <a:p>
            <a:r>
              <a:t>Lippo’s sustainability reporting describes market studies and ethnographic research into younger Indonesian buyers. It links that work to housing products at different price points and a shift toward community-oriented living environments.</a:t>
            </a:r>
          </a:p>
          <a:p/>
          <a:p>
            <a:r>
              <a:t>XYZ Livin was presented at approximately Rp300–600 million, targeting young families and professionals. These were historical disclosed prices. Source: Lippo’s product-research and XYZ Livin discussion.</a:t>
            </a:r>
          </a:p>
          <a:p/>
          <a:p>
            <a:r>
              <a:t>Brand strategy — analytical interpretation</a:t>
            </a:r>
          </a:p>
          <a:p/>
          <a:p>
            <a:r>
              <a:t>Product-series identities allow the developer to communicate different combinations of affordability, layout, functionality, and aspiration within a larger township.</a:t>
            </a:r>
          </a:p>
          <a:p/>
          <a:p>
            <a:r>
              <a:t>Business mechanism</a:t>
            </a:r>
          </a:p>
          <a:p/>
          <a:p>
            <a:r>
              <a:t>The strategic sequence is:</a:t>
            </a:r>
          </a:p>
          <a:p/>
          <a:p>
            <a:r>
              <a:t>Understand purchasing capacity → redesign the product → define the relevant lifestyle proposition → organise financing and selling.</a:t>
            </a:r>
          </a:p>
          <a:p/>
          <a:p>
            <a:r>
              <a:t>This is more consequential than applying a youthful campaign to an unchanged, unaffordable house.</a:t>
            </a:r>
          </a:p>
          <a:p/>
          <a:p>
            <a:r>
              <a:t>Why it can be effective</a:t>
            </a:r>
          </a:p>
          <a:p/>
          <a:p>
            <a:r>
              <a:t>A lower total ticket can expand the pool of eligible buyers. Functional design can help smaller homes remain desirable.</a:t>
            </a:r>
          </a:p>
          <a:p/>
          <a:p>
            <a:r>
              <a:t>Critical trade-off</a:t>
            </a:r>
          </a:p>
          <a:p/>
          <a:p>
            <a:r>
              <a:t>Lower ticket prices must still support adequate margins, acceptable living quality, and manageable infrastructure costs per unit.</a:t>
            </a:r>
          </a:p>
          <a:p/>
          <a:p>
            <a:r>
              <a:t>Suggested visual: Household budget translated into land area, building area, layout, specification, and payment structure.</a:t>
            </a:r>
          </a:p>
          <a:p/>
          <a:p>
            <a:r>
              <a:t>SOURCE HYPERLINKS (as embedded in Mario’s PDF; not independently reverified)</a:t>
            </a:r>
          </a:p>
          <a:p>
            <a:r>
              <a:t>https://www.lippokarawaci.co.id/uploads/file/LPKR%20-%20ENGLISH%20-%20FINAL_LowRes.pdf</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D05 — Lippo: Changing the product to reach a different customer</a:t>
            </a:r>
          </a:p>
          <a:p>
            <a:r>
              <a:t>Document pages: 115, 116</a:t>
            </a:r>
          </a:p>
          <a:p/>
          <a:p>
            <a:r>
              <a:t>COMPLETE SOURCE TEXT</a:t>
            </a:r>
          </a:p>
          <a:p>
            <a:r>
              <a:t>Documented strategic decision</a:t>
            </a:r>
          </a:p>
          <a:p/>
          <a:p>
            <a:r>
              <a:t>Lippo’s sustainability reporting describes market studies and ethnographic research into younger Indonesian buyers. It links that work to housing products at different price points and a shift toward community-oriented living environments.</a:t>
            </a:r>
          </a:p>
          <a:p/>
          <a:p>
            <a:r>
              <a:t>XYZ Livin was presented at approximately Rp300–600 million, targeting young families and professionals. These were historical disclosed prices. Source: Lippo’s product-research and XYZ Livin discussion.</a:t>
            </a:r>
          </a:p>
          <a:p/>
          <a:p>
            <a:r>
              <a:t>Brand strategy — analytical interpretation</a:t>
            </a:r>
          </a:p>
          <a:p/>
          <a:p>
            <a:r>
              <a:t>Product-series identities allow the developer to communicate different combinations of affordability, layout, functionality, and aspiration within a larger township.</a:t>
            </a:r>
          </a:p>
          <a:p/>
          <a:p>
            <a:r>
              <a:t>Business mechanism</a:t>
            </a:r>
          </a:p>
          <a:p/>
          <a:p>
            <a:r>
              <a:t>The strategic sequence is:</a:t>
            </a:r>
          </a:p>
          <a:p/>
          <a:p>
            <a:r>
              <a:t>Understand purchasing capacity → redesign the product → define the relevant lifestyle proposition → organise financing and selling.</a:t>
            </a:r>
          </a:p>
          <a:p/>
          <a:p>
            <a:r>
              <a:t>This is more consequential than applying a youthful campaign to an unchanged, unaffordable house.</a:t>
            </a:r>
          </a:p>
          <a:p/>
          <a:p>
            <a:r>
              <a:t>Why it can be effective</a:t>
            </a:r>
          </a:p>
          <a:p/>
          <a:p>
            <a:r>
              <a:t>A lower total ticket can expand the pool of eligible buyers. Functional design can help smaller homes remain desirable.</a:t>
            </a:r>
          </a:p>
          <a:p/>
          <a:p>
            <a:r>
              <a:t>Critical trade-off</a:t>
            </a:r>
          </a:p>
          <a:p/>
          <a:p>
            <a:r>
              <a:t>Lower ticket prices must still support adequate margins, acceptable living quality, and manageable infrastructure costs per unit.</a:t>
            </a:r>
          </a:p>
          <a:p/>
          <a:p>
            <a:r>
              <a:t>Suggested visual: Household budget translated into land area, building area, layout, specification, and payment structure.</a:t>
            </a:r>
          </a:p>
          <a:p/>
          <a:p>
            <a:r>
              <a:t>SOURCE HYPERLINKS (as embedded in Mario’s PDF; not independently reverified)</a:t>
            </a:r>
          </a:p>
          <a:p>
            <a:r>
              <a:t>https://www.lippokarawaci.co.id/uploads/file/LPKR%20-%20ENGLISH%20-%20FINAL_LowRes.pdf</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D06 — Lippo: Turning an affordable proposition into a repeatable launch system</a:t>
            </a:r>
          </a:p>
          <a:p>
            <a:r>
              <a:t>Document pages: 116, 117</a:t>
            </a:r>
          </a:p>
          <a:p/>
          <a:p>
            <a:r>
              <a:t>COMPLETE SOURCE TEXT</a:t>
            </a:r>
          </a:p>
          <a:p>
            <a:r>
              <a:t>Documented results</a:t>
            </a:r>
          </a:p>
          <a:p/>
          <a:p>
            <a:r>
              <a:t>LPKR reported FY2024 marketing sales of approximately Rp6.01 trillion, up 17%, with residential products contributing 64%. It identified continuing demand for earlier housing series and contributions from subsequent launches.</a:t>
            </a:r>
          </a:p>
          <a:p/>
          <a:p>
            <a:r>
              <a:t>The company also reported that first-stage Park Serpong handovers began in November 2024, within less than 18 months. These are issuer-reported results. Source: LPKR’s March 2025 sales announcement.</a:t>
            </a:r>
          </a:p>
          <a:p/>
          <a:p>
            <a:r>
              <a:t>Why the mechanism matters — analysis</a:t>
            </a:r>
          </a:p>
          <a:p/>
          <a:p>
            <a:r>
              <a:t>● A recognisable product family reduces the need to explain every new release from</a:t>
            </a:r>
          </a:p>
          <a:p/>
          <a:p>
            <a:r>
              <a:t>zero. ● Multiple formats provide a price and functionality ladder. ● Successive phases let the developer respond to demand. ● Visible delivery gives later buyers evidence beyond renderings.</a:t>
            </a:r>
          </a:p>
          <a:p/>
          <a:p>
            <a:r>
              <a:t>What the evidence does not establish</a:t>
            </a:r>
          </a:p>
          <a:p/>
          <a:p>
            <a:r>
              <a:t>It does not isolate the contribution of naming, digital advertising, affordability, financing, or broader market conditions.</a:t>
            </a:r>
          </a:p>
          <a:p/>
          <a:p>
            <a:r>
              <a:t>TANRISE application</a:t>
            </a:r>
          </a:p>
          <a:p/>
          <a:p>
            <a:r>
              <a:t>For Sidoarjo, define specific household segments and their payment capacity before deciding the product range. Validate whether the preferred format meets both customer needs and project economics.</a:t>
            </a:r>
          </a:p>
          <a:p/>
          <a:p>
            <a:r>
              <a:t>Suggested visual: Research → product family → phased releases → handover evidence → next launch.</a:t>
            </a:r>
          </a:p>
          <a:p/>
          <a:p>
            <a:r>
              <a:t>SOURCE HYPERLINKS (as embedded in Mario’s PDF; not independently reverified)</a:t>
            </a:r>
          </a:p>
          <a:p>
            <a:r>
              <a:t>https://www.lippokarawaci.co.id/id/news/lpkr-membukukan-pra-penjualan-yang-meningkat-dari-tahun-ke-tahun</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D06 — Lippo: Turning an affordable proposition into a repeatable launch system</a:t>
            </a:r>
          </a:p>
          <a:p>
            <a:r>
              <a:t>Document pages: 116, 117</a:t>
            </a:r>
          </a:p>
          <a:p/>
          <a:p>
            <a:r>
              <a:t>COMPLETE SOURCE TEXT</a:t>
            </a:r>
          </a:p>
          <a:p>
            <a:r>
              <a:t>Documented results</a:t>
            </a:r>
          </a:p>
          <a:p/>
          <a:p>
            <a:r>
              <a:t>LPKR reported FY2024 marketing sales of approximately Rp6.01 trillion, up 17%, with residential products contributing 64%. It identified continuing demand for earlier housing series and contributions from subsequent launches.</a:t>
            </a:r>
          </a:p>
          <a:p/>
          <a:p>
            <a:r>
              <a:t>The company also reported that first-stage Park Serpong handovers began in November 2024, within less than 18 months. These are issuer-reported results. Source: LPKR’s March 2025 sales announcement.</a:t>
            </a:r>
          </a:p>
          <a:p/>
          <a:p>
            <a:r>
              <a:t>Why the mechanism matters — analysis</a:t>
            </a:r>
          </a:p>
          <a:p/>
          <a:p>
            <a:r>
              <a:t>● A recognisable product family reduces the need to explain every new release from</a:t>
            </a:r>
          </a:p>
          <a:p/>
          <a:p>
            <a:r>
              <a:t>zero. ● Multiple formats provide a price and functionality ladder. ● Successive phases let the developer respond to demand. ● Visible delivery gives later buyers evidence beyond renderings.</a:t>
            </a:r>
          </a:p>
          <a:p/>
          <a:p>
            <a:r>
              <a:t>What the evidence does not establish</a:t>
            </a:r>
          </a:p>
          <a:p/>
          <a:p>
            <a:r>
              <a:t>It does not isolate the contribution of naming, digital advertising, affordability, financing, or broader market conditions.</a:t>
            </a:r>
          </a:p>
          <a:p/>
          <a:p>
            <a:r>
              <a:t>TANRISE application</a:t>
            </a:r>
          </a:p>
          <a:p/>
          <a:p>
            <a:r>
              <a:t>For Sidoarjo, define specific household segments and their payment capacity before deciding the product range. Validate whether the preferred format meets both customer needs and project economics.</a:t>
            </a:r>
          </a:p>
          <a:p/>
          <a:p>
            <a:r>
              <a:t>Suggested visual: Research → product family → phased releases → handover evidence → next launch.</a:t>
            </a:r>
          </a:p>
          <a:p/>
          <a:p>
            <a:r>
              <a:t>SOURCE HYPERLINKS (as embedded in Mario’s PDF; not independently reverified)</a:t>
            </a:r>
          </a:p>
          <a:p>
            <a:r>
              <a:t>https://www.lippokarawaci.co.id/id/news/lpkr-membukukan-pra-penjualan-yang-meningkat-dari-tahun-ke-tahun</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D07 — Ciputra: Using the brand to acquire business opportunities</a:t>
            </a:r>
          </a:p>
          <a:p>
            <a:r>
              <a:t>Document pages: 117, 118</a:t>
            </a:r>
          </a:p>
          <a:p/>
          <a:p>
            <a:r>
              <a:t>COMPLETE SOURCE TEXT</a:t>
            </a:r>
          </a:p>
          <a:p>
            <a:r>
              <a:t>Documented business strategy</a:t>
            </a:r>
          </a:p>
          <a:p/>
          <a:p>
            <a:r>
              <a:t>Ciputra’s 2025 reporting describes joint operations, joint ventures, and strategic partnerships. Partners generally contribute land, while Ciputra provides planning, construction, marketing, and sales capabilities.</a:t>
            </a:r>
          </a:p>
          <a:p/>
          <a:p>
            <a:r>
              <a:t>Its investor presentation explicitly connects continued joint-operation schemes with leveraging Ciputra brand equity. Sources: 2025 annual report, joint operations, growth-strategy presentation.</a:t>
            </a:r>
          </a:p>
          <a:p/>
          <a:p>
            <a:r>
              <a:t>Brand strategy — analytical interpretation</a:t>
            </a:r>
          </a:p>
          <a:p/>
          <a:p>
            <a:r>
              <a:t>The brand serves two customers:</a:t>
            </a:r>
          </a:p>
          <a:p/>
          <a:p>
            <a:r>
              <a:t>● Homebuyers: Confidence in the development. ● Landowners: Confidence that the developer can turn land into a commercially</a:t>
            </a:r>
          </a:p>
          <a:p/>
          <a:p>
            <a:r>
              <a:t>viable project.</a:t>
            </a:r>
          </a:p>
          <a:p/>
          <a:p>
            <a:r>
              <a:t>Why this is strategically powerful</a:t>
            </a:r>
          </a:p>
          <a:p/>
          <a:p>
            <a:r>
              <a:t>Reputation can improve access to opportunities, not only sales conversion.</a:t>
            </a:r>
          </a:p>
          <a:p/>
          <a:p>
            <a:r>
              <a:t>A landowner with limited development capability may value a partner that can organise design, permissions, construction, selling, and delivery.</a:t>
            </a:r>
          </a:p>
          <a:p/>
          <a:p>
            <a:r>
              <a:t>Economic mechanism</a:t>
            </a:r>
          </a:p>
          <a:p/>
          <a:p>
            <a:r>
              <a:t>Partnerships can reduce the need for outright upfront land acquisition and introduce local knowledge. They do not eliminate development expenditure, governance risk, or the partner’s share of profits.</a:t>
            </a:r>
          </a:p>
          <a:p/>
          <a:p>
            <a:r>
              <a:t>Suggested diagram: Brand and capabilities → landowner confidence → partnership pipeline → projects → further delivery evidence.</a:t>
            </a:r>
          </a:p>
          <a:p/>
          <a:p>
            <a:r>
              <a:t>SOURCE HYPERLINKS (as embedded in Mario’s PDF; not independently reverified)</a:t>
            </a:r>
          </a:p>
          <a:p>
            <a:r>
              <a:t>https://ciputradevelopment.com/wp-content/uploads/2026/05/Laporan_Tahunan_2025_CTRA.pdf</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D07 — Ciputra: Using the brand to acquire business opportunities</a:t>
            </a:r>
          </a:p>
          <a:p>
            <a:r>
              <a:t>Document pages: 117, 118</a:t>
            </a:r>
          </a:p>
          <a:p/>
          <a:p>
            <a:r>
              <a:t>COMPLETE SOURCE TEXT</a:t>
            </a:r>
          </a:p>
          <a:p>
            <a:r>
              <a:t>Documented business strategy</a:t>
            </a:r>
          </a:p>
          <a:p/>
          <a:p>
            <a:r>
              <a:t>Ciputra’s 2025 reporting describes joint operations, joint ventures, and strategic partnerships. Partners generally contribute land, while Ciputra provides planning, construction, marketing, and sales capabilities.</a:t>
            </a:r>
          </a:p>
          <a:p/>
          <a:p>
            <a:r>
              <a:t>Its investor presentation explicitly connects continued joint-operation schemes with leveraging Ciputra brand equity. Sources: 2025 annual report, joint operations, growth-strategy presentation.</a:t>
            </a:r>
          </a:p>
          <a:p/>
          <a:p>
            <a:r>
              <a:t>Brand strategy — analytical interpretation</a:t>
            </a:r>
          </a:p>
          <a:p/>
          <a:p>
            <a:r>
              <a:t>The brand serves two customers:</a:t>
            </a:r>
          </a:p>
          <a:p/>
          <a:p>
            <a:r>
              <a:t>● Homebuyers: Confidence in the development. ● Landowners: Confidence that the developer can turn land into a commercially</a:t>
            </a:r>
          </a:p>
          <a:p/>
          <a:p>
            <a:r>
              <a:t>viable project.</a:t>
            </a:r>
          </a:p>
          <a:p/>
          <a:p>
            <a:r>
              <a:t>Why this is strategically powerful</a:t>
            </a:r>
          </a:p>
          <a:p/>
          <a:p>
            <a:r>
              <a:t>Reputation can improve access to opportunities, not only sales conversion.</a:t>
            </a:r>
          </a:p>
          <a:p/>
          <a:p>
            <a:r>
              <a:t>A landowner with limited development capability may value a partner that can organise design, permissions, construction, selling, and delivery.</a:t>
            </a:r>
          </a:p>
          <a:p/>
          <a:p>
            <a:r>
              <a:t>Economic mechanism</a:t>
            </a:r>
          </a:p>
          <a:p/>
          <a:p>
            <a:r>
              <a:t>Partnerships can reduce the need for outright upfront land acquisition and introduce local knowledge. They do not eliminate development expenditure, governance risk, or the partner’s share of profits.</a:t>
            </a:r>
          </a:p>
          <a:p/>
          <a:p>
            <a:r>
              <a:t>Suggested diagram: Brand and capabilities → landowner confidence → partnership pipeline → projects → further delivery evidence.</a:t>
            </a:r>
          </a:p>
          <a:p/>
          <a:p>
            <a:r>
              <a:t>SOURCE HYPERLINKS (as embedded in Mario’s PDF; not independently reverified)</a:t>
            </a:r>
          </a:p>
          <a:p>
            <a:r>
              <a:t>https://ciputradevelopment.com/wp-content/uploads/2026/05/Laporan_Tahunan_2025_CTRA.pdf</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D08 — Ciputra: Standardising capabilities while adapting products locally</a:t>
            </a:r>
          </a:p>
          <a:p>
            <a:r>
              <a:t>Document pages: 118, 119</a:t>
            </a:r>
          </a:p>
          <a:p/>
          <a:p>
            <a:r>
              <a:t>COMPLETE SOURCE TEXT</a:t>
            </a:r>
          </a:p>
          <a:p>
            <a:r>
              <a:t>Documented strategic direction</a:t>
            </a:r>
          </a:p>
          <a:p/>
          <a:p>
            <a:r>
              <a:t>Ciputra’s investor materials combine geographic diversification, continued land replenishment, innovative launches, complementary amenities, and prudent capital management. Source: Ciputra growth-strategy presentation.</a:t>
            </a:r>
          </a:p>
          <a:p/>
          <a:p>
            <a:r>
              <a:t>How the system works — analysis</a:t>
            </a:r>
          </a:p>
          <a:p/>
          <a:p>
            <a:r>
              <a:t>The replicable component is the development organisation:</a:t>
            </a:r>
          </a:p>
          <a:p/>
          <a:p>
            <a:r>
              <a:t>● Project feasibility. ● Design and procurement discipline. ● Sales management. ● Financial controls. ● Construction and handover processes.</a:t>
            </a:r>
          </a:p>
          <a:p/>
          <a:p>
            <a:r>
              <a:t>The locally adaptable component is the customer offer:</a:t>
            </a:r>
          </a:p>
          <a:p/>
          <a:p>
            <a:r>
              <a:t>● Price. ● Unit configuration. ● Release size.</a:t>
            </a:r>
          </a:p>
          <a:p/>
          <a:p>
            <a:r>
              <a:t>● Amenity priorities. ● Communication and distribution channels.</a:t>
            </a:r>
          </a:p>
          <a:p/>
          <a:p>
            <a:r>
              <a:t>Why this can be effective</a:t>
            </a:r>
          </a:p>
          <a:p/>
          <a:p>
            <a:r>
              <a:t>The company can reuse operating knowledge without assuming that customers in every city want the same home.</a:t>
            </a:r>
          </a:p>
          <a:p/>
          <a:p>
            <a:r>
              <a:t>Brand implication</a:t>
            </a:r>
          </a:p>
          <a:p/>
          <a:p>
            <a:r>
              <a:t>A common development identity provides reassurance; project-level propositions supply local relevance.</a:t>
            </a:r>
          </a:p>
          <a:p/>
          <a:p>
            <a:r>
              <a:t>TANRISE application</a:t>
            </a:r>
          </a:p>
          <a:p/>
          <a:p>
            <a:r>
              <a:t>Create a repeatable development system before attempting rapid geographic expansion. A landowner-partnership proposal should specify TANRISE’s capabilities, governance, funding responsibilities, and delivery record.</a:t>
            </a:r>
          </a:p>
          <a:p/>
          <a:p>
            <a:r>
              <a:t>Suggested visual: Central operating standards surrounding locally adapted project offers.</a:t>
            </a:r>
          </a:p>
          <a:p/>
          <a:p>
            <a:r>
              <a:t>SOURCE HYPERLINKS (as embedded in Mario’s PDF; not independently reverified)</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D08 — Ciputra: Standardising capabilities while adapting products locally</a:t>
            </a:r>
          </a:p>
          <a:p>
            <a:r>
              <a:t>Document pages: 118, 119</a:t>
            </a:r>
          </a:p>
          <a:p/>
          <a:p>
            <a:r>
              <a:t>COMPLETE SOURCE TEXT</a:t>
            </a:r>
          </a:p>
          <a:p>
            <a:r>
              <a:t>Documented strategic direction</a:t>
            </a:r>
          </a:p>
          <a:p/>
          <a:p>
            <a:r>
              <a:t>Ciputra’s investor materials combine geographic diversification, continued land replenishment, innovative launches, complementary amenities, and prudent capital management. Source: Ciputra growth-strategy presentation.</a:t>
            </a:r>
          </a:p>
          <a:p/>
          <a:p>
            <a:r>
              <a:t>How the system works — analysis</a:t>
            </a:r>
          </a:p>
          <a:p/>
          <a:p>
            <a:r>
              <a:t>The replicable component is the development organisation:</a:t>
            </a:r>
          </a:p>
          <a:p/>
          <a:p>
            <a:r>
              <a:t>● Project feasibility. ● Design and procurement discipline. ● Sales management. ● Financial controls. ● Construction and handover processes.</a:t>
            </a:r>
          </a:p>
          <a:p/>
          <a:p>
            <a:r>
              <a:t>The locally adaptable component is the customer offer:</a:t>
            </a:r>
          </a:p>
          <a:p/>
          <a:p>
            <a:r>
              <a:t>● Price. ● Unit configuration. ● Release size.</a:t>
            </a:r>
          </a:p>
          <a:p/>
          <a:p>
            <a:r>
              <a:t>● Amenity priorities. ● Communication and distribution channels.</a:t>
            </a:r>
          </a:p>
          <a:p/>
          <a:p>
            <a:r>
              <a:t>Why this can be effective</a:t>
            </a:r>
          </a:p>
          <a:p/>
          <a:p>
            <a:r>
              <a:t>The company can reuse operating knowledge without assuming that customers in every city want the same home.</a:t>
            </a:r>
          </a:p>
          <a:p/>
          <a:p>
            <a:r>
              <a:t>Brand implication</a:t>
            </a:r>
          </a:p>
          <a:p/>
          <a:p>
            <a:r>
              <a:t>A common development identity provides reassurance; project-level propositions supply local relevance.</a:t>
            </a:r>
          </a:p>
          <a:p/>
          <a:p>
            <a:r>
              <a:t>TANRISE application</a:t>
            </a:r>
          </a:p>
          <a:p/>
          <a:p>
            <a:r>
              <a:t>Create a repeatable development system before attempting rapid geographic expansion. A landowner-partnership proposal should specify TANRISE’s capabilities, governance, funding responsibilities, and delivery record.</a:t>
            </a:r>
          </a:p>
          <a:p/>
          <a:p>
            <a:r>
              <a:t>Suggested visual: Central operating standards surrounding locally adapted project offers.</a:t>
            </a:r>
          </a:p>
          <a:p/>
          <a:p>
            <a:r>
              <a:t>SOURCE HYPERLINKS (as embedded in Mario’s PDF; not independently reverified)</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D08 — Ciputra: Standardising capabilities while adapting products locally</a:t>
            </a:r>
          </a:p>
          <a:p>
            <a:r>
              <a:t>Document pages: 118, 119</a:t>
            </a:r>
          </a:p>
          <a:p/>
          <a:p>
            <a:r>
              <a:t>COMPLETE SOURCE TEXT</a:t>
            </a:r>
          </a:p>
          <a:p>
            <a:r>
              <a:t>Documented strategic direction</a:t>
            </a:r>
          </a:p>
          <a:p/>
          <a:p>
            <a:r>
              <a:t>Ciputra’s investor materials combine geographic diversification, continued land replenishment, innovative launches, complementary amenities, and prudent capital management. Source: Ciputra growth-strategy presentation.</a:t>
            </a:r>
          </a:p>
          <a:p/>
          <a:p>
            <a:r>
              <a:t>How the system works — analysis</a:t>
            </a:r>
          </a:p>
          <a:p/>
          <a:p>
            <a:r>
              <a:t>The replicable component is the development organisation:</a:t>
            </a:r>
          </a:p>
          <a:p/>
          <a:p>
            <a:r>
              <a:t>● Project feasibility. ● Design and procurement discipline. ● Sales management. ● Financial controls. ● Construction and handover processes.</a:t>
            </a:r>
          </a:p>
          <a:p/>
          <a:p>
            <a:r>
              <a:t>The locally adaptable component is the customer offer:</a:t>
            </a:r>
          </a:p>
          <a:p/>
          <a:p>
            <a:r>
              <a:t>● Price. ● Unit configuration. ● Release size.</a:t>
            </a:r>
          </a:p>
          <a:p/>
          <a:p>
            <a:r>
              <a:t>● Amenity priorities. ● Communication and distribution channels.</a:t>
            </a:r>
          </a:p>
          <a:p/>
          <a:p>
            <a:r>
              <a:t>Why this can be effective</a:t>
            </a:r>
          </a:p>
          <a:p/>
          <a:p>
            <a:r>
              <a:t>The company can reuse operating knowledge without assuming that customers in every city want the same home.</a:t>
            </a:r>
          </a:p>
          <a:p/>
          <a:p>
            <a:r>
              <a:t>Brand implication</a:t>
            </a:r>
          </a:p>
          <a:p/>
          <a:p>
            <a:r>
              <a:t>A common development identity provides reassurance; project-level propositions supply local relevance.</a:t>
            </a:r>
          </a:p>
          <a:p/>
          <a:p>
            <a:r>
              <a:t>TANRISE application</a:t>
            </a:r>
          </a:p>
          <a:p/>
          <a:p>
            <a:r>
              <a:t>Create a repeatable development system before attempting rapid geographic expansion. A landowner-partnership proposal should specify TANRISE’s capabilities, governance, funding responsibilities, and delivery record.</a:t>
            </a:r>
          </a:p>
          <a:p/>
          <a:p>
            <a:r>
              <a:t>Suggested visual: Central operating standards surrounding locally adapted project offers.</a:t>
            </a:r>
          </a:p>
          <a:p/>
          <a:p>
            <a:r>
              <a:t>SOURCE HYPERLINKS (as embedded in Mario’s PDF; not independently reverified)</a:t>
            </a:r>
          </a:p>
          <a:p>
            <a:r>
              <a:t>https://ciputradevelopment.com/wp-content/uploads/2025/01/CTRA-Result-Presentation-6M25-4.pdf</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D09 — Summarecon: Transferring the reputation of an established place</a:t>
            </a:r>
          </a:p>
          <a:p>
            <a:r>
              <a:t>Document pages: 119, 120</a:t>
            </a:r>
          </a:p>
          <a:p/>
          <a:p>
            <a:r>
              <a:t>COMPLETE SOURCE TEXT</a:t>
            </a:r>
          </a:p>
          <a:p>
            <a:r>
              <a:t>Documented brand execution</a:t>
            </a:r>
          </a:p>
          <a:p/>
          <a:p>
            <a:r>
              <a:t>Summarecon Crown Gading launched using the theme “New City, New Kelapa Gading.” The launch explicitly connected the new township with the company’s established Kelapa Gading development.</a:t>
            </a:r>
          </a:p>
          <a:p/>
          <a:p>
            <a:r>
              <a:t>For its November 2022 launch, the company reported an initial offering of 244 homes, expanded through additional stages to 390 reported sales over six hours, with a stated sales value of approximately Rp827 billion. Source: Crown Gading launch release.</a:t>
            </a:r>
          </a:p>
          <a:p/>
          <a:p>
            <a:r>
              <a:t>Why the brand mechanism matters — analysis</a:t>
            </a:r>
          </a:p>
          <a:p/>
          <a:p>
            <a:r>
              <a:t>A new township asks customers to believe in a future environment.</a:t>
            </a:r>
          </a:p>
          <a:p/>
          <a:p>
            <a:r>
              <a:t>Referencing a familiar, functioning development gives buyers a concrete model for that future. The developer’s track record helps reduce the perceived risk of buying before the new location matures.</a:t>
            </a:r>
          </a:p>
          <a:p/>
          <a:p>
            <a:r>
              <a:t>Business implication</a:t>
            </a:r>
          </a:p>
          <a:p/>
          <a:p>
            <a:r>
              <a:t>Past delivery can support demand for new land and new phases.</a:t>
            </a:r>
          </a:p>
          <a:p/>
          <a:p>
            <a:r>
              <a:t>Evidence caution</a:t>
            </a:r>
          </a:p>
          <a:p/>
          <a:p>
            <a:r>
              <a:t>Launch sales are not the same as completed handovers or audited recognised revenue. The release does not establish how many purchases later cancelled.</a:t>
            </a:r>
          </a:p>
          <a:p/>
          <a:p>
            <a:r>
              <a:t>Suggested visual: Established-place evidence → confidence in a new township → launch participation.</a:t>
            </a:r>
          </a:p>
          <a:p/>
          <a:p>
            <a:r>
              <a:t>SOURCE HYPERLINKS (as embedded in Mario’s PDF; not independently reverified)</a:t>
            </a:r>
          </a:p>
          <a:p>
            <a:r>
              <a:t>https://www.summarecon.com/files/article/Press-Release-Bilingual-Grand-Launching-SCG.pdf</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D09 — Summarecon: Transferring the reputation of an established place</a:t>
            </a:r>
          </a:p>
          <a:p>
            <a:r>
              <a:t>Document pages: 119, 120</a:t>
            </a:r>
          </a:p>
          <a:p/>
          <a:p>
            <a:r>
              <a:t>COMPLETE SOURCE TEXT</a:t>
            </a:r>
          </a:p>
          <a:p>
            <a:r>
              <a:t>Documented brand execution</a:t>
            </a:r>
          </a:p>
          <a:p/>
          <a:p>
            <a:r>
              <a:t>Summarecon Crown Gading launched using the theme “New City, New Kelapa Gading.” The launch explicitly connected the new township with the company’s established Kelapa Gading development.</a:t>
            </a:r>
          </a:p>
          <a:p/>
          <a:p>
            <a:r>
              <a:t>For its November 2022 launch, the company reported an initial offering of 244 homes, expanded through additional stages to 390 reported sales over six hours, with a stated sales value of approximately Rp827 billion. Source: Crown Gading launch release.</a:t>
            </a:r>
          </a:p>
          <a:p/>
          <a:p>
            <a:r>
              <a:t>Why the brand mechanism matters — analysis</a:t>
            </a:r>
          </a:p>
          <a:p/>
          <a:p>
            <a:r>
              <a:t>A new township asks customers to believe in a future environment.</a:t>
            </a:r>
          </a:p>
          <a:p/>
          <a:p>
            <a:r>
              <a:t>Referencing a familiar, functioning development gives buyers a concrete model for that future. The developer’s track record helps reduce the perceived risk of buying before the new location matures.</a:t>
            </a:r>
          </a:p>
          <a:p/>
          <a:p>
            <a:r>
              <a:t>Business implication</a:t>
            </a:r>
          </a:p>
          <a:p/>
          <a:p>
            <a:r>
              <a:t>Past delivery can support demand for new land and new phases.</a:t>
            </a:r>
          </a:p>
          <a:p/>
          <a:p>
            <a:r>
              <a:t>Evidence caution</a:t>
            </a:r>
          </a:p>
          <a:p/>
          <a:p>
            <a:r>
              <a:t>Launch sales are not the same as completed handovers or audited recognised revenue. The release does not establish how many purchases later cancelled.</a:t>
            </a:r>
          </a:p>
          <a:p/>
          <a:p>
            <a:r>
              <a:t>Suggested visual: Established-place evidence → confidence in a new township → launch participation.</a:t>
            </a:r>
          </a:p>
          <a:p/>
          <a:p>
            <a:r>
              <a:t>SOURCE HYPERLINKS (as embedded in Mario’s PDF; not independently reverified)</a:t>
            </a:r>
          </a:p>
          <a:p>
            <a:r>
              <a:t>https://www.summarecon.com/files/article/Press-Release-Bilingual-Grand-Launching-SCG.pdf</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D10 — Summarecon: Selling the next economic layer of the township</a:t>
            </a:r>
          </a:p>
          <a:p>
            <a:r>
              <a:t>Document pages: 120, 121</a:t>
            </a:r>
          </a:p>
          <a:p/>
          <a:p>
            <a:r>
              <a:t>COMPLETE SOURCE TEXT</a:t>
            </a:r>
          </a:p>
          <a:p>
            <a:r>
              <a:t>Documented sequence</a:t>
            </a:r>
          </a:p>
          <a:p/>
          <a:p>
            <a:r>
              <a:t>After the initial residential launch, Crown Gading introduced Gading Bulevar Commercial in September 2023. The company reported 66 shophouses sold, across successive stages, with a stated sales value of approximately Rp200 billion.</a:t>
            </a:r>
          </a:p>
          <a:p/>
          <a:p>
            <a:r>
              <a:t>The proposition highlighted gateway positioning, boulevard access, future facilities, and named businesses preparing to operate. Source: Gading Bulevar launch release.</a:t>
            </a:r>
          </a:p>
          <a:p/>
          <a:p>
            <a:r>
              <a:t>Why the mechanism matters — analysis</a:t>
            </a:r>
          </a:p>
          <a:p/>
          <a:p>
            <a:r>
              <a:t>Residential buyers and commercial buyers require different arguments:</a:t>
            </a:r>
          </a:p>
          <a:p/>
          <a:p>
            <a:r>
              <a:t>● A household evaluates living quality and affordability. ● A business evaluates access, visibility, catchment, and customer activity. ● An investor evaluates likely occupancy, income, and resale prospects.</a:t>
            </a:r>
          </a:p>
          <a:p/>
          <a:p>
            <a:r>
              <a:t>The marketing story changes with the product’s economic function.</a:t>
            </a:r>
          </a:p>
          <a:p/>
          <a:p>
            <a:r>
              <a:t>Critical distinction</a:t>
            </a:r>
          </a:p>
          <a:p/>
          <a:p>
            <a:r>
              <a:t>Early residential sales can support interest in commercial property, but they do not prove sufficient occupied households or sustainable tenant turnover.</a:t>
            </a:r>
          </a:p>
          <a:p/>
          <a:p>
            <a:r>
              <a:t>TANRISE application</a:t>
            </a:r>
          </a:p>
          <a:p/>
          <a:p>
            <a:r>
              <a:t>Separate household marketing from business-occupier marketing. For commercial phases, show verified catchment and operating demand rather than relying on residential launch success.</a:t>
            </a:r>
          </a:p>
          <a:p/>
          <a:p>
            <a:r>
              <a:t>Suggested visual: Residential commitment → occupancy development → commercial demand, with evidence required at each step.</a:t>
            </a:r>
          </a:p>
          <a:p/>
          <a:p>
            <a:r>
              <a:t>SOURCE HYPERLINKS (as embedded in Mario’s PDF; not independently reverified)</a:t>
            </a:r>
          </a:p>
          <a:p>
            <a:r>
              <a:t>https://www.summarecon.com/files/article/Press-release-Launching-Gading-Bulevar-SCG-2-Sept-23.pdf</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D10 — Summarecon: Selling the next economic layer of the township</a:t>
            </a:r>
          </a:p>
          <a:p>
            <a:r>
              <a:t>Document pages: 120, 121</a:t>
            </a:r>
          </a:p>
          <a:p/>
          <a:p>
            <a:r>
              <a:t>COMPLETE SOURCE TEXT</a:t>
            </a:r>
          </a:p>
          <a:p>
            <a:r>
              <a:t>Documented sequence</a:t>
            </a:r>
          </a:p>
          <a:p/>
          <a:p>
            <a:r>
              <a:t>After the initial residential launch, Crown Gading introduced Gading Bulevar Commercial in September 2023. The company reported 66 shophouses sold, across successive stages, with a stated sales value of approximately Rp200 billion.</a:t>
            </a:r>
          </a:p>
          <a:p/>
          <a:p>
            <a:r>
              <a:t>The proposition highlighted gateway positioning, boulevard access, future facilities, and named businesses preparing to operate. Source: Gading Bulevar launch release.</a:t>
            </a:r>
          </a:p>
          <a:p/>
          <a:p>
            <a:r>
              <a:t>Why the mechanism matters — analysis</a:t>
            </a:r>
          </a:p>
          <a:p/>
          <a:p>
            <a:r>
              <a:t>Residential buyers and commercial buyers require different arguments:</a:t>
            </a:r>
          </a:p>
          <a:p/>
          <a:p>
            <a:r>
              <a:t>● A household evaluates living quality and affordability. ● A business evaluates access, visibility, catchment, and customer activity. ● An investor evaluates likely occupancy, income, and resale prospects.</a:t>
            </a:r>
          </a:p>
          <a:p/>
          <a:p>
            <a:r>
              <a:t>The marketing story changes with the product’s economic function.</a:t>
            </a:r>
          </a:p>
          <a:p/>
          <a:p>
            <a:r>
              <a:t>Critical distinction</a:t>
            </a:r>
          </a:p>
          <a:p/>
          <a:p>
            <a:r>
              <a:t>Early residential sales can support interest in commercial property, but they do not prove sufficient occupied households or sustainable tenant turnover.</a:t>
            </a:r>
          </a:p>
          <a:p/>
          <a:p>
            <a:r>
              <a:t>TANRISE application</a:t>
            </a:r>
          </a:p>
          <a:p/>
          <a:p>
            <a:r>
              <a:t>Separate household marketing from business-occupier marketing. For commercial phases, show verified catchment and operating demand rather than relying on residential launch success.</a:t>
            </a:r>
          </a:p>
          <a:p/>
          <a:p>
            <a:r>
              <a:t>Suggested visual: Residential commitment → occupancy development → commercial demand, with evidence required at each step.</a:t>
            </a:r>
          </a:p>
          <a:p/>
          <a:p>
            <a:r>
              <a:t>SOURCE HYPERLINKS (as embedded in Mario’s PDF; not independently reverified)</a:t>
            </a:r>
          </a:p>
          <a:p>
            <a:r>
              <a:t>https://www.summarecon.com/files/article/Press-release-Launching-Gading-Bulevar-SCG-2-Sept-23.pdf</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D11 — Pakuwon: The marketing customer is also the tenant</a:t>
            </a:r>
          </a:p>
          <a:p>
            <a:r>
              <a:t>Document pages: 121</a:t>
            </a:r>
          </a:p>
          <a:p/>
          <a:p>
            <a:r>
              <a:t>COMPLETE SOURCE TEXT</a:t>
            </a:r>
          </a:p>
          <a:p>
            <a:r>
              <a:t>Documented operating strategy</a:t>
            </a:r>
          </a:p>
          <a:p/>
          <a:p>
            <a:r>
              <a:t>Pakuwon’s 2025 report describes selective tenant-mix curation, prioritising food and beverage, entertainment, and lifestyle uses, together with experience-based marketing and digital integration. Source: Pakuwon 2025 annual report, marketing discussion.</a:t>
            </a:r>
          </a:p>
          <a:p/>
          <a:p>
            <a:r>
              <a:t>Brand strategy — analytical interpretation</a:t>
            </a:r>
          </a:p>
          <a:p/>
          <a:p>
            <a:r>
              <a:t>A mall brand must create value for two connected audiences:</a:t>
            </a:r>
          </a:p>
          <a:p/>
          <a:p>
            <a:r>
              <a:t>● Visitors need reasons to return. ● Tenants need commercially useful customer traffic.</a:t>
            </a:r>
          </a:p>
          <a:p/>
          <a:p>
            <a:r>
              <a:t>Business mechanism</a:t>
            </a:r>
          </a:p>
          <a:p/>
          <a:p>
            <a:r>
              <a:t>1. Recruit a relevant tenant mix. 2. Make the destination useful and enjoyable. 3. Encourage repeat visits and time spent. 4. Support tenant trading. 5. Sustain leasing demand and rental income.</a:t>
            </a:r>
          </a:p>
          <a:p/>
          <a:p>
            <a:r>
              <a:t>Why it can be effective</a:t>
            </a:r>
          </a:p>
          <a:p/>
          <a:p>
            <a:r>
              <a:t>The operating asset becomes a continuing customer-acquisition environment for its tenants.</a:t>
            </a:r>
          </a:p>
          <a:p/>
          <a:p>
            <a:r>
              <a:t>Important qualification</a:t>
            </a:r>
          </a:p>
          <a:p/>
          <a:p>
            <a:r>
              <a:t>Footfall alone is insufficient. A crowded event can generate weak tenant spending or poor returns after activation costs.</a:t>
            </a:r>
          </a:p>
          <a:p/>
          <a:p>
            <a:r>
              <a:t>Suggested diagram: Tenant quality ↔ visitor relevance ↔ tenant trading ↔ leasing strength.</a:t>
            </a:r>
          </a:p>
          <a:p/>
          <a:p>
            <a:r>
              <a:t>SOURCE HYPERLINKS (as embedded in Mario’s PDF; not independently reverified)</a:t>
            </a:r>
          </a:p>
          <a:p>
            <a:r>
              <a:t>https://pakuwonjati.com/upload/2026/04/69f2e5afd9760-ar-pakuwonjati-2025.pdf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D11 — Pakuwon: The marketing customer is also the tenant</a:t>
            </a:r>
          </a:p>
          <a:p>
            <a:r>
              <a:t>Document pages: 121</a:t>
            </a:r>
          </a:p>
          <a:p/>
          <a:p>
            <a:r>
              <a:t>COMPLETE SOURCE TEXT</a:t>
            </a:r>
          </a:p>
          <a:p>
            <a:r>
              <a:t>Documented operating strategy</a:t>
            </a:r>
          </a:p>
          <a:p/>
          <a:p>
            <a:r>
              <a:t>Pakuwon’s 2025 report describes selective tenant-mix curation, prioritising food and beverage, entertainment, and lifestyle uses, together with experience-based marketing and digital integration. Source: Pakuwon 2025 annual report, marketing discussion.</a:t>
            </a:r>
          </a:p>
          <a:p/>
          <a:p>
            <a:r>
              <a:t>Brand strategy — analytical interpretation</a:t>
            </a:r>
          </a:p>
          <a:p/>
          <a:p>
            <a:r>
              <a:t>A mall brand must create value for two connected audiences:</a:t>
            </a:r>
          </a:p>
          <a:p/>
          <a:p>
            <a:r>
              <a:t>● Visitors need reasons to return. ● Tenants need commercially useful customer traffic.</a:t>
            </a:r>
          </a:p>
          <a:p/>
          <a:p>
            <a:r>
              <a:t>Business mechanism</a:t>
            </a:r>
          </a:p>
          <a:p/>
          <a:p>
            <a:r>
              <a:t>1. Recruit a relevant tenant mix. 2. Make the destination useful and enjoyable. 3. Encourage repeat visits and time spent. 4. Support tenant trading. 5. Sustain leasing demand and rental income.</a:t>
            </a:r>
          </a:p>
          <a:p/>
          <a:p>
            <a:r>
              <a:t>Why it can be effective</a:t>
            </a:r>
          </a:p>
          <a:p/>
          <a:p>
            <a:r>
              <a:t>The operating asset becomes a continuing customer-acquisition environment for its tenants.</a:t>
            </a:r>
          </a:p>
          <a:p/>
          <a:p>
            <a:r>
              <a:t>Important qualification</a:t>
            </a:r>
          </a:p>
          <a:p/>
          <a:p>
            <a:r>
              <a:t>Footfall alone is insufficient. A crowded event can generate weak tenant spending or poor returns after activation costs.</a:t>
            </a:r>
          </a:p>
          <a:p/>
          <a:p>
            <a:r>
              <a:t>Suggested diagram: Tenant quality ↔ visitor relevance ↔ tenant trading ↔ leasing strength.</a:t>
            </a:r>
          </a:p>
          <a:p/>
          <a:p>
            <a:r>
              <a:t>SOURCE HYPERLINKS (as embedded in Mario’s PDF; not independently reverified)</a:t>
            </a:r>
          </a:p>
          <a:p>
            <a:r>
              <a:t>https://pakuwonjati.com/upload/2026/04/69f2e5afd9760-ar-pakuwonjati-2025.pdf</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D12 — Pakuwon: Reinvesting in the reasons people visit</a:t>
            </a:r>
          </a:p>
          <a:p>
            <a:r>
              <a:t>Document pages: 122</a:t>
            </a:r>
          </a:p>
          <a:p/>
          <a:p>
            <a:r>
              <a:t>COMPLETE SOURCE TEXT</a:t>
            </a:r>
          </a:p>
          <a:p>
            <a:r>
              <a:t>Documented execution</a:t>
            </a:r>
          </a:p>
          <a:p/>
          <a:p>
            <a:r>
              <a:t>Pakuwon’s 2024 report describes new sports-fashion, food, beauty, and entertainment tenants, alongside events intended to attract visitors and support tenant sales.</a:t>
            </a:r>
          </a:p>
          <a:p/>
          <a:p>
            <a:r>
              <a:t>The company reported approximately 95% mall occupancy and 10% growth in shopping-centre revenue for that year. These are concurrent operating results, not proof that events alone caused the growth. Source: Pakuwon revised 2024 annual report.</a:t>
            </a:r>
          </a:p>
          <a:p/>
          <a:p>
            <a:r>
              <a:t>Why this is more than promotion — analysis</a:t>
            </a:r>
          </a:p>
          <a:p/>
          <a:p>
            <a:r>
              <a:t>Tenant selection changes the product itself. Events and communication then amplify that product.</a:t>
            </a:r>
          </a:p>
          <a:p/>
          <a:p>
            <a:r>
              <a:t>An operator must continuously decide:</a:t>
            </a:r>
          </a:p>
          <a:p/>
          <a:p>
            <a:r>
              <a:t>● Which categories attract the desired catchment? ● Which tenants deserve additional space? ● Which areas need improvement? ● Which activities generate repeat visits? ● Does incremental income justify reinvestment?</a:t>
            </a:r>
          </a:p>
          <a:p/>
          <a:p>
            <a:r>
              <a:t>TANRISE application</a:t>
            </a:r>
          </a:p>
          <a:p/>
          <a:p>
            <a:r>
              <a:t>For retained commercial or hospitality assets, evaluate the operating proposition before increasing promotion. Measure repeat use, customer spending, occupancy quality, and net cash contribution.</a:t>
            </a:r>
          </a:p>
          <a:p/>
          <a:p>
            <a:r>
              <a:t>Suggested visual: Asset improvement → customer response → tenant performance → income → reinvestment.</a:t>
            </a:r>
          </a:p>
          <a:p/>
          <a:p>
            <a:r>
              <a:t>SOURCE HYPERLINKS (as embedded in Mario’s PDF; not independently reverified)</a:t>
            </a:r>
          </a:p>
          <a:p>
            <a:r>
              <a:t>https://pakuwonjati.com/upload/2025/11/69215d3f3db68-ar-2024-revised-1.pdf</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D12 — Pakuwon: Reinvesting in the reasons people visit</a:t>
            </a:r>
          </a:p>
          <a:p>
            <a:r>
              <a:t>Document pages: 122</a:t>
            </a:r>
          </a:p>
          <a:p/>
          <a:p>
            <a:r>
              <a:t>COMPLETE SOURCE TEXT</a:t>
            </a:r>
          </a:p>
          <a:p>
            <a:r>
              <a:t>Documented execution</a:t>
            </a:r>
          </a:p>
          <a:p/>
          <a:p>
            <a:r>
              <a:t>Pakuwon’s 2024 report describes new sports-fashion, food, beauty, and entertainment tenants, alongside events intended to attract visitors and support tenant sales.</a:t>
            </a:r>
          </a:p>
          <a:p/>
          <a:p>
            <a:r>
              <a:t>The company reported approximately 95% mall occupancy and 10% growth in shopping-centre revenue for that year. These are concurrent operating results, not proof that events alone caused the growth. Source: Pakuwon revised 2024 annual report.</a:t>
            </a:r>
          </a:p>
          <a:p/>
          <a:p>
            <a:r>
              <a:t>Why this is more than promotion — analysis</a:t>
            </a:r>
          </a:p>
          <a:p/>
          <a:p>
            <a:r>
              <a:t>Tenant selection changes the product itself. Events and communication then amplify that product.</a:t>
            </a:r>
          </a:p>
          <a:p/>
          <a:p>
            <a:r>
              <a:t>An operator must continuously decide:</a:t>
            </a:r>
          </a:p>
          <a:p/>
          <a:p>
            <a:r>
              <a:t>● Which categories attract the desired catchment? ● Which tenants deserve additional space? ● Which areas need improvement? ● Which activities generate repeat visits? ● Does incremental income justify reinvestment?</a:t>
            </a:r>
          </a:p>
          <a:p/>
          <a:p>
            <a:r>
              <a:t>TANRISE application</a:t>
            </a:r>
          </a:p>
          <a:p/>
          <a:p>
            <a:r>
              <a:t>For retained commercial or hospitality assets, evaluate the operating proposition before increasing promotion. Measure repeat use, customer spending, occupancy quality, and net cash contribution.</a:t>
            </a:r>
          </a:p>
          <a:p/>
          <a:p>
            <a:r>
              <a:t>Suggested visual: Asset improvement → customer response → tenant performance → income → reinvestment.</a:t>
            </a:r>
          </a:p>
          <a:p/>
          <a:p>
            <a:r>
              <a:t>SOURCE HYPERLINKS (as embedded in Mario’s PDF; not independently reverified)</a:t>
            </a:r>
          </a:p>
          <a:p>
            <a:r>
              <a:t>https://pakuwonjati.com/upload/2025/11/69215d3f3db68-ar-2024-revised-1.pdf</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D13 — Agung Podomoro: Turning a design concept into a recognisable offer</a:t>
            </a:r>
          </a:p>
          <a:p>
            <a:r>
              <a:t>Document pages: 122, 123</a:t>
            </a:r>
          </a:p>
          <a:p/>
          <a:p>
            <a:r>
              <a:t>COMPLETE SOURCE TEXT</a:t>
            </a:r>
          </a:p>
          <a:p>
            <a:r>
              <a:t>Documented product strategy</a:t>
            </a:r>
          </a:p>
          <a:p/>
          <a:p>
            <a:r>
              <a:t>In 2025, Agung Podomoro promoted The Garden House, incorporating courtyard design across several projects, including Podomoro Park Bandung and Kota Podomoro Tenjo.</a:t>
            </a:r>
          </a:p>
          <a:p/>
          <a:p>
            <a:r>
              <a:t>Its annual report also describes efficient unit configurations, differentiated price ranges, flexible payment arrangements, customer-database management, agent cooperation, and</a:t>
            </a:r>
          </a:p>
          <a:p/>
          <a:p>
            <a:r>
              <a:t>online booking development. Sources: Garden House announcement, 2025 annual report, marketing and pricing.</a:t>
            </a:r>
          </a:p>
          <a:p/>
          <a:p>
            <a:r>
              <a:t>Brand strategy — analytical interpretation</a:t>
            </a:r>
          </a:p>
          <a:p/>
          <a:p>
            <a:r>
              <a:t>A visible design feature provides a more concrete proposition than a broad claim about modern or sustainable living.</a:t>
            </a:r>
          </a:p>
          <a:p/>
          <a:p>
            <a:r>
              <a:t>Why the mechanism matters</a:t>
            </a:r>
          </a:p>
          <a:p/>
          <a:p>
            <a:r>
              <a:t>Customers can assess how the feature changes their daily experience: light, ventilation, privacy, usable space, and maintenance.</a:t>
            </a:r>
          </a:p>
          <a:p/>
          <a:p>
            <a:r>
              <a:t>Business trade-off</a:t>
            </a:r>
          </a:p>
          <a:p/>
          <a:p>
            <a:r>
              <a:t>A distinctive feature must justify its cost and fit the target household. A courtyard is not automatically valuable in every plot configuration or price segment.</a:t>
            </a:r>
          </a:p>
          <a:p/>
          <a:p>
            <a:r>
              <a:t>Suggested visual: Promise → physical feature → customer benefit → economic trade-off.</a:t>
            </a:r>
          </a:p>
          <a:p/>
          <a:p>
            <a:r>
              <a:t>SOURCE HYPERLINKS (as embedded in Mario’s PDF; not independently reverified)</a:t>
            </a:r>
          </a:p>
          <a:p>
            <a:r>
              <a:t>https://www.agungpodomoroland.com/id/publications/read/865/green-living-becomes-an-investment-trend-agung-podomoro-strengthens-commitment-to-sustainable-housing/</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D13 — Agung Podomoro: Turning a design concept into a recognisable offer</a:t>
            </a:r>
          </a:p>
          <a:p>
            <a:r>
              <a:t>Document pages: 122, 123</a:t>
            </a:r>
          </a:p>
          <a:p/>
          <a:p>
            <a:r>
              <a:t>COMPLETE SOURCE TEXT</a:t>
            </a:r>
          </a:p>
          <a:p>
            <a:r>
              <a:t>Documented product strategy</a:t>
            </a:r>
          </a:p>
          <a:p/>
          <a:p>
            <a:r>
              <a:t>In 2025, Agung Podomoro promoted The Garden House, incorporating courtyard design across several projects, including Podomoro Park Bandung and Kota Podomoro Tenjo.</a:t>
            </a:r>
          </a:p>
          <a:p/>
          <a:p>
            <a:r>
              <a:t>Its annual report also describes efficient unit configurations, differentiated price ranges, flexible payment arrangements, customer-database management, agent cooperation, and</a:t>
            </a:r>
          </a:p>
          <a:p/>
          <a:p>
            <a:r>
              <a:t>online booking development. Sources: Garden House announcement, 2025 annual report, marketing and pricing.</a:t>
            </a:r>
          </a:p>
          <a:p/>
          <a:p>
            <a:r>
              <a:t>Brand strategy — analytical interpretation</a:t>
            </a:r>
          </a:p>
          <a:p/>
          <a:p>
            <a:r>
              <a:t>A visible design feature provides a more concrete proposition than a broad claim about modern or sustainable living.</a:t>
            </a:r>
          </a:p>
          <a:p/>
          <a:p>
            <a:r>
              <a:t>Why the mechanism matters</a:t>
            </a:r>
          </a:p>
          <a:p/>
          <a:p>
            <a:r>
              <a:t>Customers can assess how the feature changes their daily experience: light, ventilation, privacy, usable space, and maintenance.</a:t>
            </a:r>
          </a:p>
          <a:p/>
          <a:p>
            <a:r>
              <a:t>Business trade-off</a:t>
            </a:r>
          </a:p>
          <a:p/>
          <a:p>
            <a:r>
              <a:t>A distinctive feature must justify its cost and fit the target household. A courtyard is not automatically valuable in every plot configuration or price segment.</a:t>
            </a:r>
          </a:p>
          <a:p/>
          <a:p>
            <a:r>
              <a:t>Suggested visual: Promise → physical feature → customer benefit → economic trade-off.</a:t>
            </a:r>
          </a:p>
          <a:p/>
          <a:p>
            <a:r>
              <a:t>SOURCE HYPERLINKS (as embedded in Mario’s PDF; not independently reverified)</a:t>
            </a:r>
          </a:p>
          <a:p>
            <a:r>
              <a:t>https://www.agungpodomoroland.com/id/publications/read/865/green-living-becomes-an-investment-trend-agung-podomoro-strengthens-commitment-to-sustainable-housing/</a:t>
            </a:r>
          </a:p>
          <a:p>
            <a:r>
              <a:t>https://www.agungpodomoroland.com/en/investor-relation/download/908</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D14 — Agung Podomoro: Bringing the demonstration closer to buyers</a:t>
            </a:r>
          </a:p>
          <a:p>
            <a:r>
              <a:t>Document pages: 123, 124</a:t>
            </a:r>
          </a:p>
          <a:p/>
          <a:p>
            <a:r>
              <a:t>COMPLETE SOURCE TEXT</a:t>
            </a:r>
          </a:p>
          <a:p>
            <a:r>
              <a:t>Documented marketing execution</a:t>
            </a:r>
          </a:p>
          <a:p/>
          <a:p>
            <a:r>
              <a:t>In October 2025, Kota Podomoro Tenjo opened two show units at its marketing gallery in Central Park, Jakarta. The launch included product-knowledge sessions and an agent gathering. Source: official show-unit announcement.</a:t>
            </a:r>
          </a:p>
          <a:p/>
          <a:p>
            <a:r>
              <a:t>Why the mechanism matters — analysis</a:t>
            </a:r>
          </a:p>
          <a:p/>
          <a:p>
            <a:r>
              <a:t>For a project outside the buyer’s regular travel pattern, the first site visit can be a significant obstacle.</a:t>
            </a:r>
          </a:p>
          <a:p/>
          <a:p>
            <a:r>
              <a:t>An accessible demonstration location can:</a:t>
            </a:r>
          </a:p>
          <a:p/>
          <a:p>
            <a:r>
              <a:t>● Make initial product evaluation easier. ● Help salespeople explain layouts and specifications. ● Train agents around a consistent proposition. ● Qualify buyers before a longer project visit.</a:t>
            </a:r>
          </a:p>
          <a:p/>
          <a:p>
            <a:r>
              <a:t>What remains unproven</a:t>
            </a:r>
          </a:p>
          <a:p/>
          <a:p>
            <a:r>
              <a:t>The announcement does not disclose incremental sales, acquisition cost, or conversion compared with other channels.</a:t>
            </a:r>
          </a:p>
          <a:p/>
          <a:p>
            <a:r>
              <a:t>TANRISE application</a:t>
            </a:r>
          </a:p>
          <a:p/>
          <a:p>
            <a:r>
              <a:t>Test demonstration spaces near the priority customer catchment—including employer locations where appropriate—before committing to a large permanent sales facility.</a:t>
            </a:r>
          </a:p>
          <a:p/>
          <a:p>
            <a:r>
              <a:t>Suggested visual: Nearby demonstration → qualified enquiry → project visit → financing approval → purchase.</a:t>
            </a:r>
          </a:p>
          <a:p/>
          <a:p>
            <a:r>
              <a:t>SOURCE HYPERLINKS (as embedded in Mario’s PDF; not independently reverified)</a:t>
            </a:r>
          </a:p>
          <a:p>
            <a:r>
              <a:t>https://www.agungpodomoro.com/group/en/news/kota-podomoro-tenjo-unveils-two-new-show-units-at-central-park-jakarta</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D14 — Agung Podomoro: Bringing the demonstration closer to buyers</a:t>
            </a:r>
          </a:p>
          <a:p>
            <a:r>
              <a:t>Document pages: 123, 124</a:t>
            </a:r>
          </a:p>
          <a:p/>
          <a:p>
            <a:r>
              <a:t>COMPLETE SOURCE TEXT</a:t>
            </a:r>
          </a:p>
          <a:p>
            <a:r>
              <a:t>Documented marketing execution</a:t>
            </a:r>
          </a:p>
          <a:p/>
          <a:p>
            <a:r>
              <a:t>In October 2025, Kota Podomoro Tenjo opened two show units at its marketing gallery in Central Park, Jakarta. The launch included product-knowledge sessions and an agent gathering. Source: official show-unit announcement.</a:t>
            </a:r>
          </a:p>
          <a:p/>
          <a:p>
            <a:r>
              <a:t>Why the mechanism matters — analysis</a:t>
            </a:r>
          </a:p>
          <a:p/>
          <a:p>
            <a:r>
              <a:t>For a project outside the buyer’s regular travel pattern, the first site visit can be a significant obstacle.</a:t>
            </a:r>
          </a:p>
          <a:p/>
          <a:p>
            <a:r>
              <a:t>An accessible demonstration location can:</a:t>
            </a:r>
          </a:p>
          <a:p/>
          <a:p>
            <a:r>
              <a:t>● Make initial product evaluation easier. ● Help salespeople explain layouts and specifications. ● Train agents around a consistent proposition. ● Qualify buyers before a longer project visit.</a:t>
            </a:r>
          </a:p>
          <a:p/>
          <a:p>
            <a:r>
              <a:t>What remains unproven</a:t>
            </a:r>
          </a:p>
          <a:p/>
          <a:p>
            <a:r>
              <a:t>The announcement does not disclose incremental sales, acquisition cost, or conversion compared with other channels.</a:t>
            </a:r>
          </a:p>
          <a:p/>
          <a:p>
            <a:r>
              <a:t>TANRISE application</a:t>
            </a:r>
          </a:p>
          <a:p/>
          <a:p>
            <a:r>
              <a:t>Test demonstration spaces near the priority customer catchment—including employer locations where appropriate—before committing to a large permanent sales facility.</a:t>
            </a:r>
          </a:p>
          <a:p/>
          <a:p>
            <a:r>
              <a:t>Suggested visual: Nearby demonstration → qualified enquiry → project visit → financing approval → purchase.</a:t>
            </a:r>
          </a:p>
          <a:p/>
          <a:p>
            <a:r>
              <a:t>SOURCE HYPERLINKS (as embedded in Mario’s PDF; not independently reverified)</a:t>
            </a:r>
          </a:p>
          <a:p>
            <a:r>
              <a:t>https://www.agungpodomoro.com/group/en/news/kota-podomoro-tenjo-unveils-two-new-show-units-at-central-park-jakarta</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D15 — Duta Pertiwi: Borrowing specialist capability through partnerships</a:t>
            </a:r>
          </a:p>
          <a:p>
            <a:r>
              <a:t>Document pages: 124</a:t>
            </a:r>
          </a:p>
          <a:p/>
          <a:p>
            <a:r>
              <a:t>COMPLETE SOURCE TEXT</a:t>
            </a:r>
          </a:p>
          <a:p>
            <a:r>
              <a:t>Documented business development</a:t>
            </a:r>
          </a:p>
          <a:p/>
          <a:p>
            <a:r>
              <a:t>DUTI’s 2025 report describes a collaboration through a subsidiary with Sumitomo Forestry Indonesia for Kota Wisata Ecovia, including the initial Orlens cluster.</a:t>
            </a:r>
          </a:p>
          <a:p/>
          <a:p>
            <a:r>
              <a:t>The same report describes ARTOTEL Living World Kota Wisata, which began operating in August 2025. Source: DUTI 2025 annual report, management discussion and portfolio development.</a:t>
            </a:r>
          </a:p>
          <a:p/>
          <a:p>
            <a:r>
              <a:t>Brand strategy — analytical interpretation</a:t>
            </a:r>
          </a:p>
          <a:p/>
          <a:p>
            <a:r>
              <a:t>Different partners can supply different forms of credibility:</a:t>
            </a:r>
          </a:p>
          <a:p/>
          <a:p>
            <a:r>
              <a:t>● Development or design expertise. ● Retail and tenant relationships. ● Hotel operations. ● A recognisable customer proposition.</a:t>
            </a:r>
          </a:p>
          <a:p/>
          <a:p>
            <a:r>
              <a:t>Why this can be effective</a:t>
            </a:r>
          </a:p>
          <a:p/>
          <a:p>
            <a:r>
              <a:t>The developer can add a function to the township without independently building every specialist capability.</a:t>
            </a:r>
          </a:p>
          <a:p/>
          <a:p>
            <a:r>
              <a:t>Critical trade-off</a:t>
            </a:r>
          </a:p>
          <a:p/>
          <a:p>
            <a:r>
              <a:t>Partnerships require clear economics, control rights, service standards, and accountability. A well-known partner’s name does not itself establish attractive project returns.</a:t>
            </a:r>
          </a:p>
          <a:p/>
          <a:p>
            <a:r>
              <a:t>Suggested visual: Township platform + specialist partner → additional capability → customer benefit.</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D15 — Duta Pertiwi: Borrowing specialist capability through partnerships</a:t>
            </a:r>
          </a:p>
          <a:p>
            <a:r>
              <a:t>Document pages: 124</a:t>
            </a:r>
          </a:p>
          <a:p/>
          <a:p>
            <a:r>
              <a:t>COMPLETE SOURCE TEXT</a:t>
            </a:r>
          </a:p>
          <a:p>
            <a:r>
              <a:t>Documented business development</a:t>
            </a:r>
          </a:p>
          <a:p/>
          <a:p>
            <a:r>
              <a:t>DUTI’s 2025 report describes a collaboration through a subsidiary with Sumitomo Forestry Indonesia for Kota Wisata Ecovia, including the initial Orlens cluster.</a:t>
            </a:r>
          </a:p>
          <a:p/>
          <a:p>
            <a:r>
              <a:t>The same report describes ARTOTEL Living World Kota Wisata, which began operating in August 2025. Source: DUTI 2025 annual report, management discussion and portfolio development.</a:t>
            </a:r>
          </a:p>
          <a:p/>
          <a:p>
            <a:r>
              <a:t>Brand strategy — analytical interpretation</a:t>
            </a:r>
          </a:p>
          <a:p/>
          <a:p>
            <a:r>
              <a:t>Different partners can supply different forms of credibility:</a:t>
            </a:r>
          </a:p>
          <a:p/>
          <a:p>
            <a:r>
              <a:t>● Development or design expertise. ● Retail and tenant relationships. ● Hotel operations. ● A recognisable customer proposition.</a:t>
            </a:r>
          </a:p>
          <a:p/>
          <a:p>
            <a:r>
              <a:t>Why this can be effective</a:t>
            </a:r>
          </a:p>
          <a:p/>
          <a:p>
            <a:r>
              <a:t>The developer can add a function to the township without independently building every specialist capability.</a:t>
            </a:r>
          </a:p>
          <a:p/>
          <a:p>
            <a:r>
              <a:t>Critical trade-off</a:t>
            </a:r>
          </a:p>
          <a:p/>
          <a:p>
            <a:r>
              <a:t>Partnerships require clear economics, control rights, service standards, and accountability. A well-known partner’s name does not itself establish attractive project returns.</a:t>
            </a:r>
          </a:p>
          <a:p/>
          <a:p>
            <a:r>
              <a:t>Suggested visual: Township platform + specialist partner → additional capability → customer benefit.</a:t>
            </a:r>
          </a:p>
          <a:p/>
          <a:p>
            <a:r>
              <a:t>SOURCE HYPERLINKS (as embedded in Mario’s PDF; not independently reverified)</a:t>
            </a:r>
          </a:p>
          <a:p>
            <a:r>
              <a:t>https://dutapertiwi.com/app/uploads/2026/04/DUTI-Annual-Report-2025.pdf</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D16 — Duta Pertiwi: Using operating destinations to deepen the township proposition</a:t>
            </a:r>
          </a:p>
          <a:p>
            <a:r>
              <a:t>Document pages: 125</a:t>
            </a:r>
          </a:p>
          <a:p/>
          <a:p>
            <a:r>
              <a:t>COMPLETE SOURCE TEXT</a:t>
            </a:r>
          </a:p>
          <a:p>
            <a:r>
              <a:t>Documented example</a:t>
            </a:r>
          </a:p>
          <a:p/>
          <a:p>
            <a:r>
              <a:t>Living World’s official portfolio records its Kota Wisata opening in 2024 and Grand Wisata opening in February 2025. Its retail proposition combines home-related shopping, lifestyle, food, and entertainment.</a:t>
            </a:r>
          </a:p>
          <a:p/>
          <a:p>
            <a:r>
              <a:t>The Grand Wisata destination also used a purchase-linked rewards programme supported by the MyLiving application. Sources: Kawan Lama’s Living World portfolio, Grand Wisata rewards programme.</a:t>
            </a:r>
          </a:p>
          <a:p/>
          <a:p>
            <a:r>
              <a:t>Why the mechanism matters — analysis</a:t>
            </a:r>
          </a:p>
          <a:p/>
          <a:p>
            <a:r>
              <a:t>A functioning destination can give residents and surrounding customers recurring reasons to visit. A rewards programme can support identifiable customer relationships and repeat purchasing.</a:t>
            </a:r>
          </a:p>
          <a:p/>
          <a:p>
            <a:r>
              <a:t>Business question</a:t>
            </a:r>
          </a:p>
          <a:p/>
          <a:p>
            <a:r>
              <a:t>Does the asset earn an adequate direct return, improve surrounding property demand, or both? Those benefits must be tested separately.</a:t>
            </a:r>
          </a:p>
          <a:p/>
          <a:p>
            <a:r>
              <a:t>TANRISE application</a:t>
            </a:r>
          </a:p>
          <a:p/>
          <a:p>
            <a:r>
              <a:t>Before launching a membership or loyalty programme, establish a service or destination that people already have a reason to use repeatedly.</a:t>
            </a:r>
          </a:p>
          <a:p/>
          <a:p>
            <a:r>
              <a:t>Suggested visual: Useful destination → repeat visits → customer relationship → relevant offers.</a:t>
            </a:r>
          </a:p>
          <a:p/>
          <a:p>
            <a:r>
              <a:t>SOURCE HYPERLINKS (as embedded in Mario’s PDF; not independently reverified)</a:t>
            </a:r>
          </a:p>
          <a:p>
            <a:r>
              <a:t>https://www.kawanlamagroup.com/en/brand/living-world</a:t>
            </a:r>
          </a:p>
          <a:p>
            <a:r>
              <a:t>https://grandwisata.livingworld.co.id/promo/Shop-%26-Win-Spectacular</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D16 — Duta Pertiwi: Using operating destinations to deepen the township proposition</a:t>
            </a:r>
          </a:p>
          <a:p>
            <a:r>
              <a:t>Document pages: 125</a:t>
            </a:r>
          </a:p>
          <a:p/>
          <a:p>
            <a:r>
              <a:t>COMPLETE SOURCE TEXT</a:t>
            </a:r>
          </a:p>
          <a:p>
            <a:r>
              <a:t>Documented example</a:t>
            </a:r>
          </a:p>
          <a:p/>
          <a:p>
            <a:r>
              <a:t>Living World’s official portfolio records its Kota Wisata opening in 2024 and Grand Wisata opening in February 2025. Its retail proposition combines home-related shopping, lifestyle, food, and entertainment.</a:t>
            </a:r>
          </a:p>
          <a:p/>
          <a:p>
            <a:r>
              <a:t>The Grand Wisata destination also used a purchase-linked rewards programme supported by the MyLiving application. Sources: Kawan Lama’s Living World portfolio, Grand Wisata rewards programme.</a:t>
            </a:r>
          </a:p>
          <a:p/>
          <a:p>
            <a:r>
              <a:t>Why the mechanism matters — analysis</a:t>
            </a:r>
          </a:p>
          <a:p/>
          <a:p>
            <a:r>
              <a:t>A functioning destination can give residents and surrounding customers recurring reasons to visit. A rewards programme can support identifiable customer relationships and repeat purchasing.</a:t>
            </a:r>
          </a:p>
          <a:p/>
          <a:p>
            <a:r>
              <a:t>Business question</a:t>
            </a:r>
          </a:p>
          <a:p/>
          <a:p>
            <a:r>
              <a:t>Does the asset earn an adequate direct return, improve surrounding property demand, or both? Those benefits must be tested separately.</a:t>
            </a:r>
          </a:p>
          <a:p/>
          <a:p>
            <a:r>
              <a:t>TANRISE application</a:t>
            </a:r>
          </a:p>
          <a:p/>
          <a:p>
            <a:r>
              <a:t>Before launching a membership or loyalty programme, establish a service or destination that people already have a reason to use repeatedly.</a:t>
            </a:r>
          </a:p>
          <a:p/>
          <a:p>
            <a:r>
              <a:t>Suggested visual: Useful destination → repeat visits → customer relationship → relevant offers.</a:t>
            </a:r>
          </a:p>
          <a:p/>
          <a:p>
            <a:r>
              <a:t>SOURCE HYPERLINKS (as embedded in Mario’s PDF; not independently reverified)</a:t>
            </a:r>
          </a:p>
          <a:p>
            <a:r>
              <a:t>https://www.kawanlamagroup.com/en/brand/living-world</a:t>
            </a:r>
          </a:p>
          <a:p>
            <a:r>
              <a:t>https://grandwisata.livingworld.co.id/promo/Shop-%26-Win-Spectacular</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D17 — Alam Sutera: Segmenting the payment proposition</a:t>
            </a:r>
          </a:p>
          <a:p>
            <a:r>
              <a:t>Document pages: 125, 126</a:t>
            </a:r>
          </a:p>
          <a:p/>
          <a:p>
            <a:r>
              <a:t>COMPLETE SOURCE TEXT</a:t>
            </a:r>
          </a:p>
          <a:p>
            <a:r>
              <a:t>Documented customer behaviour</a:t>
            </a:r>
          </a:p>
          <a:p/>
          <a:p>
            <a:r>
              <a:t>ASRI’s 1H2025 investor presentation shows a materially different payment mix between its locations:</a:t>
            </a:r>
          </a:p>
          <a:p/>
          <a:p>
            <a:r>
              <a:t>● Alam Sutera: approximately 47.6% cash instalments and 43.7% mortgages. ● Suvarna Sutera: approximately 22.9% cash instalments and 67.4% mortgages.</a:t>
            </a:r>
          </a:p>
          <a:p/>
          <a:p>
            <a:r>
              <a:t>These are period-specific sales-payment profiles, not complete demographic descriptions. Source: ASRI investor presentation, payment-profile analysis.</a:t>
            </a:r>
          </a:p>
          <a:p/>
          <a:p>
            <a:r>
              <a:t>Why this matters — analysis</a:t>
            </a:r>
          </a:p>
          <a:p/>
          <a:p>
            <a:r>
              <a:t>Two projects within one company can require different conversion systems.</a:t>
            </a:r>
          </a:p>
          <a:p/>
          <a:p>
            <a:r>
              <a:t>A mortgage-dependent project needs particular attention to bank approval, documentation, eligibility, and payment stability.</a:t>
            </a:r>
          </a:p>
          <a:p/>
          <a:p>
            <a:r>
              <a:t>A project with greater instalment usage needs close attention to collection schedules and the developer’s financing exposure.</a:t>
            </a:r>
          </a:p>
          <a:p/>
          <a:p>
            <a:r>
              <a:t>Brand implication</a:t>
            </a:r>
          </a:p>
          <a:p/>
          <a:p>
            <a:r>
              <a:t>The corporate identity can remain consistent while the payment proposition and sales conversation differ by market.</a:t>
            </a:r>
          </a:p>
          <a:p/>
          <a:p>
            <a:r>
              <a:t>TANRISE application</a:t>
            </a:r>
          </a:p>
          <a:p/>
          <a:p>
            <a:r>
              <a:t>Segment by financial behaviour as well as age and income.</a:t>
            </a:r>
          </a:p>
          <a:p/>
          <a:p>
            <a:r>
              <a:t>Suggested visual: Two customer journeys showing different financing and collection risks.</a:t>
            </a:r>
          </a:p>
          <a:p/>
          <a:p>
            <a:r>
              <a:t>SOURCE HYPERLINKS (as embedded in Mario’s PDF; not independently reverified)</a:t>
            </a:r>
          </a:p>
          <a:p>
            <a:r>
              <a:t>https://www.alamsuterarealty.co.id/public/assets/companypresentation/Investor%20Presentation%20-%20Sept%202025.pdf</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D17 — Alam Sutera: Segmenting the payment proposition</a:t>
            </a:r>
          </a:p>
          <a:p>
            <a:r>
              <a:t>Document pages: 125, 126</a:t>
            </a:r>
          </a:p>
          <a:p/>
          <a:p>
            <a:r>
              <a:t>COMPLETE SOURCE TEXT</a:t>
            </a:r>
          </a:p>
          <a:p>
            <a:r>
              <a:t>Documented customer behaviour</a:t>
            </a:r>
          </a:p>
          <a:p/>
          <a:p>
            <a:r>
              <a:t>ASRI’s 1H2025 investor presentation shows a materially different payment mix between its locations:</a:t>
            </a:r>
          </a:p>
          <a:p/>
          <a:p>
            <a:r>
              <a:t>● Alam Sutera: approximately 47.6% cash instalments and 43.7% mortgages. ● Suvarna Sutera: approximately 22.9% cash instalments and 67.4% mortgages.</a:t>
            </a:r>
          </a:p>
          <a:p/>
          <a:p>
            <a:r>
              <a:t>These are period-specific sales-payment profiles, not complete demographic descriptions. Source: ASRI investor presentation, payment-profile analysis.</a:t>
            </a:r>
          </a:p>
          <a:p/>
          <a:p>
            <a:r>
              <a:t>Why this matters — analysis</a:t>
            </a:r>
          </a:p>
          <a:p/>
          <a:p>
            <a:r>
              <a:t>Two projects within one company can require different conversion systems.</a:t>
            </a:r>
          </a:p>
          <a:p/>
          <a:p>
            <a:r>
              <a:t>A mortgage-dependent project needs particular attention to bank approval, documentation, eligibility, and payment stability.</a:t>
            </a:r>
          </a:p>
          <a:p/>
          <a:p>
            <a:r>
              <a:t>A project with greater instalment usage needs close attention to collection schedules and the developer’s financing exposure.</a:t>
            </a:r>
          </a:p>
          <a:p/>
          <a:p>
            <a:r>
              <a:t>Brand implication</a:t>
            </a:r>
          </a:p>
          <a:p/>
          <a:p>
            <a:r>
              <a:t>The corporate identity can remain consistent while the payment proposition and sales conversation differ by market.</a:t>
            </a:r>
          </a:p>
          <a:p/>
          <a:p>
            <a:r>
              <a:t>TANRISE application</a:t>
            </a:r>
          </a:p>
          <a:p/>
          <a:p>
            <a:r>
              <a:t>Segment by financial behaviour as well as age and income.</a:t>
            </a:r>
          </a:p>
          <a:p/>
          <a:p>
            <a:r>
              <a:t>Suggested visual: Two customer journeys showing different financing and collection risks.</a:t>
            </a:r>
          </a:p>
          <a:p/>
          <a:p>
            <a:r>
              <a:t>SOURCE HYPERLINKS (as embedded in Mario’s PDF; not independently reverified)</a:t>
            </a:r>
          </a:p>
          <a:p>
            <a:r>
              <a:t>https://www.alamsuterarealty.co.id/public/assets/companypresentation/Investor%20Presentation%20-%20Sept%202025.pdf</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D18 — Alam Sutera: A successful launch can materially change the sales mix</a:t>
            </a:r>
          </a:p>
          <a:p>
            <a:r>
              <a:t>Document pages: 126, 127</a:t>
            </a:r>
          </a:p>
          <a:p/>
          <a:p>
            <a:r>
              <a:t>COMPLETE SOURCE TEXT</a:t>
            </a:r>
          </a:p>
          <a:p>
            <a:r>
              <a:t>Documented performance</a:t>
            </a:r>
          </a:p>
          <a:p/>
          <a:p>
            <a:r>
              <a:t>ASRI reported approximately Rp1.39 trillion in 1H2025 marketing sales. Its presentation identified Sutera Rasuna as contributing approximately 43% of residential marketing sales.</a:t>
            </a:r>
          </a:p>
          <a:p/>
          <a:p>
            <a:r>
              <a:t>Its 2025 annual report describes market research, product variation across prices, show units, exhibitions, strategic-location media, and digital channels. Sources: investor presentation, annual report, marketing discussion.</a:t>
            </a:r>
          </a:p>
          <a:p/>
          <a:p>
            <a:r>
              <a:t>Why the mechanism matters — analysis</a:t>
            </a:r>
          </a:p>
          <a:p/>
          <a:p>
            <a:r>
              <a:t>The performance of one relevant release can matter more than the total number of campaigns.</a:t>
            </a:r>
          </a:p>
          <a:p/>
          <a:p>
            <a:r>
              <a:t>A useful research question is whether the release filled a gap in price, layout, location, financing, or available inventory.</a:t>
            </a:r>
          </a:p>
          <a:p/>
          <a:p>
            <a:r>
              <a:t>Evidence limit</a:t>
            </a:r>
          </a:p>
          <a:p/>
          <a:p>
            <a:r>
              <a:t>The disclosures do not isolate which of those factors drove Sutera Rasuna’s contribution.</a:t>
            </a:r>
          </a:p>
          <a:p/>
          <a:p>
            <a:r>
              <a:t>TANRISE application</a:t>
            </a:r>
          </a:p>
          <a:p/>
          <a:p>
            <a:r>
              <a:t>Compare product cohorts. Identify which configurations convert qualified demand into collected sales, then adjust subsequent releases.</a:t>
            </a:r>
          </a:p>
          <a:p/>
          <a:p>
            <a:r>
              <a:t>Suggested visual: Launch-by-launch contribution, followed by price, configuration, payment method, and cancellation analysis.</a:t>
            </a:r>
          </a:p>
          <a:p/>
          <a:p>
            <a:r>
              <a:t>SOURCE HYPERLINKS (as embedded in Mario’s PDF; not independently reverified)</a:t>
            </a:r>
          </a:p>
          <a:p>
            <a:r>
              <a:t>https://www.alamsuterarealty.co.id/public/assets/companypresentation/Investor%20Presentation%20-%20Sept%202025.pdf</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D18 — Alam Sutera: A successful launch can materially change the sales mix</a:t>
            </a:r>
          </a:p>
          <a:p>
            <a:r>
              <a:t>Document pages: 126, 127</a:t>
            </a:r>
          </a:p>
          <a:p/>
          <a:p>
            <a:r>
              <a:t>COMPLETE SOURCE TEXT</a:t>
            </a:r>
          </a:p>
          <a:p>
            <a:r>
              <a:t>Documented performance</a:t>
            </a:r>
          </a:p>
          <a:p/>
          <a:p>
            <a:r>
              <a:t>ASRI reported approximately Rp1.39 trillion in 1H2025 marketing sales. Its presentation identified Sutera Rasuna as contributing approximately 43% of residential marketing sales.</a:t>
            </a:r>
          </a:p>
          <a:p/>
          <a:p>
            <a:r>
              <a:t>Its 2025 annual report describes market research, product variation across prices, show units, exhibitions, strategic-location media, and digital channels. Sources: investor presentation, annual report, marketing discussion.</a:t>
            </a:r>
          </a:p>
          <a:p/>
          <a:p>
            <a:r>
              <a:t>Why the mechanism matters — analysis</a:t>
            </a:r>
          </a:p>
          <a:p/>
          <a:p>
            <a:r>
              <a:t>The performance of one relevant release can matter more than the total number of campaigns.</a:t>
            </a:r>
          </a:p>
          <a:p/>
          <a:p>
            <a:r>
              <a:t>A useful research question is whether the release filled a gap in price, layout, location, financing, or available inventory.</a:t>
            </a:r>
          </a:p>
          <a:p/>
          <a:p>
            <a:r>
              <a:t>Evidence limit</a:t>
            </a:r>
          </a:p>
          <a:p/>
          <a:p>
            <a:r>
              <a:t>The disclosures do not isolate which of those factors drove Sutera Rasuna’s contribution.</a:t>
            </a:r>
          </a:p>
          <a:p/>
          <a:p>
            <a:r>
              <a:t>TANRISE application</a:t>
            </a:r>
          </a:p>
          <a:p/>
          <a:p>
            <a:r>
              <a:t>Compare product cohorts. Identify which configurations convert qualified demand into collected sales, then adjust subsequent releases.</a:t>
            </a:r>
          </a:p>
          <a:p/>
          <a:p>
            <a:r>
              <a:t>Suggested visual: Launch-by-launch contribution, followed by price, configuration, payment method, and cancellation analysis.</a:t>
            </a:r>
          </a:p>
          <a:p/>
          <a:p>
            <a:r>
              <a:t>SOURCE HYPERLINKS (as embedded in Mario’s PDF; not independently reverified)</a:t>
            </a:r>
          </a:p>
          <a:p>
            <a:r>
              <a:t>https://www.alamsuterarealty.co.id/public/assets/companypresentation/Investor%20Presentation%20-%20Sept%202025.pdf</a:t>
            </a:r>
          </a:p>
          <a:p>
            <a:r>
              <a:t>https://alamsuterarealty.co.id/public/assets/annualreport/Annual%20Report%20ASRI%202025.pdf</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D19 — Jaya Real Property: Building a portfolio of customer propositions</a:t>
            </a:r>
          </a:p>
          <a:p>
            <a:r>
              <a:t>Document pages: 127, 128</a:t>
            </a:r>
          </a:p>
          <a:p/>
          <a:p>
            <a:r>
              <a:t>COMPLETE SOURCE TEXT</a:t>
            </a:r>
          </a:p>
          <a:p>
            <a:r>
              <a:t>Documented product segmentation</a:t>
            </a:r>
          </a:p>
          <a:p/>
          <a:p>
            <a:r>
              <a:t>JRPT’s FY2024 sales announcement presented materially different offers:</a:t>
            </a:r>
          </a:p>
          <a:p/>
          <a:p>
            <a:r>
              <a:t>● Aura–Discovery Flamine: homes in an established environment at approximately</a:t>
            </a:r>
          </a:p>
          <a:p/>
          <a:p>
            <a:r>
              <a:t>Rp4.8–6.1 billion. ● Thalassa at Puri Jaya: approximately Rp588–730 million. ● Kasuari Straits: housing combined with entrepreneurial space, starting around</a:t>
            </a:r>
          </a:p>
          <a:p/>
          <a:p>
            <a:r>
              <a:t>Rp490 million.</a:t>
            </a:r>
          </a:p>
          <a:p/>
          <a:p>
            <a:r>
              <a:t>These are historical disclosed offers with differing specifications and terms. Source: JRPT FY2024 marketing-sales announcement.</a:t>
            </a:r>
          </a:p>
          <a:p/>
          <a:p>
            <a:r>
              <a:t>Brand strategy — analytical interpretation</a:t>
            </a:r>
          </a:p>
          <a:p/>
          <a:p>
            <a:r>
              <a:t>The company does not rely on one universal meaning of “aspirational housing.”</a:t>
            </a:r>
          </a:p>
          <a:p/>
          <a:p>
            <a:r>
              <a:t>It translates aspiration into different practical outcomes:</a:t>
            </a:r>
          </a:p>
          <a:p/>
          <a:p>
            <a:r>
              <a:t>● Established family convenience. ● Accessible home ownership. ● Space that supports earning an income.</a:t>
            </a:r>
          </a:p>
          <a:p/>
          <a:p>
            <a:r>
              <a:t>Why this can be effective</a:t>
            </a:r>
          </a:p>
          <a:p/>
          <a:p>
            <a:r>
              <a:t>The customer proposition matches the household’s economic situation and intended use.</a:t>
            </a:r>
          </a:p>
          <a:p/>
          <a:p>
            <a:r>
              <a:t>TANRISE application</a:t>
            </a:r>
          </a:p>
          <a:p/>
          <a:p>
            <a:r>
              <a:t>Define the specific improvement each product makes in the customer’s life. Avoid describing every project with the same lifestyle vocabulary.</a:t>
            </a:r>
          </a:p>
          <a:p/>
          <a:p>
            <a:r>
              <a:t>Suggested visual: Customer need → product configuration → location proposition → price.</a:t>
            </a:r>
          </a:p>
          <a:p/>
          <a:p>
            <a:r>
              <a:t>SOURCE HYPERLINKS (as embedded in Mario’s PDF; not independently reverified)</a:t>
            </a:r>
          </a:p>
          <a:p>
            <a:r>
              <a:t>https://www.jayaproperty.com/frontend/company_announcement/JRPT%20%20FY2024%20Marketing%20Sales%20Announcement.pdf</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D19 — Jaya Real Property: Building a portfolio of customer propositions</a:t>
            </a:r>
          </a:p>
          <a:p>
            <a:r>
              <a:t>Document pages: 127, 128</a:t>
            </a:r>
          </a:p>
          <a:p/>
          <a:p>
            <a:r>
              <a:t>COMPLETE SOURCE TEXT</a:t>
            </a:r>
          </a:p>
          <a:p>
            <a:r>
              <a:t>Documented product segmentation</a:t>
            </a:r>
          </a:p>
          <a:p/>
          <a:p>
            <a:r>
              <a:t>JRPT’s FY2024 sales announcement presented materially different offers:</a:t>
            </a:r>
          </a:p>
          <a:p/>
          <a:p>
            <a:r>
              <a:t>● Aura–Discovery Flamine: homes in an established environment at approximately</a:t>
            </a:r>
          </a:p>
          <a:p/>
          <a:p>
            <a:r>
              <a:t>Rp4.8–6.1 billion. ● Thalassa at Puri Jaya: approximately Rp588–730 million. ● Kasuari Straits: housing combined with entrepreneurial space, starting around</a:t>
            </a:r>
          </a:p>
          <a:p/>
          <a:p>
            <a:r>
              <a:t>Rp490 million.</a:t>
            </a:r>
          </a:p>
          <a:p/>
          <a:p>
            <a:r>
              <a:t>These are historical disclosed offers with differing specifications and terms. Source: JRPT FY2024 marketing-sales announcement.</a:t>
            </a:r>
          </a:p>
          <a:p/>
          <a:p>
            <a:r>
              <a:t>Brand strategy — analytical interpretation</a:t>
            </a:r>
          </a:p>
          <a:p/>
          <a:p>
            <a:r>
              <a:t>The company does not rely on one universal meaning of “aspirational housing.”</a:t>
            </a:r>
          </a:p>
          <a:p/>
          <a:p>
            <a:r>
              <a:t>It translates aspiration into different practical outcomes:</a:t>
            </a:r>
          </a:p>
          <a:p/>
          <a:p>
            <a:r>
              <a:t>● Established family convenience. ● Accessible home ownership. ● Space that supports earning an income.</a:t>
            </a:r>
          </a:p>
          <a:p/>
          <a:p>
            <a:r>
              <a:t>Why this can be effective</a:t>
            </a:r>
          </a:p>
          <a:p/>
          <a:p>
            <a:r>
              <a:t>The customer proposition matches the household’s economic situation and intended use.</a:t>
            </a:r>
          </a:p>
          <a:p/>
          <a:p>
            <a:r>
              <a:t>TANRISE application</a:t>
            </a:r>
          </a:p>
          <a:p/>
          <a:p>
            <a:r>
              <a:t>Define the specific improvement each product makes in the customer’s life. Avoid describing every project with the same lifestyle vocabulary.</a:t>
            </a:r>
          </a:p>
          <a:p/>
          <a:p>
            <a:r>
              <a:t>Suggested visual: Customer need → product configuration → location proposition → price.</a:t>
            </a:r>
          </a:p>
          <a:p/>
          <a:p>
            <a:r>
              <a:t>SOURCE HYPERLINKS (as embedded in Mario’s PDF; not independently reverified)</a:t>
            </a:r>
          </a:p>
          <a:p>
            <a:r>
              <a:t>https://www.jayaproperty.com/frontend/company_announcement/JRPT%20%20FY2024%20Marketing%20Sales%20Announcement.pdf</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D19 — Jaya Real Property: Building a portfolio of customer propositions</a:t>
            </a:r>
          </a:p>
          <a:p>
            <a:r>
              <a:t>Document pages: 127, 128</a:t>
            </a:r>
          </a:p>
          <a:p/>
          <a:p>
            <a:r>
              <a:t>COMPLETE SOURCE TEXT</a:t>
            </a:r>
          </a:p>
          <a:p>
            <a:r>
              <a:t>Documented product segmentation</a:t>
            </a:r>
          </a:p>
          <a:p/>
          <a:p>
            <a:r>
              <a:t>JRPT’s FY2024 sales announcement presented materially different offers:</a:t>
            </a:r>
          </a:p>
          <a:p/>
          <a:p>
            <a:r>
              <a:t>● Aura–Discovery Flamine: homes in an established environment at approximately</a:t>
            </a:r>
          </a:p>
          <a:p/>
          <a:p>
            <a:r>
              <a:t>Rp4.8–6.1 billion. ● Thalassa at Puri Jaya: approximately Rp588–730 million. ● Kasuari Straits: housing combined with entrepreneurial space, starting around</a:t>
            </a:r>
          </a:p>
          <a:p/>
          <a:p>
            <a:r>
              <a:t>Rp490 million.</a:t>
            </a:r>
          </a:p>
          <a:p/>
          <a:p>
            <a:r>
              <a:t>These are historical disclosed offers with differing specifications and terms. Source: JRPT FY2024 marketing-sales announcement.</a:t>
            </a:r>
          </a:p>
          <a:p/>
          <a:p>
            <a:r>
              <a:t>Brand strategy — analytical interpretation</a:t>
            </a:r>
          </a:p>
          <a:p/>
          <a:p>
            <a:r>
              <a:t>The company does not rely on one universal meaning of “aspirational housing.”</a:t>
            </a:r>
          </a:p>
          <a:p/>
          <a:p>
            <a:r>
              <a:t>It translates aspiration into different practical outcomes:</a:t>
            </a:r>
          </a:p>
          <a:p/>
          <a:p>
            <a:r>
              <a:t>● Established family convenience. ● Accessible home ownership. ● Space that supports earning an income.</a:t>
            </a:r>
          </a:p>
          <a:p/>
          <a:p>
            <a:r>
              <a:t>Why this can be effective</a:t>
            </a:r>
          </a:p>
          <a:p/>
          <a:p>
            <a:r>
              <a:t>The customer proposition matches the household’s economic situation and intended use.</a:t>
            </a:r>
          </a:p>
          <a:p/>
          <a:p>
            <a:r>
              <a:t>TANRISE application</a:t>
            </a:r>
          </a:p>
          <a:p/>
          <a:p>
            <a:r>
              <a:t>Define the specific improvement each product makes in the customer’s life. Avoid describing every project with the same lifestyle vocabulary.</a:t>
            </a:r>
          </a:p>
          <a:p/>
          <a:p>
            <a:r>
              <a:t>Suggested visual: Customer need → product configuration → location proposition → price.</a:t>
            </a:r>
          </a:p>
          <a:p/>
          <a:p>
            <a:r>
              <a:t>SOURCE HYPERLINKS (as embedded in Mario’s PDF; not independently reverified)</a:t>
            </a:r>
          </a:p>
          <a:p>
            <a:r>
              <a:t>https://www.jayaproperty.com/frontend/company_announcement/JRPT%20%20FY2024%20Marketing%20Sales%20Announcement.pdf</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D20 — Jaya Real Property: Turning connectivity into a usable service</a:t>
            </a:r>
          </a:p>
          <a:p>
            <a:r>
              <a:t>Document pages: 128</a:t>
            </a:r>
          </a:p>
          <a:p/>
          <a:p>
            <a:r>
              <a:t>COMPLETE SOURCE TEXT</a:t>
            </a:r>
          </a:p>
          <a:p>
            <a:r>
              <a:t>Documented execution</a:t>
            </a:r>
          </a:p>
          <a:p/>
          <a:p>
            <a:r>
              <a:t>JRPT’s sales material describes connections to commuter stations and internal InTrans shuttle services. Its earlier annual report also explains a strategy of selectively leasing commercial land to quality tenants to generate recurring income and improve area value. Sources: FY2024 sales material, 2023 annual report, strategic outlook.</a:t>
            </a:r>
          </a:p>
          <a:p/>
          <a:p>
            <a:r>
              <a:t>Why the mechanism matters — analysis</a:t>
            </a:r>
          </a:p>
          <a:p/>
          <a:p>
            <a:r>
              <a:t>“Near transport” is a geographic statement. A usable connection is an operating proposition.</a:t>
            </a:r>
          </a:p>
          <a:p/>
          <a:p>
            <a:r>
              <a:t>Likewise, adding a commercial building is different from attracting an operator that residents use.</a:t>
            </a:r>
          </a:p>
          <a:p/>
          <a:p>
            <a:r>
              <a:t>Business mechanism</a:t>
            </a:r>
          </a:p>
          <a:p/>
          <a:p>
            <a:r>
              <a:t>Improve the practical experience of the location → strengthen residential relevance → support commercial demand → retain selected income opportunities.</a:t>
            </a:r>
          </a:p>
          <a:p/>
          <a:p>
            <a:r>
              <a:t>TANRISE application</a:t>
            </a:r>
          </a:p>
          <a:p/>
          <a:p>
            <a:r>
              <a:t>For Sidoarjo, test actual journeys to employment centres: travel time, cost, service availability, and reliability. For amenities, distinguish committed operators from proposed facilities.</a:t>
            </a:r>
          </a:p>
          <a:p/>
          <a:p>
            <a:r>
              <a:t>Suggested visual: Home → internal connection → transport/employment → everyday services.</a:t>
            </a:r>
          </a:p>
          <a:p/>
          <a:p>
            <a:r>
              <a:t>SOURCE HYPERLINKS (as embedded in Mario’s PDF; not independently reverified)</a:t>
            </a:r>
          </a:p>
          <a:p>
            <a:r>
              <a:t>https://www.jayaproperty.com/frontend/company_announcement/JRPT%20%20FY2024%20Marketing%20Sales%20Announcement.pdf</a:t>
            </a:r>
          </a:p>
          <a:p>
            <a:r>
              <a:t>https://www.jayaproperty.com/frontend/annual_report/JRPT%20AR%20dan%20SR%202023.pdf</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D20 — Jaya Real Property: Turning connectivity into a usable service</a:t>
            </a:r>
          </a:p>
          <a:p>
            <a:r>
              <a:t>Document pages: 128</a:t>
            </a:r>
          </a:p>
          <a:p/>
          <a:p>
            <a:r>
              <a:t>COMPLETE SOURCE TEXT</a:t>
            </a:r>
          </a:p>
          <a:p>
            <a:r>
              <a:t>Documented execution</a:t>
            </a:r>
          </a:p>
          <a:p/>
          <a:p>
            <a:r>
              <a:t>JRPT’s sales material describes connections to commuter stations and internal InTrans shuttle services. Its earlier annual report also explains a strategy of selectively leasing commercial land to quality tenants to generate recurring income and improve area value. Sources: FY2024 sales material, 2023 annual report, strategic outlook.</a:t>
            </a:r>
          </a:p>
          <a:p/>
          <a:p>
            <a:r>
              <a:t>Why the mechanism matters — analysis</a:t>
            </a:r>
          </a:p>
          <a:p/>
          <a:p>
            <a:r>
              <a:t>“Near transport” is a geographic statement. A usable connection is an operating proposition.</a:t>
            </a:r>
          </a:p>
          <a:p/>
          <a:p>
            <a:r>
              <a:t>Likewise, adding a commercial building is different from attracting an operator that residents use.</a:t>
            </a:r>
          </a:p>
          <a:p/>
          <a:p>
            <a:r>
              <a:t>Business mechanism</a:t>
            </a:r>
          </a:p>
          <a:p/>
          <a:p>
            <a:r>
              <a:t>Improve the practical experience of the location → strengthen residential relevance → support commercial demand → retain selected income opportunities.</a:t>
            </a:r>
          </a:p>
          <a:p/>
          <a:p>
            <a:r>
              <a:t>TANRISE application</a:t>
            </a:r>
          </a:p>
          <a:p/>
          <a:p>
            <a:r>
              <a:t>For Sidoarjo, test actual journeys to employment centres: travel time, cost, service availability, and reliability. For amenities, distinguish committed operators from proposed facilities.</a:t>
            </a:r>
          </a:p>
          <a:p/>
          <a:p>
            <a:r>
              <a:t>Suggested visual: Home → internal connection → transport/employment → everyday services.</a:t>
            </a:r>
          </a:p>
          <a:p/>
          <a:p>
            <a:r>
              <a:t>SOURCE HYPERLINKS (as embedded in Mario’s PDF; not independently reverified)</a:t>
            </a:r>
          </a:p>
          <a:p>
            <a:r>
              <a:t>https://www.jayaproperty.com/frontend/company_announcement/JRPT%20%20FY2024%20Marketing%20Sales%20Announcement.pdf</a:t>
            </a:r>
          </a:p>
          <a:p>
            <a:r>
              <a:t>https://www.jayaproperty.com/frontend/annual_report/JRPT%20AR%20dan%20SR%202023.pdf</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D21 — PANI: Coordinating a destination story with multiple products</a:t>
            </a:r>
          </a:p>
          <a:p>
            <a:r>
              <a:t>Document pages: 129</a:t>
            </a:r>
          </a:p>
          <a:p/>
          <a:p>
            <a:r>
              <a:t>COMPLETE SOURCE TEXT</a:t>
            </a:r>
          </a:p>
          <a:p>
            <a:r>
              <a:t>Documented strategy</a:t>
            </a:r>
          </a:p>
          <a:p/>
          <a:p>
            <a:r>
              <a:t>PANI’s 3Q2025 release connected residential, commercial, and commercial-land sales with the development of PIK2. It identified NICE and the Kataraja toll road as expected contributors to visitor activity and the area economy.</a:t>
            </a:r>
          </a:p>
          <a:p/>
          <a:p>
            <a:r>
              <a:t>It also disclosed different residential and business-property products rather than one uniform offer. Source: PANI 3Q2025 marketing-sales release.</a:t>
            </a:r>
          </a:p>
          <a:p/>
          <a:p>
            <a:r>
              <a:t>Brand strategy — analytical interpretation</a:t>
            </a:r>
          </a:p>
          <a:p/>
          <a:p>
            <a:r>
              <a:t>The destination identity gives otherwise different products a common story about where activity and development are concentrating.</a:t>
            </a:r>
          </a:p>
          <a:p/>
          <a:p>
            <a:r>
              <a:t>Business mechanism</a:t>
            </a:r>
          </a:p>
          <a:p/>
          <a:p>
            <a:r>
              <a:t>● Access can improve the location’s usability. ● Events can introduce visitors and businesses. ● Residential occupation can support everyday commerce. ● Commercial activity can strengthen the proposition for subsequent development.</a:t>
            </a:r>
          </a:p>
          <a:p/>
          <a:p>
            <a:r>
              <a:t>Critical qualification</a:t>
            </a:r>
          </a:p>
          <a:p/>
          <a:p>
            <a:r>
              <a:t>Event attendance is not equivalent to permanent occupation, sustainable tenant turnover, or collected property sales.</a:t>
            </a:r>
          </a:p>
          <a:p/>
          <a:p>
            <a:r>
              <a:t>TANRISE application</a:t>
            </a:r>
          </a:p>
          <a:p/>
          <a:p>
            <a:r>
              <a:t>Build an activity model for each destination: who comes, why, how often, and what they spend.</a:t>
            </a:r>
          </a:p>
          <a:p/>
          <a:p>
            <a:r>
              <a:t>Suggested visual: Access + employment + residents + events, with separate demand measures for each.</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D21 — PANI: Coordinating a destination story with multiple products</a:t>
            </a:r>
          </a:p>
          <a:p>
            <a:r>
              <a:t>Document pages: 129</a:t>
            </a:r>
          </a:p>
          <a:p/>
          <a:p>
            <a:r>
              <a:t>COMPLETE SOURCE TEXT</a:t>
            </a:r>
          </a:p>
          <a:p>
            <a:r>
              <a:t>Documented strategy</a:t>
            </a:r>
          </a:p>
          <a:p/>
          <a:p>
            <a:r>
              <a:t>PANI’s 3Q2025 release connected residential, commercial, and commercial-land sales with the development of PIK2. It identified NICE and the Kataraja toll road as expected contributors to visitor activity and the area economy.</a:t>
            </a:r>
          </a:p>
          <a:p/>
          <a:p>
            <a:r>
              <a:t>It also disclosed different residential and business-property products rather than one uniform offer. Source: PANI 3Q2025 marketing-sales release.</a:t>
            </a:r>
          </a:p>
          <a:p/>
          <a:p>
            <a:r>
              <a:t>Brand strategy — analytical interpretation</a:t>
            </a:r>
          </a:p>
          <a:p/>
          <a:p>
            <a:r>
              <a:t>The destination identity gives otherwise different products a common story about where activity and development are concentrating.</a:t>
            </a:r>
          </a:p>
          <a:p/>
          <a:p>
            <a:r>
              <a:t>Business mechanism</a:t>
            </a:r>
          </a:p>
          <a:p/>
          <a:p>
            <a:r>
              <a:t>● Access can improve the location’s usability. ● Events can introduce visitors and businesses. ● Residential occupation can support everyday commerce. ● Commercial activity can strengthen the proposition for subsequent development.</a:t>
            </a:r>
          </a:p>
          <a:p/>
          <a:p>
            <a:r>
              <a:t>Critical qualification</a:t>
            </a:r>
          </a:p>
          <a:p/>
          <a:p>
            <a:r>
              <a:t>Event attendance is not equivalent to permanent occupation, sustainable tenant turnover, or collected property sales.</a:t>
            </a:r>
          </a:p>
          <a:p/>
          <a:p>
            <a:r>
              <a:t>TANRISE application</a:t>
            </a:r>
          </a:p>
          <a:p/>
          <a:p>
            <a:r>
              <a:t>Build an activity model for each destination: who comes, why, how often, and what they spend.</a:t>
            </a:r>
          </a:p>
          <a:p/>
          <a:p>
            <a:r>
              <a:t>Suggested visual: Access + employment + residents + events, with separate demand measures for each.</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D22 — PANI: Strong destination branding does not remove demand risk</a:t>
            </a:r>
          </a:p>
          <a:p>
            <a:r>
              <a:t>Document pages: 129, 130</a:t>
            </a:r>
          </a:p>
          <a:p/>
          <a:p>
            <a:r>
              <a:t>COMPLETE SOURCE TEXT</a:t>
            </a:r>
          </a:p>
          <a:p>
            <a:r>
              <a:t>Documented counter-evidence</a:t>
            </a:r>
          </a:p>
          <a:p/>
          <a:p>
            <a:r>
              <a:t>The same 3Q2025 release reported a strong quarterly sales increase but also reduced the FY2025 marketing-sales target from Rp5.3 trillion to Rp4.3 trillion.</a:t>
            </a:r>
          </a:p>
          <a:p/>
          <a:p>
            <a:r>
              <a:t>That is a reduction of approximately 19%, despite the destination’s visibility and development activity. Source: PANI target revision and quarterly results. Percentage is calculated from the disclosed targets.</a:t>
            </a:r>
          </a:p>
          <a:p/>
          <a:p>
            <a:r>
              <a:t>Why this matters — analysis</a:t>
            </a:r>
          </a:p>
          <a:p/>
          <a:p>
            <a:r>
              <a:t>A high-profile brand can generate attention while buyers remain constrained by confidence, affordability, timing, or investment appetite.</a:t>
            </a:r>
          </a:p>
          <a:p/>
          <a:p>
            <a:r>
              <a:t>Research implication</a:t>
            </a:r>
          </a:p>
          <a:p/>
          <a:p>
            <a:r>
              <a:t>Do not treat a strong quarter, social visibility, or a major opening as proof of permanently stronger demand.</a:t>
            </a:r>
          </a:p>
          <a:p/>
          <a:p>
            <a:r>
              <a:t>TANRISE application</a:t>
            </a:r>
          </a:p>
          <a:p/>
          <a:p>
            <a:r>
              <a:t>Build downside scenarios into the 2035 plan. Link expansion commitments to collected sales and verified operating demand.</a:t>
            </a:r>
          </a:p>
          <a:p/>
          <a:p>
            <a:r>
              <a:t>Suggested visual: Awareness → enquiry → commitment → collections → occupation. Show that each stage requires separate evidence.</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D22 — PANI: Strong destination branding does not remove demand risk</a:t>
            </a:r>
          </a:p>
          <a:p>
            <a:r>
              <a:t>Document pages: 129, 130</a:t>
            </a:r>
          </a:p>
          <a:p/>
          <a:p>
            <a:r>
              <a:t>COMPLETE SOURCE TEXT</a:t>
            </a:r>
          </a:p>
          <a:p>
            <a:r>
              <a:t>Documented counter-evidence</a:t>
            </a:r>
          </a:p>
          <a:p/>
          <a:p>
            <a:r>
              <a:t>The same 3Q2025 release reported a strong quarterly sales increase but also reduced the FY2025 marketing-sales target from Rp5.3 trillion to Rp4.3 trillion.</a:t>
            </a:r>
          </a:p>
          <a:p/>
          <a:p>
            <a:r>
              <a:t>That is a reduction of approximately 19%, despite the destination’s visibility and development activity. Source: PANI target revision and quarterly results. Percentage is calculated from the disclosed targets.</a:t>
            </a:r>
          </a:p>
          <a:p/>
          <a:p>
            <a:r>
              <a:t>Why this matters — analysis</a:t>
            </a:r>
          </a:p>
          <a:p/>
          <a:p>
            <a:r>
              <a:t>A high-profile brand can generate attention while buyers remain constrained by confidence, affordability, timing, or investment appetite.</a:t>
            </a:r>
          </a:p>
          <a:p/>
          <a:p>
            <a:r>
              <a:t>Research implication</a:t>
            </a:r>
          </a:p>
          <a:p/>
          <a:p>
            <a:r>
              <a:t>Do not treat a strong quarter, social visibility, or a major opening as proof of permanently stronger demand.</a:t>
            </a:r>
          </a:p>
          <a:p/>
          <a:p>
            <a:r>
              <a:t>TANRISE application</a:t>
            </a:r>
          </a:p>
          <a:p/>
          <a:p>
            <a:r>
              <a:t>Build downside scenarios into the 2035 plan. Link expansion commitments to collected sales and verified operating demand.</a:t>
            </a:r>
          </a:p>
          <a:p/>
          <a:p>
            <a:r>
              <a:t>Suggested visual: Awareness → enquiry → commitment → collections → occupation. Show that each stage requires separate evidence.</a:t>
            </a:r>
          </a:p>
          <a:p/>
          <a:p>
            <a:r>
              <a:t>SOURCE HYPERLINKS (as embedded in Mario’s PDF; not independently reverified)</a:t>
            </a:r>
          </a:p>
          <a:p>
            <a:r>
              <a:t>https://storage.googleapis.com/panifiles/pdf/PANI_Press_Release_Marketing_Sales_3Q25.pdf</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D23 — The most useful combined strategy for TANRISE</a:t>
            </a:r>
          </a:p>
          <a:p>
            <a:r>
              <a:t>Document pages: 130, 131</a:t>
            </a:r>
          </a:p>
          <a:p/>
          <a:p>
            <a:r>
              <a:t>COMPLETE SOURCE TEXT</a:t>
            </a:r>
          </a:p>
          <a:p>
            <a:r>
              <a:t>Proposed direction</a:t>
            </a:r>
          </a:p>
          <a:p/>
          <a:p>
            <a:r>
              <a:t>Strategic problem | Most relevant lesson | TANRISE application</a:t>
            </a:r>
          </a:p>
          <a:p/>
          <a:p>
            <a:r>
              <a:t>Insufficient land pipeline | Ciputra | Build a credible land-partnership proposition</a:t>
            </a:r>
          </a:p>
          <a:p/>
          <a:p>
            <a:r>
              <a:t>Product affordability | Lippo | Start with household finances and redesign accordingly</a:t>
            </a:r>
          </a:p>
          <a:p/>
          <a:p>
            <a:r>
              <a:t>New-location uncertainty | Summarecon | Use delivery evidence and credible project phasing</a:t>
            </a:r>
          </a:p>
          <a:p/>
          <a:p>
            <a:r>
              <a:t>Need for permanent activity | BSDE and JRPT | Connect housing to work, services, and practical access</a:t>
            </a:r>
          </a:p>
          <a:p/>
          <a:p>
            <a:r>
              <a:t>Underproductive retained assets | Pakuwon and APLN | Review the operating proposition and capital productivity</a:t>
            </a:r>
          </a:p>
          <a:p/>
          <a:p>
            <a:r>
              <a:t>Missing specialist capabilities | DUTI | Partner selectively, with clear accountability</a:t>
            </a:r>
          </a:p>
          <a:p/>
          <a:p>
            <a:r>
              <a:t>Different buyer financing needs | ASRI | Adapt payment and sales processes by segment</a:t>
            </a:r>
          </a:p>
          <a:p/>
          <a:p>
            <a:r>
              <a:t>Destination visibility without assured demand | PANI | Separate attention from sustainable economic activity</a:t>
            </a:r>
          </a:p>
          <a:p/>
          <a:p>
            <a:r>
              <a:t>Central recommendation</a:t>
            </a:r>
          </a:p>
          <a:p/>
          <a:p>
            <a:r>
              <a:t>TANRISE’s corporate brand should express a standard it can deliver repeatedly. Each existing project should then present a specific customer proposition supported by product, access, services, price, and delivery.</a:t>
            </a:r>
          </a:p>
          <a:p/>
          <a:p>
            <a:r>
              <a:t>Preserve existing project names. A clearer strategy does not require a wholesale renaming programme.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D23 — The most useful combined strategy for TANRISE</a:t>
            </a:r>
          </a:p>
          <a:p>
            <a:r>
              <a:t>Document pages: 130, 131</a:t>
            </a:r>
          </a:p>
          <a:p/>
          <a:p>
            <a:r>
              <a:t>COMPLETE SOURCE TEXT</a:t>
            </a:r>
          </a:p>
          <a:p>
            <a:r>
              <a:t>Proposed direction</a:t>
            </a:r>
          </a:p>
          <a:p/>
          <a:p>
            <a:r>
              <a:t>Strategic problem | Most relevant lesson | TANRISE application</a:t>
            </a:r>
          </a:p>
          <a:p/>
          <a:p>
            <a:r>
              <a:t>Insufficient land pipeline | Ciputra | Build a credible land-partnership proposition</a:t>
            </a:r>
          </a:p>
          <a:p/>
          <a:p>
            <a:r>
              <a:t>Product affordability | Lippo | Start with household finances and redesign accordingly</a:t>
            </a:r>
          </a:p>
          <a:p/>
          <a:p>
            <a:r>
              <a:t>New-location uncertainty | Summarecon | Use delivery evidence and credible project phasing</a:t>
            </a:r>
          </a:p>
          <a:p/>
          <a:p>
            <a:r>
              <a:t>Need for permanent activity | BSDE and JRPT | Connect housing to work, services, and practical access</a:t>
            </a:r>
          </a:p>
          <a:p/>
          <a:p>
            <a:r>
              <a:t>Underproductive retained assets | Pakuwon and APLN | Review the operating proposition and capital productivity</a:t>
            </a:r>
          </a:p>
          <a:p/>
          <a:p>
            <a:r>
              <a:t>Missing specialist capabilities | DUTI | Partner selectively, with clear accountability</a:t>
            </a:r>
          </a:p>
          <a:p/>
          <a:p>
            <a:r>
              <a:t>Different buyer financing needs | ASRI | Adapt payment and sales processes by segment</a:t>
            </a:r>
          </a:p>
          <a:p/>
          <a:p>
            <a:r>
              <a:t>Destination visibility without assured demand | PANI | Separate attention from sustainable economic activity</a:t>
            </a:r>
          </a:p>
          <a:p/>
          <a:p>
            <a:r>
              <a:t>Central recommendation</a:t>
            </a:r>
          </a:p>
          <a:p/>
          <a:p>
            <a:r>
              <a:t>TANRISE’s corporate brand should express a standard it can deliver repeatedly. Each existing project should then present a specific customer proposition supported by product, access, services, price, and delivery.</a:t>
            </a:r>
          </a:p>
          <a:p/>
          <a:p>
            <a:r>
              <a:t>Preserve existing project names. A clearer strategy does not require a wholesale renaming programme.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D23 — The most useful combined strategy for TANRISE</a:t>
            </a:r>
          </a:p>
          <a:p>
            <a:r>
              <a:t>Document pages: 130, 131</a:t>
            </a:r>
          </a:p>
          <a:p/>
          <a:p>
            <a:r>
              <a:t>COMPLETE SOURCE TEXT</a:t>
            </a:r>
          </a:p>
          <a:p>
            <a:r>
              <a:t>Proposed direction</a:t>
            </a:r>
          </a:p>
          <a:p/>
          <a:p>
            <a:r>
              <a:t>Strategic problem | Most relevant lesson | TANRISE application</a:t>
            </a:r>
          </a:p>
          <a:p/>
          <a:p>
            <a:r>
              <a:t>Insufficient land pipeline | Ciputra | Build a credible land-partnership proposition</a:t>
            </a:r>
          </a:p>
          <a:p/>
          <a:p>
            <a:r>
              <a:t>Product affordability | Lippo | Start with household finances and redesign accordingly</a:t>
            </a:r>
          </a:p>
          <a:p/>
          <a:p>
            <a:r>
              <a:t>New-location uncertainty | Summarecon | Use delivery evidence and credible project phasing</a:t>
            </a:r>
          </a:p>
          <a:p/>
          <a:p>
            <a:r>
              <a:t>Need for permanent activity | BSDE and JRPT | Connect housing to work, services, and practical access</a:t>
            </a:r>
          </a:p>
          <a:p/>
          <a:p>
            <a:r>
              <a:t>Underproductive retained assets | Pakuwon and APLN | Review the operating proposition and capital productivity</a:t>
            </a:r>
          </a:p>
          <a:p/>
          <a:p>
            <a:r>
              <a:t>Missing specialist capabilities | DUTI | Partner selectively, with clear accountability</a:t>
            </a:r>
          </a:p>
          <a:p/>
          <a:p>
            <a:r>
              <a:t>Different buyer financing needs | ASRI | Adapt payment and sales processes by segment</a:t>
            </a:r>
          </a:p>
          <a:p/>
          <a:p>
            <a:r>
              <a:t>Destination visibility without assured demand | PANI | Separate attention from sustainable economic activity</a:t>
            </a:r>
          </a:p>
          <a:p/>
          <a:p>
            <a:r>
              <a:t>Central recommendation</a:t>
            </a:r>
          </a:p>
          <a:p/>
          <a:p>
            <a:r>
              <a:t>TANRISE’s corporate brand should express a standard it can deliver repeatedly. Each existing project should then present a specific customer proposition supported by product, access, services, price, and delivery.</a:t>
            </a:r>
          </a:p>
          <a:p/>
          <a:p>
            <a:r>
              <a:t>Preserve existing project names. A clearer strategy does not require a wholesale renaming programme.</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D24 — What a genuinely deeper competitor audit should measure</a:t>
            </a:r>
          </a:p>
          <a:p>
            <a:r>
              <a:t>Document pages: 132, 133</a:t>
            </a:r>
          </a:p>
          <a:p/>
          <a:p>
            <a:r>
              <a:t>COMPLETE SOURCE TEXT</a:t>
            </a:r>
          </a:p>
          <a:p>
            <a:r>
              <a:t>Public sources establish many actions, but the following evidence is needed to judge effectiveness more precisely:</a:t>
            </a:r>
          </a:p>
          <a:p/>
          <a:p>
            <a:r>
              <a:t>Question | Evidence required</a:t>
            </a:r>
          </a:p>
          <a:p/>
          <a:p>
            <a:r>
              <a:t>Does the brand command a premium? | Comparable transaction prices adjusted for location, specification, and payment terms</a:t>
            </a:r>
          </a:p>
          <a:p/>
          <a:p>
            <a:r>
              <a:t>Which channels create customers? | Qualified leads, visits, signed sales, cancellations, and collections by source</a:t>
            </a:r>
          </a:p>
          <a:p/>
          <a:p>
            <a:r>
              <a:t>Do launch events create durable demand? | Subsequent cancellations, mortgage approvals, and completed handovers</a:t>
            </a:r>
          </a:p>
          <a:p/>
          <a:p>
            <a:r>
              <a:t>Do amenities improve housing performance? | Matched sales comparisons before and after opening, with other changes considered</a:t>
            </a:r>
          </a:p>
          <a:p/>
          <a:p>
            <a:r>
              <a:t>Are promotions profitable? | Net realised prices, incentive costs, commissions, and cash timing</a:t>
            </a:r>
          </a:p>
          <a:p/>
          <a:p>
            <a:r>
              <a:t>Do destinations create recurring activity? | Repeat visits, weekday usage, tenant turnover, occupancy, and operating cash flow</a:t>
            </a:r>
          </a:p>
          <a:p/>
          <a:p>
            <a:r>
              <a:t>Can expansion be repeated? | Project returns, delivery consistency, management capacity, and funding needs</a:t>
            </a:r>
          </a:p>
          <a:p/>
          <a:p>
            <a:r>
              <a:t>Proposed next layer of TANRISE research</a:t>
            </a:r>
          </a:p>
          <a:p/>
          <a:p>
            <a:r>
              <a:t>Use this framework to examine a small number of directly comparable projects in greater detail, including site observation, buyer interviews, product and payment comparisons, and operator discussions.</a:t>
            </a:r>
          </a:p>
          <a:p/>
          <a:p>
            <a:r>
              <a:t>Research standard</a:t>
            </a:r>
          </a:p>
          <a:p/>
          <a:p>
            <a:r>
              <a:t>A strategy is effective when it produces economically valuable customer behaviour at an acceptable cost—and the company can repeat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D24 — What a genuinely deeper competitor audit should measure</a:t>
            </a:r>
          </a:p>
          <a:p>
            <a:r>
              <a:t>Document pages: 132, 133</a:t>
            </a:r>
          </a:p>
          <a:p/>
          <a:p>
            <a:r>
              <a:t>COMPLETE SOURCE TEXT</a:t>
            </a:r>
          </a:p>
          <a:p>
            <a:r>
              <a:t>Public sources establish many actions, but the following evidence is needed to judge effectiveness more precisely:</a:t>
            </a:r>
          </a:p>
          <a:p/>
          <a:p>
            <a:r>
              <a:t>Question | Evidence required</a:t>
            </a:r>
          </a:p>
          <a:p/>
          <a:p>
            <a:r>
              <a:t>Does the brand command a premium? | Comparable transaction prices adjusted for location, specification, and payment terms</a:t>
            </a:r>
          </a:p>
          <a:p/>
          <a:p>
            <a:r>
              <a:t>Which channels create customers? | Qualified leads, visits, signed sales, cancellations, and collections by source</a:t>
            </a:r>
          </a:p>
          <a:p/>
          <a:p>
            <a:r>
              <a:t>Do launch events create durable demand? | Subsequent cancellations, mortgage approvals, and completed handovers</a:t>
            </a:r>
          </a:p>
          <a:p/>
          <a:p>
            <a:r>
              <a:t>Do amenities improve housing performance? | Matched sales comparisons before and after opening, with other changes considered</a:t>
            </a:r>
          </a:p>
          <a:p/>
          <a:p>
            <a:r>
              <a:t>Are promotions profitable? | Net realised prices, incentive costs, commissions, and cash timing</a:t>
            </a:r>
          </a:p>
          <a:p/>
          <a:p>
            <a:r>
              <a:t>Do destinations create recurring activity? | Repeat visits, weekday usage, tenant turnover, occupancy, and operating cash flow</a:t>
            </a:r>
          </a:p>
          <a:p/>
          <a:p>
            <a:r>
              <a:t>Can expansion be repeated? | Project returns, delivery consistency, management capacity, and funding needs</a:t>
            </a:r>
          </a:p>
          <a:p/>
          <a:p>
            <a:r>
              <a:t>Proposed next layer of TANRISE research</a:t>
            </a:r>
          </a:p>
          <a:p/>
          <a:p>
            <a:r>
              <a:t>Use this framework to examine a small number of directly comparable projects in greater detail, including site observation, buyer interviews, product and payment comparisons, and operator discussions.</a:t>
            </a:r>
          </a:p>
          <a:p/>
          <a:p>
            <a:r>
              <a:t>Research standard</a:t>
            </a:r>
          </a:p>
          <a:p/>
          <a:p>
            <a:r>
              <a:t>A strategy is effective when it produces economically valuable customer behaviour at an acceptable cost—and the company can repeat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TanRise Corporate Mario.pdf</a:t>
            </a:r>
          </a:p>
          <a:p>
            <a:r>
              <a:t>Author sequence: D24 — What a genuinely deeper competitor audit should measure</a:t>
            </a:r>
          </a:p>
          <a:p>
            <a:r>
              <a:t>Document pages: 132, 133</a:t>
            </a:r>
          </a:p>
          <a:p/>
          <a:p>
            <a:r>
              <a:t>COMPLETE SOURCE TEXT</a:t>
            </a:r>
          </a:p>
          <a:p>
            <a:r>
              <a:t>Public sources establish many actions, but the following evidence is needed to judge effectiveness more precisely:</a:t>
            </a:r>
          </a:p>
          <a:p/>
          <a:p>
            <a:r>
              <a:t>Question | Evidence required</a:t>
            </a:r>
          </a:p>
          <a:p/>
          <a:p>
            <a:r>
              <a:t>Does the brand command a premium? | Comparable transaction prices adjusted for location, specification, and payment terms</a:t>
            </a:r>
          </a:p>
          <a:p/>
          <a:p>
            <a:r>
              <a:t>Which channels create customers? | Qualified leads, visits, signed sales, cancellations, and collections by source</a:t>
            </a:r>
          </a:p>
          <a:p/>
          <a:p>
            <a:r>
              <a:t>Do launch events create durable demand? | Subsequent cancellations, mortgage approvals, and completed handovers</a:t>
            </a:r>
          </a:p>
          <a:p/>
          <a:p>
            <a:r>
              <a:t>Do amenities improve housing performance? | Matched sales comparisons before and after opening, with other changes considered</a:t>
            </a:r>
          </a:p>
          <a:p/>
          <a:p>
            <a:r>
              <a:t>Are promotions profitable? | Net realised prices, incentive costs, commissions, and cash timing</a:t>
            </a:r>
          </a:p>
          <a:p/>
          <a:p>
            <a:r>
              <a:t>Do destinations create recurring activity? | Repeat visits, weekday usage, tenant turnover, occupancy, and operating cash flow</a:t>
            </a:r>
          </a:p>
          <a:p/>
          <a:p>
            <a:r>
              <a:t>Can expansion be repeated? | Project returns, delivery consistency, management capacity, and funding needs</a:t>
            </a:r>
          </a:p>
          <a:p/>
          <a:p>
            <a:r>
              <a:t>Proposed next layer of TANRISE research</a:t>
            </a:r>
          </a:p>
          <a:p/>
          <a:p>
            <a:r>
              <a:t>Use this framework to examine a small number of directly comparable projects in greater detail, including site observation, buyer interviews, product and payment comparisons, and operator discussions.</a:t>
            </a:r>
          </a:p>
          <a:p/>
          <a:p>
            <a:r>
              <a:t>Research standard</a:t>
            </a:r>
          </a:p>
          <a:p/>
          <a:p>
            <a:r>
              <a:t>A strategy is effective when it produces economically valuable customer behaviour at an acceptable cost—and the company can repeat it.</a:t>
            </a:r>
          </a:p>
          <a:p/>
          <a:p>
            <a:r>
              <a:t>SOURCE HYPERLINKS (as embedded in Mario’s PDF; not independently reverified)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01</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 · pp. 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001</a:t>
            </a:r>
          </a:p>
        </p:txBody>
      </p:sp>
      <p:pic>
        <p:nvPicPr>
          <p:cNvPr id="10" name="Picture 9" descr="TANRISE.png"/>
          <p:cNvPicPr>
            <a:picLocks noChangeAspect="1"/>
          </p:cNvPicPr>
          <p:nvPr/>
        </p:nvPicPr>
        <p:blipFill>
          <a:blip r:embed="rId2"/>
          <a:srcRect l="19156" r="19156"/>
          <a:stretch>
            <a:fillRect/>
          </a:stretch>
        </p:blipFill>
        <p:spPr>
          <a:xfrm>
            <a:off x="6035040" y="713232"/>
            <a:ext cx="6153912" cy="5614416"/>
          </a:xfrm>
          <a:prstGeom prst="rect">
            <a:avLst/>
          </a:prstGeom>
        </p:spPr>
      </p:pic>
      <p:sp>
        <p:nvSpPr>
          <p:cNvPr id="11" name="Rectangle 10"/>
          <p:cNvSpPr/>
          <p:nvPr/>
        </p:nvSpPr>
        <p:spPr>
          <a:xfrm>
            <a:off x="502920" y="1060704"/>
            <a:ext cx="5349240" cy="452628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225296"/>
            <a:ext cx="4937760" cy="464566"/>
          </a:xfrm>
          <a:prstGeom prst="rect">
            <a:avLst/>
          </a:prstGeom>
          <a:noFill/>
        </p:spPr>
        <p:txBody>
          <a:bodyPr wrap="none" lIns="0" rIns="0" tIns="0" bIns="0">
            <a:spAutoFit/>
          </a:bodyPr>
          <a:lstStyle/>
          <a:p>
            <a:pPr>
              <a:lnSpc>
                <a:spcPts val="1595"/>
              </a:lnSpc>
              <a:spcBef>
                <a:spcPts val="0"/>
              </a:spcBef>
              <a:spcAft>
                <a:spcPts val="0"/>
              </a:spcAft>
            </a:pPr>
            <a:r>
              <a:rPr sz="1100" b="1" i="0">
                <a:solidFill>
                  <a:srgbClr val="AD843F"/>
                </a:solidFill>
                <a:latin typeface="Arial"/>
              </a:rPr>
              <a:t>TANRISE PROPERTY</a:t>
            </a:r>
          </a:p>
          <a:p>
            <a:pPr>
              <a:lnSpc>
                <a:spcPts val="1595"/>
              </a:lnSpc>
              <a:spcBef>
                <a:spcPts val="0"/>
              </a:spcBef>
              <a:spcAft>
                <a:spcPts val="0"/>
              </a:spcAft>
            </a:pPr>
            <a:r>
              <a:rPr sz="1100" b="1" i="0">
                <a:solidFill>
                  <a:srgbClr val="AD843F"/>
                </a:solidFill>
                <a:latin typeface="Arial"/>
              </a:rPr>
              <a:t>CORPORATE STRATEGY 2026–2035</a:t>
            </a:r>
          </a:p>
        </p:txBody>
      </p:sp>
      <p:sp>
        <p:nvSpPr>
          <p:cNvPr id="13" name="TextBox 12"/>
          <p:cNvSpPr txBox="1"/>
          <p:nvPr/>
        </p:nvSpPr>
        <p:spPr>
          <a:xfrm>
            <a:off x="731520" y="2103120"/>
            <a:ext cx="4937760" cy="1102614"/>
          </a:xfrm>
          <a:prstGeom prst="rect">
            <a:avLst/>
          </a:prstGeom>
          <a:noFill/>
        </p:spPr>
        <p:txBody>
          <a:bodyPr wrap="none" lIns="0" rIns="0" tIns="0" bIns="0">
            <a:spAutoFit/>
          </a:bodyPr>
          <a:lstStyle/>
          <a:p>
            <a:pPr>
              <a:lnSpc>
                <a:spcPts val="4107"/>
              </a:lnSpc>
              <a:spcBef>
                <a:spcPts val="0"/>
              </a:spcBef>
              <a:spcAft>
                <a:spcPts val="0"/>
              </a:spcAft>
            </a:pPr>
            <a:r>
              <a:rPr sz="3700" b="0" i="0">
                <a:solidFill>
                  <a:srgbClr val="F6F2E9"/>
                </a:solidFill>
                <a:latin typeface="Times New Roman"/>
              </a:rPr>
              <a:t>Beyond Development.</a:t>
            </a:r>
          </a:p>
          <a:p>
            <a:pPr>
              <a:lnSpc>
                <a:spcPts val="4107"/>
              </a:lnSpc>
              <a:spcBef>
                <a:spcPts val="0"/>
              </a:spcBef>
              <a:spcAft>
                <a:spcPts val="0"/>
              </a:spcAft>
            </a:pPr>
            <a:r>
              <a:rPr sz="3700" b="0" i="0">
                <a:solidFill>
                  <a:srgbClr val="F6F2E9"/>
                </a:solidFill>
                <a:latin typeface="Times New Roman"/>
              </a:rPr>
              <a:t>Building Lasting Value.</a:t>
            </a:r>
          </a:p>
        </p:txBody>
      </p:sp>
      <p:sp>
        <p:nvSpPr>
          <p:cNvPr id="14" name="TextBox 13"/>
          <p:cNvSpPr txBox="1"/>
          <p:nvPr/>
        </p:nvSpPr>
        <p:spPr>
          <a:xfrm>
            <a:off x="731520" y="3794760"/>
            <a:ext cx="466344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F6F2E9"/>
                </a:solidFill>
                <a:latin typeface="Arial"/>
              </a:rPr>
              <a:t>Corporate Research, Competitive</a:t>
            </a:r>
          </a:p>
          <a:p>
            <a:pPr>
              <a:lnSpc>
                <a:spcPts val="2196"/>
              </a:lnSpc>
              <a:spcBef>
                <a:spcPts val="0"/>
              </a:spcBef>
              <a:spcAft>
                <a:spcPts val="0"/>
              </a:spcAft>
            </a:pPr>
            <a:r>
              <a:rPr sz="1800" b="0" i="0">
                <a:solidFill>
                  <a:srgbClr val="F6F2E9"/>
                </a:solidFill>
                <a:latin typeface="Arial"/>
              </a:rPr>
              <a:t>Intelligence, Brand Architecture &amp;</a:t>
            </a:r>
          </a:p>
          <a:p>
            <a:pPr>
              <a:lnSpc>
                <a:spcPts val="2196"/>
              </a:lnSpc>
              <a:spcBef>
                <a:spcPts val="0"/>
              </a:spcBef>
              <a:spcAft>
                <a:spcPts val="0"/>
              </a:spcAft>
            </a:pPr>
            <a:r>
              <a:rPr sz="1800" b="0" i="0">
                <a:solidFill>
                  <a:srgbClr val="F6F2E9"/>
                </a:solidFill>
                <a:latin typeface="Arial"/>
              </a:rPr>
              <a:t>Transformation Roadmap</a:t>
            </a:r>
          </a:p>
        </p:txBody>
      </p:sp>
      <p:sp>
        <p:nvSpPr>
          <p:cNvPr id="15" name="TextBox 14"/>
          <p:cNvSpPr txBox="1"/>
          <p:nvPr/>
        </p:nvSpPr>
        <p:spPr>
          <a:xfrm>
            <a:off x="731520" y="5029200"/>
            <a:ext cx="4663440" cy="229870"/>
          </a:xfrm>
          <a:prstGeom prst="rect">
            <a:avLst/>
          </a:prstGeom>
          <a:noFill/>
        </p:spPr>
        <p:txBody>
          <a:bodyPr wrap="none" lIns="0" rIns="0" tIns="0" bIns="0">
            <a:spAutoFit/>
          </a:bodyPr>
          <a:lstStyle/>
          <a:p>
            <a:pPr>
              <a:lnSpc>
                <a:spcPts val="1342"/>
              </a:lnSpc>
              <a:spcBef>
                <a:spcPts val="0"/>
              </a:spcBef>
              <a:spcAft>
                <a:spcPts val="0"/>
              </a:spcAft>
            </a:pPr>
            <a:r>
              <a:rPr sz="1100" b="0" i="0">
                <a:solidFill>
                  <a:srgbClr val="F6F2E9"/>
                </a:solidFill>
                <a:latin typeface="Arial"/>
              </a:rPr>
              <a:t>Prepared by Rubicube Creative · Strategic Discussion Draft</a:t>
            </a:r>
          </a:p>
        </p:txBody>
      </p:sp>
      <p:sp>
        <p:nvSpPr>
          <p:cNvPr id="16" name="TextBox 15"/>
          <p:cNvSpPr txBox="1"/>
          <p:nvPr/>
        </p:nvSpPr>
        <p:spPr>
          <a:xfrm>
            <a:off x="731520" y="5349240"/>
            <a:ext cx="4709160" cy="229870"/>
          </a:xfrm>
          <a:prstGeom prst="rect">
            <a:avLst/>
          </a:prstGeom>
          <a:noFill/>
        </p:spPr>
        <p:txBody>
          <a:bodyPr wrap="none" lIns="0" rIns="0" tIns="0" bIns="0">
            <a:spAutoFit/>
          </a:bodyPr>
          <a:lstStyle/>
          <a:p>
            <a:pPr>
              <a:lnSpc>
                <a:spcPts val="1342"/>
              </a:lnSpc>
              <a:spcBef>
                <a:spcPts val="0"/>
              </a:spcBef>
              <a:spcAft>
                <a:spcPts val="0"/>
              </a:spcAft>
            </a:pPr>
            <a:r>
              <a:rPr sz="1100" b="0" i="0">
                <a:solidFill>
                  <a:srgbClr val="F6F2E9"/>
                </a:solidFill>
                <a:latin typeface="Arial"/>
              </a:rPr>
              <a:t>Prepared for Pak Hermanto, Bu Devina, and the TANRISE leadership team</a:t>
            </a:r>
          </a:p>
        </p:txBody>
      </p:sp>
      <p:sp>
        <p:nvSpPr>
          <p:cNvPr id="17" name="TextBox 16"/>
          <p:cNvSpPr txBox="1"/>
          <p:nvPr/>
        </p:nvSpPr>
        <p:spPr>
          <a:xfrm>
            <a:off x="6400800" y="6089904"/>
            <a:ext cx="5120640"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Illustrative rendering · not a verified TANRISE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CHAPTER 01</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002</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01</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Understanding TANRISE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003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From a Growing Developer to Indonesia’s Top Five.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TANRISE’s ambition is to become one of Indonesia’s top five publicly listed property developers by 2035, measured</a:t>
            </a:r>
          </a:p>
          <a:p>
            <a:pPr>
              <a:lnSpc>
                <a:spcPts val="2196"/>
              </a:lnSpc>
              <a:spcBef>
                <a:spcPts val="0"/>
              </a:spcBef>
              <a:spcAft>
                <a:spcPts val="0"/>
              </a:spcAft>
            </a:pPr>
            <a:r>
              <a:rPr sz="1800" b="0" i="0">
                <a:solidFill>
                  <a:srgbClr val="183A32"/>
                </a:solidFill>
                <a:latin typeface="Times New Roman"/>
              </a:rPr>
              <a:t>by revenue and net profit attributable to owners of the parent.</a:t>
            </a:r>
          </a:p>
        </p:txBody>
      </p:sp>
      <p:sp>
        <p:nvSpPr>
          <p:cNvPr id="12" name="TextBox 11"/>
          <p:cNvSpPr txBox="1"/>
          <p:nvPr/>
        </p:nvSpPr>
        <p:spPr>
          <a:xfrm>
            <a:off x="685800" y="282092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Achieving this requires a stronger business capable of sustained growth, dependable earnings, disciplined investment,</a:t>
            </a:r>
          </a:p>
          <a:p>
            <a:pPr>
              <a:lnSpc>
                <a:spcPts val="2196"/>
              </a:lnSpc>
              <a:spcBef>
                <a:spcPts val="0"/>
              </a:spcBef>
              <a:spcAft>
                <a:spcPts val="0"/>
              </a:spcAft>
            </a:pPr>
            <a:r>
              <a:rPr sz="1800" b="0" i="0">
                <a:solidFill>
                  <a:srgbClr val="183A32"/>
                </a:solidFill>
                <a:latin typeface="Times New Roman"/>
              </a:rPr>
              <a:t>and long-term value creation.</a:t>
            </a:r>
          </a:p>
        </p:txBody>
      </p:sp>
      <p:graphicFrame>
        <p:nvGraphicFramePr>
          <p:cNvPr id="13" name="Table 12"/>
          <p:cNvGraphicFramePr>
            <a:graphicFrameLocks noGrp="1"/>
          </p:cNvGraphicFramePr>
          <p:nvPr/>
        </p:nvGraphicFramePr>
        <p:xfrm>
          <a:off x="685800" y="3557016"/>
          <a:ext cx="10789919" cy="17338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Ambition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Meaning</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Leading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Compete at national scale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Trusted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Earn confidence through delivery</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Best Concept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Create developments that answer real needs</a:t>
                      </a:r>
                    </a:p>
                  </a:txBody>
                  <a:tcPr marL="109728" marR="109728" marT="82296" marB="0" anchor="t">
                    <a:solidFill>
                      <a:srgbClr val="F6F2E9"/>
                    </a:solidFill>
                    <a:lnL>
                      <a:noFill/>
                    </a:lnL>
                    <a:lnR>
                      <a:noFill/>
                    </a:lnR>
                    <a:lnT>
                      <a:noFill/>
                    </a:lnT>
                    <a:lnB>
                      <a:noFill/>
                    </a:lnB>
                  </a:tcPr>
                </a:tc>
              </a:tr>
            </a:tbl>
          </a:graphicData>
        </a:graphic>
      </p:graphicFrame>
      <p:sp>
        <p:nvSpPr>
          <p:cNvPr id="14" name="TextBox 13"/>
          <p:cNvSpPr txBox="1"/>
          <p:nvPr/>
        </p:nvSpPr>
        <p:spPr>
          <a:xfrm>
            <a:off x="685800" y="5473700"/>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client’s current vision is to become a leading and trusted property developer delivering the best concepts.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004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From a Growing Developer to Indonesia’s Top Five.</a:t>
            </a:r>
          </a:p>
        </p:txBody>
      </p:sp>
      <p:sp>
        <p:nvSpPr>
          <p:cNvPr id="11" name="TextBox 10"/>
          <p:cNvSpPr txBox="1"/>
          <p:nvPr/>
        </p:nvSpPr>
        <p:spPr>
          <a:xfrm>
            <a:off x="6400800" y="2514600"/>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The proposed transformation builds on this</a:t>
            </a:r>
          </a:p>
          <a:p>
            <a:pPr>
              <a:lnSpc>
                <a:spcPts val="2440"/>
              </a:lnSpc>
              <a:spcBef>
                <a:spcPts val="0"/>
              </a:spcBef>
              <a:spcAft>
                <a:spcPts val="0"/>
              </a:spcAft>
            </a:pPr>
            <a:r>
              <a:rPr sz="2000" b="0" i="0">
                <a:solidFill>
                  <a:srgbClr val="183A32"/>
                </a:solidFill>
                <a:latin typeface="Times New Roman"/>
              </a:rPr>
              <a:t>foundation by connecting portfolio growth,</a:t>
            </a:r>
          </a:p>
          <a:p>
            <a:pPr>
              <a:lnSpc>
                <a:spcPts val="2440"/>
              </a:lnSpc>
              <a:spcBef>
                <a:spcPts val="0"/>
              </a:spcBef>
              <a:spcAft>
                <a:spcPts val="0"/>
              </a:spcAft>
            </a:pPr>
            <a:r>
              <a:rPr sz="2000" b="0" i="0">
                <a:solidFill>
                  <a:srgbClr val="183A32"/>
                </a:solidFill>
                <a:latin typeface="Times New Roman"/>
              </a:rPr>
              <a:t>customer experience, asset productivity, and</a:t>
            </a:r>
          </a:p>
          <a:p>
            <a:pPr>
              <a:lnSpc>
                <a:spcPts val="2440"/>
              </a:lnSpc>
              <a:spcBef>
                <a:spcPts val="0"/>
              </a:spcBef>
              <a:spcAft>
                <a:spcPts val="0"/>
              </a:spcAft>
            </a:pPr>
            <a:r>
              <a:rPr sz="2000" b="0" i="0">
                <a:solidFill>
                  <a:srgbClr val="183A32"/>
                </a:solidFill>
                <a:latin typeface="Times New Roman"/>
              </a:rPr>
              <a:t>corporate reputation.</a:t>
            </a:r>
          </a:p>
        </p:txBody>
      </p:sp>
      <p:sp>
        <p:nvSpPr>
          <p:cNvPr id="12" name="TextBox 11"/>
          <p:cNvSpPr txBox="1"/>
          <p:nvPr/>
        </p:nvSpPr>
        <p:spPr>
          <a:xfrm>
            <a:off x="6400800" y="3996435"/>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Core message: Top Five is a business</a:t>
            </a:r>
          </a:p>
          <a:p>
            <a:pPr>
              <a:lnSpc>
                <a:spcPts val="2440"/>
              </a:lnSpc>
              <a:spcBef>
                <a:spcPts val="0"/>
              </a:spcBef>
              <a:spcAft>
                <a:spcPts val="0"/>
              </a:spcAft>
            </a:pPr>
            <a:r>
              <a:rPr sz="2000" b="0" i="0">
                <a:solidFill>
                  <a:srgbClr val="183A32"/>
                </a:solidFill>
                <a:latin typeface="Times New Roman"/>
              </a:rPr>
              <a:t>transformation ambition requiring alignment</a:t>
            </a:r>
          </a:p>
          <a:p>
            <a:pPr>
              <a:lnSpc>
                <a:spcPts val="2440"/>
              </a:lnSpc>
              <a:spcBef>
                <a:spcPts val="0"/>
              </a:spcBef>
              <a:spcAft>
                <a:spcPts val="0"/>
              </a:spcAft>
            </a:pPr>
            <a:r>
              <a:rPr sz="2000" b="0" i="0">
                <a:solidFill>
                  <a:srgbClr val="183A32"/>
                </a:solidFill>
                <a:latin typeface="Times New Roman"/>
              </a:rPr>
              <a:t>between corporate strategy, brand strategy, and</a:t>
            </a:r>
          </a:p>
          <a:p>
            <a:pPr>
              <a:lnSpc>
                <a:spcPts val="2440"/>
              </a:lnSpc>
              <a:spcBef>
                <a:spcPts val="0"/>
              </a:spcBef>
              <a:spcAft>
                <a:spcPts val="0"/>
              </a:spcAft>
            </a:pPr>
            <a:r>
              <a:rPr sz="2000" b="0" i="0">
                <a:solidFill>
                  <a:srgbClr val="183A32"/>
                </a:solidFill>
                <a:latin typeface="Times New Roman"/>
              </a:rPr>
              <a:t>operational execution.</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005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One Property Platform. Five Documented Business Pillars.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Founded in Sidoarjo in 2003, TANRISE has expanded from warehouses and shophouses into residential</a:t>
            </a:r>
          </a:p>
          <a:p>
            <a:pPr>
              <a:lnSpc>
                <a:spcPts val="2196"/>
              </a:lnSpc>
              <a:spcBef>
                <a:spcPts val="0"/>
              </a:spcBef>
              <a:spcAft>
                <a:spcPts val="0"/>
              </a:spcAft>
            </a:pPr>
            <a:r>
              <a:rPr sz="1800" b="0" i="0">
                <a:solidFill>
                  <a:srgbClr val="183A32"/>
                </a:solidFill>
                <a:latin typeface="Times New Roman"/>
              </a:rPr>
              <a:t>communities, commercial destinations, industrial developments, integrated townships, and hospitality assets.</a:t>
            </a:r>
          </a:p>
        </p:txBody>
      </p:sp>
      <p:sp>
        <p:nvSpPr>
          <p:cNvPr id="12" name="TextBox 11"/>
          <p:cNvSpPr txBox="1"/>
          <p:nvPr/>
        </p:nvSpPr>
        <p:spPr>
          <a:xfrm>
            <a:off x="685800" y="28209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listed corporate entity is PT Jaya Sukses Makmur Sentosa Tbk — RISE.</a:t>
            </a:r>
          </a:p>
        </p:txBody>
      </p:sp>
      <p:sp>
        <p:nvSpPr>
          <p:cNvPr id="13" name="TextBox 12"/>
          <p:cNvSpPr txBox="1"/>
          <p:nvPr/>
        </p:nvSpPr>
        <p:spPr>
          <a:xfrm>
            <a:off x="685800" y="32781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client’s investor presentation identifies five business pillars:</a:t>
            </a:r>
          </a:p>
        </p:txBody>
      </p:sp>
      <p:graphicFrame>
        <p:nvGraphicFramePr>
          <p:cNvPr id="14" name="Table 13"/>
          <p:cNvGraphicFramePr>
            <a:graphicFrameLocks noGrp="1"/>
          </p:cNvGraphicFramePr>
          <p:nvPr/>
        </p:nvGraphicFramePr>
        <p:xfrm>
          <a:off x="685800" y="3735324"/>
          <a:ext cx="10789919" cy="1764916"/>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Business pillar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Portfolio examples</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Integrated City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Tanrise Taman Dayu Pandaan; Tanrise Bandung; Tanrise City Sidoarjo; Swiss of</a:t>
                      </a:r>
                    </a:p>
                    <a:p>
                      <a:pPr>
                        <a:lnSpc>
                          <a:spcPts val="1829"/>
                        </a:lnSpc>
                        <a:spcBef>
                          <a:spcPts val="0"/>
                        </a:spcBef>
                        <a:spcAft>
                          <a:spcPts val="0"/>
                        </a:spcAft>
                      </a:pPr>
                      <a:r>
                        <a:rPr sz="1550" b="0">
                          <a:solidFill>
                            <a:srgbClr val="183A32"/>
                          </a:solidFill>
                          <a:latin typeface="Arial"/>
                        </a:rPr>
                        <a:t>Taman Dayu Pandaan</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Community Living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Kyo Society; Grand Sunrise Menganti; Sunrise Residence Sidoarjo; Malang</a:t>
                      </a:r>
                    </a:p>
                    <a:p>
                      <a:pPr>
                        <a:lnSpc>
                          <a:spcPts val="1829"/>
                        </a:lnSpc>
                        <a:spcBef>
                          <a:spcPts val="0"/>
                        </a:spcBef>
                        <a:spcAft>
                          <a:spcPts val="0"/>
                        </a:spcAft>
                      </a:pPr>
                      <a:r>
                        <a:rPr sz="1550" b="0">
                          <a:solidFill>
                            <a:srgbClr val="183A32"/>
                          </a:solidFill>
                          <a:latin typeface="Arial"/>
                        </a:rPr>
                        <a:t>residential development</a:t>
                      </a:r>
                    </a:p>
                  </a:txBody>
                  <a:tcPr marL="109728" marR="109728" marT="82296" marB="0" anchor="t">
                    <a:solidFill>
                      <a:srgbClr val="E9E8DC"/>
                    </a:solidFill>
                    <a:lnL>
                      <a:noFill/>
                    </a:lnL>
                    <a:lnR>
                      <a:noFill/>
                    </a:lnR>
                    <a:lnT>
                      <a:noFill/>
                    </a:lnT>
                    <a:lnB>
                      <a:noFill/>
                    </a:lnB>
                  </a:tcPr>
                </a:tc>
              </a:tr>
            </a:tbl>
          </a:graphicData>
        </a:graphic>
      </p:graphicFrame>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006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One Property Platform. Five Documented Business Pillars.</a:t>
            </a:r>
          </a:p>
        </p:txBody>
      </p:sp>
      <p:graphicFrame>
        <p:nvGraphicFramePr>
          <p:cNvPr id="11" name="Table 10"/>
          <p:cNvGraphicFramePr>
            <a:graphicFrameLocks noGrp="1"/>
          </p:cNvGraphicFramePr>
          <p:nvPr/>
        </p:nvGraphicFramePr>
        <p:xfrm>
          <a:off x="685800" y="2084831"/>
          <a:ext cx="10789919" cy="2198366"/>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Business pillar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Portfolio examples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Business Districts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Voza Tower; Rame-Rame; Grand Central Bandung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Logistic &amp; Industrial Park</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Tritan warehouse developments; Tanrise Industrial Park Palembang; Tanrise</a:t>
                      </a:r>
                    </a:p>
                    <a:p>
                      <a:pPr>
                        <a:lnSpc>
                          <a:spcPts val="1829"/>
                        </a:lnSpc>
                        <a:spcBef>
                          <a:spcPts val="0"/>
                        </a:spcBef>
                        <a:spcAft>
                          <a:spcPts val="0"/>
                        </a:spcAft>
                      </a:pPr>
                      <a:r>
                        <a:rPr sz="1550" b="0">
                          <a:solidFill>
                            <a:srgbClr val="183A32"/>
                          </a:solidFill>
                          <a:latin typeface="Arial"/>
                        </a:rPr>
                        <a:t>Industrial Park Banjarbaru</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Hotel, MICE, and Leisure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Vasa Hotel Surabaya; Vasa Suite Surabaya; Solaris assets; Cleo Business</a:t>
                      </a:r>
                    </a:p>
                    <a:p>
                      <a:pPr>
                        <a:lnSpc>
                          <a:spcPts val="1829"/>
                        </a:lnSpc>
                        <a:spcBef>
                          <a:spcPts val="0"/>
                        </a:spcBef>
                        <a:spcAft>
                          <a:spcPts val="0"/>
                        </a:spcAft>
                      </a:pPr>
                      <a:r>
                        <a:rPr sz="1550" b="0">
                          <a:solidFill>
                            <a:srgbClr val="183A32"/>
                          </a:solidFill>
                          <a:latin typeface="Arial"/>
                        </a:rPr>
                        <a:t>Hotels; Golf Taman Dayu; Driving Range</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46608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wider client materials also identify ARC100, Midpoint Kayoon, and Bali Bites.</a:t>
            </a:r>
          </a:p>
        </p:txBody>
      </p:sp>
      <p:sp>
        <p:nvSpPr>
          <p:cNvPr id="13" name="Rectangle 12"/>
          <p:cNvSpPr/>
          <p:nvPr/>
        </p:nvSpPr>
        <p:spPr>
          <a:xfrm>
            <a:off x="685800" y="4923282"/>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4923282"/>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 y="5005578"/>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Portfolio principle: Present existing assets and future developments together, with their status clearly distinguished.</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007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From Individual Projects to a Broader Development Platform.</a:t>
            </a:r>
          </a:p>
        </p:txBody>
      </p:sp>
      <p:graphicFrame>
        <p:nvGraphicFramePr>
          <p:cNvPr id="11" name="Table 10"/>
          <p:cNvGraphicFramePr>
            <a:graphicFrameLocks noGrp="1"/>
          </p:cNvGraphicFramePr>
          <p:nvPr/>
        </p:nvGraphicFramePr>
        <p:xfrm>
          <a:off x="685800" y="2084831"/>
          <a:ext cx="10789919" cy="33597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Development stage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Portfolio development</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2003–2013</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Establishing the foundation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Warehouse and shophouse development; Tritan</a:t>
                      </a:r>
                    </a:p>
                    <a:p>
                      <a:pPr>
                        <a:lnSpc>
                          <a:spcPts val="1829"/>
                        </a:lnSpc>
                        <a:spcBef>
                          <a:spcPts val="0"/>
                        </a:spcBef>
                        <a:spcAft>
                          <a:spcPts val="0"/>
                        </a:spcAft>
                      </a:pPr>
                      <a:r>
                        <a:rPr sz="1550" b="0">
                          <a:solidFill>
                            <a:srgbClr val="183A32"/>
                          </a:solidFill>
                          <a:latin typeface="Arial"/>
                        </a:rPr>
                        <a:t>locations; Grand Sunrise; early Solaris hospitality</a:t>
                      </a:r>
                    </a:p>
                    <a:p>
                      <a:pPr>
                        <a:lnSpc>
                          <a:spcPts val="1829"/>
                        </a:lnSpc>
                        <a:spcBef>
                          <a:spcPts val="0"/>
                        </a:spcBef>
                        <a:spcAft>
                          <a:spcPts val="0"/>
                        </a:spcAft>
                      </a:pPr>
                      <a:r>
                        <a:rPr sz="1550" b="0">
                          <a:solidFill>
                            <a:srgbClr val="183A32"/>
                          </a:solidFill>
                          <a:latin typeface="Arial"/>
                        </a:rPr>
                        <a:t>developments</a:t>
                      </a:r>
                    </a:p>
                  </a:txBody>
                  <a:tcPr marL="109728" marR="109728" marT="82296" marB="0" anchor="t">
                    <a:solidFill>
                      <a:srgbClr val="F6F2E9"/>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2015–2020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Expanding capabilities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Cleo Business Hotels; Vasa Hotel Surabaya; Voza</a:t>
                      </a:r>
                    </a:p>
                    <a:p>
                      <a:pPr>
                        <a:lnSpc>
                          <a:spcPts val="1829"/>
                        </a:lnSpc>
                        <a:spcBef>
                          <a:spcPts val="0"/>
                        </a:spcBef>
                        <a:spcAft>
                          <a:spcPts val="0"/>
                        </a:spcAft>
                      </a:pPr>
                      <a:r>
                        <a:rPr sz="1550" b="0">
                          <a:solidFill>
                            <a:srgbClr val="183A32"/>
                          </a:solidFill>
                          <a:latin typeface="Arial"/>
                        </a:rPr>
                        <a:t>Tower; ARC100 development; Kyo Society introduction;</a:t>
                      </a:r>
                    </a:p>
                    <a:p>
                      <a:pPr>
                        <a:lnSpc>
                          <a:spcPts val="1829"/>
                        </a:lnSpc>
                        <a:spcBef>
                          <a:spcPts val="0"/>
                        </a:spcBef>
                        <a:spcAft>
                          <a:spcPts val="0"/>
                        </a:spcAft>
                      </a:pPr>
                      <a:r>
                        <a:rPr sz="1550" b="0">
                          <a:solidFill>
                            <a:srgbClr val="183A32"/>
                          </a:solidFill>
                          <a:latin typeface="Arial"/>
                        </a:rPr>
                        <a:t>the 2018 IPO</a:t>
                      </a:r>
                    </a:p>
                  </a:txBody>
                  <a:tcPr marL="109728" marR="109728" marT="82296" marB="0" anchor="t">
                    <a:solidFill>
                      <a:srgbClr val="E9E8DC"/>
                    </a:solidFill>
                    <a:lnL>
                      <a:noFill/>
                    </a:lnL>
                    <a:lnR>
                      <a:noFill/>
                    </a:lnR>
                    <a:lnT>
                      <a:noFill/>
                    </a:lnT>
                    <a:lnB>
                      <a:noFill/>
                    </a:lnB>
                  </a:tcPr>
                </a:tc>
              </a:tr>
              <a:tr h="1130299">
                <a:tc>
                  <a:txBody>
                    <a:bodyPr wrap="none"/>
                    <a:lstStyle/>
                    <a:p>
                      <a:pPr>
                        <a:lnSpc>
                          <a:spcPts val="1829"/>
                        </a:lnSpc>
                        <a:spcBef>
                          <a:spcPts val="0"/>
                        </a:spcBef>
                        <a:spcAft>
                          <a:spcPts val="0"/>
                        </a:spcAft>
                      </a:pPr>
                      <a:r>
                        <a:rPr sz="1550" b="0">
                          <a:solidFill>
                            <a:srgbClr val="183A32"/>
                          </a:solidFill>
                          <a:latin typeface="Arial"/>
                        </a:rPr>
                        <a:t>2021–2026</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Broadening the portfolio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TritanHub; ARC100 milestones; Kyo Society handover;</a:t>
                      </a:r>
                    </a:p>
                    <a:p>
                      <a:pPr>
                        <a:lnSpc>
                          <a:spcPts val="1829"/>
                        </a:lnSpc>
                        <a:spcBef>
                          <a:spcPts val="0"/>
                        </a:spcBef>
                        <a:spcAft>
                          <a:spcPts val="0"/>
                        </a:spcAft>
                      </a:pPr>
                      <a:r>
                        <a:rPr sz="1550" b="0">
                          <a:solidFill>
                            <a:srgbClr val="183A32"/>
                          </a:solidFill>
                          <a:latin typeface="Arial"/>
                        </a:rPr>
                        <a:t>Jumana Residence; Taman Dayu development; Vasa</a:t>
                      </a:r>
                    </a:p>
                    <a:p>
                      <a:pPr>
                        <a:lnSpc>
                          <a:spcPts val="1829"/>
                        </a:lnSpc>
                        <a:spcBef>
                          <a:spcPts val="0"/>
                        </a:spcBef>
                        <a:spcAft>
                          <a:spcPts val="0"/>
                        </a:spcAft>
                      </a:pPr>
                      <a:r>
                        <a:rPr sz="1550" b="0">
                          <a:solidFill>
                            <a:srgbClr val="183A32"/>
                          </a:solidFill>
                          <a:latin typeface="Arial"/>
                        </a:rPr>
                        <a:t>Suite Surabaya; Solaris villa expansion; commercial and</a:t>
                      </a:r>
                    </a:p>
                    <a:p>
                      <a:pPr>
                        <a:lnSpc>
                          <a:spcPts val="1829"/>
                        </a:lnSpc>
                        <a:spcBef>
                          <a:spcPts val="0"/>
                        </a:spcBef>
                        <a:spcAft>
                          <a:spcPts val="0"/>
                        </a:spcAft>
                      </a:pPr>
                      <a:r>
                        <a:rPr sz="1550" b="0">
                          <a:solidFill>
                            <a:srgbClr val="183A32"/>
                          </a:solidFill>
                          <a:latin typeface="Arial"/>
                        </a:rPr>
                        <a:t>industrial pipeline</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008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From Individual Projects to a Broader Development Platform.</a:t>
            </a:r>
          </a:p>
        </p:txBody>
      </p:sp>
      <p:graphicFrame>
        <p:nvGraphicFramePr>
          <p:cNvPr id="11" name="Table 10"/>
          <p:cNvGraphicFramePr>
            <a:graphicFrameLocks noGrp="1"/>
          </p:cNvGraphicFramePr>
          <p:nvPr/>
        </p:nvGraphicFramePr>
        <p:xfrm>
          <a:off x="685800" y="2084831"/>
          <a:ext cx="10789919" cy="1331467"/>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Development stage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Portfolio development</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2027–2035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Proposed next chapter</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Scale validated development models, improve</a:t>
                      </a:r>
                    </a:p>
                    <a:p>
                      <a:pPr>
                        <a:lnSpc>
                          <a:spcPts val="1829"/>
                        </a:lnSpc>
                        <a:spcBef>
                          <a:spcPts val="0"/>
                        </a:spcBef>
                        <a:spcAft>
                          <a:spcPts val="0"/>
                        </a:spcAft>
                      </a:pPr>
                      <a:r>
                        <a:rPr sz="1550" b="0">
                          <a:solidFill>
                            <a:srgbClr val="183A32"/>
                          </a:solidFill>
                          <a:latin typeface="Arial"/>
                        </a:rPr>
                        <a:t>retained-asset performance, strengthen recurring</a:t>
                      </a:r>
                    </a:p>
                    <a:p>
                      <a:pPr>
                        <a:lnSpc>
                          <a:spcPts val="1829"/>
                        </a:lnSpc>
                        <a:spcBef>
                          <a:spcPts val="0"/>
                        </a:spcBef>
                        <a:spcAft>
                          <a:spcPts val="0"/>
                        </a:spcAft>
                      </a:pPr>
                      <a:r>
                        <a:rPr sz="1550" b="0">
                          <a:solidFill>
                            <a:srgbClr val="183A32"/>
                          </a:solidFill>
                          <a:latin typeface="Arial"/>
                        </a:rPr>
                        <a:t>income, and coordinate integrated destinations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62661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THE CURRENT PIPELINE EXTENDS ACROSS SEVERAL SECTORS</a:t>
            </a:r>
          </a:p>
        </p:txBody>
      </p:sp>
      <p:sp>
        <p:nvSpPr>
          <p:cNvPr id="13" name="Rectangle 12"/>
          <p:cNvSpPr/>
          <p:nvPr/>
        </p:nvSpPr>
        <p:spPr>
          <a:xfrm>
            <a:off x="685800" y="403936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394792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Tanrise Bandung.</a:t>
            </a:r>
          </a:p>
        </p:txBody>
      </p:sp>
      <p:sp>
        <p:nvSpPr>
          <p:cNvPr id="15" name="Rectangle 14"/>
          <p:cNvSpPr/>
          <p:nvPr/>
        </p:nvSpPr>
        <p:spPr>
          <a:xfrm>
            <a:off x="685800" y="44888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39737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Tanrise City Sidoarjo.</a:t>
            </a:r>
          </a:p>
        </p:txBody>
      </p:sp>
      <p:sp>
        <p:nvSpPr>
          <p:cNvPr id="17" name="Rectangle 16"/>
          <p:cNvSpPr/>
          <p:nvPr/>
        </p:nvSpPr>
        <p:spPr>
          <a:xfrm>
            <a:off x="685800" y="49382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84682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Swiss of Taman Dayu Pandaan.</a:t>
            </a:r>
          </a:p>
        </p:txBody>
      </p:sp>
      <p:sp>
        <p:nvSpPr>
          <p:cNvPr id="19" name="Rectangle 18"/>
          <p:cNvSpPr/>
          <p:nvPr/>
        </p:nvSpPr>
        <p:spPr>
          <a:xfrm>
            <a:off x="685800" y="538772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529628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Malang residential development.</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009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From Individual Projects to a Broader Development Platform.</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Grand Central Bandung.</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Tanrise Industrial Park Palembang.</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Tanrise Industrial Park Banjarbaru.</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Tritan Gresik.</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Tritan Gempol Pasuruan.</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VASA Ubud.</a:t>
            </a:r>
          </a:p>
        </p:txBody>
      </p:sp>
      <p:sp>
        <p:nvSpPr>
          <p:cNvPr id="23" name="Rectangle 22"/>
          <p:cNvSpPr/>
          <p:nvPr/>
        </p:nvSpPr>
        <p:spPr>
          <a:xfrm>
            <a:off x="685800" y="48729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7815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VASA Bromo.</a:t>
            </a:r>
          </a:p>
        </p:txBody>
      </p:sp>
      <p:sp>
        <p:nvSpPr>
          <p:cNvPr id="25" name="Rectangle 24"/>
          <p:cNvSpPr/>
          <p:nvPr/>
        </p:nvSpPr>
        <p:spPr>
          <a:xfrm>
            <a:off x="685800" y="532244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23100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VASA Canggu.</a:t>
            </a:r>
          </a:p>
        </p:txBody>
      </p:sp>
      <p:sp>
        <p:nvSpPr>
          <p:cNvPr id="27" name="Rectangle 26"/>
          <p:cNvSpPr/>
          <p:nvPr/>
        </p:nvSpPr>
        <p:spPr>
          <a:xfrm>
            <a:off x="685800" y="577189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 y="568045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VASA Malang.</a:t>
            </a:r>
          </a:p>
        </p:txBody>
      </p:sp>
      <p:sp>
        <p:nvSpPr>
          <p:cNvPr id="29" name="TextBox 2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04.4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From Individual Projects to a Broader Development Platform.</a:t>
            </a:r>
          </a:p>
        </p:txBody>
      </p:sp>
      <p:sp>
        <p:nvSpPr>
          <p:cNvPr id="11" name="TextBox 10"/>
          <p:cNvSpPr txBox="1"/>
          <p:nvPr/>
        </p:nvSpPr>
        <p:spPr>
          <a:xfrm>
            <a:off x="6400800" y="2514600"/>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GOED Malang.</a:t>
            </a:r>
          </a:p>
        </p:txBody>
      </p:sp>
      <p:sp>
        <p:nvSpPr>
          <p:cNvPr id="12" name="TextBox 11"/>
          <p:cNvSpPr txBox="1"/>
          <p:nvPr/>
        </p:nvSpPr>
        <p:spPr>
          <a:xfrm>
            <a:off x="6400800" y="3066796"/>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1">
                <a:solidFill>
                  <a:srgbClr val="183A32"/>
                </a:solidFill>
                <a:latin typeface="Times New Roman"/>
              </a:rPr>
              <a:t>Strategic implication: The next phase should</a:t>
            </a:r>
          </a:p>
          <a:p>
            <a:pPr>
              <a:lnSpc>
                <a:spcPts val="2440"/>
              </a:lnSpc>
              <a:spcBef>
                <a:spcPts val="0"/>
              </a:spcBef>
              <a:spcAft>
                <a:spcPts val="0"/>
              </a:spcAft>
            </a:pPr>
            <a:r>
              <a:rPr sz="2000" b="0" i="1">
                <a:solidFill>
                  <a:srgbClr val="183A32"/>
                </a:solidFill>
                <a:latin typeface="Times New Roman"/>
              </a:rPr>
              <a:t>combine portfolio expansion with greater</a:t>
            </a:r>
          </a:p>
          <a:p>
            <a:pPr>
              <a:lnSpc>
                <a:spcPts val="2440"/>
              </a:lnSpc>
              <a:spcBef>
                <a:spcPts val="0"/>
              </a:spcBef>
              <a:spcAft>
                <a:spcPts val="0"/>
              </a:spcAft>
            </a:pPr>
            <a:r>
              <a:rPr sz="2000" b="0" i="1">
                <a:solidFill>
                  <a:srgbClr val="183A32"/>
                </a:solidFill>
                <a:latin typeface="Times New Roman"/>
              </a:rPr>
              <a:t>productivity, clearer positioning, and stronger</a:t>
            </a:r>
          </a:p>
          <a:p>
            <a:pPr>
              <a:lnSpc>
                <a:spcPts val="2440"/>
              </a:lnSpc>
              <a:spcBef>
                <a:spcPts val="0"/>
              </a:spcBef>
              <a:spcAft>
                <a:spcPts val="0"/>
              </a:spcAft>
            </a:pPr>
            <a:r>
              <a:rPr sz="2000" b="0" i="1">
                <a:solidFill>
                  <a:srgbClr val="183A32"/>
                </a:solidFill>
                <a:latin typeface="Times New Roman"/>
              </a:rPr>
              <a:t>execution across existing and future projects.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Growth Gap Is Significant.</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TANRISE’s FY2025 financial baseline:</a:t>
            </a:r>
          </a:p>
        </p:txBody>
      </p:sp>
      <p:sp>
        <p:nvSpPr>
          <p:cNvPr id="12" name="TextBox 11"/>
          <p:cNvSpPr txBox="1"/>
          <p:nvPr/>
        </p:nvSpPr>
        <p:spPr>
          <a:xfrm>
            <a:off x="685800" y="2542032"/>
            <a:ext cx="5257800" cy="570738"/>
          </a:xfrm>
          <a:prstGeom prst="rect">
            <a:avLst/>
          </a:prstGeom>
          <a:noFill/>
        </p:spPr>
        <p:txBody>
          <a:bodyPr wrap="none" lIns="0" rIns="0" tIns="0" bIns="0">
            <a:spAutoFit/>
          </a:bodyPr>
          <a:lstStyle/>
          <a:p>
            <a:pPr>
              <a:lnSpc>
                <a:spcPts val="4026"/>
              </a:lnSpc>
              <a:spcBef>
                <a:spcPts val="0"/>
              </a:spcBef>
              <a:spcAft>
                <a:spcPts val="0"/>
              </a:spcAft>
            </a:pPr>
            <a:r>
              <a:rPr sz="3300" b="0" i="0">
                <a:solidFill>
                  <a:srgbClr val="153F35"/>
                </a:solidFill>
                <a:latin typeface="Times New Roman"/>
              </a:rPr>
              <a:t>≈ Rp410.7 billion</a:t>
            </a:r>
          </a:p>
        </p:txBody>
      </p:sp>
      <p:sp>
        <p:nvSpPr>
          <p:cNvPr id="13" name="TextBox 12"/>
          <p:cNvSpPr txBox="1"/>
          <p:nvPr/>
        </p:nvSpPr>
        <p:spPr>
          <a:xfrm>
            <a:off x="685800" y="3127248"/>
            <a:ext cx="5257800" cy="260857"/>
          </a:xfrm>
          <a:prstGeom prst="rect">
            <a:avLst/>
          </a:prstGeom>
          <a:noFill/>
        </p:spPr>
        <p:txBody>
          <a:bodyPr wrap="none" lIns="0" rIns="0" tIns="0" bIns="0">
            <a:spAutoFit/>
          </a:bodyPr>
          <a:lstStyle/>
          <a:p>
            <a:pPr>
              <a:lnSpc>
                <a:spcPts val="1586"/>
              </a:lnSpc>
              <a:spcBef>
                <a:spcPts val="0"/>
              </a:spcBef>
              <a:spcAft>
                <a:spcPts val="0"/>
              </a:spcAft>
            </a:pPr>
            <a:r>
              <a:rPr sz="1300" b="0" i="0">
                <a:solidFill>
                  <a:srgbClr val="68766B"/>
                </a:solidFill>
                <a:latin typeface="Arial"/>
              </a:rPr>
              <a:t>Consolidated revenue</a:t>
            </a:r>
          </a:p>
        </p:txBody>
      </p:sp>
      <p:cxnSp>
        <p:nvCxnSpPr>
          <p:cNvPr id="14" name="Connector 13"/>
          <p:cNvCxnSpPr/>
          <p:nvPr/>
        </p:nvCxnSpPr>
        <p:spPr>
          <a:xfrm>
            <a:off x="685800" y="3593591"/>
            <a:ext cx="5257800"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17920" y="2542032"/>
            <a:ext cx="5257800" cy="570738"/>
          </a:xfrm>
          <a:prstGeom prst="rect">
            <a:avLst/>
          </a:prstGeom>
          <a:noFill/>
        </p:spPr>
        <p:txBody>
          <a:bodyPr wrap="none" lIns="0" rIns="0" tIns="0" bIns="0">
            <a:spAutoFit/>
          </a:bodyPr>
          <a:lstStyle/>
          <a:p>
            <a:pPr>
              <a:lnSpc>
                <a:spcPts val="4026"/>
              </a:lnSpc>
              <a:spcBef>
                <a:spcPts val="0"/>
              </a:spcBef>
              <a:spcAft>
                <a:spcPts val="0"/>
              </a:spcAft>
            </a:pPr>
            <a:r>
              <a:rPr sz="3300" b="0" i="0">
                <a:solidFill>
                  <a:srgbClr val="153F35"/>
                </a:solidFill>
                <a:latin typeface="Times New Roman"/>
              </a:rPr>
              <a:t>≈ Rp87.2 billion</a:t>
            </a:r>
          </a:p>
        </p:txBody>
      </p:sp>
      <p:sp>
        <p:nvSpPr>
          <p:cNvPr id="16" name="TextBox 15"/>
          <p:cNvSpPr txBox="1"/>
          <p:nvPr/>
        </p:nvSpPr>
        <p:spPr>
          <a:xfrm>
            <a:off x="6217920" y="3127248"/>
            <a:ext cx="5257800" cy="260857"/>
          </a:xfrm>
          <a:prstGeom prst="rect">
            <a:avLst/>
          </a:prstGeom>
          <a:noFill/>
        </p:spPr>
        <p:txBody>
          <a:bodyPr wrap="none" lIns="0" rIns="0" tIns="0" bIns="0">
            <a:spAutoFit/>
          </a:bodyPr>
          <a:lstStyle/>
          <a:p>
            <a:pPr>
              <a:lnSpc>
                <a:spcPts val="1586"/>
              </a:lnSpc>
              <a:spcBef>
                <a:spcPts val="0"/>
              </a:spcBef>
              <a:spcAft>
                <a:spcPts val="0"/>
              </a:spcAft>
            </a:pPr>
            <a:r>
              <a:rPr sz="1300" b="0" i="0">
                <a:solidFill>
                  <a:srgbClr val="68766B"/>
                </a:solidFill>
                <a:latin typeface="Arial"/>
              </a:rPr>
              <a:t>Net profit attributable to owners of the parent</a:t>
            </a:r>
          </a:p>
        </p:txBody>
      </p:sp>
      <p:cxnSp>
        <p:nvCxnSpPr>
          <p:cNvPr id="17" name="Connector 16"/>
          <p:cNvCxnSpPr/>
          <p:nvPr/>
        </p:nvCxnSpPr>
        <p:spPr>
          <a:xfrm>
            <a:off x="6217920" y="3593591"/>
            <a:ext cx="5257800"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8496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figures reconcile with the audited FY2025 financial statements.</a:t>
            </a:r>
          </a:p>
        </p:txBody>
      </p:sp>
      <p:sp>
        <p:nvSpPr>
          <p:cNvPr id="19" name="TextBox 18"/>
          <p:cNvSpPr txBox="1"/>
          <p:nvPr/>
        </p:nvSpPr>
        <p:spPr>
          <a:xfrm>
            <a:off x="685800" y="43068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revenue gap to Summarecon’s reported FY2025 revenue of approximately Rp8.77 trillion is around 21 times.</a:t>
            </a:r>
          </a:p>
        </p:txBody>
      </p:sp>
      <p:sp>
        <p:nvSpPr>
          <p:cNvPr id="20" name="TextBox 19"/>
          <p:cNvSpPr txBox="1"/>
          <p:nvPr/>
        </p:nvSpPr>
        <p:spPr>
          <a:xfrm>
            <a:off x="685800" y="476402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Closing a gap of this magnitude would require sustained growth, substantial portfolio expansion, improved asset</a:t>
            </a:r>
          </a:p>
          <a:p>
            <a:pPr>
              <a:lnSpc>
                <a:spcPts val="2196"/>
              </a:lnSpc>
              <a:spcBef>
                <a:spcPts val="0"/>
              </a:spcBef>
              <a:spcAft>
                <a:spcPts val="0"/>
              </a:spcAft>
            </a:pPr>
            <a:r>
              <a:rPr sz="1800" b="0" i="0">
                <a:solidFill>
                  <a:srgbClr val="183A32"/>
                </a:solidFill>
                <a:latin typeface="Times New Roman"/>
              </a:rPr>
              <a:t>productivity, or a combination of these.</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the Portfolio Pipeline Must Demonstrate</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projects contribute development revenue.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assets generate continuing operating income.</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revenue and cash flow are expected to materialise.</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How much capital each initiative requires.</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How ownership interests affect attributable earnings.</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Whether the operating organisation can support expansion.</a:t>
            </a:r>
          </a:p>
        </p:txBody>
      </p:sp>
      <p:sp>
        <p:nvSpPr>
          <p:cNvPr id="23" name="Rectangle 22"/>
          <p:cNvSpPr/>
          <p:nvPr/>
        </p:nvSpPr>
        <p:spPr>
          <a:xfrm>
            <a:off x="685800" y="4781549"/>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781549"/>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4863845"/>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distinction: Historical comparisons do not establish the financial threshold required to rank among the Top Five in</a:t>
            </a:r>
          </a:p>
          <a:p>
            <a:pPr>
              <a:lnSpc>
                <a:spcPts val="2013"/>
              </a:lnSpc>
              <a:spcBef>
                <a:spcPts val="0"/>
              </a:spcBef>
              <a:spcAft>
                <a:spcPts val="0"/>
              </a:spcAft>
            </a:pPr>
            <a:r>
              <a:rPr sz="1650" b="0" i="0">
                <a:solidFill>
                  <a:srgbClr val="183A32"/>
                </a:solidFill>
                <a:latin typeface="Times New Roman"/>
              </a:rPr>
              <a:t>2035.</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013</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Diversified Portfolio Creates Opportunity—and Demands</a:t>
            </a:r>
          </a:p>
          <a:p>
            <a:pPr>
              <a:lnSpc>
                <a:spcPts val="3502"/>
              </a:lnSpc>
              <a:spcBef>
                <a:spcPts val="0"/>
              </a:spcBef>
              <a:spcAft>
                <a:spcPts val="0"/>
              </a:spcAft>
            </a:pPr>
            <a:r>
              <a:rPr sz="3100" b="0" i="0">
                <a:solidFill>
                  <a:srgbClr val="153F35"/>
                </a:solidFill>
                <a:latin typeface="Arial"/>
              </a:rPr>
              <a:t>Coordination.</a:t>
            </a:r>
          </a:p>
        </p:txBody>
      </p:sp>
      <p:sp>
        <p:nvSpPr>
          <p:cNvPr id="11" name="TextBox 10"/>
          <p:cNvSpPr txBox="1"/>
          <p:nvPr/>
        </p:nvSpPr>
        <p:spPr>
          <a:xfrm>
            <a:off x="685800" y="216992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already has a broad portfolio and development pipeline. The strategic question is how effectively these</a:t>
            </a:r>
          </a:p>
          <a:p>
            <a:pPr>
              <a:lnSpc>
                <a:spcPts val="2196"/>
              </a:lnSpc>
              <a:spcBef>
                <a:spcPts val="0"/>
              </a:spcBef>
              <a:spcAft>
                <a:spcPts val="0"/>
              </a:spcAft>
            </a:pPr>
            <a:r>
              <a:rPr sz="1800" b="0" i="0">
                <a:solidFill>
                  <a:srgbClr val="183A32"/>
                </a:solidFill>
                <a:latin typeface="Times New Roman"/>
              </a:rPr>
              <a:t>assets work together.</a:t>
            </a:r>
          </a:p>
        </p:txBody>
      </p:sp>
      <p:graphicFrame>
        <p:nvGraphicFramePr>
          <p:cNvPr id="12" name="Table 11"/>
          <p:cNvGraphicFramePr>
            <a:graphicFrameLocks noGrp="1"/>
          </p:cNvGraphicFramePr>
          <p:nvPr/>
        </p:nvGraphicFramePr>
        <p:xfrm>
          <a:off x="685800" y="2906014"/>
          <a:ext cx="10789919" cy="2895217"/>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Strategic question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Potential consequence if unresolved</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Are corporate, destination, project,</a:t>
                      </a:r>
                    </a:p>
                    <a:p>
                      <a:pPr>
                        <a:lnSpc>
                          <a:spcPts val="1829"/>
                        </a:lnSpc>
                        <a:spcBef>
                          <a:spcPts val="0"/>
                        </a:spcBef>
                        <a:spcAft>
                          <a:spcPts val="0"/>
                        </a:spcAft>
                      </a:pPr>
                      <a:r>
                        <a:rPr sz="1550" b="0">
                          <a:solidFill>
                            <a:srgbClr val="183A32"/>
                          </a:solidFill>
                          <a:latin typeface="Arial"/>
                        </a:rPr>
                        <a:t>and operating-brand relationships</a:t>
                      </a:r>
                    </a:p>
                    <a:p>
                      <a:pPr>
                        <a:lnSpc>
                          <a:spcPts val="1829"/>
                        </a:lnSpc>
                        <a:spcBef>
                          <a:spcPts val="0"/>
                        </a:spcBef>
                        <a:spcAft>
                          <a:spcPts val="0"/>
                        </a:spcAft>
                      </a:pPr>
                      <a:r>
                        <a:rPr sz="1550" b="0">
                          <a:solidFill>
                            <a:srgbClr val="183A32"/>
                          </a:solidFill>
                          <a:latin typeface="Arial"/>
                        </a:rPr>
                        <a:t>clear?</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Fragmented recognition and unclear accountability</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Are existing and proposed project</a:t>
                      </a:r>
                    </a:p>
                    <a:p>
                      <a:pPr>
                        <a:lnSpc>
                          <a:spcPts val="1829"/>
                        </a:lnSpc>
                        <a:spcBef>
                          <a:spcPts val="0"/>
                        </a:spcBef>
                        <a:spcAft>
                          <a:spcPts val="0"/>
                        </a:spcAft>
                      </a:pPr>
                      <a:r>
                        <a:rPr sz="1550" b="0">
                          <a:solidFill>
                            <a:srgbClr val="183A32"/>
                          </a:solidFill>
                          <a:latin typeface="Arial"/>
                        </a:rPr>
                        <a:t>names consistently applied?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Customer confusion and duplicate portfolio reporting</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Do business units share relevant</a:t>
                      </a:r>
                    </a:p>
                    <a:p>
                      <a:pPr>
                        <a:lnSpc>
                          <a:spcPts val="1829"/>
                        </a:lnSpc>
                        <a:spcBef>
                          <a:spcPts val="0"/>
                        </a:spcBef>
                        <a:spcAft>
                          <a:spcPts val="0"/>
                        </a:spcAft>
                      </a:pPr>
                      <a:r>
                        <a:rPr sz="1550" b="0">
                          <a:solidFill>
                            <a:srgbClr val="183A32"/>
                          </a:solidFill>
                          <a:latin typeface="Arial"/>
                        </a:rPr>
                        <a:t>customers, partners, and</a:t>
                      </a:r>
                    </a:p>
                    <a:p>
                      <a:pPr>
                        <a:lnSpc>
                          <a:spcPts val="1829"/>
                        </a:lnSpc>
                        <a:spcBef>
                          <a:spcPts val="0"/>
                        </a:spcBef>
                        <a:spcAft>
                          <a:spcPts val="0"/>
                        </a:spcAft>
                      </a:pPr>
                      <a:r>
                        <a:rPr sz="1550" b="0">
                          <a:solidFill>
                            <a:srgbClr val="183A32"/>
                          </a:solidFill>
                          <a:latin typeface="Arial"/>
                        </a:rPr>
                        <a:t>opportunities?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Missed commercial synergies</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014</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Diversified Portfolio Creates Opportunity—and Demands</a:t>
            </a:r>
          </a:p>
          <a:p>
            <a:pPr>
              <a:lnSpc>
                <a:spcPts val="3502"/>
              </a:lnSpc>
              <a:spcBef>
                <a:spcPts val="0"/>
              </a:spcBef>
              <a:spcAft>
                <a:spcPts val="0"/>
              </a:spcAft>
            </a:pPr>
            <a:r>
              <a:rPr sz="3100" b="0" i="0">
                <a:solidFill>
                  <a:srgbClr val="153F35"/>
                </a:solidFill>
                <a:latin typeface="Arial"/>
              </a:rPr>
              <a:t>Coordination.</a:t>
            </a:r>
          </a:p>
        </p:txBody>
      </p:sp>
      <p:graphicFrame>
        <p:nvGraphicFramePr>
          <p:cNvPr id="11" name="Table 10"/>
          <p:cNvGraphicFramePr>
            <a:graphicFrameLocks noGrp="1"/>
          </p:cNvGraphicFramePr>
          <p:nvPr/>
        </p:nvGraphicFramePr>
        <p:xfrm>
          <a:off x="685800" y="2169921"/>
          <a:ext cx="10789919" cy="2198366"/>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Strategic question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Potential consequence if unresolved</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Are retained assets optimised?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Underdeveloped recurring income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Are customer and service standards</a:t>
                      </a:r>
                    </a:p>
                    <a:p>
                      <a:pPr>
                        <a:lnSpc>
                          <a:spcPts val="1829"/>
                        </a:lnSpc>
                        <a:spcBef>
                          <a:spcPts val="0"/>
                        </a:spcBef>
                        <a:spcAft>
                          <a:spcPts val="0"/>
                        </a:spcAft>
                      </a:pPr>
                      <a:r>
                        <a:rPr sz="1550" b="0">
                          <a:solidFill>
                            <a:srgbClr val="183A32"/>
                          </a:solidFill>
                          <a:latin typeface="Arial"/>
                        </a:rPr>
                        <a:t>consistent?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Uneven trust and experience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Are investments evaluated through a</a:t>
                      </a:r>
                    </a:p>
                    <a:p>
                      <a:pPr>
                        <a:lnSpc>
                          <a:spcPts val="1829"/>
                        </a:lnSpc>
                        <a:spcBef>
                          <a:spcPts val="0"/>
                        </a:spcBef>
                        <a:spcAft>
                          <a:spcPts val="0"/>
                        </a:spcAft>
                      </a:pPr>
                      <a:r>
                        <a:rPr sz="1550" b="0">
                          <a:solidFill>
                            <a:srgbClr val="183A32"/>
                          </a:solidFill>
                          <a:latin typeface="Arial"/>
                        </a:rPr>
                        <a:t>common framework?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Unclear priorities and inefficient capital allocation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55117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strategic hypotheses for validation.</a:t>
            </a:r>
          </a:p>
        </p:txBody>
      </p:sp>
      <p:sp>
        <p:nvSpPr>
          <p:cNvPr id="13" name="TextBox 12"/>
          <p:cNvSpPr txBox="1"/>
          <p:nvPr/>
        </p:nvSpPr>
        <p:spPr>
          <a:xfrm>
            <a:off x="685800" y="500837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differences between the investor and brand portfolio decks demonstrate the need for one approved portfolio</a:t>
            </a:r>
          </a:p>
          <a:p>
            <a:pPr>
              <a:lnSpc>
                <a:spcPts val="2196"/>
              </a:lnSpc>
              <a:spcBef>
                <a:spcPts val="0"/>
              </a:spcBef>
              <a:spcAft>
                <a:spcPts val="0"/>
              </a:spcAft>
            </a:pPr>
            <a:r>
              <a:rPr sz="1800" b="0" i="0">
                <a:solidFill>
                  <a:srgbClr val="183A32"/>
                </a:solidFill>
                <a:latin typeface="Times New Roman"/>
              </a:rPr>
              <a:t>register covering names, status, ownership, operating responsibility, and naming transitions.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06.3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Diversified Portfolio Creates Opportunity—and Demands</a:t>
            </a:r>
          </a:p>
          <a:p>
            <a:pPr>
              <a:lnSpc>
                <a:spcPts val="3502"/>
              </a:lnSpc>
              <a:spcBef>
                <a:spcPts val="0"/>
              </a:spcBef>
              <a:spcAft>
                <a:spcPts val="0"/>
              </a:spcAft>
            </a:pPr>
            <a:r>
              <a:rPr sz="3100" b="0" i="0">
                <a:solidFill>
                  <a:srgbClr val="153F35"/>
                </a:solidFill>
                <a:latin typeface="Arial"/>
              </a:rPr>
              <a:t>Coordination.</a:t>
            </a:r>
          </a:p>
        </p:txBody>
      </p:sp>
      <p:sp>
        <p:nvSpPr>
          <p:cNvPr id="11" name="TextBox 10"/>
          <p:cNvSpPr txBox="1"/>
          <p:nvPr/>
        </p:nvSpPr>
        <p:spPr>
          <a:xfrm>
            <a:off x="6400800" y="2514600"/>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1">
                <a:solidFill>
                  <a:srgbClr val="183A32"/>
                </a:solidFill>
                <a:latin typeface="Times New Roman"/>
              </a:rPr>
              <a:t>Recommendation: Validate the diagnosis</a:t>
            </a:r>
          </a:p>
          <a:p>
            <a:pPr>
              <a:lnSpc>
                <a:spcPts val="2440"/>
              </a:lnSpc>
              <a:spcBef>
                <a:spcPts val="0"/>
              </a:spcBef>
              <a:spcAft>
                <a:spcPts val="0"/>
              </a:spcAft>
            </a:pPr>
            <a:r>
              <a:rPr sz="2000" b="0" i="1">
                <a:solidFill>
                  <a:srgbClr val="183A32"/>
                </a:solidFill>
                <a:latin typeface="Times New Roman"/>
              </a:rPr>
              <a:t>through financial analysis, operational</a:t>
            </a:r>
          </a:p>
          <a:p>
            <a:pPr>
              <a:lnSpc>
                <a:spcPts val="2440"/>
              </a:lnSpc>
              <a:spcBef>
                <a:spcPts val="0"/>
              </a:spcBef>
              <a:spcAft>
                <a:spcPts val="0"/>
              </a:spcAft>
            </a:pPr>
            <a:r>
              <a:rPr sz="2000" b="0" i="1">
                <a:solidFill>
                  <a:srgbClr val="183A32"/>
                </a:solidFill>
                <a:latin typeface="Times New Roman"/>
              </a:rPr>
              <a:t>interviews, customer research, and project</a:t>
            </a:r>
          </a:p>
          <a:p>
            <a:pPr>
              <a:lnSpc>
                <a:spcPts val="2440"/>
              </a:lnSpc>
              <a:spcBef>
                <a:spcPts val="0"/>
              </a:spcBef>
              <a:spcAft>
                <a:spcPts val="0"/>
              </a:spcAft>
            </a:pPr>
            <a:r>
              <a:rPr sz="2000" b="0" i="1">
                <a:solidFill>
                  <a:srgbClr val="183A32"/>
                </a:solidFill>
                <a:latin typeface="Times New Roman"/>
              </a:rPr>
              <a:t>audits.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Create More Value Across the Full Life of Each</a:t>
            </a:r>
          </a:p>
          <a:p>
            <a:pPr>
              <a:lnSpc>
                <a:spcPts val="3502"/>
              </a:lnSpc>
              <a:spcBef>
                <a:spcPts val="0"/>
              </a:spcBef>
              <a:spcAft>
                <a:spcPts val="0"/>
              </a:spcAft>
            </a:pPr>
            <a:r>
              <a:rPr sz="3100" b="0" i="0">
                <a:solidFill>
                  <a:srgbClr val="153F35"/>
                </a:solidFill>
                <a:latin typeface="Arial"/>
              </a:rPr>
              <a:t>Development.</a:t>
            </a:r>
          </a:p>
        </p:txBody>
      </p:sp>
      <p:sp>
        <p:nvSpPr>
          <p:cNvPr id="11" name="TextBox 10"/>
          <p:cNvSpPr txBox="1"/>
          <p:nvPr/>
        </p:nvSpPr>
        <p:spPr>
          <a:xfrm>
            <a:off x="685800" y="21973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TRADITIONAL DEVELOPMENT CYCLE</a:t>
            </a:r>
          </a:p>
        </p:txBody>
      </p:sp>
      <p:sp>
        <p:nvSpPr>
          <p:cNvPr id="12" name="Rectangle 11"/>
          <p:cNvSpPr/>
          <p:nvPr/>
        </p:nvSpPr>
        <p:spPr>
          <a:xfrm>
            <a:off x="685800" y="2518664"/>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664968"/>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Land Acquisition</a:t>
            </a:r>
          </a:p>
        </p:txBody>
      </p:sp>
      <p:sp>
        <p:nvSpPr>
          <p:cNvPr id="14" name="TextBox 13"/>
          <p:cNvSpPr txBox="1"/>
          <p:nvPr/>
        </p:nvSpPr>
        <p:spPr>
          <a:xfrm>
            <a:off x="2733141" y="270154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5" name="Rectangle 14"/>
          <p:cNvSpPr/>
          <p:nvPr/>
        </p:nvSpPr>
        <p:spPr>
          <a:xfrm>
            <a:off x="2884017" y="2518664"/>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3745" y="2664968"/>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Development</a:t>
            </a:r>
          </a:p>
        </p:txBody>
      </p:sp>
      <p:sp>
        <p:nvSpPr>
          <p:cNvPr id="17" name="TextBox 16"/>
          <p:cNvSpPr txBox="1"/>
          <p:nvPr/>
        </p:nvSpPr>
        <p:spPr>
          <a:xfrm>
            <a:off x="4931359" y="270154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8" name="Rectangle 17"/>
          <p:cNvSpPr/>
          <p:nvPr/>
        </p:nvSpPr>
        <p:spPr>
          <a:xfrm>
            <a:off x="5082235" y="2518664"/>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1963" y="2664968"/>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Marketing</a:t>
            </a:r>
          </a:p>
        </p:txBody>
      </p:sp>
      <p:sp>
        <p:nvSpPr>
          <p:cNvPr id="20" name="TextBox 19"/>
          <p:cNvSpPr txBox="1"/>
          <p:nvPr/>
        </p:nvSpPr>
        <p:spPr>
          <a:xfrm>
            <a:off x="7129576" y="270154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1" name="Rectangle 20"/>
          <p:cNvSpPr/>
          <p:nvPr/>
        </p:nvSpPr>
        <p:spPr>
          <a:xfrm>
            <a:off x="7280452" y="2518664"/>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90180" y="2664968"/>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Sales</a:t>
            </a:r>
          </a:p>
        </p:txBody>
      </p:sp>
      <p:sp>
        <p:nvSpPr>
          <p:cNvPr id="23" name="TextBox 22"/>
          <p:cNvSpPr txBox="1"/>
          <p:nvPr/>
        </p:nvSpPr>
        <p:spPr>
          <a:xfrm>
            <a:off x="9327794" y="270154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4" name="Rectangle 23"/>
          <p:cNvSpPr/>
          <p:nvPr/>
        </p:nvSpPr>
        <p:spPr>
          <a:xfrm>
            <a:off x="9478670" y="2518664"/>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88398" y="2664968"/>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Handover</a:t>
            </a:r>
          </a:p>
        </p:txBody>
      </p:sp>
      <p:sp>
        <p:nvSpPr>
          <p:cNvPr id="26" name="TextBox 25"/>
          <p:cNvSpPr txBox="1"/>
          <p:nvPr/>
        </p:nvSpPr>
        <p:spPr>
          <a:xfrm>
            <a:off x="685800" y="338734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CONTINUING-VALUE CYCLE</a:t>
            </a:r>
          </a:p>
        </p:txBody>
      </p:sp>
      <p:sp>
        <p:nvSpPr>
          <p:cNvPr id="27" name="Rectangle 26"/>
          <p:cNvSpPr/>
          <p:nvPr/>
        </p:nvSpPr>
        <p:spPr>
          <a:xfrm>
            <a:off x="685800" y="3708654"/>
            <a:ext cx="1630680"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8" y="3854958"/>
            <a:ext cx="1411224"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Development</a:t>
            </a:r>
          </a:p>
        </p:txBody>
      </p:sp>
      <p:sp>
        <p:nvSpPr>
          <p:cNvPr id="29" name="TextBox 28"/>
          <p:cNvSpPr txBox="1"/>
          <p:nvPr/>
        </p:nvSpPr>
        <p:spPr>
          <a:xfrm>
            <a:off x="2366772" y="389153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30" name="Rectangle 29"/>
          <p:cNvSpPr/>
          <p:nvPr/>
        </p:nvSpPr>
        <p:spPr>
          <a:xfrm>
            <a:off x="2517648" y="3708654"/>
            <a:ext cx="1630680"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27376" y="3854958"/>
            <a:ext cx="1411224"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Activation</a:t>
            </a:r>
          </a:p>
        </p:txBody>
      </p:sp>
      <p:sp>
        <p:nvSpPr>
          <p:cNvPr id="32" name="TextBox 31"/>
          <p:cNvSpPr txBox="1"/>
          <p:nvPr/>
        </p:nvSpPr>
        <p:spPr>
          <a:xfrm>
            <a:off x="4198620" y="389153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33" name="Rectangle 32"/>
          <p:cNvSpPr/>
          <p:nvPr/>
        </p:nvSpPr>
        <p:spPr>
          <a:xfrm>
            <a:off x="4349496" y="3708654"/>
            <a:ext cx="1630680"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59224" y="3854958"/>
            <a:ext cx="1411224"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Occupancy</a:t>
            </a:r>
          </a:p>
        </p:txBody>
      </p:sp>
      <p:sp>
        <p:nvSpPr>
          <p:cNvPr id="35" name="TextBox 34"/>
          <p:cNvSpPr txBox="1"/>
          <p:nvPr/>
        </p:nvSpPr>
        <p:spPr>
          <a:xfrm>
            <a:off x="6030468" y="389153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36" name="Rectangle 35"/>
          <p:cNvSpPr/>
          <p:nvPr/>
        </p:nvSpPr>
        <p:spPr>
          <a:xfrm>
            <a:off x="6181344" y="3708654"/>
            <a:ext cx="1630680"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1072" y="3854958"/>
            <a:ext cx="1411224"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Experience</a:t>
            </a:r>
          </a:p>
        </p:txBody>
      </p:sp>
      <p:sp>
        <p:nvSpPr>
          <p:cNvPr id="38" name="TextBox 37"/>
          <p:cNvSpPr txBox="1"/>
          <p:nvPr/>
        </p:nvSpPr>
        <p:spPr>
          <a:xfrm>
            <a:off x="7862315" y="389153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39" name="Rectangle 38"/>
          <p:cNvSpPr/>
          <p:nvPr/>
        </p:nvSpPr>
        <p:spPr>
          <a:xfrm>
            <a:off x="8013192" y="3708654"/>
            <a:ext cx="1630680"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2920" y="3854958"/>
            <a:ext cx="1411224"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Management</a:t>
            </a:r>
          </a:p>
        </p:txBody>
      </p:sp>
      <p:sp>
        <p:nvSpPr>
          <p:cNvPr id="41" name="TextBox 40"/>
          <p:cNvSpPr txBox="1"/>
          <p:nvPr/>
        </p:nvSpPr>
        <p:spPr>
          <a:xfrm>
            <a:off x="9694164" y="3891534"/>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42" name="Rectangle 41"/>
          <p:cNvSpPr/>
          <p:nvPr/>
        </p:nvSpPr>
        <p:spPr>
          <a:xfrm>
            <a:off x="9845040" y="3708654"/>
            <a:ext cx="1630680"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54768" y="3854958"/>
            <a:ext cx="1411224"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Recurring Value</a:t>
            </a:r>
          </a:p>
        </p:txBody>
      </p:sp>
      <p:sp>
        <p:nvSpPr>
          <p:cNvPr id="44" name="TextBox 43"/>
          <p:cNvSpPr txBox="1"/>
          <p:nvPr/>
        </p:nvSpPr>
        <p:spPr>
          <a:xfrm>
            <a:off x="685800" y="4577334"/>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APPLICATION ACROSS TANRISE</a:t>
            </a:r>
          </a:p>
        </p:txBody>
      </p:sp>
      <p:sp>
        <p:nvSpPr>
          <p:cNvPr id="45" name="Rectangle 44"/>
          <p:cNvSpPr/>
          <p:nvPr/>
        </p:nvSpPr>
        <p:spPr>
          <a:xfrm>
            <a:off x="685800" y="499008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0392" y="489864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Integrated City: Coordinate residential, commercial, leisure, infrastructure, and partner-led facilities.</a:t>
            </a:r>
          </a:p>
        </p:txBody>
      </p:sp>
      <p:sp>
        <p:nvSpPr>
          <p:cNvPr id="47" name="Rectangle 46"/>
          <p:cNvSpPr/>
          <p:nvPr/>
        </p:nvSpPr>
        <p:spPr>
          <a:xfrm>
            <a:off x="685800" y="543953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0392" y="534809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Community Living: Build trust through relevant housing concepts, delivery, and continued customer care.</a:t>
            </a:r>
          </a:p>
        </p:txBody>
      </p:sp>
      <p:sp>
        <p:nvSpPr>
          <p:cNvPr id="49" name="TextBox 4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017</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Create More Value Across the Full Life of Each</a:t>
            </a:r>
          </a:p>
          <a:p>
            <a:pPr>
              <a:lnSpc>
                <a:spcPts val="3502"/>
              </a:lnSpc>
              <a:spcBef>
                <a:spcPts val="0"/>
              </a:spcBef>
              <a:spcAft>
                <a:spcPts val="0"/>
              </a:spcAft>
            </a:pPr>
            <a:r>
              <a:rPr sz="3100" b="0" i="0">
                <a:solidFill>
                  <a:srgbClr val="153F35"/>
                </a:solidFill>
                <a:latin typeface="Arial"/>
              </a:rPr>
              <a:t>Development.</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Business Districts: Improve tenant mix, occupancy, visitation, and commercial relevance.</a:t>
            </a:r>
          </a:p>
        </p:txBody>
      </p:sp>
      <p:sp>
        <p:nvSpPr>
          <p:cNvPr id="13" name="Rectangle 12"/>
          <p:cNvSpPr/>
          <p:nvPr/>
        </p:nvSpPr>
        <p:spPr>
          <a:xfrm>
            <a:off x="685800" y="27108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6193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Logistic &amp; Industrial Park: Support occupier requirements, infrastructure readiness, and business continuity.</a:t>
            </a:r>
          </a:p>
        </p:txBody>
      </p:sp>
      <p:sp>
        <p:nvSpPr>
          <p:cNvPr id="15" name="Rectangle 14"/>
          <p:cNvSpPr/>
          <p:nvPr/>
        </p:nvSpPr>
        <p:spPr>
          <a:xfrm>
            <a:off x="685800" y="31602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068827"/>
            <a:ext cx="10625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MICE, and Leisure: Improve utilisation, guest experience, operating performance, and destination</a:t>
            </a:r>
          </a:p>
          <a:p>
            <a:pPr>
              <a:lnSpc>
                <a:spcPts val="2135"/>
              </a:lnSpc>
              <a:spcBef>
                <a:spcPts val="0"/>
              </a:spcBef>
              <a:spcAft>
                <a:spcPts val="0"/>
              </a:spcAft>
            </a:pPr>
            <a:r>
              <a:rPr sz="1750" b="0" i="0">
                <a:solidFill>
                  <a:srgbClr val="183A32"/>
                </a:solidFill>
                <a:latin typeface="Arial"/>
              </a:rPr>
              <a:t>appeal.</a:t>
            </a:r>
          </a:p>
        </p:txBody>
      </p:sp>
      <p:sp>
        <p:nvSpPr>
          <p:cNvPr id="17" name="TextBox 16"/>
          <p:cNvSpPr txBox="1"/>
          <p:nvPr/>
        </p:nvSpPr>
        <p:spPr>
          <a:xfrm>
            <a:off x="685800" y="3789425"/>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thesis: TANRISE should strengthen its development capabilities while creating more long-term value from</a:t>
            </a:r>
          </a:p>
          <a:p>
            <a:pPr>
              <a:lnSpc>
                <a:spcPts val="2196"/>
              </a:lnSpc>
              <a:spcBef>
                <a:spcPts val="0"/>
              </a:spcBef>
              <a:spcAft>
                <a:spcPts val="0"/>
              </a:spcAft>
            </a:pPr>
            <a:r>
              <a:rPr sz="1800" b="0" i="0">
                <a:solidFill>
                  <a:srgbClr val="183A32"/>
                </a:solidFill>
                <a:latin typeface="Times New Roman"/>
              </a:rPr>
              <a:t>the places and assets it develops.</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CHAPTER 02</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018</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02</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Competitive intelligence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019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Top Five Is a Moving Target.</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To make the 2035 ambition measurable, TANRISE should track two parallel league tables:</a:t>
            </a:r>
          </a:p>
        </p:txBody>
      </p:sp>
      <p:sp>
        <p:nvSpPr>
          <p:cNvPr id="12" name="Rectangle 11"/>
          <p:cNvSpPr/>
          <p:nvPr/>
        </p:nvSpPr>
        <p:spPr>
          <a:xfrm>
            <a:off x="685800" y="26334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5420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Annual consolidated revenue.</a:t>
            </a:r>
          </a:p>
        </p:txBody>
      </p:sp>
      <p:sp>
        <p:nvSpPr>
          <p:cNvPr id="14" name="Rectangle 13"/>
          <p:cNvSpPr/>
          <p:nvPr/>
        </p:nvSpPr>
        <p:spPr>
          <a:xfrm>
            <a:off x="685800" y="30829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914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Net profit attributable to owners of the parent.</a:t>
            </a:r>
          </a:p>
        </p:txBody>
      </p:sp>
      <p:sp>
        <p:nvSpPr>
          <p:cNvPr id="16" name="TextBox 15"/>
          <p:cNvSpPr txBox="1"/>
          <p:nvPr/>
        </p:nvSpPr>
        <p:spPr>
          <a:xfrm>
            <a:off x="685800" y="344093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Assets, market capitalisation, marketing sales, and recognised revenue should be reported separately.</a:t>
            </a:r>
          </a:p>
        </p:txBody>
      </p:sp>
      <p:sp>
        <p:nvSpPr>
          <p:cNvPr id="17" name="TextBox 16"/>
          <p:cNvSpPr txBox="1"/>
          <p:nvPr/>
        </p:nvSpPr>
        <p:spPr>
          <a:xfrm>
            <a:off x="685800" y="3925569"/>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BENCHMARKING PRINCIPLES</a:t>
            </a:r>
          </a:p>
        </p:txBody>
      </p:sp>
      <p:sp>
        <p:nvSpPr>
          <p:cNvPr id="18" name="Rectangle 17"/>
          <p:cNvSpPr/>
          <p:nvPr/>
        </p:nvSpPr>
        <p:spPr>
          <a:xfrm>
            <a:off x="685800" y="43383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8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Define an agreed listed-property peer group.</a:t>
            </a:r>
          </a:p>
        </p:txBody>
      </p:sp>
      <p:sp>
        <p:nvSpPr>
          <p:cNvPr id="20" name="Rectangle 19"/>
          <p:cNvSpPr/>
          <p:nvPr/>
        </p:nvSpPr>
        <p:spPr>
          <a:xfrm>
            <a:off x="685800" y="47877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6963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consistent accounting periods.</a:t>
            </a:r>
          </a:p>
        </p:txBody>
      </p:sp>
      <p:sp>
        <p:nvSpPr>
          <p:cNvPr id="22" name="Rectangle 21"/>
          <p:cNvSpPr/>
          <p:nvPr/>
        </p:nvSpPr>
        <p:spPr>
          <a:xfrm>
            <a:off x="685800" y="52372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51457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Separate listed issuers from private developer groups.</a:t>
            </a:r>
          </a:p>
        </p:txBody>
      </p:sp>
      <p:sp>
        <p:nvSpPr>
          <p:cNvPr id="24" name="Rectangle 23"/>
          <p:cNvSpPr/>
          <p:nvPr/>
        </p:nvSpPr>
        <p:spPr>
          <a:xfrm>
            <a:off x="685800" y="56866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559523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Consider related issuers and consolidation effects.</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Top Five Is a Moving Target.</a:t>
            </a:r>
          </a:p>
        </p:txBody>
      </p:sp>
      <p:sp>
        <p:nvSpPr>
          <p:cNvPr id="11" name="TextBox 10"/>
          <p:cNvSpPr txBox="1"/>
          <p:nvPr/>
        </p:nvSpPr>
        <p:spPr>
          <a:xfrm>
            <a:off x="6400800" y="2514600"/>
            <a:ext cx="5029200" cy="679196"/>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Distinguish development income from recurring</a:t>
            </a:r>
          </a:p>
          <a:p>
            <a:pPr>
              <a:lnSpc>
                <a:spcPts val="2440"/>
              </a:lnSpc>
              <a:spcBef>
                <a:spcPts val="0"/>
              </a:spcBef>
              <a:spcAft>
                <a:spcPts val="0"/>
              </a:spcAft>
            </a:pPr>
            <a:r>
              <a:rPr sz="2000" b="0" i="0">
                <a:solidFill>
                  <a:srgbClr val="183A32"/>
                </a:solidFill>
                <a:latin typeface="Times New Roman"/>
              </a:rPr>
              <a:t>operating income.</a:t>
            </a:r>
          </a:p>
        </p:txBody>
      </p:sp>
      <p:sp>
        <p:nvSpPr>
          <p:cNvPr id="12" name="TextBox 11"/>
          <p:cNvSpPr txBox="1"/>
          <p:nvPr/>
        </p:nvSpPr>
        <p:spPr>
          <a:xfrm>
            <a:off x="6400800" y="3376676"/>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Compare attributable profit consistently.</a:t>
            </a:r>
          </a:p>
        </p:txBody>
      </p:sp>
      <p:sp>
        <p:nvSpPr>
          <p:cNvPr id="13" name="TextBox 12"/>
          <p:cNvSpPr txBox="1"/>
          <p:nvPr/>
        </p:nvSpPr>
        <p:spPr>
          <a:xfrm>
            <a:off x="6400800" y="3928872"/>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1">
                <a:solidFill>
                  <a:srgbClr val="183A32"/>
                </a:solidFill>
                <a:latin typeface="Times New Roman"/>
              </a:rPr>
              <a:t>Strategic implication: TANRISE’s pipeline</a:t>
            </a:r>
          </a:p>
          <a:p>
            <a:pPr>
              <a:lnSpc>
                <a:spcPts val="2440"/>
              </a:lnSpc>
              <a:spcBef>
                <a:spcPts val="0"/>
              </a:spcBef>
              <a:spcAft>
                <a:spcPts val="0"/>
              </a:spcAft>
            </a:pPr>
            <a:r>
              <a:rPr sz="2000" b="0" i="1">
                <a:solidFill>
                  <a:srgbClr val="183A32"/>
                </a:solidFill>
                <a:latin typeface="Times New Roman"/>
              </a:rPr>
              <a:t>should be evaluated against the scale, timing,</a:t>
            </a:r>
          </a:p>
          <a:p>
            <a:pPr>
              <a:lnSpc>
                <a:spcPts val="2440"/>
              </a:lnSpc>
              <a:spcBef>
                <a:spcPts val="0"/>
              </a:spcBef>
              <a:spcAft>
                <a:spcPts val="0"/>
              </a:spcAft>
            </a:pPr>
            <a:r>
              <a:rPr sz="2000" b="0" i="1">
                <a:solidFill>
                  <a:srgbClr val="183A32"/>
                </a:solidFill>
                <a:latin typeface="Times New Roman"/>
              </a:rPr>
              <a:t>and earnings quality required to progress</a:t>
            </a:r>
          </a:p>
          <a:p>
            <a:pPr>
              <a:lnSpc>
                <a:spcPts val="2440"/>
              </a:lnSpc>
              <a:spcBef>
                <a:spcPts val="0"/>
              </a:spcBef>
              <a:spcAft>
                <a:spcPts val="0"/>
              </a:spcAft>
            </a:pPr>
            <a:r>
              <a:rPr sz="2000" b="0" i="1">
                <a:solidFill>
                  <a:srgbClr val="183A32"/>
                </a:solidFill>
                <a:latin typeface="Times New Roman"/>
              </a:rPr>
              <a:t>toward the ambition.</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Historical Baseline for Understanding Competitive Scale.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following reproduces the research draft’s FY2024 revenue baseline. It is not a verified FY2025 ranking.</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Historical Baseline for Understanding Competitive Scale.</a:t>
            </a:r>
          </a:p>
        </p:txBody>
      </p:sp>
      <p:graphicFrame>
        <p:nvGraphicFramePr>
          <p:cNvPr id="11" name="Chart 10"/>
          <p:cNvGraphicFramePr>
            <a:graphicFrameLocks noGrp="1"/>
          </p:cNvGraphicFramePr>
          <p:nvPr/>
        </p:nvGraphicFramePr>
        <p:xfrm>
          <a:off x="685800" y="2084831"/>
          <a:ext cx="10789920" cy="3547872"/>
        </p:xfrm>
        <a:graphic>
          <a:graphicData uri="http://schemas.openxmlformats.org/drawingml/2006/chart">
            <c:chart xmlns:c="http://schemas.openxmlformats.org/drawingml/2006/chart" r:id="rId2"/>
          </a:graphicData>
        </a:graphic>
      </p:graphicFrame>
      <p:sp>
        <p:nvSpPr>
          <p:cNvPr id="12" name="TextBox 11"/>
          <p:cNvSpPr txBox="1"/>
          <p:nvPr/>
        </p:nvSpPr>
        <p:spPr>
          <a:xfrm>
            <a:off x="685800" y="1883663"/>
            <a:ext cx="10789920" cy="214375"/>
          </a:xfrm>
          <a:prstGeom prst="rect">
            <a:avLst/>
          </a:prstGeom>
          <a:noFill/>
        </p:spPr>
        <p:txBody>
          <a:bodyPr wrap="none" lIns="0" rIns="0" tIns="0" bIns="0">
            <a:spAutoFit/>
          </a:bodyPr>
          <a:lstStyle/>
          <a:p>
            <a:pPr>
              <a:lnSpc>
                <a:spcPts val="1220"/>
              </a:lnSpc>
              <a:spcBef>
                <a:spcPts val="0"/>
              </a:spcBef>
              <a:spcAft>
                <a:spcPts val="0"/>
              </a:spcAft>
            </a:pPr>
            <a:r>
              <a:rPr sz="1000" b="0" i="0">
                <a:solidFill>
                  <a:srgbClr val="68766B"/>
                </a:solidFill>
                <a:latin typeface="Arial"/>
              </a:rPr>
              <a:t>FY2024 · Revenue, Rp trillion · Historical baseline; validation required</a:t>
            </a:r>
          </a:p>
        </p:txBody>
      </p:sp>
      <p:sp>
        <p:nvSpPr>
          <p:cNvPr id="13" name="TextBox 12"/>
          <p:cNvSpPr txBox="1"/>
          <p:nvPr/>
        </p:nvSpPr>
        <p:spPr>
          <a:xfrm>
            <a:off x="685800" y="2084831"/>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Bumi Serpong Damai — BSDE</a:t>
            </a:r>
          </a:p>
        </p:txBody>
      </p:sp>
      <p:sp>
        <p:nvSpPr>
          <p:cNvPr id="14" name="Rectangle 13"/>
          <p:cNvSpPr/>
          <p:nvPr/>
        </p:nvSpPr>
        <p:spPr>
          <a:xfrm>
            <a:off x="3840480" y="2112263"/>
            <a:ext cx="6949440"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0" y="2084831"/>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13.80</a:t>
            </a:r>
          </a:p>
        </p:txBody>
      </p:sp>
      <p:sp>
        <p:nvSpPr>
          <p:cNvPr id="16" name="TextBox 15"/>
          <p:cNvSpPr txBox="1"/>
          <p:nvPr/>
        </p:nvSpPr>
        <p:spPr>
          <a:xfrm>
            <a:off x="685800" y="2418587"/>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Lippo Karawaci — LPKR</a:t>
            </a:r>
          </a:p>
        </p:txBody>
      </p:sp>
      <p:sp>
        <p:nvSpPr>
          <p:cNvPr id="17" name="Rectangle 16"/>
          <p:cNvSpPr/>
          <p:nvPr/>
        </p:nvSpPr>
        <p:spPr>
          <a:xfrm>
            <a:off x="3840480" y="2446019"/>
            <a:ext cx="5715662"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7582" y="2418587"/>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11.35</a:t>
            </a:r>
          </a:p>
        </p:txBody>
      </p:sp>
      <p:sp>
        <p:nvSpPr>
          <p:cNvPr id="19" name="TextBox 18"/>
          <p:cNvSpPr txBox="1"/>
          <p:nvPr/>
        </p:nvSpPr>
        <p:spPr>
          <a:xfrm>
            <a:off x="685800" y="2752344"/>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Ciputra Development — CTRA</a:t>
            </a:r>
          </a:p>
        </p:txBody>
      </p:sp>
      <p:sp>
        <p:nvSpPr>
          <p:cNvPr id="20" name="Rectangle 19"/>
          <p:cNvSpPr/>
          <p:nvPr/>
        </p:nvSpPr>
        <p:spPr>
          <a:xfrm>
            <a:off x="3840480" y="2779775"/>
            <a:ext cx="5635089"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67009" y="2752344"/>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11.19</a:t>
            </a:r>
          </a:p>
        </p:txBody>
      </p:sp>
      <p:sp>
        <p:nvSpPr>
          <p:cNvPr id="22" name="TextBox 21"/>
          <p:cNvSpPr txBox="1"/>
          <p:nvPr/>
        </p:nvSpPr>
        <p:spPr>
          <a:xfrm>
            <a:off x="685800" y="3086100"/>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Summarecon Agung — SMRA</a:t>
            </a:r>
          </a:p>
        </p:txBody>
      </p:sp>
      <p:sp>
        <p:nvSpPr>
          <p:cNvPr id="23" name="Rectangle 22"/>
          <p:cNvSpPr/>
          <p:nvPr/>
        </p:nvSpPr>
        <p:spPr>
          <a:xfrm>
            <a:off x="3840480" y="3113532"/>
            <a:ext cx="5348047"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79967" y="3086100"/>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10.62</a:t>
            </a:r>
          </a:p>
        </p:txBody>
      </p:sp>
      <p:sp>
        <p:nvSpPr>
          <p:cNvPr id="25" name="TextBox 24"/>
          <p:cNvSpPr txBox="1"/>
          <p:nvPr/>
        </p:nvSpPr>
        <p:spPr>
          <a:xfrm>
            <a:off x="685800" y="3419856"/>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Pakuwon Jati — PWON</a:t>
            </a:r>
          </a:p>
        </p:txBody>
      </p:sp>
      <p:sp>
        <p:nvSpPr>
          <p:cNvPr id="26" name="Rectangle 25"/>
          <p:cNvSpPr/>
          <p:nvPr/>
        </p:nvSpPr>
        <p:spPr>
          <a:xfrm>
            <a:off x="3840480" y="3447287"/>
            <a:ext cx="3358896"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0815" y="3419856"/>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6.67</a:t>
            </a:r>
          </a:p>
        </p:txBody>
      </p:sp>
      <p:sp>
        <p:nvSpPr>
          <p:cNvPr id="28" name="TextBox 27"/>
          <p:cNvSpPr txBox="1"/>
          <p:nvPr/>
        </p:nvSpPr>
        <p:spPr>
          <a:xfrm>
            <a:off x="685800" y="3753611"/>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Agung Podomoro Land — APLN</a:t>
            </a:r>
          </a:p>
        </p:txBody>
      </p:sp>
      <p:sp>
        <p:nvSpPr>
          <p:cNvPr id="29" name="Rectangle 28"/>
          <p:cNvSpPr/>
          <p:nvPr/>
        </p:nvSpPr>
        <p:spPr>
          <a:xfrm>
            <a:off x="3840480" y="3781044"/>
            <a:ext cx="2860349"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92269" y="3753611"/>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5.68</a:t>
            </a:r>
          </a:p>
        </p:txBody>
      </p:sp>
      <p:sp>
        <p:nvSpPr>
          <p:cNvPr id="31" name="TextBox 30"/>
          <p:cNvSpPr txBox="1"/>
          <p:nvPr/>
        </p:nvSpPr>
        <p:spPr>
          <a:xfrm>
            <a:off x="685800" y="4087368"/>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Duta Pertiwi — DUTI</a:t>
            </a:r>
          </a:p>
        </p:txBody>
      </p:sp>
      <p:sp>
        <p:nvSpPr>
          <p:cNvPr id="32" name="Rectangle 31"/>
          <p:cNvSpPr/>
          <p:nvPr/>
        </p:nvSpPr>
        <p:spPr>
          <a:xfrm>
            <a:off x="3840480" y="4114800"/>
            <a:ext cx="2225835"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57755" y="4087368"/>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4.42</a:t>
            </a:r>
          </a:p>
        </p:txBody>
      </p:sp>
      <p:sp>
        <p:nvSpPr>
          <p:cNvPr id="34" name="TextBox 33"/>
          <p:cNvSpPr txBox="1"/>
          <p:nvPr/>
        </p:nvSpPr>
        <p:spPr>
          <a:xfrm>
            <a:off x="685800" y="4421123"/>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Alam Sutera Realty — ASRI</a:t>
            </a:r>
          </a:p>
        </p:txBody>
      </p:sp>
      <p:sp>
        <p:nvSpPr>
          <p:cNvPr id="35" name="Rectangle 34"/>
          <p:cNvSpPr/>
          <p:nvPr/>
        </p:nvSpPr>
        <p:spPr>
          <a:xfrm>
            <a:off x="3840480" y="4448555"/>
            <a:ext cx="1732324"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4244" y="4421123"/>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3.44</a:t>
            </a:r>
          </a:p>
        </p:txBody>
      </p:sp>
      <p:sp>
        <p:nvSpPr>
          <p:cNvPr id="37" name="TextBox 36"/>
          <p:cNvSpPr txBox="1"/>
          <p:nvPr/>
        </p:nvSpPr>
        <p:spPr>
          <a:xfrm>
            <a:off x="685800" y="4754879"/>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Jaya Real Property — JRPT</a:t>
            </a:r>
          </a:p>
        </p:txBody>
      </p:sp>
      <p:sp>
        <p:nvSpPr>
          <p:cNvPr id="38" name="Rectangle 37"/>
          <p:cNvSpPr/>
          <p:nvPr/>
        </p:nvSpPr>
        <p:spPr>
          <a:xfrm>
            <a:off x="3840480" y="4782312"/>
            <a:ext cx="1485568"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17488" y="4754879"/>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2.95</a:t>
            </a:r>
          </a:p>
        </p:txBody>
      </p:sp>
      <p:sp>
        <p:nvSpPr>
          <p:cNvPr id="40" name="TextBox 39"/>
          <p:cNvSpPr txBox="1"/>
          <p:nvPr/>
        </p:nvSpPr>
        <p:spPr>
          <a:xfrm>
            <a:off x="685800" y="5088636"/>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Pantai Indah Kapuk Dua — PANI</a:t>
            </a:r>
          </a:p>
        </p:txBody>
      </p:sp>
      <p:sp>
        <p:nvSpPr>
          <p:cNvPr id="41" name="Rectangle 40"/>
          <p:cNvSpPr/>
          <p:nvPr/>
        </p:nvSpPr>
        <p:spPr>
          <a:xfrm>
            <a:off x="3840480" y="5116068"/>
            <a:ext cx="1425138"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57058" y="5088636"/>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2.83</a:t>
            </a:r>
          </a:p>
        </p:txBody>
      </p:sp>
      <p:sp>
        <p:nvSpPr>
          <p:cNvPr id="43" name="TextBox 4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09.3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Historical Baseline for Understanding Competitive Scale.</a:t>
            </a:r>
          </a:p>
        </p:txBody>
      </p:sp>
      <p:sp>
        <p:nvSpPr>
          <p:cNvPr id="11" name="TextBox 10"/>
          <p:cNvSpPr txBox="1"/>
          <p:nvPr/>
        </p:nvSpPr>
        <p:spPr>
          <a:xfrm>
            <a:off x="6400800" y="2514600"/>
            <a:ext cx="5029200" cy="679196"/>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Source cited in the original research draft:</a:t>
            </a:r>
          </a:p>
          <a:p>
            <a:pPr>
              <a:lnSpc>
                <a:spcPts val="2440"/>
              </a:lnSpc>
              <a:spcBef>
                <a:spcPts val="0"/>
              </a:spcBef>
              <a:spcAft>
                <a:spcPts val="0"/>
              </a:spcAft>
            </a:pPr>
            <a:r>
              <a:rPr sz="2000" b="0" i="0">
                <a:solidFill>
                  <a:srgbClr val="183A32"/>
                </a:solidFill>
                <a:latin typeface="Times New Roman"/>
              </a:rPr>
              <a:t>IDXChannel, 21 April 2025.</a:t>
            </a:r>
          </a:p>
        </p:txBody>
      </p:sp>
      <p:sp>
        <p:nvSpPr>
          <p:cNvPr id="12" name="TextBox 11"/>
          <p:cNvSpPr txBox="1"/>
          <p:nvPr/>
        </p:nvSpPr>
        <p:spPr>
          <a:xfrm>
            <a:off x="6400800" y="3376676"/>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Interpretation: TANRISE competes against</a:t>
            </a:r>
          </a:p>
          <a:p>
            <a:pPr>
              <a:lnSpc>
                <a:spcPts val="2440"/>
              </a:lnSpc>
              <a:spcBef>
                <a:spcPts val="0"/>
              </a:spcBef>
              <a:spcAft>
                <a:spcPts val="0"/>
              </a:spcAft>
            </a:pPr>
            <a:r>
              <a:rPr sz="2000" b="0" i="0">
                <a:solidFill>
                  <a:srgbClr val="183A32"/>
                </a:solidFill>
                <a:latin typeface="Times New Roman"/>
              </a:rPr>
              <a:t>companies with substantially greater financial</a:t>
            </a:r>
          </a:p>
          <a:p>
            <a:pPr>
              <a:lnSpc>
                <a:spcPts val="2440"/>
              </a:lnSpc>
              <a:spcBef>
                <a:spcPts val="0"/>
              </a:spcBef>
              <a:spcAft>
                <a:spcPts val="0"/>
              </a:spcAft>
            </a:pPr>
            <a:r>
              <a:rPr sz="2000" b="0" i="0">
                <a:solidFill>
                  <a:srgbClr val="183A32"/>
                </a:solidFill>
                <a:latin typeface="Times New Roman"/>
              </a:rPr>
              <a:t>scale, although their business models and</a:t>
            </a:r>
          </a:p>
          <a:p>
            <a:pPr>
              <a:lnSpc>
                <a:spcPts val="2440"/>
              </a:lnSpc>
              <a:spcBef>
                <a:spcPts val="0"/>
              </a:spcBef>
              <a:spcAft>
                <a:spcPts val="0"/>
              </a:spcAft>
            </a:pPr>
            <a:r>
              <a:rPr sz="2000" b="0" i="0">
                <a:solidFill>
                  <a:srgbClr val="183A32"/>
                </a:solidFill>
                <a:latin typeface="Times New Roman"/>
              </a:rPr>
              <a:t>revenue composition differ.</a:t>
            </a:r>
          </a:p>
        </p:txBody>
      </p:sp>
      <p:sp>
        <p:nvSpPr>
          <p:cNvPr id="13" name="TextBox 12"/>
          <p:cNvSpPr txBox="1"/>
          <p:nvPr/>
        </p:nvSpPr>
        <p:spPr>
          <a:xfrm>
            <a:off x="6400800" y="4858511"/>
            <a:ext cx="5029200" cy="989075"/>
          </a:xfrm>
          <a:prstGeom prst="rect">
            <a:avLst/>
          </a:prstGeom>
          <a:noFill/>
        </p:spPr>
        <p:txBody>
          <a:bodyPr wrap="none" lIns="0" rIns="0" tIns="0" bIns="0">
            <a:spAutoFit/>
          </a:bodyPr>
          <a:lstStyle/>
          <a:p>
            <a:pPr>
              <a:lnSpc>
                <a:spcPts val="2440"/>
              </a:lnSpc>
              <a:spcBef>
                <a:spcPts val="0"/>
              </a:spcBef>
              <a:spcAft>
                <a:spcPts val="0"/>
              </a:spcAft>
            </a:pPr>
            <a:r>
              <a:rPr sz="2000" b="0" i="1">
                <a:solidFill>
                  <a:srgbClr val="183A32"/>
                </a:solidFill>
                <a:latin typeface="Times New Roman"/>
              </a:rPr>
              <a:t>Validation requirement: Reconcile the ranking</a:t>
            </a:r>
          </a:p>
          <a:p>
            <a:pPr>
              <a:lnSpc>
                <a:spcPts val="2440"/>
              </a:lnSpc>
              <a:spcBef>
                <a:spcPts val="0"/>
              </a:spcBef>
              <a:spcAft>
                <a:spcPts val="0"/>
              </a:spcAft>
            </a:pPr>
            <a:r>
              <a:rPr sz="2000" b="0" i="1">
                <a:solidFill>
                  <a:srgbClr val="183A32"/>
                </a:solidFill>
                <a:latin typeface="Times New Roman"/>
              </a:rPr>
              <a:t>and individual figures before external</a:t>
            </a:r>
          </a:p>
          <a:p>
            <a:pPr>
              <a:lnSpc>
                <a:spcPts val="2440"/>
              </a:lnSpc>
              <a:spcBef>
                <a:spcPts val="0"/>
              </a:spcBef>
              <a:spcAft>
                <a:spcPts val="0"/>
              </a:spcAft>
            </a:pPr>
            <a:r>
              <a:rPr sz="2000" b="0" i="1">
                <a:solidFill>
                  <a:srgbClr val="183A32"/>
                </a:solidFill>
                <a:latin typeface="Times New Roman"/>
              </a:rPr>
              <a:t>presentation.</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Different Developers. Different Engines of Advantage.</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Developer or group</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Recognised strength</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Competitive lesson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BSD / Sinar Mas Land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Large-scale integrated townships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Build economic anchors, connectivity, and institutional</a:t>
                      </a:r>
                    </a:p>
                    <a:p>
                      <a:pPr>
                        <a:lnSpc>
                          <a:spcPts val="1829"/>
                        </a:lnSpc>
                        <a:spcBef>
                          <a:spcPts val="0"/>
                        </a:spcBef>
                        <a:spcAft>
                          <a:spcPts val="0"/>
                        </a:spcAft>
                      </a:pPr>
                      <a:r>
                        <a:rPr sz="1550" b="0">
                          <a:solidFill>
                            <a:srgbClr val="183A32"/>
                          </a:solidFill>
                          <a:latin typeface="Arial"/>
                        </a:rPr>
                        <a:t>partnerships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Ciputra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Replicable township development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Standardise capabilities while adapting to local markets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Summarecon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Community building and estate</a:t>
                      </a:r>
                    </a:p>
                    <a:p>
                      <a:pPr>
                        <a:lnSpc>
                          <a:spcPts val="1829"/>
                        </a:lnSpc>
                        <a:spcBef>
                          <a:spcPts val="0"/>
                        </a:spcBef>
                        <a:spcAft>
                          <a:spcPts val="0"/>
                        </a:spcAft>
                      </a:pPr>
                      <a:r>
                        <a:rPr sz="1550" b="0">
                          <a:solidFill>
                            <a:srgbClr val="183A32"/>
                          </a:solidFill>
                          <a:latin typeface="Arial"/>
                        </a:rPr>
                        <a:t>management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Make the post-handover experience a competitive asset</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Pakuwon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Income-producing mixed-use</a:t>
                      </a:r>
                    </a:p>
                    <a:p>
                      <a:pPr>
                        <a:lnSpc>
                          <a:spcPts val="1829"/>
                        </a:lnSpc>
                        <a:spcBef>
                          <a:spcPts val="0"/>
                        </a:spcBef>
                        <a:spcAft>
                          <a:spcPts val="0"/>
                        </a:spcAft>
                      </a:pPr>
                      <a:r>
                        <a:rPr sz="1550" b="0">
                          <a:solidFill>
                            <a:srgbClr val="183A32"/>
                          </a:solidFill>
                          <a:latin typeface="Arial"/>
                        </a:rPr>
                        <a:t>assets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Develop recurring revenue alongside property sales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Agung Sedayu / PIK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Destination and lifestyle activation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Create visitation and desire for the wider location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Different Developers. Different Engines of Advantage.</a:t>
            </a:r>
          </a:p>
        </p:txBody>
      </p:sp>
      <p:graphicFrame>
        <p:nvGraphicFramePr>
          <p:cNvPr id="11" name="Table 10"/>
          <p:cNvGraphicFramePr>
            <a:graphicFrameLocks noGrp="1"/>
          </p:cNvGraphicFramePr>
          <p:nvPr/>
        </p:nvGraphicFramePr>
        <p:xfrm>
          <a:off x="685800" y="2084831"/>
          <a:ext cx="10789919" cy="352983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Developer or group</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Recognised strength</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Competitive lesson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Lippo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Diversified property platforms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Maintain portfolio and capital discipline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Paramount Land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Commercialisation and residential</a:t>
                      </a:r>
                    </a:p>
                    <a:p>
                      <a:pPr>
                        <a:lnSpc>
                          <a:spcPts val="1829"/>
                        </a:lnSpc>
                        <a:spcBef>
                          <a:spcPts val="0"/>
                        </a:spcBef>
                        <a:spcAft>
                          <a:spcPts val="0"/>
                        </a:spcAft>
                      </a:pPr>
                      <a:r>
                        <a:rPr sz="1550" b="0">
                          <a:solidFill>
                            <a:srgbClr val="183A32"/>
                          </a:solidFill>
                          <a:latin typeface="Arial"/>
                        </a:rPr>
                        <a:t>segmentation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Match products, positioning, and launches to demand</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Alam Sutera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environment and</a:t>
                      </a:r>
                    </a:p>
                    <a:p>
                      <a:pPr>
                        <a:lnSpc>
                          <a:spcPts val="1829"/>
                        </a:lnSpc>
                        <a:spcBef>
                          <a:spcPts val="0"/>
                        </a:spcBef>
                        <a:spcAft>
                          <a:spcPts val="0"/>
                        </a:spcAft>
                      </a:pPr>
                      <a:r>
                        <a:rPr sz="1550" b="0">
                          <a:solidFill>
                            <a:srgbClr val="183A32"/>
                          </a:solidFill>
                          <a:latin typeface="Arial"/>
                        </a:rPr>
                        <a:t>lifestyle appeal</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Connect public realm, amenities, and place identity</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Agung Podomoro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High-density mixed-use</a:t>
                      </a:r>
                    </a:p>
                    <a:p>
                      <a:pPr>
                        <a:lnSpc>
                          <a:spcPts val="1829"/>
                        </a:lnSpc>
                        <a:spcBef>
                          <a:spcPts val="0"/>
                        </a:spcBef>
                        <a:spcAft>
                          <a:spcPts val="0"/>
                        </a:spcAft>
                      </a:pPr>
                      <a:r>
                        <a:rPr sz="1550" b="0">
                          <a:solidFill>
                            <a:srgbClr val="183A32"/>
                          </a:solidFill>
                          <a:latin typeface="Arial"/>
                        </a:rPr>
                        <a:t>development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Understand integration benefits and execution exposure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Intiland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Mixed-use, industrial, and</a:t>
                      </a:r>
                    </a:p>
                    <a:p>
                      <a:pPr>
                        <a:lnSpc>
                          <a:spcPts val="1829"/>
                        </a:lnSpc>
                        <a:spcBef>
                          <a:spcPts val="0"/>
                        </a:spcBef>
                        <a:spcAft>
                          <a:spcPts val="0"/>
                        </a:spcAft>
                      </a:pPr>
                      <a:r>
                        <a:rPr sz="1550" b="0">
                          <a:solidFill>
                            <a:srgbClr val="183A32"/>
                          </a:solidFill>
                          <a:latin typeface="Arial"/>
                        </a:rPr>
                        <a:t>investment property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Balance development income with operating assets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Different Developers. Different Engines of Advantage.</a:t>
            </a:r>
          </a:p>
        </p:txBody>
      </p:sp>
      <p:sp>
        <p:nvSpPr>
          <p:cNvPr id="11" name="TextBox 10"/>
          <p:cNvSpPr txBox="1"/>
          <p:nvPr/>
        </p:nvSpPr>
        <p:spPr>
          <a:xfrm>
            <a:off x="6400800" y="2514600"/>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Application to TANRISE: Select mechanisms</a:t>
            </a:r>
          </a:p>
          <a:p>
            <a:pPr>
              <a:lnSpc>
                <a:spcPts val="2440"/>
              </a:lnSpc>
              <a:spcBef>
                <a:spcPts val="0"/>
              </a:spcBef>
              <a:spcAft>
                <a:spcPts val="0"/>
              </a:spcAft>
            </a:pPr>
            <a:r>
              <a:rPr sz="2000" b="0" i="0">
                <a:solidFill>
                  <a:srgbClr val="183A32"/>
                </a:solidFill>
                <a:latin typeface="Times New Roman"/>
              </a:rPr>
              <a:t>suited to its existing assets, pipeline, capital</a:t>
            </a:r>
          </a:p>
          <a:p>
            <a:pPr>
              <a:lnSpc>
                <a:spcPts val="2440"/>
              </a:lnSpc>
              <a:spcBef>
                <a:spcPts val="0"/>
              </a:spcBef>
              <a:spcAft>
                <a:spcPts val="0"/>
              </a:spcAft>
            </a:pPr>
            <a:r>
              <a:rPr sz="2000" b="0" i="0">
                <a:solidFill>
                  <a:srgbClr val="183A32"/>
                </a:solidFill>
                <a:latin typeface="Times New Roman"/>
              </a:rPr>
              <a:t>capacity, and delivery capabilities.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City Becomes More Valuable as Its Ecosystem Matures.</a:t>
            </a:r>
          </a:p>
        </p:txBody>
      </p:sp>
      <p:cxnSp>
        <p:nvCxnSpPr>
          <p:cNvPr id="11" name="Connector 10"/>
          <p:cNvCxnSpPr/>
          <p:nvPr/>
        </p:nvCxnSpPr>
        <p:spPr>
          <a:xfrm>
            <a:off x="6062472" y="2084831"/>
            <a:ext cx="0" cy="303885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Development journey Township and residential</a:t>
            </a:r>
          </a:p>
          <a:p>
            <a:pPr>
              <a:lnSpc>
                <a:spcPts val="2196"/>
              </a:lnSpc>
              <a:spcBef>
                <a:spcPts val="0"/>
              </a:spcBef>
              <a:spcAft>
                <a:spcPts val="0"/>
              </a:spcAft>
            </a:pPr>
            <a:r>
              <a:rPr sz="1800" b="0" i="0">
                <a:solidFill>
                  <a:srgbClr val="183A32"/>
                </a:solidFill>
                <a:latin typeface="Times New Roman"/>
              </a:rPr>
              <a:t>development expanded into commercial districts,</a:t>
            </a:r>
          </a:p>
          <a:p>
            <a:pPr>
              <a:lnSpc>
                <a:spcPts val="2196"/>
              </a:lnSpc>
              <a:spcBef>
                <a:spcPts val="0"/>
              </a:spcBef>
              <a:spcAft>
                <a:spcPts val="0"/>
              </a:spcAft>
            </a:pPr>
            <a:r>
              <a:rPr sz="1800" b="0" i="0">
                <a:solidFill>
                  <a:srgbClr val="183A32"/>
                </a:solidFill>
                <a:latin typeface="Times New Roman"/>
              </a:rPr>
              <a:t>education, technology, retail, and mobility</a:t>
            </a:r>
          </a:p>
          <a:p>
            <a:pPr>
              <a:lnSpc>
                <a:spcPts val="2196"/>
              </a:lnSpc>
              <a:spcBef>
                <a:spcPts val="0"/>
              </a:spcBef>
              <a:spcAft>
                <a:spcPts val="0"/>
              </a:spcAft>
            </a:pPr>
            <a:r>
              <a:rPr sz="1800" b="0" i="0">
                <a:solidFill>
                  <a:srgbClr val="183A32"/>
                </a:solidFill>
                <a:latin typeface="Times New Roman"/>
              </a:rPr>
              <a:t>infrastructure.</a:t>
            </a:r>
          </a:p>
        </p:txBody>
      </p:sp>
      <p:sp>
        <p:nvSpPr>
          <p:cNvPr id="13" name="TextBox 12"/>
          <p:cNvSpPr txBox="1"/>
          <p:nvPr/>
        </p:nvSpPr>
        <p:spPr>
          <a:xfrm>
            <a:off x="685800" y="3378707"/>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Success mechanism Complementary institutions and</a:t>
            </a:r>
          </a:p>
          <a:p>
            <a:pPr>
              <a:lnSpc>
                <a:spcPts val="2196"/>
              </a:lnSpc>
              <a:spcBef>
                <a:spcPts val="0"/>
              </a:spcBef>
              <a:spcAft>
                <a:spcPts val="0"/>
              </a:spcAft>
            </a:pPr>
            <a:r>
              <a:rPr sz="1800" b="0" i="0">
                <a:solidFill>
                  <a:srgbClr val="183A32"/>
                </a:solidFill>
                <a:latin typeface="Times New Roman"/>
              </a:rPr>
              <a:t>activities increase the usefulness and attractiveness of</a:t>
            </a:r>
          </a:p>
          <a:p>
            <a:pPr>
              <a:lnSpc>
                <a:spcPts val="2196"/>
              </a:lnSpc>
              <a:spcBef>
                <a:spcPts val="0"/>
              </a:spcBef>
              <a:spcAft>
                <a:spcPts val="0"/>
              </a:spcAft>
            </a:pPr>
            <a:r>
              <a:rPr sz="1800" b="0" i="0">
                <a:solidFill>
                  <a:srgbClr val="183A32"/>
                </a:solidFill>
                <a:latin typeface="Times New Roman"/>
              </a:rPr>
              <a:t>the location.</a:t>
            </a:r>
          </a:p>
        </p:txBody>
      </p:sp>
      <p:sp>
        <p:nvSpPr>
          <p:cNvPr id="14" name="TextBox 13"/>
          <p:cNvSpPr txBox="1"/>
          <p:nvPr/>
        </p:nvSpPr>
        <p:spPr>
          <a:xfrm>
            <a:off x="6400800" y="208483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Long-term planning,</a:t>
            </a:r>
          </a:p>
          <a:p>
            <a:pPr>
              <a:lnSpc>
                <a:spcPts val="2196"/>
              </a:lnSpc>
              <a:spcBef>
                <a:spcPts val="0"/>
              </a:spcBef>
              <a:spcAft>
                <a:spcPts val="0"/>
              </a:spcAft>
            </a:pPr>
            <a:r>
              <a:rPr sz="1800" b="0" i="0">
                <a:solidFill>
                  <a:srgbClr val="183A32"/>
                </a:solidFill>
                <a:latin typeface="Times New Roman"/>
              </a:rPr>
              <a:t>substantial development scale, and institutional and</a:t>
            </a:r>
          </a:p>
          <a:p>
            <a:pPr>
              <a:lnSpc>
                <a:spcPts val="2196"/>
              </a:lnSpc>
              <a:spcBef>
                <a:spcPts val="0"/>
              </a:spcBef>
              <a:spcAft>
                <a:spcPts val="0"/>
              </a:spcAft>
            </a:pPr>
            <a:r>
              <a:rPr sz="1800" b="0" i="0">
                <a:solidFill>
                  <a:srgbClr val="183A32"/>
                </a:solidFill>
                <a:latin typeface="Times New Roman"/>
              </a:rPr>
              <a:t>commercial partnerships.</a:t>
            </a:r>
          </a:p>
        </p:txBody>
      </p:sp>
      <p:sp>
        <p:nvSpPr>
          <p:cNvPr id="15" name="TextBox 14"/>
          <p:cNvSpPr txBox="1"/>
          <p:nvPr/>
        </p:nvSpPr>
        <p:spPr>
          <a:xfrm>
            <a:off x="6400800" y="3099815"/>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Risk Large townships require patient capital,</a:t>
            </a:r>
          </a:p>
          <a:p>
            <a:pPr>
              <a:lnSpc>
                <a:spcPts val="2196"/>
              </a:lnSpc>
              <a:spcBef>
                <a:spcPts val="0"/>
              </a:spcBef>
              <a:spcAft>
                <a:spcPts val="0"/>
              </a:spcAft>
            </a:pPr>
            <a:r>
              <a:rPr sz="1800" b="0" i="0">
                <a:solidFill>
                  <a:srgbClr val="183A32"/>
                </a:solidFill>
                <a:latin typeface="Times New Roman"/>
              </a:rPr>
              <a:t>infrastructure investment, and careful phasing.</a:t>
            </a:r>
          </a:p>
        </p:txBody>
      </p:sp>
      <p:sp>
        <p:nvSpPr>
          <p:cNvPr id="16" name="TextBox 15"/>
          <p:cNvSpPr txBox="1"/>
          <p:nvPr/>
        </p:nvSpPr>
        <p:spPr>
          <a:xfrm>
            <a:off x="6400800" y="386333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APPLICATION TO TANRISE</a:t>
            </a:r>
          </a:p>
        </p:txBody>
      </p:sp>
      <p:sp>
        <p:nvSpPr>
          <p:cNvPr id="17" name="TextBox 16"/>
          <p:cNvSpPr txBox="1"/>
          <p:nvPr/>
        </p:nvSpPr>
        <p:spPr>
          <a:xfrm>
            <a:off x="6400800" y="418464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Tanrise City Sidoarjo and Tanrise Bandung,</a:t>
            </a:r>
          </a:p>
          <a:p>
            <a:pPr>
              <a:lnSpc>
                <a:spcPts val="2196"/>
              </a:lnSpc>
              <a:spcBef>
                <a:spcPts val="0"/>
              </a:spcBef>
              <a:spcAft>
                <a:spcPts val="0"/>
              </a:spcAft>
            </a:pPr>
            <a:r>
              <a:rPr sz="1800" b="0" i="0">
                <a:solidFill>
                  <a:srgbClr val="183A32"/>
                </a:solidFill>
                <a:latin typeface="Times New Roman"/>
              </a:rPr>
              <a:t>evaluate the anchors that support everyday life and</a:t>
            </a:r>
          </a:p>
          <a:p>
            <a:pPr>
              <a:lnSpc>
                <a:spcPts val="2196"/>
              </a:lnSpc>
              <a:spcBef>
                <a:spcPts val="0"/>
              </a:spcBef>
              <a:spcAft>
                <a:spcPts val="0"/>
              </a:spcAft>
            </a:pPr>
            <a:r>
              <a:rPr sz="1800" b="0" i="0">
                <a:solidFill>
                  <a:srgbClr val="183A32"/>
                </a:solidFill>
                <a:latin typeface="Times New Roman"/>
              </a:rPr>
              <a:t>commercial activity:</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City Becomes More Valuable as Its Ecosystem Matures.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Schools and education partners.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Convenient retail and supermarkets.</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Transport access.</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Employment and business activity.</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Public and community facilities.</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Essential services.</a:t>
            </a:r>
          </a:p>
        </p:txBody>
      </p:sp>
      <p:sp>
        <p:nvSpPr>
          <p:cNvPr id="23" name="TextBox 22"/>
          <p:cNvSpPr txBox="1"/>
          <p:nvPr/>
        </p:nvSpPr>
        <p:spPr>
          <a:xfrm>
            <a:off x="685800" y="478154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strategic development priorities, not claims that all facilities are already committed.</a:t>
            </a:r>
          </a:p>
        </p:txBody>
      </p:sp>
      <p:sp>
        <p:nvSpPr>
          <p:cNvPr id="24" name="Rectangle 23"/>
          <p:cNvSpPr/>
          <p:nvPr/>
        </p:nvSpPr>
        <p:spPr>
          <a:xfrm>
            <a:off x="685800" y="5238749"/>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5238749"/>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 y="5321045"/>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principle: Build the reasons to live there alongside the homes.</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029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Build a Development Capability That Can Be Repeated.</a:t>
            </a:r>
          </a:p>
        </p:txBody>
      </p:sp>
      <p:cxnSp>
        <p:nvCxnSpPr>
          <p:cNvPr id="11" name="Connector 10"/>
          <p:cNvCxnSpPr/>
          <p:nvPr/>
        </p:nvCxnSpPr>
        <p:spPr>
          <a:xfrm>
            <a:off x="6062472" y="2084831"/>
            <a:ext cx="0" cy="271576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Development journey Early residential and township</a:t>
            </a:r>
          </a:p>
          <a:p>
            <a:pPr>
              <a:lnSpc>
                <a:spcPts val="2196"/>
              </a:lnSpc>
              <a:spcBef>
                <a:spcPts val="0"/>
              </a:spcBef>
              <a:spcAft>
                <a:spcPts val="0"/>
              </a:spcAft>
            </a:pPr>
            <a:r>
              <a:rPr sz="1800" b="0" i="0">
                <a:solidFill>
                  <a:srgbClr val="183A32"/>
                </a:solidFill>
                <a:latin typeface="Times New Roman"/>
              </a:rPr>
              <a:t>projects developed into a geographically diversified</a:t>
            </a:r>
          </a:p>
          <a:p>
            <a:pPr>
              <a:lnSpc>
                <a:spcPts val="2196"/>
              </a:lnSpc>
              <a:spcBef>
                <a:spcPts val="0"/>
              </a:spcBef>
              <a:spcAft>
                <a:spcPts val="0"/>
              </a:spcAft>
            </a:pPr>
            <a:r>
              <a:rPr sz="1800" b="0" i="0">
                <a:solidFill>
                  <a:srgbClr val="183A32"/>
                </a:solidFill>
                <a:latin typeface="Times New Roman"/>
              </a:rPr>
              <a:t>portfolio.</a:t>
            </a:r>
          </a:p>
        </p:txBody>
      </p:sp>
      <p:sp>
        <p:nvSpPr>
          <p:cNvPr id="13" name="TextBox 12"/>
          <p:cNvSpPr txBox="1"/>
          <p:nvPr/>
        </p:nvSpPr>
        <p:spPr>
          <a:xfrm>
            <a:off x="685800" y="3099815"/>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Success mechanism A recognisable approach</a:t>
            </a:r>
          </a:p>
          <a:p>
            <a:pPr>
              <a:lnSpc>
                <a:spcPts val="2196"/>
              </a:lnSpc>
              <a:spcBef>
                <a:spcPts val="0"/>
              </a:spcBef>
              <a:spcAft>
                <a:spcPts val="0"/>
              </a:spcAft>
            </a:pPr>
            <a:r>
              <a:rPr sz="1800" b="0" i="0">
                <a:solidFill>
                  <a:srgbClr val="183A32"/>
                </a:solidFill>
                <a:latin typeface="Times New Roman"/>
              </a:rPr>
              <a:t>combines housing, commercial facilities, and</a:t>
            </a:r>
          </a:p>
          <a:p>
            <a:pPr>
              <a:lnSpc>
                <a:spcPts val="2196"/>
              </a:lnSpc>
              <a:spcBef>
                <a:spcPts val="0"/>
              </a:spcBef>
              <a:spcAft>
                <a:spcPts val="0"/>
              </a:spcAft>
            </a:pPr>
            <a:r>
              <a:rPr sz="1800" b="0" i="0">
                <a:solidFill>
                  <a:srgbClr val="183A32"/>
                </a:solidFill>
                <a:latin typeface="Times New Roman"/>
              </a:rPr>
              <a:t>supporting amenities across different markets.</a:t>
            </a:r>
          </a:p>
        </p:txBody>
      </p:sp>
      <p:sp>
        <p:nvSpPr>
          <p:cNvPr id="14" name="TextBox 13"/>
          <p:cNvSpPr txBox="1"/>
          <p:nvPr/>
        </p:nvSpPr>
        <p:spPr>
          <a:xfrm>
            <a:off x="685800" y="4114800"/>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Replicable capabilities and a</a:t>
            </a:r>
          </a:p>
          <a:p>
            <a:pPr>
              <a:lnSpc>
                <a:spcPts val="2196"/>
              </a:lnSpc>
              <a:spcBef>
                <a:spcPts val="0"/>
              </a:spcBef>
              <a:spcAft>
                <a:spcPts val="0"/>
              </a:spcAft>
            </a:pPr>
            <a:r>
              <a:rPr sz="1800" b="0" i="0">
                <a:solidFill>
                  <a:srgbClr val="183A32"/>
                </a:solidFill>
                <a:latin typeface="Times New Roman"/>
              </a:rPr>
              <a:t>broad project portfolio.</a:t>
            </a:r>
          </a:p>
        </p:txBody>
      </p:sp>
      <p:sp>
        <p:nvSpPr>
          <p:cNvPr id="15" name="TextBox 14"/>
          <p:cNvSpPr txBox="1"/>
          <p:nvPr/>
        </p:nvSpPr>
        <p:spPr>
          <a:xfrm>
            <a:off x="6400800" y="208483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Risk Geographic diversification introduces varying</a:t>
            </a:r>
          </a:p>
          <a:p>
            <a:pPr>
              <a:lnSpc>
                <a:spcPts val="2196"/>
              </a:lnSpc>
              <a:spcBef>
                <a:spcPts val="0"/>
              </a:spcBef>
              <a:spcAft>
                <a:spcPts val="0"/>
              </a:spcAft>
            </a:pPr>
            <a:r>
              <a:rPr sz="1800" b="0" i="0">
                <a:solidFill>
                  <a:srgbClr val="183A32"/>
                </a:solidFill>
                <a:latin typeface="Times New Roman"/>
              </a:rPr>
              <a:t>demand, execution, and inventory risks.</a:t>
            </a:r>
          </a:p>
        </p:txBody>
      </p:sp>
      <p:sp>
        <p:nvSpPr>
          <p:cNvPr id="16" name="TextBox 15"/>
          <p:cNvSpPr txBox="1"/>
          <p:nvPr/>
        </p:nvSpPr>
        <p:spPr>
          <a:xfrm>
            <a:off x="6400800" y="2848356"/>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APPLICATION TO TANRISE</a:t>
            </a:r>
          </a:p>
        </p:txBody>
      </p:sp>
      <p:sp>
        <p:nvSpPr>
          <p:cNvPr id="17" name="TextBox 16"/>
          <p:cNvSpPr txBox="1"/>
          <p:nvPr/>
        </p:nvSpPr>
        <p:spPr>
          <a:xfrm>
            <a:off x="6400800" y="3169666"/>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Create a repeatable development framework for:</a:t>
            </a:r>
          </a:p>
        </p:txBody>
      </p:sp>
      <p:sp>
        <p:nvSpPr>
          <p:cNvPr id="18" name="Rectangle 17"/>
          <p:cNvSpPr/>
          <p:nvPr/>
        </p:nvSpPr>
        <p:spPr>
          <a:xfrm>
            <a:off x="6400800" y="37183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62686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Grand Sunrise Menganti.</a:t>
            </a:r>
          </a:p>
        </p:txBody>
      </p:sp>
      <p:sp>
        <p:nvSpPr>
          <p:cNvPr id="20" name="Rectangle 19"/>
          <p:cNvSpPr/>
          <p:nvPr/>
        </p:nvSpPr>
        <p:spPr>
          <a:xfrm>
            <a:off x="6400800" y="416775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4076319"/>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Sunrise Residence Sidoarjo, subject to</a:t>
            </a:r>
          </a:p>
          <a:p>
            <a:pPr>
              <a:lnSpc>
                <a:spcPts val="2135"/>
              </a:lnSpc>
              <a:spcBef>
                <a:spcPts val="0"/>
              </a:spcBef>
              <a:spcAft>
                <a:spcPts val="0"/>
              </a:spcAft>
            </a:pPr>
            <a:r>
              <a:rPr sz="1750" b="0" i="0">
                <a:solidFill>
                  <a:srgbClr val="183A32"/>
                </a:solidFill>
                <a:latin typeface="Arial"/>
              </a:rPr>
              <a:t>confirmation of the Jumana naming transition.</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Build a Development Capability That Can Be Repeated.</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Malang residential developments.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Residential components within Tanrise Bandung and Tanrise City Sidoarjo.</a:t>
            </a:r>
          </a:p>
        </p:txBody>
      </p:sp>
      <p:sp>
        <p:nvSpPr>
          <p:cNvPr id="15" name="TextBox 14"/>
          <p:cNvSpPr txBox="1"/>
          <p:nvPr/>
        </p:nvSpPr>
        <p:spPr>
          <a:xfrm>
            <a:off x="685800" y="298373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Standardise site selection, research, feasibility, design principles, pricing, phasing, and customer experience while</a:t>
            </a:r>
          </a:p>
          <a:p>
            <a:pPr>
              <a:lnSpc>
                <a:spcPts val="2196"/>
              </a:lnSpc>
              <a:spcBef>
                <a:spcPts val="0"/>
              </a:spcBef>
              <a:spcAft>
                <a:spcPts val="0"/>
              </a:spcAft>
            </a:pPr>
            <a:r>
              <a:rPr sz="1800" b="0" i="0">
                <a:solidFill>
                  <a:srgbClr val="183A32"/>
                </a:solidFill>
                <a:latin typeface="Times New Roman"/>
              </a:rPr>
              <a:t>adapting each project to its market.</a:t>
            </a:r>
          </a:p>
        </p:txBody>
      </p:sp>
      <p:sp>
        <p:nvSpPr>
          <p:cNvPr id="16" name="Rectangle 15"/>
          <p:cNvSpPr/>
          <p:nvPr/>
        </p:nvSpPr>
        <p:spPr>
          <a:xfrm>
            <a:off x="685800" y="3719830"/>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719830"/>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 y="3802126"/>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principle: Standardise the method. Localise the concept.</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Community’s Value Continues After Handover.</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Development journey From Kelapa Gading into multiple integrated township developments.</a:t>
            </a:r>
          </a:p>
        </p:txBody>
      </p:sp>
      <p:sp>
        <p:nvSpPr>
          <p:cNvPr id="12" name="TextBox 11"/>
          <p:cNvSpPr txBox="1"/>
          <p:nvPr/>
        </p:nvSpPr>
        <p:spPr>
          <a:xfrm>
            <a:off x="685800" y="254203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Success mechanism Combine residential products, commercial facilities, lifestyle destinations, and long-term</a:t>
            </a:r>
          </a:p>
          <a:p>
            <a:pPr>
              <a:lnSpc>
                <a:spcPts val="2196"/>
              </a:lnSpc>
              <a:spcBef>
                <a:spcPts val="0"/>
              </a:spcBef>
              <a:spcAft>
                <a:spcPts val="0"/>
              </a:spcAft>
            </a:pPr>
            <a:r>
              <a:rPr sz="1800" b="0" i="0">
                <a:solidFill>
                  <a:srgbClr val="183A32"/>
                </a:solidFill>
                <a:latin typeface="Times New Roman"/>
              </a:rPr>
              <a:t>township management.</a:t>
            </a:r>
          </a:p>
        </p:txBody>
      </p:sp>
      <p:sp>
        <p:nvSpPr>
          <p:cNvPr id="13" name="TextBox 12"/>
          <p:cNvSpPr txBox="1"/>
          <p:nvPr/>
        </p:nvSpPr>
        <p:spPr>
          <a:xfrm>
            <a:off x="685800" y="32781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Recognisable development identity and continuing community management.</a:t>
            </a:r>
          </a:p>
        </p:txBody>
      </p:sp>
      <p:sp>
        <p:nvSpPr>
          <p:cNvPr id="14" name="TextBox 13"/>
          <p:cNvSpPr txBox="1"/>
          <p:nvPr/>
        </p:nvSpPr>
        <p:spPr>
          <a:xfrm>
            <a:off x="685800" y="37353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Risk Estate operations require consistent funding, governance, and service delivery.</a:t>
            </a:r>
          </a:p>
        </p:txBody>
      </p:sp>
      <p:sp>
        <p:nvSpPr>
          <p:cNvPr id="15" name="TextBox 14"/>
          <p:cNvSpPr txBox="1"/>
          <p:nvPr/>
        </p:nvSpPr>
        <p:spPr>
          <a:xfrm>
            <a:off x="685800" y="421995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APPLICATION TO TANRISE</a:t>
            </a:r>
          </a:p>
        </p:txBody>
      </p:sp>
      <p:sp>
        <p:nvSpPr>
          <p:cNvPr id="16" name="TextBox 15"/>
          <p:cNvSpPr txBox="1"/>
          <p:nvPr/>
        </p:nvSpPr>
        <p:spPr>
          <a:xfrm>
            <a:off x="685800" y="454126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Translate CINTA and Super-Serving into measurable commitments across:</a:t>
            </a:r>
          </a:p>
        </p:txBody>
      </p:sp>
      <p:sp>
        <p:nvSpPr>
          <p:cNvPr id="17" name="Rectangle 16"/>
          <p:cNvSpPr/>
          <p:nvPr/>
        </p:nvSpPr>
        <p:spPr>
          <a:xfrm>
            <a:off x="685800" y="508990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99846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Grand Sunrise Menganti.</a:t>
            </a:r>
          </a:p>
        </p:txBody>
      </p:sp>
      <p:sp>
        <p:nvSpPr>
          <p:cNvPr id="19" name="Rectangle 18"/>
          <p:cNvSpPr/>
          <p:nvPr/>
        </p:nvSpPr>
        <p:spPr>
          <a:xfrm>
            <a:off x="685800" y="553935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544791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Kyo Society.</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Community’s Value Continues After Handover.</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Sunrise Residence Sidoarjo.</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Tanrise Taman Dayu Pandaan.</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Future residential phases in Bandung, Sidoarjo, and Malang.</a:t>
            </a:r>
          </a:p>
        </p:txBody>
      </p:sp>
      <p:sp>
        <p:nvSpPr>
          <p:cNvPr id="17" name="TextBox 16"/>
          <p:cNvSpPr txBox="1"/>
          <p:nvPr/>
        </p:nvSpPr>
        <p:spPr>
          <a:xfrm>
            <a:off x="685800" y="343319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Establish estate-management standards, maintenance responsibilities, resident communication, and</a:t>
            </a:r>
          </a:p>
          <a:p>
            <a:pPr>
              <a:lnSpc>
                <a:spcPts val="2196"/>
              </a:lnSpc>
              <a:spcBef>
                <a:spcPts val="0"/>
              </a:spcBef>
              <a:spcAft>
                <a:spcPts val="0"/>
              </a:spcAft>
            </a:pPr>
            <a:r>
              <a:rPr sz="1800" b="0" i="0">
                <a:solidFill>
                  <a:srgbClr val="183A32"/>
                </a:solidFill>
                <a:latin typeface="Times New Roman"/>
              </a:rPr>
              <a:t>service-performance measures appropriate to each project.</a:t>
            </a:r>
          </a:p>
        </p:txBody>
      </p:sp>
      <p:sp>
        <p:nvSpPr>
          <p:cNvPr id="18" name="Rectangle 17"/>
          <p:cNvSpPr/>
          <p:nvPr/>
        </p:nvSpPr>
        <p:spPr>
          <a:xfrm>
            <a:off x="685800" y="4169283"/>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169283"/>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4251579"/>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principle: The relationship begins at purchase. Trust is earned afterward.</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13–14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Asset Should Continue Earning After It Is Built.</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Development journey Shopping centres and commercial assets evolved into integrated retail, office, residential, and</a:t>
            </a:r>
          </a:p>
          <a:p>
            <a:pPr>
              <a:lnSpc>
                <a:spcPts val="2196"/>
              </a:lnSpc>
              <a:spcBef>
                <a:spcPts val="0"/>
              </a:spcBef>
              <a:spcAft>
                <a:spcPts val="0"/>
              </a:spcAft>
            </a:pPr>
            <a:r>
              <a:rPr sz="1800" b="0" i="0">
                <a:solidFill>
                  <a:srgbClr val="183A32"/>
                </a:solidFill>
                <a:latin typeface="Times New Roman"/>
              </a:rPr>
              <a:t>hospitality developments.</a:t>
            </a:r>
          </a:p>
        </p:txBody>
      </p:sp>
      <p:sp>
        <p:nvSpPr>
          <p:cNvPr id="12" name="TextBox 11"/>
          <p:cNvSpPr txBox="1"/>
          <p:nvPr/>
        </p:nvSpPr>
        <p:spPr>
          <a:xfrm>
            <a:off x="685800" y="28209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Success mechanism Retain productive assets and combine complementary property uses.</a:t>
            </a:r>
          </a:p>
        </p:txBody>
      </p:sp>
      <p:graphicFrame>
        <p:nvGraphicFramePr>
          <p:cNvPr id="13" name="Table 12"/>
          <p:cNvGraphicFramePr>
            <a:graphicFrameLocks noGrp="1"/>
          </p:cNvGraphicFramePr>
          <p:nvPr/>
        </p:nvGraphicFramePr>
        <p:xfrm>
          <a:off x="685800" y="3278124"/>
          <a:ext cx="10789919" cy="13003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FY2025 measure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Reported figure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Revenue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Approximately Rp7.11 trillion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Recurring revenue share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Approximately 79%</a:t>
                      </a:r>
                    </a:p>
                  </a:txBody>
                  <a:tcPr marL="109728" marR="109728" marT="82296" marB="0" anchor="t">
                    <a:solidFill>
                      <a:srgbClr val="E9E8DC"/>
                    </a:solidFill>
                    <a:lnL>
                      <a:noFill/>
                    </a:lnL>
                    <a:lnR>
                      <a:noFill/>
                    </a:lnR>
                    <a:lnT>
                      <a:noFill/>
                    </a:lnT>
                    <a:lnB>
                      <a:noFill/>
                    </a:lnB>
                  </a:tcPr>
                </a:tc>
              </a:tr>
            </a:tbl>
          </a:graphicData>
        </a:graphic>
      </p:graphicFrame>
      <p:sp>
        <p:nvSpPr>
          <p:cNvPr id="14" name="TextBox 13"/>
          <p:cNvSpPr txBox="1"/>
          <p:nvPr/>
        </p:nvSpPr>
        <p:spPr>
          <a:xfrm>
            <a:off x="685800" y="476135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Risk Retained assets require substantial capital and remain exposed to occupancy, operating costs, and changing</a:t>
            </a:r>
          </a:p>
          <a:p>
            <a:pPr>
              <a:lnSpc>
                <a:spcPts val="2196"/>
              </a:lnSpc>
              <a:spcBef>
                <a:spcPts val="0"/>
              </a:spcBef>
              <a:spcAft>
                <a:spcPts val="0"/>
              </a:spcAft>
            </a:pPr>
            <a:r>
              <a:rPr sz="1800" b="0" i="0">
                <a:solidFill>
                  <a:srgbClr val="183A32"/>
                </a:solidFill>
                <a:latin typeface="Times New Roman"/>
              </a:rPr>
              <a:t>consumer behaviour.</a:t>
            </a:r>
          </a:p>
        </p:txBody>
      </p:sp>
      <p:sp>
        <p:nvSpPr>
          <p:cNvPr id="15" name="TextBox 1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Pakuwon’s FY2025 annual report.</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13–14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Application to TANRISE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Evaluate long-term income potential across:</a:t>
            </a:r>
          </a:p>
        </p:txBody>
      </p:sp>
      <p:sp>
        <p:nvSpPr>
          <p:cNvPr id="12" name="Rectangle 11"/>
          <p:cNvSpPr/>
          <p:nvPr/>
        </p:nvSpPr>
        <p:spPr>
          <a:xfrm>
            <a:off x="685800" y="26334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5420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Voza Tower.</a:t>
            </a:r>
          </a:p>
        </p:txBody>
      </p:sp>
      <p:sp>
        <p:nvSpPr>
          <p:cNvPr id="14" name="Rectangle 13"/>
          <p:cNvSpPr/>
          <p:nvPr/>
        </p:nvSpPr>
        <p:spPr>
          <a:xfrm>
            <a:off x="685800" y="30829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914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Rame-Rame.</a:t>
            </a:r>
          </a:p>
        </p:txBody>
      </p:sp>
      <p:sp>
        <p:nvSpPr>
          <p:cNvPr id="16" name="Rectangle 15"/>
          <p:cNvSpPr/>
          <p:nvPr/>
        </p:nvSpPr>
        <p:spPr>
          <a:xfrm>
            <a:off x="685800" y="35323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4409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Midpoint Kayoon.</a:t>
            </a:r>
          </a:p>
        </p:txBody>
      </p:sp>
      <p:sp>
        <p:nvSpPr>
          <p:cNvPr id="18" name="Rectangle 17"/>
          <p:cNvSpPr/>
          <p:nvPr/>
        </p:nvSpPr>
        <p:spPr>
          <a:xfrm>
            <a:off x="685800" y="398183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89039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Grand Central Bandung.</a:t>
            </a:r>
          </a:p>
        </p:txBody>
      </p:sp>
      <p:sp>
        <p:nvSpPr>
          <p:cNvPr id="20" name="Rectangle 19"/>
          <p:cNvSpPr/>
          <p:nvPr/>
        </p:nvSpPr>
        <p:spPr>
          <a:xfrm>
            <a:off x="685800" y="44312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3398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Bali Bites.</a:t>
            </a:r>
          </a:p>
        </p:txBody>
      </p:sp>
      <p:sp>
        <p:nvSpPr>
          <p:cNvPr id="22" name="Rectangle 21"/>
          <p:cNvSpPr/>
          <p:nvPr/>
        </p:nvSpPr>
        <p:spPr>
          <a:xfrm>
            <a:off x="685800" y="48807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7892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and villa assets.</a:t>
            </a:r>
          </a:p>
        </p:txBody>
      </p:sp>
      <p:sp>
        <p:nvSpPr>
          <p:cNvPr id="24" name="Rectangle 23"/>
          <p:cNvSpPr/>
          <p:nvPr/>
        </p:nvSpPr>
        <p:spPr>
          <a:xfrm>
            <a:off x="685800" y="53301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52387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Golf Taman Dayu and the Driving Range.</a:t>
            </a:r>
          </a:p>
        </p:txBody>
      </p:sp>
      <p:sp>
        <p:nvSpPr>
          <p:cNvPr id="26" name="TextBox 25"/>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Pakuwon’s FY2025 annual report.</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13–14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Asset Should Continue Earning After It Is Built.</a:t>
            </a:r>
          </a:p>
        </p:txBody>
      </p:sp>
      <p:sp>
        <p:nvSpPr>
          <p:cNvPr id="11" name="TextBox 10"/>
          <p:cNvSpPr txBox="1"/>
          <p:nvPr/>
        </p:nvSpPr>
        <p:spPr>
          <a:xfrm>
            <a:off x="6400800" y="2514600"/>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Selected warehouse and industrial properties.</a:t>
            </a:r>
          </a:p>
        </p:txBody>
      </p:sp>
      <p:sp>
        <p:nvSpPr>
          <p:cNvPr id="12" name="TextBox 11"/>
          <p:cNvSpPr txBox="1"/>
          <p:nvPr/>
        </p:nvSpPr>
        <p:spPr>
          <a:xfrm>
            <a:off x="6400800" y="3066796"/>
            <a:ext cx="5029200" cy="679196"/>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Choose what to sell, retain, lease, or operate with</a:t>
            </a:r>
          </a:p>
          <a:p>
            <a:pPr>
              <a:lnSpc>
                <a:spcPts val="2440"/>
              </a:lnSpc>
              <a:spcBef>
                <a:spcPts val="0"/>
              </a:spcBef>
              <a:spcAft>
                <a:spcPts val="0"/>
              </a:spcAft>
            </a:pPr>
            <a:r>
              <a:rPr sz="2000" b="0" i="0">
                <a:solidFill>
                  <a:srgbClr val="183A32"/>
                </a:solidFill>
                <a:latin typeface="Times New Roman"/>
              </a:rPr>
              <a:t>partners based on asset-level economics.</a:t>
            </a:r>
          </a:p>
        </p:txBody>
      </p:sp>
      <p:sp>
        <p:nvSpPr>
          <p:cNvPr id="13" name="TextBox 12"/>
          <p:cNvSpPr txBox="1"/>
          <p:nvPr/>
        </p:nvSpPr>
        <p:spPr>
          <a:xfrm>
            <a:off x="6400800" y="3928872"/>
            <a:ext cx="5029200" cy="679196"/>
          </a:xfrm>
          <a:prstGeom prst="rect">
            <a:avLst/>
          </a:prstGeom>
          <a:noFill/>
        </p:spPr>
        <p:txBody>
          <a:bodyPr wrap="none" lIns="0" rIns="0" tIns="0" bIns="0">
            <a:spAutoFit/>
          </a:bodyPr>
          <a:lstStyle/>
          <a:p>
            <a:pPr>
              <a:lnSpc>
                <a:spcPts val="2440"/>
              </a:lnSpc>
              <a:spcBef>
                <a:spcPts val="0"/>
              </a:spcBef>
              <a:spcAft>
                <a:spcPts val="0"/>
              </a:spcAft>
            </a:pPr>
            <a:r>
              <a:rPr sz="2000" b="0" i="1">
                <a:solidFill>
                  <a:srgbClr val="183A32"/>
                </a:solidFill>
                <a:latin typeface="Times New Roman"/>
              </a:rPr>
              <a:t>Key principle: Development creates the asset.</a:t>
            </a:r>
          </a:p>
          <a:p>
            <a:pPr>
              <a:lnSpc>
                <a:spcPts val="2440"/>
              </a:lnSpc>
              <a:spcBef>
                <a:spcPts val="0"/>
              </a:spcBef>
              <a:spcAft>
                <a:spcPts val="0"/>
              </a:spcAft>
            </a:pPr>
            <a:r>
              <a:rPr sz="2000" b="0" i="1">
                <a:solidFill>
                  <a:srgbClr val="183A32"/>
                </a:solidFill>
                <a:latin typeface="Times New Roman"/>
              </a:rPr>
              <a:t>Management compounds its value.</a:t>
            </a:r>
          </a:p>
        </p:txBody>
      </p:sp>
      <p:sp>
        <p:nvSpPr>
          <p:cNvPr id="14" name="TextBox 1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Pakuwon’s FY2025 annual report.</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14–15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Destinations Create Demand Before the Property</a:t>
            </a:r>
          </a:p>
          <a:p>
            <a:pPr>
              <a:lnSpc>
                <a:spcPts val="3502"/>
              </a:lnSpc>
              <a:spcBef>
                <a:spcPts val="0"/>
              </a:spcBef>
              <a:spcAft>
                <a:spcPts val="0"/>
              </a:spcAft>
            </a:pPr>
            <a:r>
              <a:rPr sz="3100" b="0" i="0">
                <a:solidFill>
                  <a:srgbClr val="153F35"/>
                </a:solidFill>
                <a:latin typeface="Arial"/>
              </a:rPr>
              <a:t>Transaction.</a:t>
            </a:r>
          </a:p>
        </p:txBody>
      </p:sp>
      <p:sp>
        <p:nvSpPr>
          <p:cNvPr id="11" name="TextBox 10"/>
          <p:cNvSpPr txBox="1"/>
          <p:nvPr/>
        </p:nvSpPr>
        <p:spPr>
          <a:xfrm>
            <a:off x="685800" y="216992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Development approach Curated culinary, retail, leisure, and public experiences give destinations a recognisable</a:t>
            </a:r>
          </a:p>
          <a:p>
            <a:pPr>
              <a:lnSpc>
                <a:spcPts val="2196"/>
              </a:lnSpc>
              <a:spcBef>
                <a:spcPts val="0"/>
              </a:spcBef>
              <a:spcAft>
                <a:spcPts val="0"/>
              </a:spcAft>
            </a:pPr>
            <a:r>
              <a:rPr sz="1800" b="0" i="0">
                <a:solidFill>
                  <a:srgbClr val="183A32"/>
                </a:solidFill>
                <a:latin typeface="Times New Roman"/>
              </a:rPr>
              <a:t>identity.</a:t>
            </a:r>
          </a:p>
        </p:txBody>
      </p:sp>
      <p:sp>
        <p:nvSpPr>
          <p:cNvPr id="12" name="TextBox 11"/>
          <p:cNvSpPr txBox="1"/>
          <p:nvPr/>
        </p:nvSpPr>
        <p:spPr>
          <a:xfrm>
            <a:off x="685800" y="29060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Success mechanism People actively want to visit, experience, and associate with the place.</a:t>
            </a:r>
          </a:p>
        </p:txBody>
      </p:sp>
      <p:sp>
        <p:nvSpPr>
          <p:cNvPr id="13" name="TextBox 12"/>
          <p:cNvSpPr txBox="1"/>
          <p:nvPr/>
        </p:nvSpPr>
        <p:spPr>
          <a:xfrm>
            <a:off x="685800" y="33632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Destination storytelling, tenant curation, and market visibility.</a:t>
            </a:r>
          </a:p>
        </p:txBody>
      </p:sp>
      <p:sp>
        <p:nvSpPr>
          <p:cNvPr id="14" name="TextBox 13"/>
          <p:cNvSpPr txBox="1"/>
          <p:nvPr/>
        </p:nvSpPr>
        <p:spPr>
          <a:xfrm>
            <a:off x="685800" y="38204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Risk Visitor traffic does not automatically produce profitable operations or higher property returns.</a:t>
            </a:r>
          </a:p>
        </p:txBody>
      </p:sp>
      <p:sp>
        <p:nvSpPr>
          <p:cNvPr id="15" name="TextBox 14"/>
          <p:cNvSpPr txBox="1"/>
          <p:nvPr/>
        </p:nvSpPr>
        <p:spPr>
          <a:xfrm>
            <a:off x="685800" y="430504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APPLICATION TO TANRISE</a:t>
            </a:r>
          </a:p>
        </p:txBody>
      </p:sp>
      <p:sp>
        <p:nvSpPr>
          <p:cNvPr id="16" name="TextBox 15"/>
          <p:cNvSpPr txBox="1"/>
          <p:nvPr/>
        </p:nvSpPr>
        <p:spPr>
          <a:xfrm>
            <a:off x="685800" y="462635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Build on existing destination components:</a:t>
            </a:r>
          </a:p>
        </p:txBody>
      </p:sp>
      <p:sp>
        <p:nvSpPr>
          <p:cNvPr id="17" name="Rectangle 16"/>
          <p:cNvSpPr/>
          <p:nvPr/>
        </p:nvSpPr>
        <p:spPr>
          <a:xfrm>
            <a:off x="685800" y="517499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508355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Tanrise Taman Dayu Pandaan.</a:t>
            </a:r>
          </a:p>
        </p:txBody>
      </p:sp>
      <p:sp>
        <p:nvSpPr>
          <p:cNvPr id="19" name="Rectangle 18"/>
          <p:cNvSpPr/>
          <p:nvPr/>
        </p:nvSpPr>
        <p:spPr>
          <a:xfrm>
            <a:off x="685800" y="562444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553300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Golf Taman Dayu.</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14–15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037</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Destinations Create Demand Before the Property</a:t>
            </a:r>
          </a:p>
          <a:p>
            <a:pPr>
              <a:lnSpc>
                <a:spcPts val="3502"/>
              </a:lnSpc>
              <a:spcBef>
                <a:spcPts val="0"/>
              </a:spcBef>
              <a:spcAft>
                <a:spcPts val="0"/>
              </a:spcAft>
            </a:pPr>
            <a:r>
              <a:rPr sz="3100" b="0" i="0">
                <a:solidFill>
                  <a:srgbClr val="153F35"/>
                </a:solidFill>
                <a:latin typeface="Arial"/>
              </a:rPr>
              <a:t>Transaction.</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The Driving Range.</a:t>
            </a:r>
          </a:p>
        </p:txBody>
      </p:sp>
      <p:sp>
        <p:nvSpPr>
          <p:cNvPr id="13" name="Rectangle 12"/>
          <p:cNvSpPr/>
          <p:nvPr/>
        </p:nvSpPr>
        <p:spPr>
          <a:xfrm>
            <a:off x="685800" y="27108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6193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Rame-Rame.</a:t>
            </a:r>
          </a:p>
        </p:txBody>
      </p:sp>
      <p:sp>
        <p:nvSpPr>
          <p:cNvPr id="15" name="Rectangle 14"/>
          <p:cNvSpPr/>
          <p:nvPr/>
        </p:nvSpPr>
        <p:spPr>
          <a:xfrm>
            <a:off x="685800" y="31602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0688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Bali Bites and its F&amp;B activity.</a:t>
            </a:r>
          </a:p>
        </p:txBody>
      </p:sp>
      <p:sp>
        <p:nvSpPr>
          <p:cNvPr id="17" name="TextBox 16"/>
          <p:cNvSpPr txBox="1"/>
          <p:nvPr/>
        </p:nvSpPr>
        <p:spPr>
          <a:xfrm>
            <a:off x="685800" y="3518280"/>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Evaluate future activation opportunities within Swiss of Taman Dayu Pandaan, Tanrise Bandung, and Tanrise City</a:t>
            </a:r>
          </a:p>
          <a:p>
            <a:pPr>
              <a:lnSpc>
                <a:spcPts val="2196"/>
              </a:lnSpc>
              <a:spcBef>
                <a:spcPts val="0"/>
              </a:spcBef>
              <a:spcAft>
                <a:spcPts val="0"/>
              </a:spcAft>
            </a:pPr>
            <a:r>
              <a:rPr sz="1800" b="0" i="0">
                <a:solidFill>
                  <a:srgbClr val="183A32"/>
                </a:solidFill>
                <a:latin typeface="Times New Roman"/>
              </a:rPr>
              <a:t>Sidoarjo.</a:t>
            </a:r>
          </a:p>
        </p:txBody>
      </p:sp>
      <p:sp>
        <p:nvSpPr>
          <p:cNvPr id="18" name="TextBox 17"/>
          <p:cNvSpPr txBox="1"/>
          <p:nvPr/>
        </p:nvSpPr>
        <p:spPr>
          <a:xfrm>
            <a:off x="685800" y="425437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Measure visitation, spending, repeat participation, operating contribution, and conversion into property enquiries and</a:t>
            </a:r>
          </a:p>
          <a:p>
            <a:pPr>
              <a:lnSpc>
                <a:spcPts val="2196"/>
              </a:lnSpc>
              <a:spcBef>
                <a:spcPts val="0"/>
              </a:spcBef>
              <a:spcAft>
                <a:spcPts val="0"/>
              </a:spcAft>
            </a:pPr>
            <a:r>
              <a:rPr sz="1800" b="0" i="0">
                <a:solidFill>
                  <a:srgbClr val="183A32"/>
                </a:solidFill>
                <a:latin typeface="Times New Roman"/>
              </a:rPr>
              <a:t>sales.</a:t>
            </a:r>
          </a:p>
        </p:txBody>
      </p:sp>
      <p:sp>
        <p:nvSpPr>
          <p:cNvPr id="19" name="Rectangle 18"/>
          <p:cNvSpPr/>
          <p:nvPr/>
        </p:nvSpPr>
        <p:spPr>
          <a:xfrm>
            <a:off x="685800" y="4990464"/>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990464"/>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 y="5072760"/>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principle: Let people experience the destination before asking them to invest in it.</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15–16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Select the Mechanisms That Fit TANRISE.</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Business model</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Strength</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Structural vulnerability</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Township expansion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Scalable development pipeline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Infrastructure and capital intensity</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Residential replication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Repeatable sales model</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Market cycles and inventory exposure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Mixed-use development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Complementary uses and</a:t>
                      </a:r>
                    </a:p>
                    <a:p>
                      <a:pPr>
                        <a:lnSpc>
                          <a:spcPts val="1829"/>
                        </a:lnSpc>
                        <a:spcBef>
                          <a:spcPts val="0"/>
                        </a:spcBef>
                        <a:spcAft>
                          <a:spcPts val="0"/>
                        </a:spcAft>
                      </a:pPr>
                      <a:r>
                        <a:rPr sz="1550" b="0">
                          <a:solidFill>
                            <a:srgbClr val="183A32"/>
                          </a:solidFill>
                          <a:latin typeface="Arial"/>
                        </a:rPr>
                        <a:t>customer activity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Concentrated asset and execution risk</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Recurring-income</a:t>
                      </a:r>
                    </a:p>
                    <a:p>
                      <a:pPr>
                        <a:lnSpc>
                          <a:spcPts val="1829"/>
                        </a:lnSpc>
                        <a:spcBef>
                          <a:spcPts val="0"/>
                        </a:spcBef>
                        <a:spcAft>
                          <a:spcPts val="0"/>
                        </a:spcAft>
                      </a:pPr>
                      <a:r>
                        <a:rPr sz="1550" b="0">
                          <a:solidFill>
                            <a:srgbClr val="183A32"/>
                          </a:solidFill>
                          <a:latin typeface="Arial"/>
                        </a:rPr>
                        <a:t>assets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Continuing revenue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Long payback periods and operating costs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Destination-led</a:t>
                      </a:r>
                    </a:p>
                    <a:p>
                      <a:pPr>
                        <a:lnSpc>
                          <a:spcPts val="1829"/>
                        </a:lnSpc>
                        <a:spcBef>
                          <a:spcPts val="0"/>
                        </a:spcBef>
                        <a:spcAft>
                          <a:spcPts val="0"/>
                        </a:spcAft>
                      </a:pPr>
                      <a:r>
                        <a:rPr sz="1550" b="0">
                          <a:solidFill>
                            <a:srgbClr val="183A32"/>
                          </a:solidFill>
                          <a:latin typeface="Arial"/>
                        </a:rPr>
                        <a:t>development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Place identity and visitation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Activation cost and demand uncertainty</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15–16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039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Select the Mechanisms That Fit TANRISE.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business-model risks rather than claims that particular competitors are failing.</a:t>
            </a:r>
          </a:p>
        </p:txBody>
      </p:sp>
      <p:sp>
        <p:nvSpPr>
          <p:cNvPr id="12" name="TextBox 11"/>
          <p:cNvSpPr txBox="1"/>
          <p:nvPr/>
        </p:nvSpPr>
        <p:spPr>
          <a:xfrm>
            <a:off x="685800" y="2569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IMPLICATION FOR TANRISE</a:t>
            </a:r>
          </a:p>
        </p:txBody>
      </p:sp>
      <p:sp>
        <p:nvSpPr>
          <p:cNvPr id="13" name="TextBox 12"/>
          <p:cNvSpPr txBox="1"/>
          <p:nvPr/>
        </p:nvSpPr>
        <p:spPr>
          <a:xfrm>
            <a:off x="685800" y="28907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already has exposure to several of these models.</a:t>
            </a:r>
          </a:p>
        </p:txBody>
      </p:sp>
      <p:sp>
        <p:nvSpPr>
          <p:cNvPr id="14" name="TextBox 13"/>
          <p:cNvSpPr txBox="1"/>
          <p:nvPr/>
        </p:nvSpPr>
        <p:spPr>
          <a:xfrm>
            <a:off x="685800" y="33479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priority is to establish which combinations create the best risk-adjusted value across its five business pillars.</a:t>
            </a:r>
          </a:p>
        </p:txBody>
      </p:sp>
      <p:sp>
        <p:nvSpPr>
          <p:cNvPr id="15" name="Rectangle 14"/>
          <p:cNvSpPr/>
          <p:nvPr/>
        </p:nvSpPr>
        <p:spPr>
          <a:xfrm>
            <a:off x="685800" y="3805173"/>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805173"/>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3887469"/>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Recommendation: Scale models supported by demand, investment capacity, operating capability, and demonstrated</a:t>
            </a:r>
          </a:p>
          <a:p>
            <a:pPr>
              <a:lnSpc>
                <a:spcPts val="2013"/>
              </a:lnSpc>
              <a:spcBef>
                <a:spcPts val="0"/>
              </a:spcBef>
              <a:spcAft>
                <a:spcPts val="0"/>
              </a:spcAft>
            </a:pPr>
            <a:r>
              <a:rPr sz="1650" b="0" i="0">
                <a:solidFill>
                  <a:srgbClr val="183A32"/>
                </a:solidFill>
                <a:latin typeface="Times New Roman"/>
              </a:rPr>
              <a:t>performance.</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16–17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More Human, More Accountable Developer.</a:t>
            </a:r>
          </a:p>
        </p:txBody>
      </p:sp>
      <p:cxnSp>
        <p:nvCxnSpPr>
          <p:cNvPr id="11" name="Connector 10"/>
          <p:cNvCxnSpPr/>
          <p:nvPr/>
        </p:nvCxnSpPr>
        <p:spPr>
          <a:xfrm>
            <a:off x="6062472" y="2084831"/>
            <a:ext cx="0" cy="265328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can build differentiation through five</a:t>
            </a:r>
          </a:p>
          <a:p>
            <a:pPr>
              <a:lnSpc>
                <a:spcPts val="2196"/>
              </a:lnSpc>
              <a:spcBef>
                <a:spcPts val="0"/>
              </a:spcBef>
              <a:spcAft>
                <a:spcPts val="0"/>
              </a:spcAft>
            </a:pPr>
            <a:r>
              <a:rPr sz="1800" b="0" i="0">
                <a:solidFill>
                  <a:srgbClr val="183A32"/>
                </a:solidFill>
                <a:latin typeface="Times New Roman"/>
              </a:rPr>
              <a:t>commitments.</a:t>
            </a:r>
          </a:p>
        </p:txBody>
      </p:sp>
      <p:sp>
        <p:nvSpPr>
          <p:cNvPr id="13" name="Rectangle 12"/>
          <p:cNvSpPr/>
          <p:nvPr/>
        </p:nvSpPr>
        <p:spPr>
          <a:xfrm>
            <a:off x="685800" y="29123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2092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Purposeful Development Begin every project</a:t>
            </a:r>
          </a:p>
          <a:p>
            <a:pPr>
              <a:lnSpc>
                <a:spcPts val="2135"/>
              </a:lnSpc>
              <a:spcBef>
                <a:spcPts val="0"/>
              </a:spcBef>
              <a:spcAft>
                <a:spcPts val="0"/>
              </a:spcAft>
            </a:pPr>
            <a:r>
              <a:rPr sz="1750" b="0" i="0">
                <a:solidFill>
                  <a:srgbClr val="183A32"/>
                </a:solidFill>
                <a:latin typeface="Arial"/>
              </a:rPr>
              <a:t>with a real human or business need.</a:t>
            </a:r>
          </a:p>
        </p:txBody>
      </p:sp>
      <p:sp>
        <p:nvSpPr>
          <p:cNvPr id="15" name="Rectangle 14"/>
          <p:cNvSpPr/>
          <p:nvPr/>
        </p:nvSpPr>
        <p:spPr>
          <a:xfrm>
            <a:off x="685800" y="36329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54152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Visible Commitments Clearly distinguish</a:t>
            </a:r>
          </a:p>
          <a:p>
            <a:pPr>
              <a:lnSpc>
                <a:spcPts val="2135"/>
              </a:lnSpc>
              <a:spcBef>
                <a:spcPts val="0"/>
              </a:spcBef>
              <a:spcAft>
                <a:spcPts val="0"/>
              </a:spcAft>
            </a:pPr>
            <a:r>
              <a:rPr sz="1750" b="0" i="0">
                <a:solidFill>
                  <a:srgbClr val="183A32"/>
                </a:solidFill>
                <a:latin typeface="Arial"/>
              </a:rPr>
              <a:t>existing facilities, ongoing development, future</a:t>
            </a:r>
          </a:p>
          <a:p>
            <a:pPr>
              <a:lnSpc>
                <a:spcPts val="2135"/>
              </a:lnSpc>
              <a:spcBef>
                <a:spcPts val="0"/>
              </a:spcBef>
              <a:spcAft>
                <a:spcPts val="0"/>
              </a:spcAft>
            </a:pPr>
            <a:r>
              <a:rPr sz="1750" b="0" i="0">
                <a:solidFill>
                  <a:srgbClr val="183A32"/>
                </a:solidFill>
                <a:latin typeface="Arial"/>
              </a:rPr>
              <a:t>plans, and proposed partnerships.</a:t>
            </a:r>
          </a:p>
        </p:txBody>
      </p:sp>
      <p:sp>
        <p:nvSpPr>
          <p:cNvPr id="17" name="Rectangle 16"/>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Connected Experiences Coordinate property,</a:t>
            </a:r>
          </a:p>
          <a:p>
            <a:pPr>
              <a:lnSpc>
                <a:spcPts val="2135"/>
              </a:lnSpc>
              <a:spcBef>
                <a:spcPts val="0"/>
              </a:spcBef>
              <a:spcAft>
                <a:spcPts val="0"/>
              </a:spcAft>
            </a:pPr>
            <a:r>
              <a:rPr sz="1750" b="0" i="0">
                <a:solidFill>
                  <a:srgbClr val="183A32"/>
                </a:solidFill>
                <a:latin typeface="Arial"/>
              </a:rPr>
              <a:t>services, partners, and community activity across</a:t>
            </a:r>
          </a:p>
          <a:p>
            <a:pPr>
              <a:lnSpc>
                <a:spcPts val="2135"/>
              </a:lnSpc>
              <a:spcBef>
                <a:spcPts val="0"/>
              </a:spcBef>
              <a:spcAft>
                <a:spcPts val="0"/>
              </a:spcAft>
            </a:pPr>
            <a:r>
              <a:rPr sz="1750" b="0" i="0">
                <a:solidFill>
                  <a:srgbClr val="183A32"/>
                </a:solidFill>
                <a:latin typeface="Arial"/>
              </a:rPr>
              <a:t>relevant assets.</a:t>
            </a:r>
          </a:p>
        </p:txBody>
      </p:sp>
      <p:sp>
        <p:nvSpPr>
          <p:cNvPr id="19" name="Rectangle 18"/>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Continued Care Maintain relationships beyond</a:t>
            </a:r>
          </a:p>
          <a:p>
            <a:pPr>
              <a:lnSpc>
                <a:spcPts val="2135"/>
              </a:lnSpc>
              <a:spcBef>
                <a:spcPts val="0"/>
              </a:spcBef>
              <a:spcAft>
                <a:spcPts val="0"/>
              </a:spcAft>
            </a:pPr>
            <a:r>
              <a:rPr sz="1750" b="0" i="0">
                <a:solidFill>
                  <a:srgbClr val="183A32"/>
                </a:solidFill>
                <a:latin typeface="Arial"/>
              </a:rPr>
              <a:t>the initial transaction.</a:t>
            </a:r>
          </a:p>
        </p:txBody>
      </p:sp>
      <p:sp>
        <p:nvSpPr>
          <p:cNvPr id="21" name="Rectangle 20"/>
          <p:cNvSpPr/>
          <p:nvPr/>
        </p:nvSpPr>
        <p:spPr>
          <a:xfrm>
            <a:off x="6400800" y="3888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797172"/>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Disciplined Investment Build developments and</a:t>
            </a:r>
          </a:p>
          <a:p>
            <a:pPr>
              <a:lnSpc>
                <a:spcPts val="2135"/>
              </a:lnSpc>
              <a:spcBef>
                <a:spcPts val="0"/>
              </a:spcBef>
              <a:spcAft>
                <a:spcPts val="0"/>
              </a:spcAft>
            </a:pPr>
            <a:r>
              <a:rPr sz="1750" b="0" i="0">
                <a:solidFill>
                  <a:srgbClr val="183A32"/>
                </a:solidFill>
                <a:latin typeface="Arial"/>
              </a:rPr>
              <a:t>operating ecosystems that can be sustained</a:t>
            </a:r>
          </a:p>
          <a:p>
            <a:pPr>
              <a:lnSpc>
                <a:spcPts val="2135"/>
              </a:lnSpc>
              <a:spcBef>
                <a:spcPts val="0"/>
              </a:spcBef>
              <a:spcAft>
                <a:spcPts val="0"/>
              </a:spcAft>
            </a:pPr>
            <a:r>
              <a:rPr sz="1750" b="0" i="0">
                <a:solidFill>
                  <a:srgbClr val="183A32"/>
                </a:solidFill>
                <a:latin typeface="Arial"/>
              </a:rPr>
              <a:t>commercially.</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16–17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This Means for Portfolio Communication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Customers and investors should be able to understand:</a:t>
            </a:r>
          </a:p>
        </p:txBody>
      </p:sp>
      <p:sp>
        <p:nvSpPr>
          <p:cNvPr id="12" name="Rectangle 11"/>
          <p:cNvSpPr/>
          <p:nvPr/>
        </p:nvSpPr>
        <p:spPr>
          <a:xfrm>
            <a:off x="685800" y="26334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5420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the project is called.</a:t>
            </a:r>
          </a:p>
        </p:txBody>
      </p:sp>
      <p:sp>
        <p:nvSpPr>
          <p:cNvPr id="14" name="Rectangle 13"/>
          <p:cNvSpPr/>
          <p:nvPr/>
        </p:nvSpPr>
        <p:spPr>
          <a:xfrm>
            <a:off x="685800" y="30829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914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it is located.</a:t>
            </a:r>
          </a:p>
        </p:txBody>
      </p:sp>
      <p:sp>
        <p:nvSpPr>
          <p:cNvPr id="16" name="Rectangle 15"/>
          <p:cNvSpPr/>
          <p:nvPr/>
        </p:nvSpPr>
        <p:spPr>
          <a:xfrm>
            <a:off x="685800" y="35323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4409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Whether it exists or is planned.</a:t>
            </a:r>
          </a:p>
        </p:txBody>
      </p:sp>
      <p:sp>
        <p:nvSpPr>
          <p:cNvPr id="18" name="Rectangle 17"/>
          <p:cNvSpPr/>
          <p:nvPr/>
        </p:nvSpPr>
        <p:spPr>
          <a:xfrm>
            <a:off x="685800" y="398183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89039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owns or develops it.</a:t>
            </a:r>
          </a:p>
        </p:txBody>
      </p:sp>
      <p:sp>
        <p:nvSpPr>
          <p:cNvPr id="20" name="Rectangle 19"/>
          <p:cNvSpPr/>
          <p:nvPr/>
        </p:nvSpPr>
        <p:spPr>
          <a:xfrm>
            <a:off x="685800" y="44312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3398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operates or manages it.</a:t>
            </a:r>
          </a:p>
        </p:txBody>
      </p:sp>
      <p:sp>
        <p:nvSpPr>
          <p:cNvPr id="22" name="Rectangle 21"/>
          <p:cNvSpPr/>
          <p:nvPr/>
        </p:nvSpPr>
        <p:spPr>
          <a:xfrm>
            <a:off x="685800" y="48807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7892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has been committed.</a:t>
            </a:r>
          </a:p>
        </p:txBody>
      </p:sp>
      <p:sp>
        <p:nvSpPr>
          <p:cNvPr id="24" name="Rectangle 23"/>
          <p:cNvSpPr/>
          <p:nvPr/>
        </p:nvSpPr>
        <p:spPr>
          <a:xfrm>
            <a:off x="685800" y="53301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52387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remains proposed.</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17.3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16–17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 More Human, More Accountable Developer.</a:t>
            </a:r>
          </a:p>
        </p:txBody>
      </p:sp>
      <p:sp>
        <p:nvSpPr>
          <p:cNvPr id="11" name="TextBox 10"/>
          <p:cNvSpPr txBox="1"/>
          <p:nvPr/>
        </p:nvSpPr>
        <p:spPr>
          <a:xfrm>
            <a:off x="6400800" y="2514600"/>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These are proposed differentiation territories</a:t>
            </a:r>
          </a:p>
          <a:p>
            <a:pPr>
              <a:lnSpc>
                <a:spcPts val="2440"/>
              </a:lnSpc>
              <a:spcBef>
                <a:spcPts val="0"/>
              </a:spcBef>
              <a:spcAft>
                <a:spcPts val="0"/>
              </a:spcAft>
            </a:pPr>
            <a:r>
              <a:rPr sz="2000" b="0" i="0">
                <a:solidFill>
                  <a:srgbClr val="183A32"/>
                </a:solidFill>
                <a:latin typeface="Times New Roman"/>
              </a:rPr>
              <a:t>requiring validation against competitor practices</a:t>
            </a:r>
          </a:p>
          <a:p>
            <a:pPr>
              <a:lnSpc>
                <a:spcPts val="2440"/>
              </a:lnSpc>
              <a:spcBef>
                <a:spcPts val="0"/>
              </a:spcBef>
              <a:spcAft>
                <a:spcPts val="0"/>
              </a:spcAft>
            </a:pPr>
            <a:r>
              <a:rPr sz="2000" b="0" i="0">
                <a:solidFill>
                  <a:srgbClr val="183A32"/>
                </a:solidFill>
                <a:latin typeface="Times New Roman"/>
              </a:rPr>
              <a:t>and TANRISE’s capabilities.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CHAPTER 03</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043</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03</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Corporate and portfolio architecture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17–19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044</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Clarify the Relationship Between TANRISE, TANLY, and the</a:t>
            </a:r>
          </a:p>
          <a:p>
            <a:pPr>
              <a:lnSpc>
                <a:spcPts val="3502"/>
              </a:lnSpc>
              <a:spcBef>
                <a:spcPts val="0"/>
              </a:spcBef>
              <a:spcAft>
                <a:spcPts val="0"/>
              </a:spcAft>
            </a:pPr>
            <a:r>
              <a:rPr sz="3100" b="0" i="0">
                <a:solidFill>
                  <a:srgbClr val="153F35"/>
                </a:solidFill>
                <a:latin typeface="Arial"/>
              </a:rPr>
              <a:t>Projects.</a:t>
            </a:r>
          </a:p>
        </p:txBody>
      </p:sp>
      <p:sp>
        <p:nvSpPr>
          <p:cNvPr id="11" name="TextBox 10"/>
          <p:cNvSpPr txBox="1"/>
          <p:nvPr/>
        </p:nvSpPr>
        <p:spPr>
          <a:xfrm>
            <a:off x="685800" y="216992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TANCORP publicly presents TANRISE Property and TANLY Hospitality as separate business platforms.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17–19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Clarify the Relationship Between TANRISE, TANLY, and the</a:t>
            </a:r>
          </a:p>
          <a:p>
            <a:pPr>
              <a:lnSpc>
                <a:spcPts val="3502"/>
              </a:lnSpc>
              <a:spcBef>
                <a:spcPts val="0"/>
              </a:spcBef>
              <a:spcAft>
                <a:spcPts val="0"/>
              </a:spcAft>
            </a:pPr>
            <a:r>
              <a:rPr sz="3100" b="0" i="0">
                <a:solidFill>
                  <a:srgbClr val="153F35"/>
                </a:solidFill>
                <a:latin typeface="Arial"/>
              </a:rPr>
              <a:t>Projects.</a:t>
            </a:r>
          </a:p>
        </p:txBody>
      </p:sp>
      <p:sp>
        <p:nvSpPr>
          <p:cNvPr id="11" name="TextBox 10"/>
          <p:cNvSpPr txBox="1"/>
          <p:nvPr/>
        </p:nvSpPr>
        <p:spPr>
          <a:xfrm>
            <a:off x="685800" y="195960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LEVEL / ROLE</a:t>
            </a:r>
          </a:p>
        </p:txBody>
      </p:sp>
      <p:sp>
        <p:nvSpPr>
          <p:cNvPr id="12" name="Rectangle 11"/>
          <p:cNvSpPr/>
          <p:nvPr/>
        </p:nvSpPr>
        <p:spPr>
          <a:xfrm>
            <a:off x="3794760" y="2169921"/>
            <a:ext cx="4572000" cy="777240"/>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2288793"/>
            <a:ext cx="4297680" cy="322833"/>
          </a:xfrm>
          <a:prstGeom prst="rect">
            <a:avLst/>
          </a:prstGeom>
          <a:noFill/>
        </p:spPr>
        <p:txBody>
          <a:bodyPr wrap="none" lIns="0" rIns="0" tIns="0" bIns="0">
            <a:spAutoFit/>
          </a:bodyPr>
          <a:lstStyle/>
          <a:p>
            <a:pPr>
              <a:lnSpc>
                <a:spcPts val="2074"/>
              </a:lnSpc>
              <a:spcBef>
                <a:spcPts val="0"/>
              </a:spcBef>
              <a:spcAft>
                <a:spcPts val="0"/>
              </a:spcAft>
            </a:pPr>
            <a:r>
              <a:rPr sz="1700" b="1" i="0">
                <a:solidFill>
                  <a:srgbClr val="153F35"/>
                </a:solidFill>
                <a:latin typeface="Arial"/>
              </a:rPr>
              <a:t>TANCORP</a:t>
            </a:r>
          </a:p>
        </p:txBody>
      </p:sp>
      <p:sp>
        <p:nvSpPr>
          <p:cNvPr id="14" name="TextBox 13"/>
          <p:cNvSpPr txBox="1"/>
          <p:nvPr/>
        </p:nvSpPr>
        <p:spPr>
          <a:xfrm>
            <a:off x="3931920" y="2608833"/>
            <a:ext cx="4297680" cy="291846"/>
          </a:xfrm>
          <a:prstGeom prst="rect">
            <a:avLst/>
          </a:prstGeom>
          <a:noFill/>
        </p:spPr>
        <p:txBody>
          <a:bodyPr wrap="none" lIns="0" rIns="0" tIns="0" bIns="0">
            <a:spAutoFit/>
          </a:bodyPr>
          <a:lstStyle/>
          <a:p>
            <a:pPr>
              <a:lnSpc>
                <a:spcPts val="1830"/>
              </a:lnSpc>
              <a:spcBef>
                <a:spcPts val="0"/>
              </a:spcBef>
              <a:spcAft>
                <a:spcPts val="0"/>
              </a:spcAft>
            </a:pPr>
            <a:r>
              <a:rPr sz="1500" b="0" i="0">
                <a:solidFill>
                  <a:srgbClr val="183A32"/>
                </a:solidFill>
                <a:latin typeface="Times New Roman"/>
              </a:rPr>
              <a:t>Wider group context</a:t>
            </a:r>
          </a:p>
        </p:txBody>
      </p:sp>
      <p:cxnSp>
        <p:nvCxnSpPr>
          <p:cNvPr id="15" name="Connector 14"/>
          <p:cNvCxnSpPr/>
          <p:nvPr/>
        </p:nvCxnSpPr>
        <p:spPr>
          <a:xfrm>
            <a:off x="6080760" y="2947162"/>
            <a:ext cx="0" cy="22860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46120" y="3175762"/>
            <a:ext cx="5669280"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246120" y="3175762"/>
            <a:ext cx="0" cy="182879"/>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915400" y="3175762"/>
            <a:ext cx="0" cy="182879"/>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5800" y="3358641"/>
            <a:ext cx="5248656" cy="914400"/>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77513"/>
            <a:ext cx="4974336" cy="322833"/>
          </a:xfrm>
          <a:prstGeom prst="rect">
            <a:avLst/>
          </a:prstGeom>
          <a:noFill/>
        </p:spPr>
        <p:txBody>
          <a:bodyPr wrap="none" lIns="0" rIns="0" tIns="0" bIns="0">
            <a:spAutoFit/>
          </a:bodyPr>
          <a:lstStyle/>
          <a:p>
            <a:pPr>
              <a:lnSpc>
                <a:spcPts val="2074"/>
              </a:lnSpc>
              <a:spcBef>
                <a:spcPts val="0"/>
              </a:spcBef>
              <a:spcAft>
                <a:spcPts val="0"/>
              </a:spcAft>
            </a:pPr>
            <a:r>
              <a:rPr sz="1700" b="1" i="0">
                <a:solidFill>
                  <a:srgbClr val="153F35"/>
                </a:solidFill>
                <a:latin typeface="Arial"/>
              </a:rPr>
              <a:t>TANRISE Property</a:t>
            </a:r>
          </a:p>
        </p:txBody>
      </p:sp>
      <p:sp>
        <p:nvSpPr>
          <p:cNvPr id="21" name="TextBox 20"/>
          <p:cNvSpPr txBox="1"/>
          <p:nvPr/>
        </p:nvSpPr>
        <p:spPr>
          <a:xfrm>
            <a:off x="822960" y="3797554"/>
            <a:ext cx="4974336" cy="291846"/>
          </a:xfrm>
          <a:prstGeom prst="rect">
            <a:avLst/>
          </a:prstGeom>
          <a:noFill/>
        </p:spPr>
        <p:txBody>
          <a:bodyPr wrap="none" lIns="0" rIns="0" tIns="0" bIns="0">
            <a:spAutoFit/>
          </a:bodyPr>
          <a:lstStyle/>
          <a:p>
            <a:pPr>
              <a:lnSpc>
                <a:spcPts val="1830"/>
              </a:lnSpc>
              <a:spcBef>
                <a:spcPts val="0"/>
              </a:spcBef>
              <a:spcAft>
                <a:spcPts val="0"/>
              </a:spcAft>
            </a:pPr>
            <a:r>
              <a:rPr sz="1500" b="0" i="0">
                <a:solidFill>
                  <a:srgbClr val="183A32"/>
                </a:solidFill>
                <a:latin typeface="Times New Roman"/>
              </a:rPr>
              <a:t>Property development and investment platform</a:t>
            </a:r>
          </a:p>
        </p:txBody>
      </p:sp>
      <p:sp>
        <p:nvSpPr>
          <p:cNvPr id="22" name="Rectangle 21"/>
          <p:cNvSpPr/>
          <p:nvPr/>
        </p:nvSpPr>
        <p:spPr>
          <a:xfrm>
            <a:off x="6227064" y="3358641"/>
            <a:ext cx="5248656" cy="914400"/>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3477513"/>
            <a:ext cx="4974336" cy="322833"/>
          </a:xfrm>
          <a:prstGeom prst="rect">
            <a:avLst/>
          </a:prstGeom>
          <a:noFill/>
        </p:spPr>
        <p:txBody>
          <a:bodyPr wrap="none" lIns="0" rIns="0" tIns="0" bIns="0">
            <a:spAutoFit/>
          </a:bodyPr>
          <a:lstStyle/>
          <a:p>
            <a:pPr>
              <a:lnSpc>
                <a:spcPts val="2074"/>
              </a:lnSpc>
              <a:spcBef>
                <a:spcPts val="0"/>
              </a:spcBef>
              <a:spcAft>
                <a:spcPts val="0"/>
              </a:spcAft>
            </a:pPr>
            <a:r>
              <a:rPr sz="1700" b="1" i="0">
                <a:solidFill>
                  <a:srgbClr val="153F35"/>
                </a:solidFill>
                <a:latin typeface="Arial"/>
              </a:rPr>
              <a:t>TANLY Hospitality</a:t>
            </a:r>
          </a:p>
        </p:txBody>
      </p:sp>
      <p:sp>
        <p:nvSpPr>
          <p:cNvPr id="24" name="TextBox 23"/>
          <p:cNvSpPr txBox="1"/>
          <p:nvPr/>
        </p:nvSpPr>
        <p:spPr>
          <a:xfrm>
            <a:off x="6364224" y="3797554"/>
            <a:ext cx="4974336" cy="291846"/>
          </a:xfrm>
          <a:prstGeom prst="rect">
            <a:avLst/>
          </a:prstGeom>
          <a:noFill/>
        </p:spPr>
        <p:txBody>
          <a:bodyPr wrap="none" lIns="0" rIns="0" tIns="0" bIns="0">
            <a:spAutoFit/>
          </a:bodyPr>
          <a:lstStyle/>
          <a:p>
            <a:pPr>
              <a:lnSpc>
                <a:spcPts val="1830"/>
              </a:lnSpc>
              <a:spcBef>
                <a:spcPts val="0"/>
              </a:spcBef>
              <a:spcAft>
                <a:spcPts val="0"/>
              </a:spcAft>
            </a:pPr>
            <a:r>
              <a:rPr sz="1500" b="0" i="0">
                <a:solidFill>
                  <a:srgbClr val="183A32"/>
                </a:solidFill>
                <a:latin typeface="Times New Roman"/>
              </a:rPr>
              <a:t>Hospitality management platform</a:t>
            </a:r>
          </a:p>
        </p:txBody>
      </p:sp>
      <p:sp>
        <p:nvSpPr>
          <p:cNvPr id="25" name="Rectangle 24"/>
          <p:cNvSpPr/>
          <p:nvPr/>
        </p:nvSpPr>
        <p:spPr>
          <a:xfrm>
            <a:off x="685800" y="4547362"/>
            <a:ext cx="5248656" cy="932688"/>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66234"/>
            <a:ext cx="4974336" cy="322833"/>
          </a:xfrm>
          <a:prstGeom prst="rect">
            <a:avLst/>
          </a:prstGeom>
          <a:noFill/>
        </p:spPr>
        <p:txBody>
          <a:bodyPr wrap="none" lIns="0" rIns="0" tIns="0" bIns="0">
            <a:spAutoFit/>
          </a:bodyPr>
          <a:lstStyle/>
          <a:p>
            <a:pPr>
              <a:lnSpc>
                <a:spcPts val="2074"/>
              </a:lnSpc>
              <a:spcBef>
                <a:spcPts val="0"/>
              </a:spcBef>
              <a:spcAft>
                <a:spcPts val="0"/>
              </a:spcAft>
            </a:pPr>
            <a:r>
              <a:rPr sz="1700" b="1" i="0">
                <a:solidFill>
                  <a:srgbClr val="153F35"/>
                </a:solidFill>
                <a:latin typeface="Arial"/>
              </a:rPr>
              <a:t>Destination and project brands</a:t>
            </a:r>
          </a:p>
        </p:txBody>
      </p:sp>
      <p:sp>
        <p:nvSpPr>
          <p:cNvPr id="27" name="TextBox 26"/>
          <p:cNvSpPr txBox="1"/>
          <p:nvPr/>
        </p:nvSpPr>
        <p:spPr>
          <a:xfrm>
            <a:off x="822960" y="4986274"/>
            <a:ext cx="4974336" cy="524256"/>
          </a:xfrm>
          <a:prstGeom prst="rect">
            <a:avLst/>
          </a:prstGeom>
          <a:noFill/>
        </p:spPr>
        <p:txBody>
          <a:bodyPr wrap="none" lIns="0" rIns="0" tIns="0" bIns="0">
            <a:spAutoFit/>
          </a:bodyPr>
          <a:lstStyle/>
          <a:p>
            <a:pPr>
              <a:lnSpc>
                <a:spcPts val="1830"/>
              </a:lnSpc>
              <a:spcBef>
                <a:spcPts val="0"/>
              </a:spcBef>
              <a:spcAft>
                <a:spcPts val="0"/>
              </a:spcAft>
            </a:pPr>
            <a:r>
              <a:rPr sz="1500" b="0" i="0">
                <a:solidFill>
                  <a:srgbClr val="183A32"/>
                </a:solidFill>
                <a:latin typeface="Times New Roman"/>
              </a:rPr>
              <a:t>Customer-facing identities of individual places and</a:t>
            </a:r>
          </a:p>
          <a:p>
            <a:pPr>
              <a:lnSpc>
                <a:spcPts val="1830"/>
              </a:lnSpc>
              <a:spcBef>
                <a:spcPts val="0"/>
              </a:spcBef>
              <a:spcAft>
                <a:spcPts val="0"/>
              </a:spcAft>
            </a:pPr>
            <a:r>
              <a:rPr sz="1500" b="0" i="0">
                <a:solidFill>
                  <a:srgbClr val="183A32"/>
                </a:solidFill>
                <a:latin typeface="Times New Roman"/>
              </a:rPr>
              <a:t>developments</a:t>
            </a:r>
          </a:p>
        </p:txBody>
      </p:sp>
      <p:sp>
        <p:nvSpPr>
          <p:cNvPr id="28" name="Rectangle 27"/>
          <p:cNvSpPr/>
          <p:nvPr/>
        </p:nvSpPr>
        <p:spPr>
          <a:xfrm>
            <a:off x="6227064" y="4547362"/>
            <a:ext cx="5248656" cy="932688"/>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4666234"/>
            <a:ext cx="4974336" cy="322833"/>
          </a:xfrm>
          <a:prstGeom prst="rect">
            <a:avLst/>
          </a:prstGeom>
          <a:noFill/>
        </p:spPr>
        <p:txBody>
          <a:bodyPr wrap="none" lIns="0" rIns="0" tIns="0" bIns="0">
            <a:spAutoFit/>
          </a:bodyPr>
          <a:lstStyle/>
          <a:p>
            <a:pPr>
              <a:lnSpc>
                <a:spcPts val="2074"/>
              </a:lnSpc>
              <a:spcBef>
                <a:spcPts val="0"/>
              </a:spcBef>
              <a:spcAft>
                <a:spcPts val="0"/>
              </a:spcAft>
            </a:pPr>
            <a:r>
              <a:rPr sz="1700" b="1" i="0">
                <a:solidFill>
                  <a:srgbClr val="153F35"/>
                </a:solidFill>
                <a:latin typeface="Arial"/>
              </a:rPr>
              <a:t>Hotel and operating brands</a:t>
            </a:r>
          </a:p>
        </p:txBody>
      </p:sp>
      <p:sp>
        <p:nvSpPr>
          <p:cNvPr id="30" name="TextBox 29"/>
          <p:cNvSpPr txBox="1"/>
          <p:nvPr/>
        </p:nvSpPr>
        <p:spPr>
          <a:xfrm>
            <a:off x="6364224" y="4986274"/>
            <a:ext cx="4974336" cy="524256"/>
          </a:xfrm>
          <a:prstGeom prst="rect">
            <a:avLst/>
          </a:prstGeom>
          <a:noFill/>
        </p:spPr>
        <p:txBody>
          <a:bodyPr wrap="none" lIns="0" rIns="0" tIns="0" bIns="0">
            <a:spAutoFit/>
          </a:bodyPr>
          <a:lstStyle/>
          <a:p>
            <a:pPr>
              <a:lnSpc>
                <a:spcPts val="1830"/>
              </a:lnSpc>
              <a:spcBef>
                <a:spcPts val="0"/>
              </a:spcBef>
              <a:spcAft>
                <a:spcPts val="0"/>
              </a:spcAft>
            </a:pPr>
            <a:r>
              <a:rPr sz="1500" b="0" i="0">
                <a:solidFill>
                  <a:srgbClr val="183A32"/>
                </a:solidFill>
                <a:latin typeface="Times New Roman"/>
              </a:rPr>
              <a:t>Hospitality and service identities associated with managed</a:t>
            </a:r>
          </a:p>
          <a:p>
            <a:pPr>
              <a:lnSpc>
                <a:spcPts val="1830"/>
              </a:lnSpc>
              <a:spcBef>
                <a:spcPts val="0"/>
              </a:spcBef>
              <a:spcAft>
                <a:spcPts val="0"/>
              </a:spcAft>
            </a:pPr>
            <a:r>
              <a:rPr sz="1500" b="0" i="0">
                <a:solidFill>
                  <a:srgbClr val="183A32"/>
                </a:solidFill>
                <a:latin typeface="Times New Roman"/>
              </a:rPr>
              <a:t>properties</a:t>
            </a:r>
          </a:p>
        </p:txBody>
      </p:sp>
      <p:sp>
        <p:nvSpPr>
          <p:cNvPr id="31" name="TextBox 3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18.3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17–19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Clarify the Relationship Between TANRISE, TANLY, and the</a:t>
            </a:r>
          </a:p>
          <a:p>
            <a:pPr>
              <a:lnSpc>
                <a:spcPts val="3502"/>
              </a:lnSpc>
              <a:spcBef>
                <a:spcPts val="0"/>
              </a:spcBef>
              <a:spcAft>
                <a:spcPts val="0"/>
              </a:spcAft>
            </a:pPr>
            <a:r>
              <a:rPr sz="3100" b="0" i="0">
                <a:solidFill>
                  <a:srgbClr val="153F35"/>
                </a:solidFill>
                <a:latin typeface="Arial"/>
              </a:rPr>
              <a:t>Projects.</a:t>
            </a:r>
          </a:p>
        </p:txBody>
      </p:sp>
      <p:sp>
        <p:nvSpPr>
          <p:cNvPr id="11" name="TextBox 10"/>
          <p:cNvSpPr txBox="1"/>
          <p:nvPr/>
        </p:nvSpPr>
        <p:spPr>
          <a:xfrm>
            <a:off x="685800" y="216992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hospitality property may form part of TANRISE’s investment portfolio while having a management relationship</a:t>
            </a:r>
          </a:p>
          <a:p>
            <a:pPr>
              <a:lnSpc>
                <a:spcPts val="2196"/>
              </a:lnSpc>
              <a:spcBef>
                <a:spcPts val="0"/>
              </a:spcBef>
              <a:spcAft>
                <a:spcPts val="0"/>
              </a:spcAft>
            </a:pPr>
            <a:r>
              <a:rPr sz="1800" b="0" i="0">
                <a:solidFill>
                  <a:srgbClr val="183A32"/>
                </a:solidFill>
                <a:latin typeface="Times New Roman"/>
              </a:rPr>
              <a:t>with TANLY.</a:t>
            </a:r>
          </a:p>
        </p:txBody>
      </p:sp>
      <p:sp>
        <p:nvSpPr>
          <p:cNvPr id="12" name="TextBox 11"/>
          <p:cNvSpPr txBox="1"/>
          <p:nvPr/>
        </p:nvSpPr>
        <p:spPr>
          <a:xfrm>
            <a:off x="685800" y="29060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diagram should distinguish corporate affiliation, asset interests, and operating relationships.</a:t>
            </a:r>
          </a:p>
        </p:txBody>
      </p:sp>
      <p:sp>
        <p:nvSpPr>
          <p:cNvPr id="13" name="TextBox 12"/>
          <p:cNvSpPr txBox="1"/>
          <p:nvPr/>
        </p:nvSpPr>
        <p:spPr>
          <a:xfrm>
            <a:off x="685800" y="339064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TANRISE’S FIVE DOCUMENTED BUSINESS PILLARS</a:t>
            </a:r>
          </a:p>
        </p:txBody>
      </p:sp>
      <p:sp>
        <p:nvSpPr>
          <p:cNvPr id="14" name="Rectangle 13"/>
          <p:cNvSpPr/>
          <p:nvPr/>
        </p:nvSpPr>
        <p:spPr>
          <a:xfrm>
            <a:off x="685800" y="380339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71195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Integrated City.</a:t>
            </a:r>
          </a:p>
        </p:txBody>
      </p:sp>
      <p:sp>
        <p:nvSpPr>
          <p:cNvPr id="16" name="Rectangle 15"/>
          <p:cNvSpPr/>
          <p:nvPr/>
        </p:nvSpPr>
        <p:spPr>
          <a:xfrm>
            <a:off x="685800" y="425284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16140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Community Living.</a:t>
            </a:r>
          </a:p>
        </p:txBody>
      </p:sp>
      <p:sp>
        <p:nvSpPr>
          <p:cNvPr id="18" name="Rectangle 17"/>
          <p:cNvSpPr/>
          <p:nvPr/>
        </p:nvSpPr>
        <p:spPr>
          <a:xfrm>
            <a:off x="685800" y="470230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61086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Business Districts.</a:t>
            </a:r>
          </a:p>
        </p:txBody>
      </p:sp>
      <p:sp>
        <p:nvSpPr>
          <p:cNvPr id="20" name="Rectangle 19"/>
          <p:cNvSpPr/>
          <p:nvPr/>
        </p:nvSpPr>
        <p:spPr>
          <a:xfrm>
            <a:off x="685800" y="515175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506031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Logistic &amp; Industrial Park.</a:t>
            </a:r>
          </a:p>
        </p:txBody>
      </p:sp>
      <p:sp>
        <p:nvSpPr>
          <p:cNvPr id="22" name="Rectangle 21"/>
          <p:cNvSpPr/>
          <p:nvPr/>
        </p:nvSpPr>
        <p:spPr>
          <a:xfrm>
            <a:off x="685800" y="56012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550976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Hotel, MICE, and Leisure.</a:t>
            </a:r>
          </a:p>
        </p:txBody>
      </p:sp>
      <p:sp>
        <p:nvSpPr>
          <p:cNvPr id="24" name="TextBox 2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18.4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17–19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Separate Branding Classification</a:t>
            </a:r>
          </a:p>
        </p:txBody>
      </p:sp>
      <p:sp>
        <p:nvSpPr>
          <p:cNvPr id="11" name="TextBox 10"/>
          <p:cNvSpPr txBox="1"/>
          <p:nvPr/>
        </p:nvSpPr>
        <p:spPr>
          <a:xfrm>
            <a:off x="6400800" y="2514600"/>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The client’s brand portfolio deck additionally</a:t>
            </a:r>
          </a:p>
          <a:p>
            <a:pPr>
              <a:lnSpc>
                <a:spcPts val="2440"/>
              </a:lnSpc>
              <a:spcBef>
                <a:spcPts val="0"/>
              </a:spcBef>
              <a:spcAft>
                <a:spcPts val="0"/>
              </a:spcAft>
            </a:pPr>
            <a:r>
              <a:rPr sz="2000" b="0" i="0">
                <a:solidFill>
                  <a:srgbClr val="183A32"/>
                </a:solidFill>
                <a:latin typeface="Times New Roman"/>
              </a:rPr>
              <a:t>uses Residential &amp; Township, High-Rise</a:t>
            </a:r>
          </a:p>
          <a:p>
            <a:pPr>
              <a:lnSpc>
                <a:spcPts val="2440"/>
              </a:lnSpc>
              <a:spcBef>
                <a:spcPts val="0"/>
              </a:spcBef>
              <a:spcAft>
                <a:spcPts val="0"/>
              </a:spcAft>
            </a:pPr>
            <a:r>
              <a:rPr sz="2000" b="0" i="0">
                <a:solidFill>
                  <a:srgbClr val="183A32"/>
                </a:solidFill>
                <a:latin typeface="Times New Roman"/>
              </a:rPr>
              <a:t>Building, Commercial &amp; Retail, Hotels &amp;</a:t>
            </a:r>
          </a:p>
          <a:p>
            <a:pPr>
              <a:lnSpc>
                <a:spcPts val="2440"/>
              </a:lnSpc>
              <a:spcBef>
                <a:spcPts val="0"/>
              </a:spcBef>
              <a:spcAft>
                <a:spcPts val="0"/>
              </a:spcAft>
            </a:pPr>
            <a:r>
              <a:rPr sz="2000" b="0" i="0">
                <a:solidFill>
                  <a:srgbClr val="183A32"/>
                </a:solidFill>
                <a:latin typeface="Times New Roman"/>
              </a:rPr>
              <a:t>Leisure, Education, and Healthcare.</a:t>
            </a:r>
          </a:p>
        </p:txBody>
      </p:sp>
      <p:sp>
        <p:nvSpPr>
          <p:cNvPr id="12" name="TextBox 11"/>
          <p:cNvSpPr txBox="1"/>
          <p:nvPr/>
        </p:nvSpPr>
        <p:spPr>
          <a:xfrm>
            <a:off x="6400800" y="3996435"/>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These product categories should not</a:t>
            </a:r>
          </a:p>
          <a:p>
            <a:pPr>
              <a:lnSpc>
                <a:spcPts val="2440"/>
              </a:lnSpc>
              <a:spcBef>
                <a:spcPts val="0"/>
              </a:spcBef>
              <a:spcAft>
                <a:spcPts val="0"/>
              </a:spcAft>
            </a:pPr>
            <a:r>
              <a:rPr sz="2000" b="0" i="0">
                <a:solidFill>
                  <a:srgbClr val="183A32"/>
                </a:solidFill>
                <a:latin typeface="Times New Roman"/>
              </a:rPr>
              <a:t>automatically be presented as separate operating</a:t>
            </a:r>
          </a:p>
          <a:p>
            <a:pPr>
              <a:lnSpc>
                <a:spcPts val="2440"/>
              </a:lnSpc>
              <a:spcBef>
                <a:spcPts val="0"/>
              </a:spcBef>
              <a:spcAft>
                <a:spcPts val="0"/>
              </a:spcAft>
            </a:pPr>
            <a:r>
              <a:rPr sz="2000" b="0" i="0">
                <a:solidFill>
                  <a:srgbClr val="183A32"/>
                </a:solidFill>
                <a:latin typeface="Times New Roman"/>
              </a:rPr>
              <a:t>subsidiaries.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19–20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Preserve the Portfolio. Make Its Status Clear.</a:t>
            </a:r>
          </a:p>
        </p:txBody>
      </p:sp>
      <p:graphicFrame>
        <p:nvGraphicFramePr>
          <p:cNvPr id="11" name="Table 10"/>
          <p:cNvGraphicFramePr>
            <a:graphicFrameLocks noGrp="1"/>
          </p:cNvGraphicFramePr>
          <p:nvPr/>
        </p:nvGraphicFramePr>
        <p:xfrm>
          <a:off x="685800" y="2084831"/>
          <a:ext cx="10789919" cy="3158616"/>
        </p:xfrm>
        <a:graphic>
          <a:graphicData uri="http://schemas.openxmlformats.org/drawingml/2006/table">
            <a:tbl>
              <a:tblPr firstRow="1" bandRow="1">
                <a:tableStyleId>{5C22544A-7EE6-4342-B048-85BDC9FD1C3A}</a:tableStyleId>
              </a:tblPr>
              <a:tblGrid>
                <a:gridCol w="2373782"/>
                <a:gridCol w="3236976"/>
                <a:gridCol w="5179161"/>
              </a:tblGrid>
              <a:tr h="898017">
                <a:tc>
                  <a:txBody>
                    <a:bodyPr wrap="none"/>
                    <a:lstStyle/>
                    <a:p>
                      <a:pPr>
                        <a:lnSpc>
                          <a:spcPts val="1829"/>
                        </a:lnSpc>
                        <a:spcBef>
                          <a:spcPts val="0"/>
                        </a:spcBef>
                        <a:spcAft>
                          <a:spcPts val="0"/>
                        </a:spcAft>
                      </a:pPr>
                      <a:r>
                        <a:rPr sz="1550" b="1">
                          <a:solidFill>
                            <a:srgbClr val="F6F2E9"/>
                          </a:solidFill>
                          <a:latin typeface="Arial"/>
                        </a:rPr>
                        <a:t>Business pillar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Existing assets and</a:t>
                      </a:r>
                    </a:p>
                    <a:p>
                      <a:pPr>
                        <a:lnSpc>
                          <a:spcPts val="1829"/>
                        </a:lnSpc>
                        <a:spcBef>
                          <a:spcPts val="0"/>
                        </a:spcBef>
                        <a:spcAft>
                          <a:spcPts val="0"/>
                        </a:spcAft>
                      </a:pPr>
                      <a:r>
                        <a:rPr sz="1550" b="1">
                          <a:solidFill>
                            <a:srgbClr val="F6F2E9"/>
                          </a:solidFill>
                          <a:latin typeface="Arial"/>
                        </a:rPr>
                        <a:t>documented portfolio</a:t>
                      </a:r>
                    </a:p>
                    <a:p>
                      <a:pPr>
                        <a:lnSpc>
                          <a:spcPts val="1829"/>
                        </a:lnSpc>
                        <a:spcBef>
                          <a:spcPts val="0"/>
                        </a:spcBef>
                        <a:spcAft>
                          <a:spcPts val="0"/>
                        </a:spcAft>
                      </a:pPr>
                      <a:r>
                        <a:rPr sz="1550" b="1">
                          <a:solidFill>
                            <a:srgbClr val="F6F2E9"/>
                          </a:solidFill>
                          <a:latin typeface="Arial"/>
                        </a:rPr>
                        <a:t>references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Ongoing or upcoming development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Integrated City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Tanrise Taman Dayu Pandaan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Tanrise Bandung; Tanrise City Sidoarjo; Swiss of Taman</a:t>
                      </a:r>
                    </a:p>
                    <a:p>
                      <a:pPr>
                        <a:lnSpc>
                          <a:spcPts val="1829"/>
                        </a:lnSpc>
                        <a:spcBef>
                          <a:spcPts val="0"/>
                        </a:spcBef>
                        <a:spcAft>
                          <a:spcPts val="0"/>
                        </a:spcAft>
                      </a:pPr>
                      <a:r>
                        <a:rPr sz="1550" b="0">
                          <a:solidFill>
                            <a:srgbClr val="183A32"/>
                          </a:solidFill>
                          <a:latin typeface="Arial"/>
                        </a:rPr>
                        <a:t>Dayu Pandaan</a:t>
                      </a:r>
                    </a:p>
                  </a:txBody>
                  <a:tcPr marL="109728" marR="109728" marT="82296" marB="0" anchor="t">
                    <a:solidFill>
                      <a:srgbClr val="F6F2E9"/>
                    </a:solidFill>
                    <a:lnL>
                      <a:noFill/>
                    </a:lnL>
                    <a:lnR>
                      <a:noFill/>
                    </a:lnR>
                    <a:lnT>
                      <a:noFill/>
                    </a:lnT>
                    <a:lnB>
                      <a:noFill/>
                    </a:lnB>
                  </a:tcPr>
                </a:tc>
              </a:tr>
              <a:tr h="1594866">
                <a:tc>
                  <a:txBody>
                    <a:bodyPr wrap="none"/>
                    <a:lstStyle/>
                    <a:p>
                      <a:pPr>
                        <a:lnSpc>
                          <a:spcPts val="1829"/>
                        </a:lnSpc>
                        <a:spcBef>
                          <a:spcPts val="0"/>
                        </a:spcBef>
                        <a:spcAft>
                          <a:spcPts val="0"/>
                        </a:spcAft>
                      </a:pPr>
                      <a:r>
                        <a:rPr sz="1550" b="0">
                          <a:solidFill>
                            <a:srgbClr val="183A32"/>
                          </a:solidFill>
                          <a:latin typeface="Arial"/>
                        </a:rPr>
                        <a:t>Community Living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Kyo Society; Grand Sunrise</a:t>
                      </a:r>
                    </a:p>
                    <a:p>
                      <a:pPr>
                        <a:lnSpc>
                          <a:spcPts val="1829"/>
                        </a:lnSpc>
                        <a:spcBef>
                          <a:spcPts val="0"/>
                        </a:spcBef>
                        <a:spcAft>
                          <a:spcPts val="0"/>
                        </a:spcAft>
                      </a:pPr>
                      <a:r>
                        <a:rPr sz="1550" b="0">
                          <a:solidFill>
                            <a:srgbClr val="183A32"/>
                          </a:solidFill>
                          <a:latin typeface="Arial"/>
                        </a:rPr>
                        <a:t>Menganti; Jumana Residence /</a:t>
                      </a:r>
                    </a:p>
                    <a:p>
                      <a:pPr>
                        <a:lnSpc>
                          <a:spcPts val="1829"/>
                        </a:lnSpc>
                        <a:spcBef>
                          <a:spcPts val="0"/>
                        </a:spcBef>
                        <a:spcAft>
                          <a:spcPts val="0"/>
                        </a:spcAft>
                      </a:pPr>
                      <a:r>
                        <a:rPr sz="1550" b="0">
                          <a:solidFill>
                            <a:srgbClr val="183A32"/>
                          </a:solidFill>
                          <a:latin typeface="Arial"/>
                        </a:rPr>
                        <a:t>Sunrise Residence Sidoarjo</a:t>
                      </a:r>
                    </a:p>
                    <a:p>
                      <a:pPr>
                        <a:lnSpc>
                          <a:spcPts val="1829"/>
                        </a:lnSpc>
                        <a:spcBef>
                          <a:spcPts val="0"/>
                        </a:spcBef>
                        <a:spcAft>
                          <a:spcPts val="0"/>
                        </a:spcAft>
                      </a:pPr>
                      <a:r>
                        <a:rPr sz="1550" b="0">
                          <a:solidFill>
                            <a:srgbClr val="183A32"/>
                          </a:solidFill>
                          <a:latin typeface="Arial"/>
                        </a:rPr>
                        <a:t>naming transition; ARC100 as an</a:t>
                      </a:r>
                    </a:p>
                    <a:p>
                      <a:pPr>
                        <a:lnSpc>
                          <a:spcPts val="1829"/>
                        </a:lnSpc>
                        <a:spcBef>
                          <a:spcPts val="0"/>
                        </a:spcBef>
                        <a:spcAft>
                          <a:spcPts val="0"/>
                        </a:spcAft>
                      </a:pPr>
                      <a:r>
                        <a:rPr sz="1550" b="0">
                          <a:solidFill>
                            <a:srgbClr val="183A32"/>
                          </a:solidFill>
                          <a:latin typeface="Arial"/>
                        </a:rPr>
                        <a:t>additional documented apartment</a:t>
                      </a:r>
                    </a:p>
                    <a:p>
                      <a:pPr>
                        <a:lnSpc>
                          <a:spcPts val="1829"/>
                        </a:lnSpc>
                        <a:spcBef>
                          <a:spcPts val="0"/>
                        </a:spcBef>
                        <a:spcAft>
                          <a:spcPts val="0"/>
                        </a:spcAft>
                      </a:pPr>
                      <a:r>
                        <a:rPr sz="1550" b="0">
                          <a:solidFill>
                            <a:srgbClr val="183A32"/>
                          </a:solidFill>
                          <a:latin typeface="Arial"/>
                        </a:rPr>
                        <a:t>brand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Malang residential development, with Sunrise Residence</a:t>
                      </a:r>
                    </a:p>
                    <a:p>
                      <a:pPr>
                        <a:lnSpc>
                          <a:spcPts val="1829"/>
                        </a:lnSpc>
                        <a:spcBef>
                          <a:spcPts val="0"/>
                        </a:spcBef>
                        <a:spcAft>
                          <a:spcPts val="0"/>
                        </a:spcAft>
                      </a:pPr>
                      <a:r>
                        <a:rPr sz="1550" b="0">
                          <a:solidFill>
                            <a:srgbClr val="183A32"/>
                          </a:solidFill>
                          <a:latin typeface="Arial"/>
                        </a:rPr>
                        <a:t>Malang, Sunrise Garden Malang, and Grand Sunrise</a:t>
                      </a:r>
                    </a:p>
                    <a:p>
                      <a:pPr>
                        <a:lnSpc>
                          <a:spcPts val="1829"/>
                        </a:lnSpc>
                        <a:spcBef>
                          <a:spcPts val="0"/>
                        </a:spcBef>
                        <a:spcAft>
                          <a:spcPts val="0"/>
                        </a:spcAft>
                      </a:pPr>
                      <a:r>
                        <a:rPr sz="1550" b="0">
                          <a:solidFill>
                            <a:srgbClr val="183A32"/>
                          </a:solidFill>
                          <a:latin typeface="Arial"/>
                        </a:rPr>
                        <a:t>Malang naming to reconcile</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19–20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049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Preserve the Portfolio. Make Its Status Clear.</a:t>
            </a:r>
          </a:p>
        </p:txBody>
      </p:sp>
      <p:graphicFrame>
        <p:nvGraphicFramePr>
          <p:cNvPr id="11" name="Table 10"/>
          <p:cNvGraphicFramePr>
            <a:graphicFrameLocks noGrp="1"/>
          </p:cNvGraphicFramePr>
          <p:nvPr/>
        </p:nvGraphicFramePr>
        <p:xfrm>
          <a:off x="685800" y="2084831"/>
          <a:ext cx="10789919" cy="3390898"/>
        </p:xfrm>
        <a:graphic>
          <a:graphicData uri="http://schemas.openxmlformats.org/drawingml/2006/table">
            <a:tbl>
              <a:tblPr firstRow="1" bandRow="1">
                <a:tableStyleId>{5C22544A-7EE6-4342-B048-85BDC9FD1C3A}</a:tableStyleId>
              </a:tblPr>
              <a:tblGrid>
                <a:gridCol w="2373782"/>
                <a:gridCol w="3236976"/>
                <a:gridCol w="5179161"/>
              </a:tblGrid>
              <a:tr h="898017">
                <a:tc>
                  <a:txBody>
                    <a:bodyPr wrap="none"/>
                    <a:lstStyle/>
                    <a:p>
                      <a:pPr>
                        <a:lnSpc>
                          <a:spcPts val="1829"/>
                        </a:lnSpc>
                        <a:spcBef>
                          <a:spcPts val="0"/>
                        </a:spcBef>
                        <a:spcAft>
                          <a:spcPts val="0"/>
                        </a:spcAft>
                      </a:pPr>
                      <a:r>
                        <a:rPr sz="1550" b="1">
                          <a:solidFill>
                            <a:srgbClr val="F6F2E9"/>
                          </a:solidFill>
                          <a:latin typeface="Arial"/>
                        </a:rPr>
                        <a:t>Business pillar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Existing assets and</a:t>
                      </a:r>
                    </a:p>
                    <a:p>
                      <a:pPr>
                        <a:lnSpc>
                          <a:spcPts val="1829"/>
                        </a:lnSpc>
                        <a:spcBef>
                          <a:spcPts val="0"/>
                        </a:spcBef>
                        <a:spcAft>
                          <a:spcPts val="0"/>
                        </a:spcAft>
                      </a:pPr>
                      <a:r>
                        <a:rPr sz="1550" b="1">
                          <a:solidFill>
                            <a:srgbClr val="F6F2E9"/>
                          </a:solidFill>
                          <a:latin typeface="Arial"/>
                        </a:rPr>
                        <a:t>documented portfolio</a:t>
                      </a:r>
                    </a:p>
                    <a:p>
                      <a:pPr>
                        <a:lnSpc>
                          <a:spcPts val="1829"/>
                        </a:lnSpc>
                        <a:spcBef>
                          <a:spcPts val="0"/>
                        </a:spcBef>
                        <a:spcAft>
                          <a:spcPts val="0"/>
                        </a:spcAft>
                      </a:pPr>
                      <a:r>
                        <a:rPr sz="1550" b="1">
                          <a:solidFill>
                            <a:srgbClr val="F6F2E9"/>
                          </a:solidFill>
                          <a:latin typeface="Arial"/>
                        </a:rPr>
                        <a:t>references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Ongoing or upcoming development</a:t>
                      </a:r>
                    </a:p>
                  </a:txBody>
                  <a:tcPr marL="109728" marR="109728" marT="82296" marB="0" anchor="t">
                    <a:solidFill>
                      <a:srgbClr val="153F35"/>
                    </a:solidFill>
                    <a:lnL>
                      <a:noFill/>
                    </a:lnL>
                    <a:lnR>
                      <a:noFill/>
                    </a:lnR>
                    <a:lnT>
                      <a:noFill/>
                    </a:lnT>
                    <a:lnB>
                      <a:noFill/>
                    </a:lnB>
                  </a:tcPr>
                </a:tc>
              </a:tr>
              <a:tr h="1130299">
                <a:tc>
                  <a:txBody>
                    <a:bodyPr wrap="none"/>
                    <a:lstStyle/>
                    <a:p>
                      <a:pPr>
                        <a:lnSpc>
                          <a:spcPts val="1829"/>
                        </a:lnSpc>
                        <a:spcBef>
                          <a:spcPts val="0"/>
                        </a:spcBef>
                        <a:spcAft>
                          <a:spcPts val="0"/>
                        </a:spcAft>
                      </a:pPr>
                      <a:r>
                        <a:rPr sz="1550" b="0">
                          <a:solidFill>
                            <a:srgbClr val="183A32"/>
                          </a:solidFill>
                          <a:latin typeface="Arial"/>
                        </a:rPr>
                        <a:t>Business Districts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Voza Tower; Rame-Rame; Bali</a:t>
                      </a:r>
                    </a:p>
                    <a:p>
                      <a:pPr>
                        <a:lnSpc>
                          <a:spcPts val="1829"/>
                        </a:lnSpc>
                        <a:spcBef>
                          <a:spcPts val="0"/>
                        </a:spcBef>
                        <a:spcAft>
                          <a:spcPts val="0"/>
                        </a:spcAft>
                      </a:pPr>
                      <a:r>
                        <a:rPr sz="1550" b="0">
                          <a:solidFill>
                            <a:srgbClr val="183A32"/>
                          </a:solidFill>
                          <a:latin typeface="Arial"/>
                        </a:rPr>
                        <a:t>Bites; Midpoint Kayoon as an</a:t>
                      </a:r>
                    </a:p>
                    <a:p>
                      <a:pPr>
                        <a:lnSpc>
                          <a:spcPts val="1829"/>
                        </a:lnSpc>
                        <a:spcBef>
                          <a:spcPts val="0"/>
                        </a:spcBef>
                        <a:spcAft>
                          <a:spcPts val="0"/>
                        </a:spcAft>
                      </a:pPr>
                      <a:r>
                        <a:rPr sz="1550" b="0">
                          <a:solidFill>
                            <a:srgbClr val="183A32"/>
                          </a:solidFill>
                          <a:latin typeface="Arial"/>
                        </a:rPr>
                        <a:t>additional client portfolio reference</a:t>
                      </a:r>
                    </a:p>
                    <a:p>
                      <a:pPr>
                        <a:lnSpc>
                          <a:spcPts val="1829"/>
                        </a:lnSpc>
                        <a:spcBef>
                          <a:spcPts val="0"/>
                        </a:spcBef>
                        <a:spcAft>
                          <a:spcPts val="0"/>
                        </a:spcAft>
                      </a:pPr>
                      <a:r>
                        <a:rPr sz="1550" b="0">
                          <a:solidFill>
                            <a:srgbClr val="183A32"/>
                          </a:solidFill>
                          <a:latin typeface="Arial"/>
                        </a:rPr>
                        <a:t>requiring status confirmation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Grand Central Bandung</a:t>
                      </a:r>
                    </a:p>
                  </a:txBody>
                  <a:tcPr marL="109728" marR="109728" marT="82296" marB="0" anchor="t">
                    <a:solidFill>
                      <a:srgbClr val="F6F2E9"/>
                    </a:solidFill>
                    <a:lnL>
                      <a:noFill/>
                    </a:lnL>
                    <a:lnR>
                      <a:noFill/>
                    </a:lnR>
                    <a:lnT>
                      <a:noFill/>
                    </a:lnT>
                    <a:lnB>
                      <a:noFill/>
                    </a:lnB>
                  </a:tcPr>
                </a:tc>
              </a:tr>
              <a:tr h="1362582">
                <a:tc>
                  <a:txBody>
                    <a:bodyPr wrap="none"/>
                    <a:lstStyle/>
                    <a:p>
                      <a:pPr>
                        <a:lnSpc>
                          <a:spcPts val="1829"/>
                        </a:lnSpc>
                        <a:spcBef>
                          <a:spcPts val="0"/>
                        </a:spcBef>
                        <a:spcAft>
                          <a:spcPts val="0"/>
                        </a:spcAft>
                      </a:pPr>
                      <a:r>
                        <a:rPr sz="1550" b="0">
                          <a:solidFill>
                            <a:srgbClr val="183A32"/>
                          </a:solidFill>
                          <a:latin typeface="Arial"/>
                        </a:rPr>
                        <a:t>Logistic &amp; Industrial</a:t>
                      </a:r>
                    </a:p>
                    <a:p>
                      <a:pPr>
                        <a:lnSpc>
                          <a:spcPts val="1829"/>
                        </a:lnSpc>
                        <a:spcBef>
                          <a:spcPts val="0"/>
                        </a:spcBef>
                        <a:spcAft>
                          <a:spcPts val="0"/>
                        </a:spcAft>
                      </a:pPr>
                      <a:r>
                        <a:rPr sz="1550" b="0">
                          <a:solidFill>
                            <a:srgbClr val="183A32"/>
                          </a:solidFill>
                          <a:latin typeface="Arial"/>
                        </a:rPr>
                        <a:t>Park</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Tritan Surabaya; Tritan Medan;</a:t>
                      </a:r>
                    </a:p>
                    <a:p>
                      <a:pPr>
                        <a:lnSpc>
                          <a:spcPts val="1829"/>
                        </a:lnSpc>
                        <a:spcBef>
                          <a:spcPts val="0"/>
                        </a:spcBef>
                        <a:spcAft>
                          <a:spcPts val="0"/>
                        </a:spcAft>
                      </a:pPr>
                      <a:r>
                        <a:rPr sz="1550" b="0">
                          <a:solidFill>
                            <a:srgbClr val="183A32"/>
                          </a:solidFill>
                          <a:latin typeface="Arial"/>
                        </a:rPr>
                        <a:t>Tritan Wedi 1 and 2; Tritan</a:t>
                      </a:r>
                    </a:p>
                    <a:p>
                      <a:pPr>
                        <a:lnSpc>
                          <a:spcPts val="1829"/>
                        </a:lnSpc>
                        <a:spcBef>
                          <a:spcPts val="0"/>
                        </a:spcBef>
                        <a:spcAft>
                          <a:spcPts val="0"/>
                        </a:spcAft>
                      </a:pPr>
                      <a:r>
                        <a:rPr sz="1550" b="0">
                          <a:solidFill>
                            <a:srgbClr val="183A32"/>
                          </a:solidFill>
                          <a:latin typeface="Arial"/>
                        </a:rPr>
                        <a:t>Taman; Tritan Southgate;</a:t>
                      </a:r>
                    </a:p>
                    <a:p>
                      <a:pPr>
                        <a:lnSpc>
                          <a:spcPts val="1829"/>
                        </a:lnSpc>
                        <a:spcBef>
                          <a:spcPts val="0"/>
                        </a:spcBef>
                        <a:spcAft>
                          <a:spcPts val="0"/>
                        </a:spcAft>
                      </a:pPr>
                      <a:r>
                        <a:rPr sz="1550" b="0">
                          <a:solidFill>
                            <a:srgbClr val="183A32"/>
                          </a:solidFill>
                          <a:latin typeface="Arial"/>
                        </a:rPr>
                        <a:t>TritanPoint and TritanHub brand</a:t>
                      </a:r>
                    </a:p>
                    <a:p>
                      <a:pPr>
                        <a:lnSpc>
                          <a:spcPts val="1829"/>
                        </a:lnSpc>
                        <a:spcBef>
                          <a:spcPts val="0"/>
                        </a:spcBef>
                        <a:spcAft>
                          <a:spcPts val="0"/>
                        </a:spcAft>
                      </a:pPr>
                      <a:r>
                        <a:rPr sz="1550" b="0">
                          <a:solidFill>
                            <a:srgbClr val="183A32"/>
                          </a:solidFill>
                          <a:latin typeface="Arial"/>
                        </a:rPr>
                        <a:t>references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Tritan Gresik; Tritan Gempol Pasuruan; Tanrise</a:t>
                      </a:r>
                    </a:p>
                    <a:p>
                      <a:pPr>
                        <a:lnSpc>
                          <a:spcPts val="1829"/>
                        </a:lnSpc>
                        <a:spcBef>
                          <a:spcPts val="0"/>
                        </a:spcBef>
                        <a:spcAft>
                          <a:spcPts val="0"/>
                        </a:spcAft>
                      </a:pPr>
                      <a:r>
                        <a:rPr sz="1550" b="0">
                          <a:solidFill>
                            <a:srgbClr val="183A32"/>
                          </a:solidFill>
                          <a:latin typeface="Arial"/>
                        </a:rPr>
                        <a:t>Industrial Park Palembang; Tanrise Industrial Park</a:t>
                      </a:r>
                    </a:p>
                    <a:p>
                      <a:pPr>
                        <a:lnSpc>
                          <a:spcPts val="1829"/>
                        </a:lnSpc>
                        <a:spcBef>
                          <a:spcPts val="0"/>
                        </a:spcBef>
                        <a:spcAft>
                          <a:spcPts val="0"/>
                        </a:spcAft>
                      </a:pPr>
                      <a:r>
                        <a:rPr sz="1550" b="0">
                          <a:solidFill>
                            <a:srgbClr val="183A32"/>
                          </a:solidFill>
                          <a:latin typeface="Arial"/>
                        </a:rPr>
                        <a:t>Banjarbaru</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19.3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19–20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Preserve the Portfolio. Make Its Status Clear.</a:t>
            </a:r>
          </a:p>
        </p:txBody>
      </p:sp>
      <p:graphicFrame>
        <p:nvGraphicFramePr>
          <p:cNvPr id="11" name="Table 10"/>
          <p:cNvGraphicFramePr>
            <a:graphicFrameLocks noGrp="1"/>
          </p:cNvGraphicFramePr>
          <p:nvPr/>
        </p:nvGraphicFramePr>
        <p:xfrm>
          <a:off x="685800" y="2084831"/>
          <a:ext cx="10789919" cy="2260599"/>
        </p:xfrm>
        <a:graphic>
          <a:graphicData uri="http://schemas.openxmlformats.org/drawingml/2006/table">
            <a:tbl>
              <a:tblPr firstRow="1" bandRow="1">
                <a:tableStyleId>{5C22544A-7EE6-4342-B048-85BDC9FD1C3A}</a:tableStyleId>
              </a:tblPr>
              <a:tblGrid>
                <a:gridCol w="2373782"/>
                <a:gridCol w="3236976"/>
                <a:gridCol w="5179161"/>
              </a:tblGrid>
              <a:tr h="898017">
                <a:tc>
                  <a:txBody>
                    <a:bodyPr wrap="none"/>
                    <a:lstStyle/>
                    <a:p>
                      <a:pPr>
                        <a:lnSpc>
                          <a:spcPts val="1829"/>
                        </a:lnSpc>
                        <a:spcBef>
                          <a:spcPts val="0"/>
                        </a:spcBef>
                        <a:spcAft>
                          <a:spcPts val="0"/>
                        </a:spcAft>
                      </a:pPr>
                      <a:r>
                        <a:rPr sz="1550" b="1">
                          <a:solidFill>
                            <a:srgbClr val="F6F2E9"/>
                          </a:solidFill>
                          <a:latin typeface="Arial"/>
                        </a:rPr>
                        <a:t>Business pillar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Existing assets and</a:t>
                      </a:r>
                    </a:p>
                    <a:p>
                      <a:pPr>
                        <a:lnSpc>
                          <a:spcPts val="1829"/>
                        </a:lnSpc>
                        <a:spcBef>
                          <a:spcPts val="0"/>
                        </a:spcBef>
                        <a:spcAft>
                          <a:spcPts val="0"/>
                        </a:spcAft>
                      </a:pPr>
                      <a:r>
                        <a:rPr sz="1550" b="1">
                          <a:solidFill>
                            <a:srgbClr val="F6F2E9"/>
                          </a:solidFill>
                          <a:latin typeface="Arial"/>
                        </a:rPr>
                        <a:t>documented portfolio</a:t>
                      </a:r>
                    </a:p>
                    <a:p>
                      <a:pPr>
                        <a:lnSpc>
                          <a:spcPts val="1829"/>
                        </a:lnSpc>
                        <a:spcBef>
                          <a:spcPts val="0"/>
                        </a:spcBef>
                        <a:spcAft>
                          <a:spcPts val="0"/>
                        </a:spcAft>
                      </a:pPr>
                      <a:r>
                        <a:rPr sz="1550" b="1">
                          <a:solidFill>
                            <a:srgbClr val="F6F2E9"/>
                          </a:solidFill>
                          <a:latin typeface="Arial"/>
                        </a:rPr>
                        <a:t>references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Ongoing or upcoming development</a:t>
                      </a:r>
                    </a:p>
                  </a:txBody>
                  <a:tcPr marL="109728" marR="109728" marT="82296" marB="0" anchor="t">
                    <a:solidFill>
                      <a:srgbClr val="153F35"/>
                    </a:solidFill>
                    <a:lnL>
                      <a:noFill/>
                    </a:lnL>
                    <a:lnR>
                      <a:noFill/>
                    </a:lnR>
                    <a:lnT>
                      <a:noFill/>
                    </a:lnT>
                    <a:lnB>
                      <a:noFill/>
                    </a:lnB>
                  </a:tcPr>
                </a:tc>
              </a:tr>
              <a:tr h="1362582">
                <a:tc>
                  <a:txBody>
                    <a:bodyPr wrap="none"/>
                    <a:lstStyle/>
                    <a:p>
                      <a:pPr>
                        <a:lnSpc>
                          <a:spcPts val="1829"/>
                        </a:lnSpc>
                        <a:spcBef>
                          <a:spcPts val="0"/>
                        </a:spcBef>
                        <a:spcAft>
                          <a:spcPts val="0"/>
                        </a:spcAft>
                      </a:pPr>
                      <a:r>
                        <a:rPr sz="1550" b="0">
                          <a:solidFill>
                            <a:srgbClr val="183A32"/>
                          </a:solidFill>
                          <a:latin typeface="Arial"/>
                        </a:rPr>
                        <a:t>Hotel, MICE, and</a:t>
                      </a:r>
                    </a:p>
                    <a:p>
                      <a:pPr>
                        <a:lnSpc>
                          <a:spcPts val="1829"/>
                        </a:lnSpc>
                        <a:spcBef>
                          <a:spcPts val="0"/>
                        </a:spcBef>
                        <a:spcAft>
                          <a:spcPts val="0"/>
                        </a:spcAft>
                      </a:pPr>
                      <a:r>
                        <a:rPr sz="1550" b="0">
                          <a:solidFill>
                            <a:srgbClr val="183A32"/>
                          </a:solidFill>
                          <a:latin typeface="Arial"/>
                        </a:rPr>
                        <a:t>Leisure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Vasa Hotel Surabaya; Vasa Suite</a:t>
                      </a:r>
                    </a:p>
                    <a:p>
                      <a:pPr>
                        <a:lnSpc>
                          <a:spcPts val="1829"/>
                        </a:lnSpc>
                        <a:spcBef>
                          <a:spcPts val="0"/>
                        </a:spcBef>
                        <a:spcAft>
                          <a:spcPts val="0"/>
                        </a:spcAft>
                      </a:pPr>
                      <a:r>
                        <a:rPr sz="1550" b="0">
                          <a:solidFill>
                            <a:srgbClr val="183A32"/>
                          </a:solidFill>
                          <a:latin typeface="Arial"/>
                        </a:rPr>
                        <a:t>Surabaya; three Cleo Business</a:t>
                      </a:r>
                    </a:p>
                    <a:p>
                      <a:pPr>
                        <a:lnSpc>
                          <a:spcPts val="1829"/>
                        </a:lnSpc>
                        <a:spcBef>
                          <a:spcPts val="0"/>
                        </a:spcBef>
                        <a:spcAft>
                          <a:spcPts val="0"/>
                        </a:spcAft>
                      </a:pPr>
                      <a:r>
                        <a:rPr sz="1550" b="0">
                          <a:solidFill>
                            <a:srgbClr val="183A32"/>
                          </a:solidFill>
                          <a:latin typeface="Arial"/>
                        </a:rPr>
                        <a:t>Hotel locations; Solaris hotel and</a:t>
                      </a:r>
                    </a:p>
                    <a:p>
                      <a:pPr>
                        <a:lnSpc>
                          <a:spcPts val="1829"/>
                        </a:lnSpc>
                        <a:spcBef>
                          <a:spcPts val="0"/>
                        </a:spcBef>
                        <a:spcAft>
                          <a:spcPts val="0"/>
                        </a:spcAft>
                      </a:pPr>
                      <a:r>
                        <a:rPr sz="1550" b="0">
                          <a:solidFill>
                            <a:srgbClr val="183A32"/>
                          </a:solidFill>
                          <a:latin typeface="Arial"/>
                        </a:rPr>
                        <a:t>villa assets in Bali and Malang;</a:t>
                      </a:r>
                    </a:p>
                    <a:p>
                      <a:pPr>
                        <a:lnSpc>
                          <a:spcPts val="1829"/>
                        </a:lnSpc>
                        <a:spcBef>
                          <a:spcPts val="0"/>
                        </a:spcBef>
                        <a:spcAft>
                          <a:spcPts val="0"/>
                        </a:spcAft>
                      </a:pPr>
                      <a:r>
                        <a:rPr sz="1550" b="0">
                          <a:solidFill>
                            <a:srgbClr val="183A32"/>
                          </a:solidFill>
                          <a:latin typeface="Arial"/>
                        </a:rPr>
                        <a:t>Golf Taman Dayu; Driving Range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 VASA Ubud and VASA Bromo. Upcoming:</a:t>
                      </a:r>
                    </a:p>
                    <a:p>
                      <a:pPr>
                        <a:lnSpc>
                          <a:spcPts val="1829"/>
                        </a:lnSpc>
                        <a:spcBef>
                          <a:spcPts val="0"/>
                        </a:spcBef>
                        <a:spcAft>
                          <a:spcPts val="0"/>
                        </a:spcAft>
                      </a:pPr>
                      <a:r>
                        <a:rPr sz="1550" b="0">
                          <a:solidFill>
                            <a:srgbClr val="183A32"/>
                          </a:solidFill>
                          <a:latin typeface="Arial"/>
                        </a:rPr>
                        <a:t>VASA Canggu, VASA Malang, and GOED Malang</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555744"/>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PORTFOLIO RULES</a:t>
            </a:r>
          </a:p>
        </p:txBody>
      </p:sp>
      <p:sp>
        <p:nvSpPr>
          <p:cNvPr id="13" name="Rectangle 12"/>
          <p:cNvSpPr/>
          <p:nvPr/>
        </p:nvSpPr>
        <p:spPr>
          <a:xfrm>
            <a:off x="685800" y="496849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487705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Do not count a proposed renaming as an additional project.</a:t>
            </a:r>
          </a:p>
        </p:txBody>
      </p:sp>
      <p:sp>
        <p:nvSpPr>
          <p:cNvPr id="15" name="Rectangle 14"/>
          <p:cNvSpPr/>
          <p:nvPr/>
        </p:nvSpPr>
        <p:spPr>
          <a:xfrm>
            <a:off x="685800" y="541794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532650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Do not treat all TANLY-managed properties as automatically owned by TANRISE.</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19.4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19–20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Preserve the Portfolio. Make Its Status Clear.</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Do not convert scheduled development dates into confirmed operating status.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Retain established project names unless a naming change has been approved and implemented.</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Reconcile ownership percentages separately from the brand diagram.</a:t>
            </a:r>
          </a:p>
        </p:txBody>
      </p:sp>
      <p:sp>
        <p:nvSpPr>
          <p:cNvPr id="17" name="Rectangle 16"/>
          <p:cNvSpPr/>
          <p:nvPr/>
        </p:nvSpPr>
        <p:spPr>
          <a:xfrm>
            <a:off x="685800" y="3433191"/>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433191"/>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3515486"/>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Supporting detail: The complete project and naming register appears in Appendix A.</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20–21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Preserve Recognition. Clarify Relationships.</a:t>
            </a:r>
          </a:p>
        </p:txBody>
      </p:sp>
      <p:graphicFrame>
        <p:nvGraphicFramePr>
          <p:cNvPr id="11" name="Table 10"/>
          <p:cNvGraphicFramePr>
            <a:graphicFrameLocks noGrp="1"/>
          </p:cNvGraphicFramePr>
          <p:nvPr/>
        </p:nvGraphicFramePr>
        <p:xfrm>
          <a:off x="685800" y="2084831"/>
          <a:ext cx="10789919" cy="283298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Brand level</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principle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TANRISE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Corporate reputation and property-development endorsement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Business pillars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Descriptive portfolio categories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Integrated destinations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Preserve recognisable destination names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Residential and commercial projects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 approved customer-facing project identities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Hospitality brands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Preserve operating-brand identity and identify management relationships</a:t>
                      </a:r>
                    </a:p>
                    <a:p>
                      <a:pPr>
                        <a:lnSpc>
                          <a:spcPts val="1829"/>
                        </a:lnSpc>
                        <a:spcBef>
                          <a:spcPts val="0"/>
                        </a:spcBef>
                        <a:spcAft>
                          <a:spcPts val="0"/>
                        </a:spcAft>
                      </a:pPr>
                      <a:r>
                        <a:rPr sz="1550" b="0">
                          <a:solidFill>
                            <a:srgbClr val="183A32"/>
                          </a:solidFill>
                          <a:latin typeface="Arial"/>
                        </a:rPr>
                        <a:t>accurately</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20–21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053</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Naming Transitions Shown in the Client’s Brand Portfolio</a:t>
            </a:r>
          </a:p>
          <a:p>
            <a:pPr>
              <a:lnSpc>
                <a:spcPts val="3502"/>
              </a:lnSpc>
              <a:spcBef>
                <a:spcPts val="0"/>
              </a:spcBef>
              <a:spcAft>
                <a:spcPts val="0"/>
              </a:spcAft>
            </a:pPr>
            <a:r>
              <a:rPr sz="3100" b="0" i="0">
                <a:solidFill>
                  <a:srgbClr val="153F35"/>
                </a:solidFill>
                <a:latin typeface="Arial"/>
              </a:rPr>
              <a:t>Deck</a:t>
            </a:r>
          </a:p>
        </p:txBody>
      </p:sp>
      <p:cxnSp>
        <p:nvCxnSpPr>
          <p:cNvPr id="11" name="Connector 10"/>
          <p:cNvCxnSpPr/>
          <p:nvPr/>
        </p:nvCxnSpPr>
        <p:spPr>
          <a:xfrm>
            <a:off x="6062472" y="2169921"/>
            <a:ext cx="0" cy="264414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6992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Jumana Residence → Sunrise Residence Sidoarjo</a:t>
            </a:r>
          </a:p>
          <a:p>
            <a:pPr>
              <a:lnSpc>
                <a:spcPts val="2196"/>
              </a:lnSpc>
              <a:spcBef>
                <a:spcPts val="0"/>
              </a:spcBef>
              <a:spcAft>
                <a:spcPts val="0"/>
              </a:spcAft>
            </a:pPr>
            <a:r>
              <a:rPr sz="1800" b="0" i="0">
                <a:solidFill>
                  <a:srgbClr val="183A32"/>
                </a:solidFill>
                <a:latin typeface="Times New Roman"/>
              </a:rPr>
              <a:t>Shown as a “Before/After” proposal. Treat as one</a:t>
            </a:r>
          </a:p>
          <a:p>
            <a:pPr>
              <a:lnSpc>
                <a:spcPts val="2196"/>
              </a:lnSpc>
              <a:spcBef>
                <a:spcPts val="0"/>
              </a:spcBef>
              <a:spcAft>
                <a:spcPts val="0"/>
              </a:spcAft>
            </a:pPr>
            <a:r>
              <a:rPr sz="1800" b="0" i="0">
                <a:solidFill>
                  <a:srgbClr val="183A32"/>
                </a:solidFill>
                <a:latin typeface="Times New Roman"/>
              </a:rPr>
              <a:t>project with a naming transition, subject to</a:t>
            </a:r>
          </a:p>
          <a:p>
            <a:pPr>
              <a:lnSpc>
                <a:spcPts val="2196"/>
              </a:lnSpc>
              <a:spcBef>
                <a:spcPts val="0"/>
              </a:spcBef>
              <a:spcAft>
                <a:spcPts val="0"/>
              </a:spcAft>
            </a:pPr>
            <a:r>
              <a:rPr sz="1800" b="0" i="0">
                <a:solidFill>
                  <a:srgbClr val="183A32"/>
                </a:solidFill>
                <a:latin typeface="Times New Roman"/>
              </a:rPr>
              <a:t>implementation confirmation.</a:t>
            </a:r>
          </a:p>
        </p:txBody>
      </p:sp>
      <p:sp>
        <p:nvSpPr>
          <p:cNvPr id="13" name="TextBox 12"/>
          <p:cNvSpPr txBox="1"/>
          <p:nvPr/>
        </p:nvSpPr>
        <p:spPr>
          <a:xfrm>
            <a:off x="685800" y="3463797"/>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Grand Sunrise → Location-Based Grand Sunrise</a:t>
            </a:r>
          </a:p>
          <a:p>
            <a:pPr>
              <a:lnSpc>
                <a:spcPts val="2196"/>
              </a:lnSpc>
              <a:spcBef>
                <a:spcPts val="0"/>
              </a:spcBef>
              <a:spcAft>
                <a:spcPts val="0"/>
              </a:spcAft>
            </a:pPr>
            <a:r>
              <a:rPr sz="1800" b="0" i="0">
                <a:solidFill>
                  <a:srgbClr val="183A32"/>
                </a:solidFill>
                <a:latin typeface="Times New Roman"/>
              </a:rPr>
              <a:t>Naming Examples include Grand Sunrise Menganti</a:t>
            </a:r>
          </a:p>
          <a:p>
            <a:pPr>
              <a:lnSpc>
                <a:spcPts val="2196"/>
              </a:lnSpc>
              <a:spcBef>
                <a:spcPts val="0"/>
              </a:spcBef>
              <a:spcAft>
                <a:spcPts val="0"/>
              </a:spcAft>
            </a:pPr>
            <a:r>
              <a:rPr sz="1800" b="0" i="0">
                <a:solidFill>
                  <a:srgbClr val="183A32"/>
                </a:solidFill>
                <a:latin typeface="Times New Roman"/>
              </a:rPr>
              <a:t>and Grand Sunrise Malang.</a:t>
            </a:r>
          </a:p>
        </p:txBody>
      </p:sp>
      <p:sp>
        <p:nvSpPr>
          <p:cNvPr id="14" name="TextBox 13"/>
          <p:cNvSpPr txBox="1"/>
          <p:nvPr/>
        </p:nvSpPr>
        <p:spPr>
          <a:xfrm>
            <a:off x="6400800" y="216992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TritanPoint / TritanHub → TRITAN + Location</a:t>
            </a:r>
          </a:p>
          <a:p>
            <a:pPr>
              <a:lnSpc>
                <a:spcPts val="2196"/>
              </a:lnSpc>
              <a:spcBef>
                <a:spcPts val="0"/>
              </a:spcBef>
              <a:spcAft>
                <a:spcPts val="0"/>
              </a:spcAft>
            </a:pPr>
            <a:r>
              <a:rPr sz="1800" b="0" i="0">
                <a:solidFill>
                  <a:srgbClr val="183A32"/>
                </a:solidFill>
                <a:latin typeface="Times New Roman"/>
              </a:rPr>
              <a:t>Shown as a proposed consolidated warehouse-brand</a:t>
            </a:r>
          </a:p>
          <a:p>
            <a:pPr>
              <a:lnSpc>
                <a:spcPts val="2196"/>
              </a:lnSpc>
              <a:spcBef>
                <a:spcPts val="0"/>
              </a:spcBef>
              <a:spcAft>
                <a:spcPts val="0"/>
              </a:spcAft>
            </a:pPr>
            <a:r>
              <a:rPr sz="1800" b="0" i="0">
                <a:solidFill>
                  <a:srgbClr val="183A32"/>
                </a:solidFill>
                <a:latin typeface="Times New Roman"/>
              </a:rPr>
              <a:t>system.</a:t>
            </a:r>
          </a:p>
        </p:txBody>
      </p:sp>
      <p:sp>
        <p:nvSpPr>
          <p:cNvPr id="15" name="TextBox 14"/>
          <p:cNvSpPr txBox="1"/>
          <p:nvPr/>
        </p:nvSpPr>
        <p:spPr>
          <a:xfrm>
            <a:off x="6400800" y="3184905"/>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Industrial Park + Location Used for</a:t>
            </a:r>
          </a:p>
          <a:p>
            <a:pPr>
              <a:lnSpc>
                <a:spcPts val="2196"/>
              </a:lnSpc>
              <a:spcBef>
                <a:spcPts val="0"/>
              </a:spcBef>
              <a:spcAft>
                <a:spcPts val="0"/>
              </a:spcAft>
            </a:pPr>
            <a:r>
              <a:rPr sz="1800" b="0" i="0">
                <a:solidFill>
                  <a:srgbClr val="183A32"/>
                </a:solidFill>
                <a:latin typeface="Times New Roman"/>
              </a:rPr>
              <a:t>industrial-park naming, with the asset status of each</a:t>
            </a:r>
          </a:p>
          <a:p>
            <a:pPr>
              <a:lnSpc>
                <a:spcPts val="2196"/>
              </a:lnSpc>
              <a:spcBef>
                <a:spcPts val="0"/>
              </a:spcBef>
              <a:spcAft>
                <a:spcPts val="0"/>
              </a:spcAft>
            </a:pPr>
            <a:r>
              <a:rPr sz="1800" b="0" i="0">
                <a:solidFill>
                  <a:srgbClr val="183A32"/>
                </a:solidFill>
                <a:latin typeface="Times New Roman"/>
              </a:rPr>
              <a:t>location verified separately.</a:t>
            </a:r>
          </a:p>
        </p:txBody>
      </p:sp>
      <p:sp>
        <p:nvSpPr>
          <p:cNvPr id="16" name="TextBox 15"/>
          <p:cNvSpPr txBox="1"/>
          <p:nvPr/>
        </p:nvSpPr>
        <p:spPr>
          <a:xfrm>
            <a:off x="6400800" y="422732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ENDORSEMENT EXAMPLES</a:t>
            </a:r>
          </a:p>
        </p:txBody>
      </p:sp>
      <p:sp>
        <p:nvSpPr>
          <p:cNvPr id="17" name="TextBox 16"/>
          <p:cNvSpPr txBox="1"/>
          <p:nvPr/>
        </p:nvSpPr>
        <p:spPr>
          <a:xfrm>
            <a:off x="6400800" y="4576064"/>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CORPORATE-LED DESTINATION</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20–21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CITY SIDOARJO</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ENDORSED PROJECT</a:t>
            </a:r>
          </a:p>
        </p:txBody>
      </p:sp>
      <p:sp>
        <p:nvSpPr>
          <p:cNvPr id="12" name="TextBox 11"/>
          <p:cNvSpPr txBox="1"/>
          <p:nvPr/>
        </p:nvSpPr>
        <p:spPr>
          <a:xfrm>
            <a:off x="685800" y="246100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KYO SOCIETY A DEVELOPMENT BY TANRISE</a:t>
            </a:r>
          </a:p>
        </p:txBody>
      </p:sp>
      <p:sp>
        <p:nvSpPr>
          <p:cNvPr id="13" name="TextBox 12"/>
          <p:cNvSpPr txBox="1"/>
          <p:nvPr/>
        </p:nvSpPr>
        <p:spPr>
          <a:xfrm>
            <a:off x="685800" y="280974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LOCATION-BASED LOGISTICS BRAND</a:t>
            </a:r>
          </a:p>
        </p:txBody>
      </p:sp>
      <p:sp>
        <p:nvSpPr>
          <p:cNvPr id="14" name="TextBox 13"/>
          <p:cNvSpPr txBox="1"/>
          <p:nvPr/>
        </p:nvSpPr>
        <p:spPr>
          <a:xfrm>
            <a:off x="685800" y="3158490"/>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TRITAN GRESIK BY TANRISE</a:t>
            </a:r>
          </a:p>
        </p:txBody>
      </p:sp>
      <p:sp>
        <p:nvSpPr>
          <p:cNvPr id="15" name="TextBox 14"/>
          <p:cNvSpPr txBox="1"/>
          <p:nvPr/>
        </p:nvSpPr>
        <p:spPr>
          <a:xfrm>
            <a:off x="685800" y="3507232"/>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HOSPITALITY RELATIONSHIP</a:t>
            </a:r>
          </a:p>
        </p:txBody>
      </p:sp>
      <p:sp>
        <p:nvSpPr>
          <p:cNvPr id="16" name="TextBox 15"/>
          <p:cNvSpPr txBox="1"/>
          <p:nvPr/>
        </p:nvSpPr>
        <p:spPr>
          <a:xfrm>
            <a:off x="685800" y="382854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Identify the approved hotel brand, asset company, and TANLY management relationship where relevant.</a:t>
            </a:r>
          </a:p>
        </p:txBody>
      </p:sp>
      <p:sp>
        <p:nvSpPr>
          <p:cNvPr id="17" name="Rectangle 16"/>
          <p:cNvSpPr/>
          <p:nvPr/>
        </p:nvSpPr>
        <p:spPr>
          <a:xfrm>
            <a:off x="685800" y="4285742"/>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285742"/>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4368038"/>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Validation note: Endorsement wording and legal attribution require review before use. “The House of VASA” is not</a:t>
            </a:r>
          </a:p>
          <a:p>
            <a:pPr>
              <a:lnSpc>
                <a:spcPts val="2013"/>
              </a:lnSpc>
              <a:spcBef>
                <a:spcPts val="0"/>
              </a:spcBef>
              <a:spcAft>
                <a:spcPts val="0"/>
              </a:spcAft>
            </a:pPr>
            <a:r>
              <a:rPr sz="1650" b="0" i="0">
                <a:solidFill>
                  <a:srgbClr val="183A32"/>
                </a:solidFill>
                <a:latin typeface="Times New Roman"/>
              </a:rPr>
              <a:t>established as the approved umbrella by the two supplied decks.</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22–23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One Destination Can Connect Several Businesses.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TAMAN DAYU PANDAAN</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wider destination connects residential development with golf, recreation, hospitality, and visitor activity.</a:t>
            </a:r>
          </a:p>
        </p:txBody>
      </p:sp>
      <p:sp>
        <p:nvSpPr>
          <p:cNvPr id="13" name="TextBox 12"/>
          <p:cNvSpPr txBox="1"/>
          <p:nvPr/>
        </p:nvSpPr>
        <p:spPr>
          <a:xfrm>
            <a:off x="685800" y="28907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Documented components include:</a:t>
            </a:r>
          </a:p>
        </p:txBody>
      </p:sp>
      <p:sp>
        <p:nvSpPr>
          <p:cNvPr id="14" name="Rectangle 13"/>
          <p:cNvSpPr/>
          <p:nvPr/>
        </p:nvSpPr>
        <p:spPr>
          <a:xfrm>
            <a:off x="685800" y="34394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3479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Tanrise Taman Dayu Pandaan.</a:t>
            </a:r>
          </a:p>
        </p:txBody>
      </p:sp>
      <p:sp>
        <p:nvSpPr>
          <p:cNvPr id="16" name="Rectangle 15"/>
          <p:cNvSpPr/>
          <p:nvPr/>
        </p:nvSpPr>
        <p:spPr>
          <a:xfrm>
            <a:off x="685800" y="388886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79742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Golf Taman Dayu.</a:t>
            </a:r>
          </a:p>
        </p:txBody>
      </p:sp>
      <p:sp>
        <p:nvSpPr>
          <p:cNvPr id="18" name="Rectangle 17"/>
          <p:cNvSpPr/>
          <p:nvPr/>
        </p:nvSpPr>
        <p:spPr>
          <a:xfrm>
            <a:off x="685800" y="43383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8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Driving Range.</a:t>
            </a:r>
          </a:p>
        </p:txBody>
      </p:sp>
      <p:sp>
        <p:nvSpPr>
          <p:cNvPr id="20" name="Rectangle 19"/>
          <p:cNvSpPr/>
          <p:nvPr/>
        </p:nvSpPr>
        <p:spPr>
          <a:xfrm>
            <a:off x="685800" y="47877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6963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Swiss of Taman Dayu Pandaan as an ongoing development.</a:t>
            </a:r>
          </a:p>
        </p:txBody>
      </p:sp>
      <p:sp>
        <p:nvSpPr>
          <p:cNvPr id="22" name="TextBox 21"/>
          <p:cNvSpPr txBox="1"/>
          <p:nvPr/>
        </p:nvSpPr>
        <p:spPr>
          <a:xfrm>
            <a:off x="685800" y="514578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Destination-wide planning should preserve the distinction between these assets and their ownership and operating</a:t>
            </a:r>
          </a:p>
          <a:p>
            <a:pPr>
              <a:lnSpc>
                <a:spcPts val="2196"/>
              </a:lnSpc>
              <a:spcBef>
                <a:spcPts val="0"/>
              </a:spcBef>
              <a:spcAft>
                <a:spcPts val="0"/>
              </a:spcAft>
            </a:pPr>
            <a:r>
              <a:rPr sz="1800" b="0" i="0">
                <a:solidFill>
                  <a:srgbClr val="183A32"/>
                </a:solidFill>
                <a:latin typeface="Times New Roman"/>
              </a:rPr>
              <a:t>arrangements.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22–23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Bandung</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 ongoing integrated development with residential and commercial potential.</a:t>
            </a:r>
          </a:p>
        </p:txBody>
      </p:sp>
      <p:sp>
        <p:nvSpPr>
          <p:cNvPr id="12" name="TextBox 11"/>
          <p:cNvSpPr txBox="1"/>
          <p:nvPr/>
        </p:nvSpPr>
        <p:spPr>
          <a:xfrm>
            <a:off x="685800" y="25420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Grand Central Bandung is identified as a commercial project within the broader Bandung development site.</a:t>
            </a:r>
          </a:p>
        </p:txBody>
      </p:sp>
      <p:sp>
        <p:nvSpPr>
          <p:cNvPr id="13" name="TextBox 12"/>
          <p:cNvSpPr txBox="1"/>
          <p:nvPr/>
        </p:nvSpPr>
        <p:spPr>
          <a:xfrm>
            <a:off x="685800" y="30266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CITY SIDOARJO</a:t>
            </a:r>
          </a:p>
        </p:txBody>
      </p:sp>
      <p:sp>
        <p:nvSpPr>
          <p:cNvPr id="14" name="TextBox 13"/>
          <p:cNvSpPr txBox="1"/>
          <p:nvPr/>
        </p:nvSpPr>
        <p:spPr>
          <a:xfrm>
            <a:off x="685800" y="33479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 ongoing integrated-city project.</a:t>
            </a:r>
          </a:p>
        </p:txBody>
      </p:sp>
      <p:sp>
        <p:nvSpPr>
          <p:cNvPr id="15" name="TextBox 14"/>
          <p:cNvSpPr txBox="1"/>
          <p:nvPr/>
        </p:nvSpPr>
        <p:spPr>
          <a:xfrm>
            <a:off x="685800" y="3805173"/>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long-term development strategy should coordinate housing, infrastructure, commercial activity, and appropriate</a:t>
            </a:r>
          </a:p>
          <a:p>
            <a:pPr>
              <a:lnSpc>
                <a:spcPts val="2196"/>
              </a:lnSpc>
              <a:spcBef>
                <a:spcPts val="0"/>
              </a:spcBef>
              <a:spcAft>
                <a:spcPts val="0"/>
              </a:spcAft>
            </a:pPr>
            <a:r>
              <a:rPr sz="1800" b="0" i="0">
                <a:solidFill>
                  <a:srgbClr val="183A32"/>
                </a:solidFill>
                <a:latin typeface="Times New Roman"/>
              </a:rPr>
              <a:t>partner-led facilities.</a:t>
            </a:r>
          </a:p>
        </p:txBody>
      </p:sp>
      <p:sp>
        <p:nvSpPr>
          <p:cNvPr id="16" name="TextBox 15"/>
          <p:cNvSpPr txBox="1"/>
          <p:nvPr/>
        </p:nvSpPr>
        <p:spPr>
          <a:xfrm>
            <a:off x="685800" y="4568697"/>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VALUE-CREATION CYCLE</a:t>
            </a:r>
          </a:p>
        </p:txBody>
      </p:sp>
      <p:sp>
        <p:nvSpPr>
          <p:cNvPr id="17" name="Rectangle 16"/>
          <p:cNvSpPr/>
          <p:nvPr/>
        </p:nvSpPr>
        <p:spPr>
          <a:xfrm>
            <a:off x="685800" y="4890007"/>
            <a:ext cx="2546604"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036311"/>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Develop</a:t>
            </a:r>
          </a:p>
        </p:txBody>
      </p:sp>
      <p:sp>
        <p:nvSpPr>
          <p:cNvPr id="19" name="TextBox 18"/>
          <p:cNvSpPr txBox="1"/>
          <p:nvPr/>
        </p:nvSpPr>
        <p:spPr>
          <a:xfrm>
            <a:off x="3282696" y="5072887"/>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0" name="Rectangle 19"/>
          <p:cNvSpPr/>
          <p:nvPr/>
        </p:nvSpPr>
        <p:spPr>
          <a:xfrm>
            <a:off x="3433572" y="4890007"/>
            <a:ext cx="2546604"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43300" y="5036311"/>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Activate</a:t>
            </a:r>
          </a:p>
        </p:txBody>
      </p:sp>
      <p:sp>
        <p:nvSpPr>
          <p:cNvPr id="22" name="TextBox 21"/>
          <p:cNvSpPr txBox="1"/>
          <p:nvPr/>
        </p:nvSpPr>
        <p:spPr>
          <a:xfrm>
            <a:off x="6030468" y="5072887"/>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3" name="Rectangle 22"/>
          <p:cNvSpPr/>
          <p:nvPr/>
        </p:nvSpPr>
        <p:spPr>
          <a:xfrm>
            <a:off x="6181344" y="4890007"/>
            <a:ext cx="2546604"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1072" y="5036311"/>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Operate</a:t>
            </a:r>
          </a:p>
        </p:txBody>
      </p:sp>
      <p:sp>
        <p:nvSpPr>
          <p:cNvPr id="25" name="TextBox 24"/>
          <p:cNvSpPr txBox="1"/>
          <p:nvPr/>
        </p:nvSpPr>
        <p:spPr>
          <a:xfrm>
            <a:off x="8778240" y="5072887"/>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6" name="Rectangle 25"/>
          <p:cNvSpPr/>
          <p:nvPr/>
        </p:nvSpPr>
        <p:spPr>
          <a:xfrm>
            <a:off x="8929116" y="4890007"/>
            <a:ext cx="2546604"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8844" y="5036311"/>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Grow</a:t>
            </a:r>
          </a:p>
        </p:txBody>
      </p:sp>
      <p:sp>
        <p:nvSpPr>
          <p:cNvPr id="28" name="TextBox 2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21.3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22–23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One Destination Can Connect Several Businesses.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 relevant places.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Activate them through tenants, institutions, services, and experiences.</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Operate retained assets and customer relationships.</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Grow income, asset productivity, and reinvestment capacity.</a:t>
            </a:r>
          </a:p>
        </p:txBody>
      </p:sp>
      <p:sp>
        <p:nvSpPr>
          <p:cNvPr id="19" name="TextBox 18"/>
          <p:cNvSpPr txBox="1"/>
          <p:nvPr/>
        </p:nvSpPr>
        <p:spPr>
          <a:xfrm>
            <a:off x="685800" y="3882643"/>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Education, healthcare, wellness, and memberships should be labelled as proposed or partner-led opportunities unless</a:t>
            </a:r>
          </a:p>
          <a:p>
            <a:pPr>
              <a:lnSpc>
                <a:spcPts val="2196"/>
              </a:lnSpc>
              <a:spcBef>
                <a:spcPts val="0"/>
              </a:spcBef>
              <a:spcAft>
                <a:spcPts val="0"/>
              </a:spcAft>
            </a:pPr>
            <a:r>
              <a:rPr sz="1800" b="0" i="0">
                <a:solidFill>
                  <a:srgbClr val="183A32"/>
                </a:solidFill>
                <a:latin typeface="Times New Roman"/>
              </a:rPr>
              <a:t>a specific committed facility or operating business is confirmed.</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CHAPTER 04</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058</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04</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Three corporate brand platform options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23–24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059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Choosing How TANRISE Will Be Known in Its Next Chapter.</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three proposed directions share a foundation of trust, purposeful concepts, and long-term value.</a:t>
            </a:r>
          </a:p>
        </p:txBody>
      </p:sp>
      <p:graphicFrame>
        <p:nvGraphicFramePr>
          <p:cNvPr id="12" name="Table 11"/>
          <p:cNvGraphicFramePr>
            <a:graphicFrameLocks noGrp="1"/>
          </p:cNvGraphicFramePr>
          <p:nvPr/>
        </p:nvGraphicFramePr>
        <p:xfrm>
          <a:off x="685800" y="2542032"/>
          <a:ext cx="10789920" cy="2945384"/>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Dimension</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Option 01</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Option 02</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Option 03</a:t>
                      </a:r>
                    </a:p>
                  </a:txBody>
                  <a:tcPr marL="109728" marR="109728" marT="82296" marB="0" anchor="t">
                    <a:solidFill>
                      <a:srgbClr val="153F35"/>
                    </a:solidFill>
                    <a:lnL>
                      <a:noFill/>
                    </a:lnL>
                    <a:lnR>
                      <a:noFill/>
                    </a:lnR>
                    <a:lnT>
                      <a:noFill/>
                    </a:lnT>
                    <a:lnB>
                      <a:noFill/>
                    </a:lnB>
                  </a:tcPr>
                </a:tc>
              </a:tr>
              <a:tr h="418465">
                <a:tc>
                  <a:txBody>
                    <a:bodyPr wrap="none"/>
                    <a:lstStyle/>
                    <a:p>
                      <a:pPr>
                        <a:lnSpc>
                          <a:spcPts val="1711"/>
                        </a:lnSpc>
                        <a:spcBef>
                          <a:spcPts val="0"/>
                        </a:spcBef>
                        <a:spcAft>
                          <a:spcPts val="0"/>
                        </a:spcAft>
                      </a:pPr>
                      <a:r>
                        <a:rPr sz="1450" b="0">
                          <a:solidFill>
                            <a:srgbClr val="183A32"/>
                          </a:solidFill>
                          <a:latin typeface="Arial"/>
                        </a:rPr>
                        <a:t>Strategic territory</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Development excellence</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Human-centred placemaking</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Integrated value ecosystems</a:t>
                      </a:r>
                    </a:p>
                  </a:txBody>
                  <a:tcPr marL="109728" marR="109728" marT="82296" marB="0" anchor="t">
                    <a:solidFill>
                      <a:srgbClr val="F6F2E9"/>
                    </a:solidFill>
                    <a:lnL>
                      <a:noFill/>
                    </a:lnL>
                    <a:lnR>
                      <a:noFill/>
                    </a:lnR>
                    <a:lnT>
                      <a:noFill/>
                    </a:lnT>
                    <a:lnB>
                      <a:noFill/>
                    </a:lnB>
                  </a:tcPr>
                </a:tc>
              </a:tr>
              <a:tr h="418465">
                <a:tc>
                  <a:txBody>
                    <a:bodyPr wrap="none"/>
                    <a:lstStyle/>
                    <a:p>
                      <a:pPr>
                        <a:lnSpc>
                          <a:spcPts val="1711"/>
                        </a:lnSpc>
                        <a:spcBef>
                          <a:spcPts val="0"/>
                        </a:spcBef>
                        <a:spcAft>
                          <a:spcPts val="0"/>
                        </a:spcAft>
                      </a:pPr>
                      <a:r>
                        <a:rPr sz="1450" b="0">
                          <a:solidFill>
                            <a:srgbClr val="183A32"/>
                          </a:solidFill>
                          <a:latin typeface="Arial"/>
                        </a:rPr>
                        <a:t>Brand idea</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Building Tomorrow’s Places</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Elevating Life</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Creating Lasting Value</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Primary emphasis</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What we build</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Why we build</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What our developments</a:t>
                      </a:r>
                    </a:p>
                    <a:p>
                      <a:pPr>
                        <a:lnSpc>
                          <a:spcPts val="1711"/>
                        </a:lnSpc>
                        <a:spcBef>
                          <a:spcPts val="0"/>
                        </a:spcBef>
                        <a:spcAft>
                          <a:spcPts val="0"/>
                        </a:spcAft>
                      </a:pPr>
                      <a:r>
                        <a:rPr sz="1450" b="0">
                          <a:solidFill>
                            <a:srgbClr val="183A32"/>
                          </a:solidFill>
                          <a:latin typeface="Arial"/>
                        </a:rPr>
                        <a:t>enable</a:t>
                      </a:r>
                    </a:p>
                  </a:txBody>
                  <a:tcPr marL="109728" marR="109728" marT="82296" marB="0" anchor="t">
                    <a:solidFill>
                      <a:srgbClr val="F6F2E9"/>
                    </a:solidFill>
                    <a:lnL>
                      <a:noFill/>
                    </a:lnL>
                    <a:lnR>
                      <a:noFill/>
                    </a:lnR>
                    <a:lnT>
                      <a:noFill/>
                    </a:lnT>
                    <a:lnB>
                      <a:noFill/>
                    </a:lnB>
                  </a:tcPr>
                </a:tc>
              </a:tr>
              <a:tr h="418465">
                <a:tc>
                  <a:txBody>
                    <a:bodyPr wrap="none"/>
                    <a:lstStyle/>
                    <a:p>
                      <a:pPr>
                        <a:lnSpc>
                          <a:spcPts val="1711"/>
                        </a:lnSpc>
                        <a:spcBef>
                          <a:spcPts val="0"/>
                        </a:spcBef>
                        <a:spcAft>
                          <a:spcPts val="0"/>
                        </a:spcAft>
                      </a:pPr>
                      <a:r>
                        <a:rPr sz="1450" b="0">
                          <a:solidFill>
                            <a:srgbClr val="183A32"/>
                          </a:solidFill>
                          <a:latin typeface="Arial"/>
                        </a:rPr>
                        <a:t>Emotional appeal</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Confidence</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Belonging and progress</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Opportunity and prosperity</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Commercial emphasis</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Development and sales</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Development and long-term</a:t>
                      </a:r>
                    </a:p>
                    <a:p>
                      <a:pPr>
                        <a:lnSpc>
                          <a:spcPts val="1711"/>
                        </a:lnSpc>
                        <a:spcBef>
                          <a:spcPts val="0"/>
                        </a:spcBef>
                        <a:spcAft>
                          <a:spcPts val="0"/>
                        </a:spcAft>
                      </a:pPr>
                      <a:r>
                        <a:rPr sz="1450" b="0">
                          <a:solidFill>
                            <a:srgbClr val="183A32"/>
                          </a:solidFill>
                          <a:latin typeface="Arial"/>
                        </a:rPr>
                        <a:t>place value</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Development and recurring</a:t>
                      </a:r>
                    </a:p>
                    <a:p>
                      <a:pPr>
                        <a:lnSpc>
                          <a:spcPts val="1711"/>
                        </a:lnSpc>
                        <a:spcBef>
                          <a:spcPts val="0"/>
                        </a:spcBef>
                        <a:spcAft>
                          <a:spcPts val="0"/>
                        </a:spcAft>
                      </a:pPr>
                      <a:r>
                        <a:rPr sz="1450" b="0">
                          <a:solidFill>
                            <a:srgbClr val="183A32"/>
                          </a:solidFill>
                          <a:latin typeface="Arial"/>
                        </a:rPr>
                        <a:t>income</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23–24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Choosing How TANRISE Will Be Known in Its Next Chapter.</a:t>
            </a:r>
          </a:p>
        </p:txBody>
      </p:sp>
      <p:graphicFrame>
        <p:nvGraphicFramePr>
          <p:cNvPr id="11" name="Table 10"/>
          <p:cNvGraphicFramePr>
            <a:graphicFrameLocks noGrp="1"/>
          </p:cNvGraphicFramePr>
          <p:nvPr/>
        </p:nvGraphicFramePr>
        <p:xfrm>
          <a:off x="685800" y="2084831"/>
          <a:ext cx="10789920" cy="836930"/>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Dimension</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Option 01</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Option 02</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Option 03</a:t>
                      </a:r>
                    </a:p>
                  </a:txBody>
                  <a:tcPr marL="109728" marR="109728" marT="82296" marB="0" anchor="t">
                    <a:solidFill>
                      <a:srgbClr val="153F35"/>
                    </a:solidFill>
                    <a:lnL>
                      <a:noFill/>
                    </a:lnL>
                    <a:lnR>
                      <a:noFill/>
                    </a:lnR>
                    <a:lnT>
                      <a:noFill/>
                    </a:lnT>
                    <a:lnB>
                      <a:noFill/>
                    </a:lnB>
                  </a:tcPr>
                </a:tc>
              </a:tr>
              <a:tr h="418465">
                <a:tc>
                  <a:txBody>
                    <a:bodyPr wrap="none"/>
                    <a:lstStyle/>
                    <a:p>
                      <a:pPr>
                        <a:lnSpc>
                          <a:spcPts val="1711"/>
                        </a:lnSpc>
                        <a:spcBef>
                          <a:spcPts val="0"/>
                        </a:spcBef>
                        <a:spcAft>
                          <a:spcPts val="0"/>
                        </a:spcAft>
                      </a:pPr>
                      <a:r>
                        <a:rPr sz="1450" b="0">
                          <a:solidFill>
                            <a:srgbClr val="183A32"/>
                          </a:solidFill>
                          <a:latin typeface="Arial"/>
                        </a:rPr>
                        <a:t>Complexity</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Lower</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Moderate</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Higher</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10464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All options should accommodate TANRISE’s five business pillars and its existing and future portfolio.</a:t>
            </a:r>
          </a:p>
        </p:txBody>
      </p:sp>
      <p:sp>
        <p:nvSpPr>
          <p:cNvPr id="13" name="TextBox 12"/>
          <p:cNvSpPr txBox="1"/>
          <p:nvPr/>
        </p:nvSpPr>
        <p:spPr>
          <a:xfrm>
            <a:off x="685800" y="356184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All retain CINTA and Super-Serving as foundations.</a:t>
            </a:r>
          </a:p>
        </p:txBody>
      </p:sp>
      <p:sp>
        <p:nvSpPr>
          <p:cNvPr id="14" name="TextBox 13"/>
          <p:cNvSpPr txBox="1"/>
          <p:nvPr/>
        </p:nvSpPr>
        <p:spPr>
          <a:xfrm>
            <a:off x="685800" y="401904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Preliminary recommendation: Adopt Option 02 as the corporate brand direction and incorporate Option 03’s</a:t>
            </a:r>
          </a:p>
          <a:p>
            <a:pPr>
              <a:lnSpc>
                <a:spcPts val="2196"/>
              </a:lnSpc>
              <a:spcBef>
                <a:spcPts val="0"/>
              </a:spcBef>
              <a:spcAft>
                <a:spcPts val="0"/>
              </a:spcAft>
            </a:pPr>
            <a:r>
              <a:rPr sz="1800" b="0" i="0">
                <a:solidFill>
                  <a:srgbClr val="183A32"/>
                </a:solidFill>
                <a:latin typeface="Times New Roman"/>
              </a:rPr>
              <a:t>economic ambition into the business strategy.</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24–25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Trusted Developer</a:t>
            </a:r>
          </a:p>
        </p:txBody>
      </p:sp>
      <p:cxnSp>
        <p:nvCxnSpPr>
          <p:cNvPr id="11" name="Connector 10"/>
          <p:cNvCxnSpPr/>
          <p:nvPr/>
        </p:nvCxnSpPr>
        <p:spPr>
          <a:xfrm>
            <a:off x="6062472" y="2084831"/>
            <a:ext cx="0" cy="287121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territory Development excellence.</a:t>
            </a:r>
          </a:p>
        </p:txBody>
      </p:sp>
      <p:sp>
        <p:nvSpPr>
          <p:cNvPr id="13" name="TextBox 12"/>
          <p:cNvSpPr txBox="1"/>
          <p:nvPr/>
        </p:nvSpPr>
        <p:spPr>
          <a:xfrm>
            <a:off x="685800" y="2542032"/>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idea Building Tomorrow’s Places.</a:t>
            </a:r>
          </a:p>
        </p:txBody>
      </p:sp>
      <p:sp>
        <p:nvSpPr>
          <p:cNvPr id="14" name="TextBox 13"/>
          <p:cNvSpPr txBox="1"/>
          <p:nvPr/>
        </p:nvSpPr>
        <p:spPr>
          <a:xfrm>
            <a:off x="685800" y="299923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Supporting statement Creating developments that</a:t>
            </a:r>
          </a:p>
          <a:p>
            <a:pPr>
              <a:lnSpc>
                <a:spcPts val="2196"/>
              </a:lnSpc>
              <a:spcBef>
                <a:spcPts val="0"/>
              </a:spcBef>
              <a:spcAft>
                <a:spcPts val="0"/>
              </a:spcAft>
            </a:pPr>
            <a:r>
              <a:rPr sz="1800" b="0" i="0">
                <a:solidFill>
                  <a:srgbClr val="183A32"/>
                </a:solidFill>
                <a:latin typeface="Times New Roman"/>
              </a:rPr>
              <a:t>inspire confidence today and opportunity for</a:t>
            </a:r>
          </a:p>
          <a:p>
            <a:pPr>
              <a:lnSpc>
                <a:spcPts val="2196"/>
              </a:lnSpc>
              <a:spcBef>
                <a:spcPts val="0"/>
              </a:spcBef>
              <a:spcAft>
                <a:spcPts val="0"/>
              </a:spcAft>
            </a:pPr>
            <a:r>
              <a:rPr sz="1800" b="0" i="0">
                <a:solidFill>
                  <a:srgbClr val="183A32"/>
                </a:solidFill>
                <a:latin typeface="Times New Roman"/>
              </a:rPr>
              <a:t>tomorrow.</a:t>
            </a:r>
          </a:p>
        </p:txBody>
      </p:sp>
      <p:sp>
        <p:nvSpPr>
          <p:cNvPr id="15" name="TextBox 14"/>
          <p:cNvSpPr txBox="1"/>
          <p:nvPr/>
        </p:nvSpPr>
        <p:spPr>
          <a:xfrm>
            <a:off x="685800" y="4014215"/>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purpose To create well-conceived places that</a:t>
            </a:r>
          </a:p>
          <a:p>
            <a:pPr>
              <a:lnSpc>
                <a:spcPts val="2196"/>
              </a:lnSpc>
              <a:spcBef>
                <a:spcPts val="0"/>
              </a:spcBef>
              <a:spcAft>
                <a:spcPts val="0"/>
              </a:spcAft>
            </a:pPr>
            <a:r>
              <a:rPr sz="1800" b="0" i="0">
                <a:solidFill>
                  <a:srgbClr val="183A32"/>
                </a:solidFill>
                <a:latin typeface="Times New Roman"/>
              </a:rPr>
              <a:t>support progress, opportunity, and a better future for</a:t>
            </a:r>
          </a:p>
          <a:p>
            <a:pPr>
              <a:lnSpc>
                <a:spcPts val="2196"/>
              </a:lnSpc>
              <a:spcBef>
                <a:spcPts val="0"/>
              </a:spcBef>
              <a:spcAft>
                <a:spcPts val="0"/>
              </a:spcAft>
            </a:pPr>
            <a:r>
              <a:rPr sz="1800" b="0" i="0">
                <a:solidFill>
                  <a:srgbClr val="183A32"/>
                </a:solidFill>
                <a:latin typeface="Times New Roman"/>
              </a:rPr>
              <a:t>the people and businesses they serve.</a:t>
            </a:r>
          </a:p>
        </p:txBody>
      </p:sp>
      <p:sp>
        <p:nvSpPr>
          <p:cNvPr id="16" name="TextBox 15"/>
          <p:cNvSpPr txBox="1"/>
          <p:nvPr/>
        </p:nvSpPr>
        <p:spPr>
          <a:xfrm>
            <a:off x="6400800" y="20848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vision To become one of Indonesia’s leading</a:t>
            </a:r>
          </a:p>
          <a:p>
            <a:pPr>
              <a:lnSpc>
                <a:spcPts val="2196"/>
              </a:lnSpc>
              <a:spcBef>
                <a:spcPts val="0"/>
              </a:spcBef>
              <a:spcAft>
                <a:spcPts val="0"/>
              </a:spcAft>
            </a:pPr>
            <a:r>
              <a:rPr sz="1800" b="0" i="0">
                <a:solidFill>
                  <a:srgbClr val="183A32"/>
                </a:solidFill>
                <a:latin typeface="Times New Roman"/>
              </a:rPr>
              <a:t>and most trusted property developers, recognised for</a:t>
            </a:r>
          </a:p>
          <a:p>
            <a:pPr>
              <a:lnSpc>
                <a:spcPts val="2196"/>
              </a:lnSpc>
              <a:spcBef>
                <a:spcPts val="0"/>
              </a:spcBef>
              <a:spcAft>
                <a:spcPts val="0"/>
              </a:spcAft>
            </a:pPr>
            <a:r>
              <a:rPr sz="1800" b="0" i="0">
                <a:solidFill>
                  <a:srgbClr val="183A32"/>
                </a:solidFill>
                <a:latin typeface="Times New Roman"/>
              </a:rPr>
              <a:t>thoughtful concepts, dependable delivery, enduring</a:t>
            </a:r>
          </a:p>
          <a:p>
            <a:pPr>
              <a:lnSpc>
                <a:spcPts val="2196"/>
              </a:lnSpc>
              <a:spcBef>
                <a:spcPts val="0"/>
              </a:spcBef>
              <a:spcAft>
                <a:spcPts val="0"/>
              </a:spcAft>
            </a:pPr>
            <a:r>
              <a:rPr sz="1800" b="0" i="0">
                <a:solidFill>
                  <a:srgbClr val="183A32"/>
                </a:solidFill>
                <a:latin typeface="Times New Roman"/>
              </a:rPr>
              <a:t>quality, and lasting value.</a:t>
            </a:r>
          </a:p>
        </p:txBody>
      </p:sp>
      <p:sp>
        <p:nvSpPr>
          <p:cNvPr id="17" name="TextBox 16"/>
          <p:cNvSpPr txBox="1"/>
          <p:nvPr/>
        </p:nvSpPr>
        <p:spPr>
          <a:xfrm>
            <a:off x="6400800" y="3378707"/>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mission To develop residential, commercial,</a:t>
            </a:r>
          </a:p>
          <a:p>
            <a:pPr>
              <a:lnSpc>
                <a:spcPts val="2196"/>
              </a:lnSpc>
              <a:spcBef>
                <a:spcPts val="0"/>
              </a:spcBef>
              <a:spcAft>
                <a:spcPts val="0"/>
              </a:spcAft>
            </a:pPr>
            <a:r>
              <a:rPr sz="1800" b="0" i="0">
                <a:solidFill>
                  <a:srgbClr val="183A32"/>
                </a:solidFill>
                <a:latin typeface="Times New Roman"/>
              </a:rPr>
              <a:t>industrial, hospitality, and integrated destinations</a:t>
            </a:r>
          </a:p>
          <a:p>
            <a:pPr>
              <a:lnSpc>
                <a:spcPts val="2196"/>
              </a:lnSpc>
              <a:spcBef>
                <a:spcPts val="0"/>
              </a:spcBef>
              <a:spcAft>
                <a:spcPts val="0"/>
              </a:spcAft>
            </a:pPr>
            <a:r>
              <a:rPr sz="1800" b="0" i="0">
                <a:solidFill>
                  <a:srgbClr val="183A32"/>
                </a:solidFill>
                <a:latin typeface="Times New Roman"/>
              </a:rPr>
              <a:t>through thoughtful planning, responsible execution,</a:t>
            </a:r>
          </a:p>
          <a:p>
            <a:pPr>
              <a:lnSpc>
                <a:spcPts val="2196"/>
              </a:lnSpc>
              <a:spcBef>
                <a:spcPts val="0"/>
              </a:spcBef>
              <a:spcAft>
                <a:spcPts val="0"/>
              </a:spcAft>
            </a:pPr>
            <a:r>
              <a:rPr sz="1800" b="0" i="0">
                <a:solidFill>
                  <a:srgbClr val="183A32"/>
                </a:solidFill>
                <a:latin typeface="Times New Roman"/>
              </a:rPr>
              <a:t>and a commitment to the customers, partners, and</a:t>
            </a:r>
          </a:p>
          <a:p>
            <a:pPr>
              <a:lnSpc>
                <a:spcPts val="2196"/>
              </a:lnSpc>
              <a:spcBef>
                <a:spcPts val="0"/>
              </a:spcBef>
              <a:spcAft>
                <a:spcPts val="0"/>
              </a:spcAft>
            </a:pPr>
            <a:r>
              <a:rPr sz="1800" b="0" i="0">
                <a:solidFill>
                  <a:srgbClr val="183A32"/>
                </a:solidFill>
                <a:latin typeface="Times New Roman"/>
              </a:rPr>
              <a:t>communities who depend on the places we create.</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24–25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Trusted Developer</a:t>
            </a:r>
          </a:p>
        </p:txBody>
      </p:sp>
      <p:cxnSp>
        <p:nvCxnSpPr>
          <p:cNvPr id="11" name="Connector 10"/>
          <p:cNvCxnSpPr/>
          <p:nvPr/>
        </p:nvCxnSpPr>
        <p:spPr>
          <a:xfrm>
            <a:off x="6062472" y="2084831"/>
            <a:ext cx="0" cy="315239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positioning TANRISE is a trusted Indonesian</a:t>
            </a:r>
          </a:p>
          <a:p>
            <a:pPr>
              <a:lnSpc>
                <a:spcPts val="2196"/>
              </a:lnSpc>
              <a:spcBef>
                <a:spcPts val="0"/>
              </a:spcBef>
              <a:spcAft>
                <a:spcPts val="0"/>
              </a:spcAft>
            </a:pPr>
            <a:r>
              <a:rPr sz="1800" b="0" i="0">
                <a:solidFill>
                  <a:srgbClr val="183A32"/>
                </a:solidFill>
                <a:latin typeface="Times New Roman"/>
              </a:rPr>
              <a:t>property developer combining market understanding,</a:t>
            </a:r>
          </a:p>
          <a:p>
            <a:pPr>
              <a:lnSpc>
                <a:spcPts val="2196"/>
              </a:lnSpc>
              <a:spcBef>
                <a:spcPts val="0"/>
              </a:spcBef>
              <a:spcAft>
                <a:spcPts val="0"/>
              </a:spcAft>
            </a:pPr>
            <a:r>
              <a:rPr sz="1800" b="0" i="0">
                <a:solidFill>
                  <a:srgbClr val="183A32"/>
                </a:solidFill>
                <a:latin typeface="Times New Roman"/>
              </a:rPr>
              <a:t>relevant concepts, and dependable execution to create</a:t>
            </a:r>
          </a:p>
          <a:p>
            <a:pPr>
              <a:lnSpc>
                <a:spcPts val="2196"/>
              </a:lnSpc>
              <a:spcBef>
                <a:spcPts val="0"/>
              </a:spcBef>
              <a:spcAft>
                <a:spcPts val="0"/>
              </a:spcAft>
            </a:pPr>
            <a:r>
              <a:rPr sz="1800" b="0" i="0">
                <a:solidFill>
                  <a:srgbClr val="183A32"/>
                </a:solidFill>
                <a:latin typeface="Times New Roman"/>
              </a:rPr>
              <a:t>places that support life and business.</a:t>
            </a:r>
          </a:p>
        </p:txBody>
      </p:sp>
      <p:sp>
        <p:nvSpPr>
          <p:cNvPr id="13" name="TextBox 12"/>
          <p:cNvSpPr txBox="1"/>
          <p:nvPr/>
        </p:nvSpPr>
        <p:spPr>
          <a:xfrm>
            <a:off x="685800" y="3378707"/>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essence Progress Through Purposeful</a:t>
            </a:r>
          </a:p>
          <a:p>
            <a:pPr>
              <a:lnSpc>
                <a:spcPts val="2196"/>
              </a:lnSpc>
              <a:spcBef>
                <a:spcPts val="0"/>
              </a:spcBef>
              <a:spcAft>
                <a:spcPts val="0"/>
              </a:spcAft>
            </a:pPr>
            <a:r>
              <a:rPr sz="1800" b="0" i="0">
                <a:solidFill>
                  <a:srgbClr val="183A32"/>
                </a:solidFill>
                <a:latin typeface="Times New Roman"/>
              </a:rPr>
              <a:t>Development.</a:t>
            </a:r>
          </a:p>
        </p:txBody>
      </p:sp>
      <p:sp>
        <p:nvSpPr>
          <p:cNvPr id="14" name="TextBox 13"/>
          <p:cNvSpPr txBox="1"/>
          <p:nvPr/>
        </p:nvSpPr>
        <p:spPr>
          <a:xfrm>
            <a:off x="685800" y="4114799"/>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promise Well-conceived places. Responsibly</a:t>
            </a:r>
          </a:p>
          <a:p>
            <a:pPr>
              <a:lnSpc>
                <a:spcPts val="2196"/>
              </a:lnSpc>
              <a:spcBef>
                <a:spcPts val="0"/>
              </a:spcBef>
              <a:spcAft>
                <a:spcPts val="0"/>
              </a:spcAft>
            </a:pPr>
            <a:r>
              <a:rPr sz="1800" b="0" i="0">
                <a:solidFill>
                  <a:srgbClr val="183A32"/>
                </a:solidFill>
                <a:latin typeface="Times New Roman"/>
              </a:rPr>
              <a:t>delivered.</a:t>
            </a:r>
          </a:p>
        </p:txBody>
      </p:sp>
      <p:sp>
        <p:nvSpPr>
          <p:cNvPr id="15" name="TextBox 14"/>
          <p:cNvSpPr txBox="1"/>
          <p:nvPr/>
        </p:nvSpPr>
        <p:spPr>
          <a:xfrm>
            <a:off x="6400800" y="208483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personality Professional, visionary, dependable,</a:t>
            </a:r>
          </a:p>
          <a:p>
            <a:pPr>
              <a:lnSpc>
                <a:spcPts val="2196"/>
              </a:lnSpc>
              <a:spcBef>
                <a:spcPts val="0"/>
              </a:spcBef>
              <a:spcAft>
                <a:spcPts val="0"/>
              </a:spcAft>
            </a:pPr>
            <a:r>
              <a:rPr sz="1800" b="0" i="0">
                <a:solidFill>
                  <a:srgbClr val="183A32"/>
                </a:solidFill>
                <a:latin typeface="Times New Roman"/>
              </a:rPr>
              <a:t>disciplined, thoughtful, and approachable.</a:t>
            </a:r>
          </a:p>
        </p:txBody>
      </p:sp>
      <p:sp>
        <p:nvSpPr>
          <p:cNvPr id="16" name="TextBox 15"/>
          <p:cNvSpPr txBox="1"/>
          <p:nvPr/>
        </p:nvSpPr>
        <p:spPr>
          <a:xfrm>
            <a:off x="6400800" y="282092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Tone of voice Clear, assured, knowledgeable,</a:t>
            </a:r>
          </a:p>
          <a:p>
            <a:pPr>
              <a:lnSpc>
                <a:spcPts val="2196"/>
              </a:lnSpc>
              <a:spcBef>
                <a:spcPts val="0"/>
              </a:spcBef>
              <a:spcAft>
                <a:spcPts val="0"/>
              </a:spcAft>
            </a:pPr>
            <a:r>
              <a:rPr sz="1800" b="0" i="0">
                <a:solidFill>
                  <a:srgbClr val="183A32"/>
                </a:solidFill>
                <a:latin typeface="Times New Roman"/>
              </a:rPr>
              <a:t>responsible, and optimistic.</a:t>
            </a:r>
          </a:p>
        </p:txBody>
      </p:sp>
      <p:sp>
        <p:nvSpPr>
          <p:cNvPr id="17" name="TextBox 16"/>
          <p:cNvSpPr txBox="1"/>
          <p:nvPr/>
        </p:nvSpPr>
        <p:spPr>
          <a:xfrm>
            <a:off x="6400800" y="3557016"/>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Corporate belief Great development begins with</a:t>
            </a:r>
          </a:p>
          <a:p>
            <a:pPr>
              <a:lnSpc>
                <a:spcPts val="2196"/>
              </a:lnSpc>
              <a:spcBef>
                <a:spcPts val="0"/>
              </a:spcBef>
              <a:spcAft>
                <a:spcPts val="0"/>
              </a:spcAft>
            </a:pPr>
            <a:r>
              <a:rPr sz="1800" b="0" i="0">
                <a:solidFill>
                  <a:srgbClr val="183A32"/>
                </a:solidFill>
                <a:latin typeface="Times New Roman"/>
              </a:rPr>
              <a:t>understanding what tomorrow will require and</a:t>
            </a:r>
          </a:p>
          <a:p>
            <a:pPr>
              <a:lnSpc>
                <a:spcPts val="2196"/>
              </a:lnSpc>
              <a:spcBef>
                <a:spcPts val="0"/>
              </a:spcBef>
              <a:spcAft>
                <a:spcPts val="0"/>
              </a:spcAft>
            </a:pPr>
            <a:r>
              <a:rPr sz="1800" b="0" i="0">
                <a:solidFill>
                  <a:srgbClr val="183A32"/>
                </a:solidFill>
                <a:latin typeface="Times New Roman"/>
              </a:rPr>
              <a:t>delivering responsibly today.</a:t>
            </a:r>
          </a:p>
        </p:txBody>
      </p:sp>
      <p:sp>
        <p:nvSpPr>
          <p:cNvPr id="18" name="TextBox 17"/>
          <p:cNvSpPr txBox="1"/>
          <p:nvPr/>
        </p:nvSpPr>
        <p:spPr>
          <a:xfrm>
            <a:off x="6400800" y="4572000"/>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Culture Commitment-led execution, accountability,</a:t>
            </a:r>
          </a:p>
          <a:p>
            <a:pPr>
              <a:lnSpc>
                <a:spcPts val="2196"/>
              </a:lnSpc>
              <a:spcBef>
                <a:spcPts val="0"/>
              </a:spcBef>
              <a:spcAft>
                <a:spcPts val="0"/>
              </a:spcAft>
            </a:pPr>
            <a:r>
              <a:rPr sz="1800" b="0" i="0">
                <a:solidFill>
                  <a:srgbClr val="183A32"/>
                </a:solidFill>
                <a:latin typeface="Times New Roman"/>
              </a:rPr>
              <a:t>delivery ownership, and continuous improvement.</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23.3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24–25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Trusted Developer</a:t>
            </a:r>
          </a:p>
        </p:txBody>
      </p:sp>
      <p:sp>
        <p:nvSpPr>
          <p:cNvPr id="11" name="TextBox 10"/>
          <p:cNvSpPr txBox="1"/>
          <p:nvPr/>
        </p:nvSpPr>
        <p:spPr>
          <a:xfrm>
            <a:off x="6400800" y="2514600"/>
            <a:ext cx="5029200" cy="679196"/>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Brand values Customer Focus, Integrity,</a:t>
            </a:r>
          </a:p>
          <a:p>
            <a:pPr>
              <a:lnSpc>
                <a:spcPts val="2440"/>
              </a:lnSpc>
              <a:spcBef>
                <a:spcPts val="0"/>
              </a:spcBef>
              <a:spcAft>
                <a:spcPts val="0"/>
              </a:spcAft>
            </a:pPr>
            <a:r>
              <a:rPr sz="2000" b="0" i="0">
                <a:solidFill>
                  <a:srgbClr val="183A32"/>
                </a:solidFill>
                <a:latin typeface="Times New Roman"/>
              </a:rPr>
              <a:t>Teamwork, and Agility.</a:t>
            </a:r>
          </a:p>
        </p:txBody>
      </p:sp>
      <p:sp>
        <p:nvSpPr>
          <p:cNvPr id="12" name="TextBox 11"/>
          <p:cNvSpPr txBox="1"/>
          <p:nvPr/>
        </p:nvSpPr>
        <p:spPr>
          <a:xfrm>
            <a:off x="6400800" y="3376676"/>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Strategic strength Clear and credible, with</a:t>
            </a:r>
          </a:p>
          <a:p>
            <a:pPr>
              <a:lnSpc>
                <a:spcPts val="2440"/>
              </a:lnSpc>
              <a:spcBef>
                <a:spcPts val="0"/>
              </a:spcBef>
              <a:spcAft>
                <a:spcPts val="0"/>
              </a:spcAft>
            </a:pPr>
            <a:r>
              <a:rPr sz="2000" b="0" i="0">
                <a:solidFill>
                  <a:srgbClr val="183A32"/>
                </a:solidFill>
                <a:latin typeface="Times New Roman"/>
              </a:rPr>
              <a:t>relatively limited change to the existing</a:t>
            </a:r>
          </a:p>
          <a:p>
            <a:pPr>
              <a:lnSpc>
                <a:spcPts val="2440"/>
              </a:lnSpc>
              <a:spcBef>
                <a:spcPts val="0"/>
              </a:spcBef>
              <a:spcAft>
                <a:spcPts val="0"/>
              </a:spcAft>
            </a:pPr>
            <a:r>
              <a:rPr sz="2000" b="0" i="0">
                <a:solidFill>
                  <a:srgbClr val="183A32"/>
                </a:solidFill>
                <a:latin typeface="Times New Roman"/>
              </a:rPr>
              <a:t>operating model.</a:t>
            </a:r>
          </a:p>
        </p:txBody>
      </p:sp>
      <p:sp>
        <p:nvSpPr>
          <p:cNvPr id="13" name="TextBox 12"/>
          <p:cNvSpPr txBox="1"/>
          <p:nvPr/>
        </p:nvSpPr>
        <p:spPr>
          <a:xfrm>
            <a:off x="6400800" y="4548632"/>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Strategic limitation May be insufficiently</a:t>
            </a:r>
          </a:p>
          <a:p>
            <a:pPr>
              <a:lnSpc>
                <a:spcPts val="2440"/>
              </a:lnSpc>
              <a:spcBef>
                <a:spcPts val="0"/>
              </a:spcBef>
              <a:spcAft>
                <a:spcPts val="0"/>
              </a:spcAft>
            </a:pPr>
            <a:r>
              <a:rPr sz="2000" b="0" i="0">
                <a:solidFill>
                  <a:srgbClr val="183A32"/>
                </a:solidFill>
                <a:latin typeface="Times New Roman"/>
              </a:rPr>
              <a:t>differentiated from established property</a:t>
            </a:r>
          </a:p>
          <a:p>
            <a:pPr>
              <a:lnSpc>
                <a:spcPts val="2440"/>
              </a:lnSpc>
              <a:spcBef>
                <a:spcPts val="0"/>
              </a:spcBef>
              <a:spcAft>
                <a:spcPts val="0"/>
              </a:spcAft>
            </a:pPr>
            <a:r>
              <a:rPr sz="2000" b="0" i="0">
                <a:solidFill>
                  <a:srgbClr val="183A32"/>
                </a:solidFill>
                <a:latin typeface="Times New Roman"/>
              </a:rPr>
              <a:t>developers.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25–27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Purposeful Place-Maker</a:t>
            </a:r>
          </a:p>
        </p:txBody>
      </p:sp>
      <p:cxnSp>
        <p:nvCxnSpPr>
          <p:cNvPr id="11" name="Connector 10"/>
          <p:cNvCxnSpPr/>
          <p:nvPr/>
        </p:nvCxnSpPr>
        <p:spPr>
          <a:xfrm>
            <a:off x="6062472" y="2084831"/>
            <a:ext cx="0" cy="327812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territory Human-centred placemaking.</a:t>
            </a:r>
          </a:p>
        </p:txBody>
      </p:sp>
      <p:sp>
        <p:nvSpPr>
          <p:cNvPr id="13" name="TextBox 12"/>
          <p:cNvSpPr txBox="1"/>
          <p:nvPr/>
        </p:nvSpPr>
        <p:spPr>
          <a:xfrm>
            <a:off x="685800" y="2542032"/>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Status Recommended direction.</a:t>
            </a:r>
          </a:p>
        </p:txBody>
      </p:sp>
      <p:sp>
        <p:nvSpPr>
          <p:cNvPr id="14" name="TextBox 13"/>
          <p:cNvSpPr txBox="1"/>
          <p:nvPr/>
        </p:nvSpPr>
        <p:spPr>
          <a:xfrm>
            <a:off x="685800" y="2999232"/>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idea Elevating Life.</a:t>
            </a:r>
          </a:p>
        </p:txBody>
      </p:sp>
      <p:sp>
        <p:nvSpPr>
          <p:cNvPr id="15" name="TextBox 14"/>
          <p:cNvSpPr txBox="1"/>
          <p:nvPr/>
        </p:nvSpPr>
        <p:spPr>
          <a:xfrm>
            <a:off x="685800" y="345643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Supporting statement Creating purposeful places where</a:t>
            </a:r>
          </a:p>
          <a:p>
            <a:pPr>
              <a:lnSpc>
                <a:spcPts val="2196"/>
              </a:lnSpc>
              <a:spcBef>
                <a:spcPts val="0"/>
              </a:spcBef>
              <a:spcAft>
                <a:spcPts val="0"/>
              </a:spcAft>
            </a:pPr>
            <a:r>
              <a:rPr sz="1800" b="0" i="0">
                <a:solidFill>
                  <a:srgbClr val="183A32"/>
                </a:solidFill>
                <a:latin typeface="Times New Roman"/>
              </a:rPr>
              <a:t>people flourish, businesses thrive, and communities</a:t>
            </a:r>
          </a:p>
          <a:p>
            <a:pPr>
              <a:lnSpc>
                <a:spcPts val="2196"/>
              </a:lnSpc>
              <a:spcBef>
                <a:spcPts val="0"/>
              </a:spcBef>
              <a:spcAft>
                <a:spcPts val="0"/>
              </a:spcAft>
            </a:pPr>
            <a:r>
              <a:rPr sz="1800" b="0" i="0">
                <a:solidFill>
                  <a:srgbClr val="183A32"/>
                </a:solidFill>
                <a:latin typeface="Times New Roman"/>
              </a:rPr>
              <a:t>grow.</a:t>
            </a:r>
          </a:p>
        </p:txBody>
      </p:sp>
      <p:sp>
        <p:nvSpPr>
          <p:cNvPr id="16" name="TextBox 15"/>
          <p:cNvSpPr txBox="1"/>
          <p:nvPr/>
        </p:nvSpPr>
        <p:spPr>
          <a:xfrm>
            <a:off x="6400800" y="20848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purpose To enrich people’s lives and create</a:t>
            </a:r>
          </a:p>
          <a:p>
            <a:pPr>
              <a:lnSpc>
                <a:spcPts val="2196"/>
              </a:lnSpc>
              <a:spcBef>
                <a:spcPts val="0"/>
              </a:spcBef>
              <a:spcAft>
                <a:spcPts val="0"/>
              </a:spcAft>
            </a:pPr>
            <a:r>
              <a:rPr sz="1800" b="0" i="0">
                <a:solidFill>
                  <a:srgbClr val="183A32"/>
                </a:solidFill>
                <a:latin typeface="Times New Roman"/>
              </a:rPr>
              <a:t>opportunities for businesses and communities through</a:t>
            </a:r>
          </a:p>
          <a:p>
            <a:pPr>
              <a:lnSpc>
                <a:spcPts val="2196"/>
              </a:lnSpc>
              <a:spcBef>
                <a:spcPts val="0"/>
              </a:spcBef>
              <a:spcAft>
                <a:spcPts val="0"/>
              </a:spcAft>
            </a:pPr>
            <a:r>
              <a:rPr sz="1800" b="0" i="0">
                <a:solidFill>
                  <a:srgbClr val="183A32"/>
                </a:solidFill>
                <a:latin typeface="Times New Roman"/>
              </a:rPr>
              <a:t>places designed with purpose, care, and lasting</a:t>
            </a:r>
          </a:p>
          <a:p>
            <a:pPr>
              <a:lnSpc>
                <a:spcPts val="2196"/>
              </a:lnSpc>
              <a:spcBef>
                <a:spcPts val="0"/>
              </a:spcBef>
              <a:spcAft>
                <a:spcPts val="0"/>
              </a:spcAft>
            </a:pPr>
            <a:r>
              <a:rPr sz="1800" b="0" i="0">
                <a:solidFill>
                  <a:srgbClr val="183A32"/>
                </a:solidFill>
                <a:latin typeface="Times New Roman"/>
              </a:rPr>
              <a:t>relevance.</a:t>
            </a:r>
          </a:p>
        </p:txBody>
      </p:sp>
      <p:sp>
        <p:nvSpPr>
          <p:cNvPr id="17" name="TextBox 16"/>
          <p:cNvSpPr txBox="1"/>
          <p:nvPr/>
        </p:nvSpPr>
        <p:spPr>
          <a:xfrm>
            <a:off x="6400800" y="3378707"/>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vision To be one of Indonesia’s leading and</a:t>
            </a:r>
          </a:p>
          <a:p>
            <a:pPr>
              <a:lnSpc>
                <a:spcPts val="2196"/>
              </a:lnSpc>
              <a:spcBef>
                <a:spcPts val="0"/>
              </a:spcBef>
              <a:spcAft>
                <a:spcPts val="0"/>
              </a:spcAft>
            </a:pPr>
            <a:r>
              <a:rPr sz="1800" b="0" i="0">
                <a:solidFill>
                  <a:srgbClr val="183A32"/>
                </a:solidFill>
                <a:latin typeface="Times New Roman"/>
              </a:rPr>
              <a:t>most trusted property developers, creating purposeful</a:t>
            </a:r>
          </a:p>
          <a:p>
            <a:pPr>
              <a:lnSpc>
                <a:spcPts val="2196"/>
              </a:lnSpc>
              <a:spcBef>
                <a:spcPts val="0"/>
              </a:spcBef>
              <a:spcAft>
                <a:spcPts val="0"/>
              </a:spcAft>
            </a:pPr>
            <a:r>
              <a:rPr sz="1800" b="0" i="0">
                <a:solidFill>
                  <a:srgbClr val="183A32"/>
                </a:solidFill>
                <a:latin typeface="Times New Roman"/>
              </a:rPr>
              <a:t>places that elevate everyday life, enable business</a:t>
            </a:r>
          </a:p>
          <a:p>
            <a:pPr>
              <a:lnSpc>
                <a:spcPts val="2196"/>
              </a:lnSpc>
              <a:spcBef>
                <a:spcPts val="0"/>
              </a:spcBef>
              <a:spcAft>
                <a:spcPts val="0"/>
              </a:spcAft>
            </a:pPr>
            <a:r>
              <a:rPr sz="1800" b="0" i="0">
                <a:solidFill>
                  <a:srgbClr val="183A32"/>
                </a:solidFill>
                <a:latin typeface="Times New Roman"/>
              </a:rPr>
              <a:t>growth, and generate lasting value for generations.</a:t>
            </a:r>
          </a:p>
        </p:txBody>
      </p:sp>
      <p:sp>
        <p:nvSpPr>
          <p:cNvPr id="18" name="TextBox 17"/>
          <p:cNvSpPr txBox="1"/>
          <p:nvPr/>
        </p:nvSpPr>
        <p:spPr>
          <a:xfrm>
            <a:off x="6400800" y="4672583"/>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mission We develop and nurture places that</a:t>
            </a:r>
          </a:p>
          <a:p>
            <a:pPr>
              <a:lnSpc>
                <a:spcPts val="2196"/>
              </a:lnSpc>
              <a:spcBef>
                <a:spcPts val="0"/>
              </a:spcBef>
              <a:spcAft>
                <a:spcPts val="0"/>
              </a:spcAft>
            </a:pPr>
            <a:r>
              <a:rPr sz="1800" b="0" i="0">
                <a:solidFill>
                  <a:srgbClr val="183A32"/>
                </a:solidFill>
                <a:latin typeface="Times New Roman"/>
              </a:rPr>
              <a:t>respond to real human and business needs.</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25–27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Purposeful Place-Maker</a:t>
            </a:r>
          </a:p>
        </p:txBody>
      </p:sp>
      <p:cxnSp>
        <p:nvCxnSpPr>
          <p:cNvPr id="11" name="Connector 10"/>
          <p:cNvCxnSpPr/>
          <p:nvPr/>
        </p:nvCxnSpPr>
        <p:spPr>
          <a:xfrm>
            <a:off x="6062472" y="2084831"/>
            <a:ext cx="0" cy="312267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Through thoughtful concepts, responsible</a:t>
            </a:r>
          </a:p>
          <a:p>
            <a:pPr>
              <a:lnSpc>
                <a:spcPts val="2196"/>
              </a:lnSpc>
              <a:spcBef>
                <a:spcPts val="0"/>
              </a:spcBef>
              <a:spcAft>
                <a:spcPts val="0"/>
              </a:spcAft>
            </a:pPr>
            <a:r>
              <a:rPr sz="1800" b="0" i="0">
                <a:solidFill>
                  <a:srgbClr val="183A32"/>
                </a:solidFill>
                <a:latin typeface="Times New Roman"/>
              </a:rPr>
              <a:t>development, meaningful partnerships, and continued</a:t>
            </a:r>
          </a:p>
          <a:p>
            <a:pPr>
              <a:lnSpc>
                <a:spcPts val="2196"/>
              </a:lnSpc>
              <a:spcBef>
                <a:spcPts val="0"/>
              </a:spcBef>
              <a:spcAft>
                <a:spcPts val="0"/>
              </a:spcAft>
            </a:pPr>
            <a:r>
              <a:rPr sz="1800" b="0" i="0">
                <a:solidFill>
                  <a:srgbClr val="183A32"/>
                </a:solidFill>
                <a:latin typeface="Times New Roman"/>
              </a:rPr>
              <a:t>care, we create environments where people feel they</a:t>
            </a:r>
          </a:p>
          <a:p>
            <a:pPr>
              <a:lnSpc>
                <a:spcPts val="2196"/>
              </a:lnSpc>
              <a:spcBef>
                <a:spcPts val="0"/>
              </a:spcBef>
              <a:spcAft>
                <a:spcPts val="0"/>
              </a:spcAft>
            </a:pPr>
            <a:r>
              <a:rPr sz="1800" b="0" i="0">
                <a:solidFill>
                  <a:srgbClr val="183A32"/>
                </a:solidFill>
                <a:latin typeface="Times New Roman"/>
              </a:rPr>
              <a:t>belong, businesses find opportunities, and communities</a:t>
            </a:r>
          </a:p>
          <a:p>
            <a:pPr>
              <a:lnSpc>
                <a:spcPts val="2196"/>
              </a:lnSpc>
              <a:spcBef>
                <a:spcPts val="0"/>
              </a:spcBef>
              <a:spcAft>
                <a:spcPts val="0"/>
              </a:spcAft>
            </a:pPr>
            <a:r>
              <a:rPr sz="1800" b="0" i="0">
                <a:solidFill>
                  <a:srgbClr val="183A32"/>
                </a:solidFill>
                <a:latin typeface="Times New Roman"/>
              </a:rPr>
              <a:t>can grow.</a:t>
            </a:r>
          </a:p>
        </p:txBody>
      </p:sp>
      <p:sp>
        <p:nvSpPr>
          <p:cNvPr id="13" name="TextBox 12"/>
          <p:cNvSpPr txBox="1"/>
          <p:nvPr/>
        </p:nvSpPr>
        <p:spPr>
          <a:xfrm>
            <a:off x="685800" y="3657599"/>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positioning TANRISE is an Indonesian property</a:t>
            </a:r>
          </a:p>
          <a:p>
            <a:pPr>
              <a:lnSpc>
                <a:spcPts val="2196"/>
              </a:lnSpc>
              <a:spcBef>
                <a:spcPts val="0"/>
              </a:spcBef>
              <a:spcAft>
                <a:spcPts val="0"/>
              </a:spcAft>
            </a:pPr>
            <a:r>
              <a:rPr sz="1800" b="0" i="0">
                <a:solidFill>
                  <a:srgbClr val="183A32"/>
                </a:solidFill>
                <a:latin typeface="Times New Roman"/>
              </a:rPr>
              <a:t>developer creating purposeful places that bring</a:t>
            </a:r>
          </a:p>
          <a:p>
            <a:pPr>
              <a:lnSpc>
                <a:spcPts val="2196"/>
              </a:lnSpc>
              <a:spcBef>
                <a:spcPts val="0"/>
              </a:spcBef>
              <a:spcAft>
                <a:spcPts val="0"/>
              </a:spcAft>
            </a:pPr>
            <a:r>
              <a:rPr sz="1800" b="0" i="0">
                <a:solidFill>
                  <a:srgbClr val="183A32"/>
                </a:solidFill>
                <a:latin typeface="Times New Roman"/>
              </a:rPr>
              <a:t>together quality development, meaningful experiences,</a:t>
            </a:r>
          </a:p>
          <a:p>
            <a:pPr>
              <a:lnSpc>
                <a:spcPts val="2196"/>
              </a:lnSpc>
              <a:spcBef>
                <a:spcPts val="0"/>
              </a:spcBef>
              <a:spcAft>
                <a:spcPts val="0"/>
              </a:spcAft>
            </a:pPr>
            <a:r>
              <a:rPr sz="1800" b="0" i="0">
                <a:solidFill>
                  <a:srgbClr val="183A32"/>
                </a:solidFill>
                <a:latin typeface="Times New Roman"/>
              </a:rPr>
              <a:t>and long-term value for people, businesses, and</a:t>
            </a:r>
          </a:p>
          <a:p>
            <a:pPr>
              <a:lnSpc>
                <a:spcPts val="2196"/>
              </a:lnSpc>
              <a:spcBef>
                <a:spcPts val="0"/>
              </a:spcBef>
              <a:spcAft>
                <a:spcPts val="0"/>
              </a:spcAft>
            </a:pPr>
            <a:r>
              <a:rPr sz="1800" b="0" i="0">
                <a:solidFill>
                  <a:srgbClr val="183A32"/>
                </a:solidFill>
                <a:latin typeface="Times New Roman"/>
              </a:rPr>
              <a:t>communities.</a:t>
            </a:r>
          </a:p>
        </p:txBody>
      </p:sp>
      <p:sp>
        <p:nvSpPr>
          <p:cNvPr id="14" name="TextBox 13"/>
          <p:cNvSpPr txBox="1"/>
          <p:nvPr/>
        </p:nvSpPr>
        <p:spPr>
          <a:xfrm>
            <a:off x="6400800" y="208483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essence Purposeful Places. Meaningful</a:t>
            </a:r>
          </a:p>
          <a:p>
            <a:pPr>
              <a:lnSpc>
                <a:spcPts val="2196"/>
              </a:lnSpc>
              <a:spcBef>
                <a:spcPts val="0"/>
              </a:spcBef>
              <a:spcAft>
                <a:spcPts val="0"/>
              </a:spcAft>
            </a:pPr>
            <a:r>
              <a:rPr sz="1800" b="0" i="0">
                <a:solidFill>
                  <a:srgbClr val="183A32"/>
                </a:solidFill>
                <a:latin typeface="Times New Roman"/>
              </a:rPr>
              <a:t>Progress.</a:t>
            </a:r>
          </a:p>
        </p:txBody>
      </p:sp>
      <p:sp>
        <p:nvSpPr>
          <p:cNvPr id="15" name="TextBox 14"/>
          <p:cNvSpPr txBox="1"/>
          <p:nvPr/>
        </p:nvSpPr>
        <p:spPr>
          <a:xfrm>
            <a:off x="6400800" y="282092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promise Places created with purpose.</a:t>
            </a:r>
          </a:p>
          <a:p>
            <a:pPr>
              <a:lnSpc>
                <a:spcPts val="2196"/>
              </a:lnSpc>
              <a:spcBef>
                <a:spcPts val="0"/>
              </a:spcBef>
              <a:spcAft>
                <a:spcPts val="0"/>
              </a:spcAft>
            </a:pPr>
            <a:r>
              <a:rPr sz="1800" b="0" i="0">
                <a:solidFill>
                  <a:srgbClr val="183A32"/>
                </a:solidFill>
                <a:latin typeface="Times New Roman"/>
              </a:rPr>
              <a:t>Relationships built on trust.</a:t>
            </a:r>
          </a:p>
        </p:txBody>
      </p:sp>
      <p:sp>
        <p:nvSpPr>
          <p:cNvPr id="16" name="TextBox 15"/>
          <p:cNvSpPr txBox="1"/>
          <p:nvPr/>
        </p:nvSpPr>
        <p:spPr>
          <a:xfrm>
            <a:off x="6400800" y="3557016"/>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personality Thoughtful, warm, dependable,</a:t>
            </a:r>
          </a:p>
          <a:p>
            <a:pPr>
              <a:lnSpc>
                <a:spcPts val="2196"/>
              </a:lnSpc>
              <a:spcBef>
                <a:spcPts val="0"/>
              </a:spcBef>
              <a:spcAft>
                <a:spcPts val="0"/>
              </a:spcAft>
            </a:pPr>
            <a:r>
              <a:rPr sz="1800" b="0" i="0">
                <a:solidFill>
                  <a:srgbClr val="183A32"/>
                </a:solidFill>
                <a:latin typeface="Times New Roman"/>
              </a:rPr>
              <a:t>progressive, and ambitious.</a:t>
            </a:r>
          </a:p>
        </p:txBody>
      </p:sp>
      <p:sp>
        <p:nvSpPr>
          <p:cNvPr id="17" name="TextBox 16"/>
          <p:cNvSpPr txBox="1"/>
          <p:nvPr/>
        </p:nvSpPr>
        <p:spPr>
          <a:xfrm>
            <a:off x="6400800" y="4293108"/>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Tone of voice Human, confident, sincere, inspiring,</a:t>
            </a:r>
          </a:p>
          <a:p>
            <a:pPr>
              <a:lnSpc>
                <a:spcPts val="2196"/>
              </a:lnSpc>
              <a:spcBef>
                <a:spcPts val="0"/>
              </a:spcBef>
              <a:spcAft>
                <a:spcPts val="0"/>
              </a:spcAft>
            </a:pPr>
            <a:r>
              <a:rPr sz="1800" b="0" i="0">
                <a:solidFill>
                  <a:srgbClr val="183A32"/>
                </a:solidFill>
                <a:latin typeface="Times New Roman"/>
              </a:rPr>
              <a:t>and professional.</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25–27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Purposeful Place-Maker</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Corporate belief A place is more than what we build. Its true value is measured by the lives it supports, the</a:t>
            </a:r>
          </a:p>
          <a:p>
            <a:pPr>
              <a:lnSpc>
                <a:spcPts val="2196"/>
              </a:lnSpc>
              <a:spcBef>
                <a:spcPts val="0"/>
              </a:spcBef>
              <a:spcAft>
                <a:spcPts val="0"/>
              </a:spcAft>
            </a:pPr>
            <a:r>
              <a:rPr sz="1800" b="0" i="0">
                <a:solidFill>
                  <a:srgbClr val="183A32"/>
                </a:solidFill>
                <a:latin typeface="Times New Roman"/>
              </a:rPr>
              <a:t>opportunities it creates, and the positive impact it leaves behind.</a:t>
            </a:r>
          </a:p>
        </p:txBody>
      </p:sp>
      <p:sp>
        <p:nvSpPr>
          <p:cNvPr id="12" name="TextBox 11"/>
          <p:cNvSpPr txBox="1"/>
          <p:nvPr/>
        </p:nvSpPr>
        <p:spPr>
          <a:xfrm>
            <a:off x="685800" y="282092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Values and service foundation CINTA guides behaviour. Super-Serving translates care and trust into customer</a:t>
            </a:r>
          </a:p>
          <a:p>
            <a:pPr>
              <a:lnSpc>
                <a:spcPts val="2196"/>
              </a:lnSpc>
              <a:spcBef>
                <a:spcPts val="0"/>
              </a:spcBef>
              <a:spcAft>
                <a:spcPts val="0"/>
              </a:spcAft>
            </a:pPr>
            <a:r>
              <a:rPr sz="1800" b="0" i="0">
                <a:solidFill>
                  <a:srgbClr val="183A32"/>
                </a:solidFill>
                <a:latin typeface="Times New Roman"/>
              </a:rPr>
              <a:t>experience.</a:t>
            </a:r>
          </a:p>
        </p:txBody>
      </p:sp>
      <p:sp>
        <p:nvSpPr>
          <p:cNvPr id="13" name="TextBox 12"/>
          <p:cNvSpPr txBox="1"/>
          <p:nvPr/>
        </p:nvSpPr>
        <p:spPr>
          <a:xfrm>
            <a:off x="685800" y="355701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advantage Relevant across integrated cities, residential communities, business districts, industrial</a:t>
            </a:r>
          </a:p>
          <a:p>
            <a:pPr>
              <a:lnSpc>
                <a:spcPts val="2196"/>
              </a:lnSpc>
              <a:spcBef>
                <a:spcPts val="0"/>
              </a:spcBef>
              <a:spcAft>
                <a:spcPts val="0"/>
              </a:spcAft>
            </a:pPr>
            <a:r>
              <a:rPr sz="1800" b="0" i="0">
                <a:solidFill>
                  <a:srgbClr val="183A32"/>
                </a:solidFill>
                <a:latin typeface="Times New Roman"/>
              </a:rPr>
              <a:t>environments, and hospitality assets.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27–28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Integrated Value Creator</a:t>
            </a:r>
          </a:p>
        </p:txBody>
      </p:sp>
      <p:cxnSp>
        <p:nvCxnSpPr>
          <p:cNvPr id="11" name="Connector 10"/>
          <p:cNvCxnSpPr/>
          <p:nvPr/>
        </p:nvCxnSpPr>
        <p:spPr>
          <a:xfrm>
            <a:off x="6062472" y="2084831"/>
            <a:ext cx="0" cy="287121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territory Integrated value ecosystems.</a:t>
            </a:r>
          </a:p>
        </p:txBody>
      </p:sp>
      <p:sp>
        <p:nvSpPr>
          <p:cNvPr id="13" name="TextBox 12"/>
          <p:cNvSpPr txBox="1"/>
          <p:nvPr/>
        </p:nvSpPr>
        <p:spPr>
          <a:xfrm>
            <a:off x="685800" y="2542032"/>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idea Creating Lasting Value.</a:t>
            </a:r>
          </a:p>
        </p:txBody>
      </p:sp>
      <p:sp>
        <p:nvSpPr>
          <p:cNvPr id="14" name="TextBox 13"/>
          <p:cNvSpPr txBox="1"/>
          <p:nvPr/>
        </p:nvSpPr>
        <p:spPr>
          <a:xfrm>
            <a:off x="685800" y="2999232"/>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Supporting statement Connecting places, people, and</a:t>
            </a:r>
          </a:p>
          <a:p>
            <a:pPr>
              <a:lnSpc>
                <a:spcPts val="2196"/>
              </a:lnSpc>
              <a:spcBef>
                <a:spcPts val="0"/>
              </a:spcBef>
              <a:spcAft>
                <a:spcPts val="0"/>
              </a:spcAft>
            </a:pPr>
            <a:r>
              <a:rPr sz="1800" b="0" i="0">
                <a:solidFill>
                  <a:srgbClr val="183A32"/>
                </a:solidFill>
                <a:latin typeface="Times New Roman"/>
              </a:rPr>
              <a:t>possibilities for generations of growth.</a:t>
            </a:r>
          </a:p>
        </p:txBody>
      </p:sp>
      <p:sp>
        <p:nvSpPr>
          <p:cNvPr id="15" name="TextBox 14"/>
          <p:cNvSpPr txBox="1"/>
          <p:nvPr/>
        </p:nvSpPr>
        <p:spPr>
          <a:xfrm>
            <a:off x="685800" y="373532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purpose To unlock the long-term potential of</a:t>
            </a:r>
          </a:p>
          <a:p>
            <a:pPr>
              <a:lnSpc>
                <a:spcPts val="2196"/>
              </a:lnSpc>
              <a:spcBef>
                <a:spcPts val="0"/>
              </a:spcBef>
              <a:spcAft>
                <a:spcPts val="0"/>
              </a:spcAft>
            </a:pPr>
            <a:r>
              <a:rPr sz="1800" b="0" i="0">
                <a:solidFill>
                  <a:srgbClr val="183A32"/>
                </a:solidFill>
                <a:latin typeface="Times New Roman"/>
              </a:rPr>
              <a:t>places by connecting people, businesses, and</a:t>
            </a:r>
          </a:p>
          <a:p>
            <a:pPr>
              <a:lnSpc>
                <a:spcPts val="2196"/>
              </a:lnSpc>
              <a:spcBef>
                <a:spcPts val="0"/>
              </a:spcBef>
              <a:spcAft>
                <a:spcPts val="0"/>
              </a:spcAft>
            </a:pPr>
            <a:r>
              <a:rPr sz="1800" b="0" i="0">
                <a:solidFill>
                  <a:srgbClr val="183A32"/>
                </a:solidFill>
                <a:latin typeface="Times New Roman"/>
              </a:rPr>
              <a:t>opportunities through integrated development and</a:t>
            </a:r>
          </a:p>
          <a:p>
            <a:pPr>
              <a:lnSpc>
                <a:spcPts val="2196"/>
              </a:lnSpc>
              <a:spcBef>
                <a:spcPts val="0"/>
              </a:spcBef>
              <a:spcAft>
                <a:spcPts val="0"/>
              </a:spcAft>
            </a:pPr>
            <a:r>
              <a:rPr sz="1800" b="0" i="0">
                <a:solidFill>
                  <a:srgbClr val="183A32"/>
                </a:solidFill>
                <a:latin typeface="Times New Roman"/>
              </a:rPr>
              <a:t>responsible stewardship.</a:t>
            </a:r>
          </a:p>
        </p:txBody>
      </p:sp>
      <p:sp>
        <p:nvSpPr>
          <p:cNvPr id="16" name="TextBox 15"/>
          <p:cNvSpPr txBox="1"/>
          <p:nvPr/>
        </p:nvSpPr>
        <p:spPr>
          <a:xfrm>
            <a:off x="6400800" y="20848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vision To become a leading Indonesian property</a:t>
            </a:r>
          </a:p>
          <a:p>
            <a:pPr>
              <a:lnSpc>
                <a:spcPts val="2196"/>
              </a:lnSpc>
              <a:spcBef>
                <a:spcPts val="0"/>
              </a:spcBef>
              <a:spcAft>
                <a:spcPts val="0"/>
              </a:spcAft>
            </a:pPr>
            <a:r>
              <a:rPr sz="1800" b="0" i="0">
                <a:solidFill>
                  <a:srgbClr val="183A32"/>
                </a:solidFill>
                <a:latin typeface="Times New Roman"/>
              </a:rPr>
              <a:t>and asset-value creation company, recognised for</a:t>
            </a:r>
          </a:p>
          <a:p>
            <a:pPr>
              <a:lnSpc>
                <a:spcPts val="2196"/>
              </a:lnSpc>
              <a:spcBef>
                <a:spcPts val="0"/>
              </a:spcBef>
              <a:spcAft>
                <a:spcPts val="0"/>
              </a:spcAft>
            </a:pPr>
            <a:r>
              <a:rPr sz="1800" b="0" i="0">
                <a:solidFill>
                  <a:srgbClr val="183A32"/>
                </a:solidFill>
                <a:latin typeface="Times New Roman"/>
              </a:rPr>
              <a:t>sustainable growth, thriving communities, and</a:t>
            </a:r>
          </a:p>
          <a:p>
            <a:pPr>
              <a:lnSpc>
                <a:spcPts val="2196"/>
              </a:lnSpc>
              <a:spcBef>
                <a:spcPts val="0"/>
              </a:spcBef>
              <a:spcAft>
                <a:spcPts val="0"/>
              </a:spcAft>
            </a:pPr>
            <a:r>
              <a:rPr sz="1800" b="0" i="0">
                <a:solidFill>
                  <a:srgbClr val="183A32"/>
                </a:solidFill>
                <a:latin typeface="Times New Roman"/>
              </a:rPr>
              <a:t>enduring economic value.</a:t>
            </a:r>
          </a:p>
        </p:txBody>
      </p:sp>
      <p:sp>
        <p:nvSpPr>
          <p:cNvPr id="17" name="TextBox 16"/>
          <p:cNvSpPr txBox="1"/>
          <p:nvPr/>
        </p:nvSpPr>
        <p:spPr>
          <a:xfrm>
            <a:off x="6400800" y="3378707"/>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mission We develop, activate, and manage</a:t>
            </a:r>
          </a:p>
          <a:p>
            <a:pPr>
              <a:lnSpc>
                <a:spcPts val="2196"/>
              </a:lnSpc>
              <a:spcBef>
                <a:spcPts val="0"/>
              </a:spcBef>
              <a:spcAft>
                <a:spcPts val="0"/>
              </a:spcAft>
            </a:pPr>
            <a:r>
              <a:rPr sz="1800" b="0" i="0">
                <a:solidFill>
                  <a:srgbClr val="183A32"/>
                </a:solidFill>
                <a:latin typeface="Times New Roman"/>
              </a:rPr>
              <a:t>places that bring together complementary uses,</a:t>
            </a:r>
          </a:p>
          <a:p>
            <a:pPr>
              <a:lnSpc>
                <a:spcPts val="2196"/>
              </a:lnSpc>
              <a:spcBef>
                <a:spcPts val="0"/>
              </a:spcBef>
              <a:spcAft>
                <a:spcPts val="0"/>
              </a:spcAft>
            </a:pPr>
            <a:r>
              <a:rPr sz="1800" b="0" i="0">
                <a:solidFill>
                  <a:srgbClr val="183A32"/>
                </a:solidFill>
                <a:latin typeface="Times New Roman"/>
              </a:rPr>
              <a:t>partnerships, and experiences.</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27–28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Integrated Value Creator</a:t>
            </a:r>
          </a:p>
        </p:txBody>
      </p:sp>
      <p:cxnSp>
        <p:nvCxnSpPr>
          <p:cNvPr id="11" name="Connector 10"/>
          <p:cNvCxnSpPr/>
          <p:nvPr/>
        </p:nvCxnSpPr>
        <p:spPr>
          <a:xfrm>
            <a:off x="6062472" y="2084831"/>
            <a:ext cx="0" cy="259003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By combining development expertise with long-term</a:t>
            </a:r>
          </a:p>
          <a:p>
            <a:pPr>
              <a:lnSpc>
                <a:spcPts val="2196"/>
              </a:lnSpc>
              <a:spcBef>
                <a:spcPts val="0"/>
              </a:spcBef>
              <a:spcAft>
                <a:spcPts val="0"/>
              </a:spcAft>
            </a:pPr>
            <a:r>
              <a:rPr sz="1800" b="0" i="0">
                <a:solidFill>
                  <a:srgbClr val="183A32"/>
                </a:solidFill>
                <a:latin typeface="Times New Roman"/>
              </a:rPr>
              <a:t>asset management and commercial innovation, we</a:t>
            </a:r>
          </a:p>
          <a:p>
            <a:pPr>
              <a:lnSpc>
                <a:spcPts val="2196"/>
              </a:lnSpc>
              <a:spcBef>
                <a:spcPts val="0"/>
              </a:spcBef>
              <a:spcAft>
                <a:spcPts val="0"/>
              </a:spcAft>
            </a:pPr>
            <a:r>
              <a:rPr sz="1800" b="0" i="0">
                <a:solidFill>
                  <a:srgbClr val="183A32"/>
                </a:solidFill>
                <a:latin typeface="Times New Roman"/>
              </a:rPr>
              <a:t>create value that continues beyond project completion.</a:t>
            </a:r>
          </a:p>
        </p:txBody>
      </p:sp>
      <p:sp>
        <p:nvSpPr>
          <p:cNvPr id="13" name="TextBox 12"/>
          <p:cNvSpPr txBox="1"/>
          <p:nvPr/>
        </p:nvSpPr>
        <p:spPr>
          <a:xfrm>
            <a:off x="685800" y="3099815"/>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positioning TANRISE is an integrated property</a:t>
            </a:r>
          </a:p>
          <a:p>
            <a:pPr>
              <a:lnSpc>
                <a:spcPts val="2196"/>
              </a:lnSpc>
              <a:spcBef>
                <a:spcPts val="0"/>
              </a:spcBef>
              <a:spcAft>
                <a:spcPts val="0"/>
              </a:spcAft>
            </a:pPr>
            <a:r>
              <a:rPr sz="1800" b="0" i="0">
                <a:solidFill>
                  <a:srgbClr val="183A32"/>
                </a:solidFill>
                <a:latin typeface="Times New Roman"/>
              </a:rPr>
              <a:t>developer focused on creating lasting value through</a:t>
            </a:r>
          </a:p>
          <a:p>
            <a:pPr>
              <a:lnSpc>
                <a:spcPts val="2196"/>
              </a:lnSpc>
              <a:spcBef>
                <a:spcPts val="0"/>
              </a:spcBef>
              <a:spcAft>
                <a:spcPts val="0"/>
              </a:spcAft>
            </a:pPr>
            <a:r>
              <a:rPr sz="1800" b="0" i="0">
                <a:solidFill>
                  <a:srgbClr val="183A32"/>
                </a:solidFill>
                <a:latin typeface="Times New Roman"/>
              </a:rPr>
              <a:t>purposeful developments, connected business</a:t>
            </a:r>
          </a:p>
          <a:p>
            <a:pPr>
              <a:lnSpc>
                <a:spcPts val="2196"/>
              </a:lnSpc>
              <a:spcBef>
                <a:spcPts val="0"/>
              </a:spcBef>
              <a:spcAft>
                <a:spcPts val="0"/>
              </a:spcAft>
            </a:pPr>
            <a:r>
              <a:rPr sz="1800" b="0" i="0">
                <a:solidFill>
                  <a:srgbClr val="183A32"/>
                </a:solidFill>
                <a:latin typeface="Times New Roman"/>
              </a:rPr>
              <a:t>ecosystems, and long-term asset performance.</a:t>
            </a:r>
          </a:p>
        </p:txBody>
      </p:sp>
      <p:sp>
        <p:nvSpPr>
          <p:cNvPr id="14" name="TextBox 13"/>
          <p:cNvSpPr txBox="1"/>
          <p:nvPr/>
        </p:nvSpPr>
        <p:spPr>
          <a:xfrm>
            <a:off x="6400800" y="208483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essence Connected Growth. Enduring Value.</a:t>
            </a:r>
          </a:p>
        </p:txBody>
      </p:sp>
      <p:sp>
        <p:nvSpPr>
          <p:cNvPr id="15" name="TextBox 14"/>
          <p:cNvSpPr txBox="1"/>
          <p:nvPr/>
        </p:nvSpPr>
        <p:spPr>
          <a:xfrm>
            <a:off x="6400800" y="2542032"/>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promise We create places that continue to grow</a:t>
            </a:r>
          </a:p>
          <a:p>
            <a:pPr>
              <a:lnSpc>
                <a:spcPts val="2196"/>
              </a:lnSpc>
              <a:spcBef>
                <a:spcPts val="0"/>
              </a:spcBef>
              <a:spcAft>
                <a:spcPts val="0"/>
              </a:spcAft>
            </a:pPr>
            <a:r>
              <a:rPr sz="1800" b="0" i="0">
                <a:solidFill>
                  <a:srgbClr val="183A32"/>
                </a:solidFill>
                <a:latin typeface="Times New Roman"/>
              </a:rPr>
              <a:t>in value and purpose.</a:t>
            </a:r>
          </a:p>
        </p:txBody>
      </p:sp>
      <p:sp>
        <p:nvSpPr>
          <p:cNvPr id="16" name="TextBox 15"/>
          <p:cNvSpPr txBox="1"/>
          <p:nvPr/>
        </p:nvSpPr>
        <p:spPr>
          <a:xfrm>
            <a:off x="6400800" y="327812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personality Visionary, enterprising,</a:t>
            </a:r>
          </a:p>
          <a:p>
            <a:pPr>
              <a:lnSpc>
                <a:spcPts val="2196"/>
              </a:lnSpc>
              <a:spcBef>
                <a:spcPts val="0"/>
              </a:spcBef>
              <a:spcAft>
                <a:spcPts val="0"/>
              </a:spcAft>
            </a:pPr>
            <a:r>
              <a:rPr sz="1800" b="0" i="0">
                <a:solidFill>
                  <a:srgbClr val="183A32"/>
                </a:solidFill>
                <a:latin typeface="Times New Roman"/>
              </a:rPr>
              <a:t>collaborative, disciplined, and resilient.</a:t>
            </a:r>
          </a:p>
        </p:txBody>
      </p:sp>
      <p:sp>
        <p:nvSpPr>
          <p:cNvPr id="17" name="TextBox 16"/>
          <p:cNvSpPr txBox="1"/>
          <p:nvPr/>
        </p:nvSpPr>
        <p:spPr>
          <a:xfrm>
            <a:off x="6400800" y="4014215"/>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Tone of voice Strategic, confident, intelligent,</a:t>
            </a:r>
          </a:p>
          <a:p>
            <a:pPr>
              <a:lnSpc>
                <a:spcPts val="2196"/>
              </a:lnSpc>
              <a:spcBef>
                <a:spcPts val="0"/>
              </a:spcBef>
              <a:spcAft>
                <a:spcPts val="0"/>
              </a:spcAft>
            </a:pPr>
            <a:r>
              <a:rPr sz="1800" b="0" i="0">
                <a:solidFill>
                  <a:srgbClr val="183A32"/>
                </a:solidFill>
                <a:latin typeface="Times New Roman"/>
              </a:rPr>
              <a:t>optimistic, and accountable.</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25.3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27–28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069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Integrated Value Creator</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Corporate belief The greatest value of a development is realised through the opportunities and relationships it</a:t>
            </a:r>
          </a:p>
          <a:p>
            <a:pPr>
              <a:lnSpc>
                <a:spcPts val="2196"/>
              </a:lnSpc>
              <a:spcBef>
                <a:spcPts val="0"/>
              </a:spcBef>
              <a:spcAft>
                <a:spcPts val="0"/>
              </a:spcAft>
            </a:pPr>
            <a:r>
              <a:rPr sz="1800" b="0" i="0">
                <a:solidFill>
                  <a:srgbClr val="183A32"/>
                </a:solidFill>
                <a:latin typeface="Times New Roman"/>
              </a:rPr>
              <a:t>continues to create.</a:t>
            </a:r>
          </a:p>
        </p:txBody>
      </p:sp>
      <p:sp>
        <p:nvSpPr>
          <p:cNvPr id="12" name="TextBox 11"/>
          <p:cNvSpPr txBox="1"/>
          <p:nvPr/>
        </p:nvSpPr>
        <p:spPr>
          <a:xfrm>
            <a:off x="685800" y="282092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Values and service foundation CINTA guides collaboration, integrity, customer understanding, and adaptability.</a:t>
            </a:r>
          </a:p>
          <a:p>
            <a:pPr>
              <a:lnSpc>
                <a:spcPts val="2196"/>
              </a:lnSpc>
              <a:spcBef>
                <a:spcPts val="0"/>
              </a:spcBef>
              <a:spcAft>
                <a:spcPts val="0"/>
              </a:spcAft>
            </a:pPr>
            <a:r>
              <a:rPr sz="1800" b="0" i="0">
                <a:solidFill>
                  <a:srgbClr val="183A32"/>
                </a:solidFill>
                <a:latin typeface="Times New Roman"/>
              </a:rPr>
              <a:t>Super-Serving supports continuing relationships.</a:t>
            </a:r>
          </a:p>
        </p:txBody>
      </p:sp>
      <p:sp>
        <p:nvSpPr>
          <p:cNvPr id="13" name="TextBox 12"/>
          <p:cNvSpPr txBox="1"/>
          <p:nvPr/>
        </p:nvSpPr>
        <p:spPr>
          <a:xfrm>
            <a:off x="685800" y="355701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limitation Requires substantial evidence of operating capabilities, capital discipline, asset performance, and</a:t>
            </a:r>
          </a:p>
          <a:p>
            <a:pPr>
              <a:lnSpc>
                <a:spcPts val="2196"/>
              </a:lnSpc>
              <a:spcBef>
                <a:spcPts val="0"/>
              </a:spcBef>
              <a:spcAft>
                <a:spcPts val="0"/>
              </a:spcAft>
            </a:pPr>
            <a:r>
              <a:rPr sz="1800" b="0" i="0">
                <a:solidFill>
                  <a:srgbClr val="183A32"/>
                </a:solidFill>
                <a:latin typeface="Times New Roman"/>
              </a:rPr>
              <a:t>recurring-income contribution.</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CHAPTER 05</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070</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05</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Recommended corporate brand platform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26</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 · pp. 28–29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071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F6F2E9"/>
                </a:solidFill>
                <a:latin typeface="Arial"/>
              </a:rPr>
              <a:t>Elevating Life. Creating Lasting Value.</a:t>
            </a:r>
          </a:p>
        </p:txBody>
      </p:sp>
      <p:sp>
        <p:nvSpPr>
          <p:cNvPr id="11" name="Rectangle 10"/>
          <p:cNvSpPr/>
          <p:nvPr/>
        </p:nvSpPr>
        <p:spPr>
          <a:xfrm>
            <a:off x="594360" y="1975103"/>
            <a:ext cx="11018520" cy="406908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062472" y="2084831"/>
            <a:ext cx="0" cy="288340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08483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One Human Promise. One Commercial Discipline.</a:t>
            </a:r>
          </a:p>
        </p:txBody>
      </p:sp>
      <p:sp>
        <p:nvSpPr>
          <p:cNvPr id="14" name="TextBox 13"/>
          <p:cNvSpPr txBox="1"/>
          <p:nvPr/>
        </p:nvSpPr>
        <p:spPr>
          <a:xfrm>
            <a:off x="685800" y="2542032"/>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Elevating Life The purpose and value people</a:t>
            </a:r>
          </a:p>
          <a:p>
            <a:pPr>
              <a:lnSpc>
                <a:spcPts val="2196"/>
              </a:lnSpc>
              <a:spcBef>
                <a:spcPts val="0"/>
              </a:spcBef>
              <a:spcAft>
                <a:spcPts val="0"/>
              </a:spcAft>
            </a:pPr>
            <a:r>
              <a:rPr sz="1800" b="0" i="0">
                <a:solidFill>
                  <a:srgbClr val="183A32"/>
                </a:solidFill>
                <a:latin typeface="Times New Roman"/>
              </a:rPr>
              <a:t>experience.</a:t>
            </a:r>
          </a:p>
        </p:txBody>
      </p:sp>
      <p:sp>
        <p:nvSpPr>
          <p:cNvPr id="15" name="TextBox 14"/>
          <p:cNvSpPr txBox="1"/>
          <p:nvPr/>
        </p:nvSpPr>
        <p:spPr>
          <a:xfrm>
            <a:off x="685800" y="327812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Creating Lasting Value The commercial responsibility</a:t>
            </a:r>
          </a:p>
          <a:p>
            <a:pPr>
              <a:lnSpc>
                <a:spcPts val="2196"/>
              </a:lnSpc>
              <a:spcBef>
                <a:spcPts val="0"/>
              </a:spcBef>
              <a:spcAft>
                <a:spcPts val="0"/>
              </a:spcAft>
            </a:pPr>
            <a:r>
              <a:rPr sz="1800" b="0" i="0">
                <a:solidFill>
                  <a:srgbClr val="183A32"/>
                </a:solidFill>
                <a:latin typeface="Times New Roman"/>
              </a:rPr>
              <a:t>and long-term ambition.</a:t>
            </a:r>
          </a:p>
        </p:txBody>
      </p:sp>
      <p:sp>
        <p:nvSpPr>
          <p:cNvPr id="16" name="TextBox 15"/>
          <p:cNvSpPr txBox="1"/>
          <p:nvPr/>
        </p:nvSpPr>
        <p:spPr>
          <a:xfrm>
            <a:off x="685800" y="4014215"/>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Retain Elevating Life as the primary corporate brand</a:t>
            </a:r>
          </a:p>
          <a:p>
            <a:pPr>
              <a:lnSpc>
                <a:spcPts val="2196"/>
              </a:lnSpc>
              <a:spcBef>
                <a:spcPts val="0"/>
              </a:spcBef>
              <a:spcAft>
                <a:spcPts val="0"/>
              </a:spcAft>
            </a:pPr>
            <a:r>
              <a:rPr sz="1800" b="0" i="0">
                <a:solidFill>
                  <a:srgbClr val="183A32"/>
                </a:solidFill>
                <a:latin typeface="Times New Roman"/>
              </a:rPr>
              <a:t>expression.</a:t>
            </a:r>
          </a:p>
        </p:txBody>
      </p:sp>
      <p:sp>
        <p:nvSpPr>
          <p:cNvPr id="17" name="TextBox 16"/>
          <p:cNvSpPr txBox="1"/>
          <p:nvPr/>
        </p:nvSpPr>
        <p:spPr>
          <a:xfrm>
            <a:off x="6400800" y="208483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Use Creating Lasting Value as a supporting strategic</a:t>
            </a:r>
          </a:p>
          <a:p>
            <a:pPr>
              <a:lnSpc>
                <a:spcPts val="2196"/>
              </a:lnSpc>
              <a:spcBef>
                <a:spcPts val="0"/>
              </a:spcBef>
              <a:spcAft>
                <a:spcPts val="0"/>
              </a:spcAft>
            </a:pPr>
            <a:r>
              <a:rPr sz="1800" b="0" i="0">
                <a:solidFill>
                  <a:srgbClr val="183A32"/>
                </a:solidFill>
                <a:latin typeface="Times New Roman"/>
              </a:rPr>
              <a:t>proposition connecting the human promise to business</a:t>
            </a:r>
          </a:p>
          <a:p>
            <a:pPr>
              <a:lnSpc>
                <a:spcPts val="2196"/>
              </a:lnSpc>
              <a:spcBef>
                <a:spcPts val="0"/>
              </a:spcBef>
              <a:spcAft>
                <a:spcPts val="0"/>
              </a:spcAft>
            </a:pPr>
            <a:r>
              <a:rPr sz="1800" b="0" i="0">
                <a:solidFill>
                  <a:srgbClr val="183A32"/>
                </a:solidFill>
                <a:latin typeface="Times New Roman"/>
              </a:rPr>
              <a:t>performance.</a:t>
            </a:r>
          </a:p>
        </p:txBody>
      </p:sp>
      <p:sp>
        <p:nvSpPr>
          <p:cNvPr id="18" name="TextBox 17"/>
          <p:cNvSpPr txBox="1"/>
          <p:nvPr/>
        </p:nvSpPr>
        <p:spPr>
          <a:xfrm>
            <a:off x="6400800" y="3127247"/>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RECOMMENDED POSITIONING STATEMENT</a:t>
            </a:r>
          </a:p>
        </p:txBody>
      </p:sp>
      <p:sp>
        <p:nvSpPr>
          <p:cNvPr id="19" name="TextBox 18"/>
          <p:cNvSpPr txBox="1"/>
          <p:nvPr/>
        </p:nvSpPr>
        <p:spPr>
          <a:xfrm>
            <a:off x="6400800" y="3448558"/>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is a trusted Indonesian property developer</a:t>
            </a:r>
          </a:p>
          <a:p>
            <a:pPr>
              <a:lnSpc>
                <a:spcPts val="2196"/>
              </a:lnSpc>
              <a:spcBef>
                <a:spcPts val="0"/>
              </a:spcBef>
              <a:spcAft>
                <a:spcPts val="0"/>
              </a:spcAft>
            </a:pPr>
            <a:r>
              <a:rPr sz="1800" b="0" i="0">
                <a:solidFill>
                  <a:srgbClr val="183A32"/>
                </a:solidFill>
                <a:latin typeface="Times New Roman"/>
              </a:rPr>
              <a:t>creating purposeful places that enrich lives, enable</a:t>
            </a:r>
          </a:p>
          <a:p>
            <a:pPr>
              <a:lnSpc>
                <a:spcPts val="2196"/>
              </a:lnSpc>
              <a:spcBef>
                <a:spcPts val="0"/>
              </a:spcBef>
              <a:spcAft>
                <a:spcPts val="0"/>
              </a:spcAft>
            </a:pPr>
            <a:r>
              <a:rPr sz="1800" b="0" i="0">
                <a:solidFill>
                  <a:srgbClr val="183A32"/>
                </a:solidFill>
                <a:latin typeface="Times New Roman"/>
              </a:rPr>
              <a:t>businesses, and strengthen communities through</a:t>
            </a:r>
          </a:p>
          <a:p>
            <a:pPr>
              <a:lnSpc>
                <a:spcPts val="2196"/>
              </a:lnSpc>
              <a:spcBef>
                <a:spcPts val="0"/>
              </a:spcBef>
              <a:spcAft>
                <a:spcPts val="0"/>
              </a:spcAft>
            </a:pPr>
            <a:r>
              <a:rPr sz="1800" b="0" i="0">
                <a:solidFill>
                  <a:srgbClr val="183A32"/>
                </a:solidFill>
                <a:latin typeface="Times New Roman"/>
              </a:rPr>
              <a:t>thoughtful development, meaningful partnerships, and</a:t>
            </a:r>
          </a:p>
          <a:p>
            <a:pPr>
              <a:lnSpc>
                <a:spcPts val="2196"/>
              </a:lnSpc>
              <a:spcBef>
                <a:spcPts val="0"/>
              </a:spcBef>
              <a:spcAft>
                <a:spcPts val="0"/>
              </a:spcAft>
            </a:pPr>
            <a:r>
              <a:rPr sz="1800" b="0" i="0">
                <a:solidFill>
                  <a:srgbClr val="183A32"/>
                </a:solidFill>
                <a:latin typeface="Times New Roman"/>
              </a:rPr>
              <a:t>long-term stewardship.</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28–29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Portfolio Application</a:t>
            </a:r>
          </a:p>
        </p:txBody>
      </p:sp>
      <p:sp>
        <p:nvSpPr>
          <p:cNvPr id="11" name="TextBox 10"/>
          <p:cNvSpPr txBox="1"/>
          <p:nvPr/>
        </p:nvSpPr>
        <p:spPr>
          <a:xfrm>
            <a:off x="6400800" y="2514600"/>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The promise should be expressed differently</a:t>
            </a:r>
          </a:p>
          <a:p>
            <a:pPr>
              <a:lnSpc>
                <a:spcPts val="2440"/>
              </a:lnSpc>
              <a:spcBef>
                <a:spcPts val="0"/>
              </a:spcBef>
              <a:spcAft>
                <a:spcPts val="0"/>
              </a:spcAft>
            </a:pPr>
            <a:r>
              <a:rPr sz="2000" b="0" i="0">
                <a:solidFill>
                  <a:srgbClr val="183A32"/>
                </a:solidFill>
                <a:latin typeface="Times New Roman"/>
              </a:rPr>
              <a:t>across a home, township, office, warehouse,</a:t>
            </a:r>
          </a:p>
          <a:p>
            <a:pPr>
              <a:lnSpc>
                <a:spcPts val="2440"/>
              </a:lnSpc>
              <a:spcBef>
                <a:spcPts val="0"/>
              </a:spcBef>
              <a:spcAft>
                <a:spcPts val="0"/>
              </a:spcAft>
            </a:pPr>
            <a:r>
              <a:rPr sz="2000" b="0" i="0">
                <a:solidFill>
                  <a:srgbClr val="183A32"/>
                </a:solidFill>
                <a:latin typeface="Times New Roman"/>
              </a:rPr>
              <a:t>industrial park, hotel, or leisure destination while</a:t>
            </a:r>
          </a:p>
          <a:p>
            <a:pPr>
              <a:lnSpc>
                <a:spcPts val="2440"/>
              </a:lnSpc>
              <a:spcBef>
                <a:spcPts val="0"/>
              </a:spcBef>
              <a:spcAft>
                <a:spcPts val="0"/>
              </a:spcAft>
            </a:pPr>
            <a:r>
              <a:rPr sz="2000" b="0" i="0">
                <a:solidFill>
                  <a:srgbClr val="183A32"/>
                </a:solidFill>
                <a:latin typeface="Times New Roman"/>
              </a:rPr>
              <a:t>remaining recognisably TANRISE.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29–30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Everything Begins With Purpose.</a:t>
            </a:r>
          </a:p>
        </p:txBody>
      </p:sp>
      <p:graphicFrame>
        <p:nvGraphicFramePr>
          <p:cNvPr id="11" name="Table 10"/>
          <p:cNvGraphicFramePr>
            <a:graphicFrameLocks noGrp="1"/>
          </p:cNvGraphicFramePr>
          <p:nvPr/>
        </p:nvGraphicFramePr>
        <p:xfrm>
          <a:off x="685800" y="2084831"/>
          <a:ext cx="10789919" cy="3065266"/>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Brand component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Recommended direction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Purpose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Enrich lives and create opportunities through purposeful places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Vision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Become a leading and trusted Indonesian property developer, elevating life and</a:t>
                      </a:r>
                    </a:p>
                    <a:p>
                      <a:pPr>
                        <a:lnSpc>
                          <a:spcPts val="1829"/>
                        </a:lnSpc>
                        <a:spcBef>
                          <a:spcPts val="0"/>
                        </a:spcBef>
                        <a:spcAft>
                          <a:spcPts val="0"/>
                        </a:spcAft>
                      </a:pPr>
                      <a:r>
                        <a:rPr sz="1550" b="0">
                          <a:solidFill>
                            <a:srgbClr val="183A32"/>
                          </a:solidFill>
                          <a:latin typeface="Arial"/>
                        </a:rPr>
                        <a:t>creating lasting value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Mission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Develop and nurture places that serve real needs through thoughtful concepts,</a:t>
                      </a:r>
                    </a:p>
                    <a:p>
                      <a:pPr>
                        <a:lnSpc>
                          <a:spcPts val="1829"/>
                        </a:lnSpc>
                        <a:spcBef>
                          <a:spcPts val="0"/>
                        </a:spcBef>
                        <a:spcAft>
                          <a:spcPts val="0"/>
                        </a:spcAft>
                      </a:pPr>
                      <a:r>
                        <a:rPr sz="1550" b="0">
                          <a:solidFill>
                            <a:srgbClr val="183A32"/>
                          </a:solidFill>
                          <a:latin typeface="Arial"/>
                        </a:rPr>
                        <a:t>responsible delivery, and continued care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Brand essence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Purposeful Places. Meaningful Progress.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Brand promise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Places created with purpose. Relationships built on trust.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29–30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Everything Begins With Purpose.</a:t>
            </a:r>
          </a:p>
        </p:txBody>
      </p:sp>
      <p:graphicFrame>
        <p:nvGraphicFramePr>
          <p:cNvPr id="11" name="Table 10"/>
          <p:cNvGraphicFramePr>
            <a:graphicFrameLocks noGrp="1"/>
          </p:cNvGraphicFramePr>
          <p:nvPr/>
        </p:nvGraphicFramePr>
        <p:xfrm>
          <a:off x="685800" y="2084831"/>
          <a:ext cx="10789919" cy="283298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Brand component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Recommended direction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Brand positioning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 human-centred developer combining purposeful development with long-term</a:t>
                      </a:r>
                    </a:p>
                    <a:p>
                      <a:pPr>
                        <a:lnSpc>
                          <a:spcPts val="1829"/>
                        </a:lnSpc>
                        <a:spcBef>
                          <a:spcPts val="0"/>
                        </a:spcBef>
                        <a:spcAft>
                          <a:spcPts val="0"/>
                        </a:spcAft>
                      </a:pPr>
                      <a:r>
                        <a:rPr sz="1550" b="0">
                          <a:solidFill>
                            <a:srgbClr val="183A32"/>
                          </a:solidFill>
                          <a:latin typeface="Arial"/>
                        </a:rPr>
                        <a:t>place value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Brand personality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Thoughtful, dependable, progressive, warm, and ambitious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Service philosophy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Super-Serving</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Core competencies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CINTA</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Corporate expression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Elevating Life</a:t>
                      </a:r>
                    </a:p>
                  </a:txBody>
                  <a:tcPr marL="109728" marR="109728" marT="82296" marB="0" anchor="t">
                    <a:solidFill>
                      <a:srgbClr val="F6F2E9"/>
                    </a:solidFill>
                    <a:lnL>
                      <a:noFill/>
                    </a:lnL>
                    <a:lnR>
                      <a:noFill/>
                    </a:lnR>
                    <a:lnT>
                      <a:noFill/>
                    </a:lnT>
                    <a:lnB>
                      <a:noFill/>
                    </a:lnB>
                  </a:tcPr>
                </a:tc>
              </a:tr>
            </a:tbl>
          </a:graphicData>
        </a:graphic>
      </p:graphicFrame>
      <p:sp>
        <p:nvSpPr>
          <p:cNvPr id="12" name="Rectangle 11"/>
          <p:cNvSpPr/>
          <p:nvPr/>
        </p:nvSpPr>
        <p:spPr>
          <a:xfrm>
            <a:off x="685800" y="5100700"/>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100700"/>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5182996"/>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Scope: The platform applies across TANRISE’s five business pillars without replacing established destination, project, or</a:t>
            </a:r>
          </a:p>
          <a:p>
            <a:pPr>
              <a:lnSpc>
                <a:spcPts val="2013"/>
              </a:lnSpc>
              <a:spcBef>
                <a:spcPts val="0"/>
              </a:spcBef>
              <a:spcAft>
                <a:spcPts val="0"/>
              </a:spcAft>
            </a:pPr>
            <a:r>
              <a:rPr sz="1650" b="0" i="0">
                <a:solidFill>
                  <a:srgbClr val="183A32"/>
                </a:solidFill>
                <a:latin typeface="Times New Roman"/>
              </a:rPr>
              <a:t>hotel brands.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30–31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Build on the Existing Foundation. Define the Next Chapter.</a:t>
            </a:r>
          </a:p>
        </p:txBody>
      </p:sp>
      <p:cxnSp>
        <p:nvCxnSpPr>
          <p:cNvPr id="11" name="Connector 10"/>
          <p:cNvCxnSpPr/>
          <p:nvPr/>
        </p:nvCxnSpPr>
        <p:spPr>
          <a:xfrm>
            <a:off x="6062472" y="2084831"/>
            <a:ext cx="0" cy="264414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EXISTING CLIENT VISION</a:t>
            </a:r>
          </a:p>
        </p:txBody>
      </p:sp>
      <p:sp>
        <p:nvSpPr>
          <p:cNvPr id="13" name="TextBox 12"/>
          <p:cNvSpPr txBox="1"/>
          <p:nvPr/>
        </p:nvSpPr>
        <p:spPr>
          <a:xfrm>
            <a:off x="685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To be the leading and trusted property developer</a:t>
            </a:r>
          </a:p>
          <a:p>
            <a:pPr>
              <a:lnSpc>
                <a:spcPts val="2196"/>
              </a:lnSpc>
              <a:spcBef>
                <a:spcPts val="0"/>
              </a:spcBef>
              <a:spcAft>
                <a:spcPts val="0"/>
              </a:spcAft>
            </a:pPr>
            <a:r>
              <a:rPr sz="1800" b="0" i="0">
                <a:solidFill>
                  <a:srgbClr val="183A32"/>
                </a:solidFill>
                <a:latin typeface="Times New Roman"/>
              </a:rPr>
              <a:t>delivering the best concepts.</a:t>
            </a:r>
          </a:p>
        </p:txBody>
      </p:sp>
      <p:sp>
        <p:nvSpPr>
          <p:cNvPr id="14" name="TextBox 13"/>
          <p:cNvSpPr txBox="1"/>
          <p:nvPr/>
        </p:nvSpPr>
        <p:spPr>
          <a:xfrm>
            <a:off x="685800" y="3197098"/>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EXISTING CLIENT MISSION</a:t>
            </a:r>
          </a:p>
        </p:txBody>
      </p:sp>
      <p:sp>
        <p:nvSpPr>
          <p:cNvPr id="15" name="TextBox 14"/>
          <p:cNvSpPr txBox="1"/>
          <p:nvPr/>
        </p:nvSpPr>
        <p:spPr>
          <a:xfrm>
            <a:off x="685800" y="3518408"/>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To develop properties providing added value for</a:t>
            </a:r>
          </a:p>
          <a:p>
            <a:pPr>
              <a:lnSpc>
                <a:spcPts val="2196"/>
              </a:lnSpc>
              <a:spcBef>
                <a:spcPts val="0"/>
              </a:spcBef>
              <a:spcAft>
                <a:spcPts val="0"/>
              </a:spcAft>
            </a:pPr>
            <a:r>
              <a:rPr sz="1800" b="0" i="0">
                <a:solidFill>
                  <a:srgbClr val="183A32"/>
                </a:solidFill>
                <a:latin typeface="Times New Roman"/>
              </a:rPr>
              <a:t>clients and business partners.</a:t>
            </a:r>
          </a:p>
        </p:txBody>
      </p:sp>
      <p:sp>
        <p:nvSpPr>
          <p:cNvPr id="16" name="TextBox 15"/>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EVOLVED VISION</a:t>
            </a:r>
          </a:p>
        </p:txBody>
      </p:sp>
      <p:sp>
        <p:nvSpPr>
          <p:cNvPr id="17" name="TextBox 16"/>
          <p:cNvSpPr txBox="1"/>
          <p:nvPr/>
        </p:nvSpPr>
        <p:spPr>
          <a:xfrm>
            <a:off x="6400800" y="243357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To be one of Indonesia’s leading and most trusted</a:t>
            </a:r>
          </a:p>
          <a:p>
            <a:pPr>
              <a:lnSpc>
                <a:spcPts val="2196"/>
              </a:lnSpc>
              <a:spcBef>
                <a:spcPts val="0"/>
              </a:spcBef>
              <a:spcAft>
                <a:spcPts val="0"/>
              </a:spcAft>
            </a:pPr>
            <a:r>
              <a:rPr sz="1800" b="0" i="0">
                <a:solidFill>
                  <a:srgbClr val="183A32"/>
                </a:solidFill>
                <a:latin typeface="Times New Roman"/>
              </a:rPr>
              <a:t>property developers, creating purposeful places that</a:t>
            </a:r>
          </a:p>
          <a:p>
            <a:pPr>
              <a:lnSpc>
                <a:spcPts val="2196"/>
              </a:lnSpc>
              <a:spcBef>
                <a:spcPts val="0"/>
              </a:spcBef>
              <a:spcAft>
                <a:spcPts val="0"/>
              </a:spcAft>
            </a:pPr>
            <a:r>
              <a:rPr sz="1800" b="0" i="0">
                <a:solidFill>
                  <a:srgbClr val="183A32"/>
                </a:solidFill>
                <a:latin typeface="Times New Roman"/>
              </a:rPr>
              <a:t>elevate lives, empower businesses, and generate lasting</a:t>
            </a:r>
          </a:p>
          <a:p>
            <a:pPr>
              <a:lnSpc>
                <a:spcPts val="2196"/>
              </a:lnSpc>
              <a:spcBef>
                <a:spcPts val="0"/>
              </a:spcBef>
              <a:spcAft>
                <a:spcPts val="0"/>
              </a:spcAft>
            </a:pPr>
            <a:r>
              <a:rPr sz="1800" b="0" i="0">
                <a:solidFill>
                  <a:srgbClr val="183A32"/>
                </a:solidFill>
                <a:latin typeface="Times New Roman"/>
              </a:rPr>
              <a:t>value for generations.</a:t>
            </a:r>
          </a:p>
        </p:txBody>
      </p:sp>
      <p:sp>
        <p:nvSpPr>
          <p:cNvPr id="18" name="TextBox 17"/>
          <p:cNvSpPr txBox="1"/>
          <p:nvPr/>
        </p:nvSpPr>
        <p:spPr>
          <a:xfrm>
            <a:off x="6400800" y="375488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EVOLVED MISSION</a:t>
            </a:r>
          </a:p>
        </p:txBody>
      </p:sp>
      <p:sp>
        <p:nvSpPr>
          <p:cNvPr id="19" name="TextBox 18"/>
          <p:cNvSpPr txBox="1"/>
          <p:nvPr/>
        </p:nvSpPr>
        <p:spPr>
          <a:xfrm>
            <a:off x="6400800" y="407619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We develop and nurture places that bring people,</a:t>
            </a:r>
          </a:p>
          <a:p>
            <a:pPr>
              <a:lnSpc>
                <a:spcPts val="2196"/>
              </a:lnSpc>
              <a:spcBef>
                <a:spcPts val="0"/>
              </a:spcBef>
              <a:spcAft>
                <a:spcPts val="0"/>
              </a:spcAft>
            </a:pPr>
            <a:r>
              <a:rPr sz="1800" b="0" i="0">
                <a:solidFill>
                  <a:srgbClr val="183A32"/>
                </a:solidFill>
                <a:latin typeface="Times New Roman"/>
              </a:rPr>
              <a:t>businesses, and communities closer to what matters.</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30–31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Build on the Existing Foundation. Define the Next Chapter.</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Through thoughtful concepts, responsible development, meaningful partnerships, and continued care, we create</a:t>
            </a:r>
          </a:p>
          <a:p>
            <a:pPr>
              <a:lnSpc>
                <a:spcPts val="2196"/>
              </a:lnSpc>
              <a:spcBef>
                <a:spcPts val="0"/>
              </a:spcBef>
              <a:spcAft>
                <a:spcPts val="0"/>
              </a:spcAft>
            </a:pPr>
            <a:r>
              <a:rPr sz="1800" b="0" i="0">
                <a:solidFill>
                  <a:srgbClr val="183A32"/>
                </a:solidFill>
                <a:latin typeface="Times New Roman"/>
              </a:rPr>
              <a:t>environments where life can flourish, opportunities can grow, and value can endure.</a:t>
            </a:r>
          </a:p>
        </p:txBody>
      </p:sp>
      <p:sp>
        <p:nvSpPr>
          <p:cNvPr id="12" name="Rectangle 11"/>
          <p:cNvSpPr/>
          <p:nvPr/>
        </p:nvSpPr>
        <p:spPr>
          <a:xfrm>
            <a:off x="685800" y="2820924"/>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820924"/>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2903220"/>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Strategic interpretation: The existing vision and mission remain the client’s documented foundation. The evolved statements</a:t>
            </a:r>
          </a:p>
          <a:p>
            <a:pPr>
              <a:lnSpc>
                <a:spcPts val="2013"/>
              </a:lnSpc>
              <a:spcBef>
                <a:spcPts val="0"/>
              </a:spcBef>
              <a:spcAft>
                <a:spcPts val="0"/>
              </a:spcAft>
            </a:pPr>
            <a:r>
              <a:rPr sz="1650" b="0" i="0">
                <a:solidFill>
                  <a:srgbClr val="183A32"/>
                </a:solidFill>
                <a:latin typeface="Times New Roman"/>
              </a:rPr>
              <a:t>are recommendations for leadership approval.</a:t>
            </a:r>
          </a:p>
        </p:txBody>
      </p:sp>
      <p:sp>
        <p:nvSpPr>
          <p:cNvPr id="15" name="TextBox 14"/>
          <p:cNvSpPr txBox="1"/>
          <p:nvPr/>
        </p:nvSpPr>
        <p:spPr>
          <a:xfrm>
            <a:off x="685800" y="364731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Top Five ambition is a measurable corporate objective within the broader vision.</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31–32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Values Must Be Experienced Across Every Project.</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Retain Customer Focus, Integrity, Teamwork, and Agility, consistent with the current official TANCORP CINTA</a:t>
            </a:r>
          </a:p>
          <a:p>
            <a:pPr>
              <a:lnSpc>
                <a:spcPts val="2196"/>
              </a:lnSpc>
              <a:spcBef>
                <a:spcPts val="0"/>
              </a:spcBef>
              <a:spcAft>
                <a:spcPts val="0"/>
              </a:spcAft>
            </a:pPr>
            <a:r>
              <a:rPr sz="1800" b="0" i="0">
                <a:solidFill>
                  <a:srgbClr val="183A32"/>
                </a:solidFill>
                <a:latin typeface="Times New Roman"/>
              </a:rPr>
              <a:t>description.</a:t>
            </a:r>
          </a:p>
        </p:txBody>
      </p:sp>
      <p:graphicFrame>
        <p:nvGraphicFramePr>
          <p:cNvPr id="12" name="Table 11"/>
          <p:cNvGraphicFramePr>
            <a:graphicFrameLocks noGrp="1"/>
          </p:cNvGraphicFramePr>
          <p:nvPr/>
        </p:nvGraphicFramePr>
        <p:xfrm>
          <a:off x="685800" y="2820924"/>
          <a:ext cx="10789919" cy="24306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Value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What we believe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What it means in practice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Customer Focus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Every place begins with people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Understand homeowners, tenants, occupiers, visitors,</a:t>
                      </a:r>
                    </a:p>
                    <a:p>
                      <a:pPr>
                        <a:lnSpc>
                          <a:spcPts val="1829"/>
                        </a:lnSpc>
                        <a:spcBef>
                          <a:spcPts val="0"/>
                        </a:spcBef>
                        <a:spcAft>
                          <a:spcPts val="0"/>
                        </a:spcAft>
                      </a:pPr>
                      <a:r>
                        <a:rPr sz="1550" b="0">
                          <a:solidFill>
                            <a:srgbClr val="183A32"/>
                          </a:solidFill>
                          <a:latin typeface="Arial"/>
                        </a:rPr>
                        <a:t>guests, and partners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Integrity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Trust is earned through actions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Communicate accurate names, status, ownership</a:t>
                      </a:r>
                    </a:p>
                    <a:p>
                      <a:pPr>
                        <a:lnSpc>
                          <a:spcPts val="1829"/>
                        </a:lnSpc>
                        <a:spcBef>
                          <a:spcPts val="0"/>
                        </a:spcBef>
                        <a:spcAft>
                          <a:spcPts val="0"/>
                        </a:spcAft>
                      </a:pPr>
                      <a:r>
                        <a:rPr sz="1550" b="0">
                          <a:solidFill>
                            <a:srgbClr val="183A32"/>
                          </a:solidFill>
                          <a:latin typeface="Arial"/>
                        </a:rPr>
                        <a:t>relationships, and commitments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Teamwork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Great places require collective</a:t>
                      </a:r>
                    </a:p>
                    <a:p>
                      <a:pPr>
                        <a:lnSpc>
                          <a:spcPts val="1829"/>
                        </a:lnSpc>
                        <a:spcBef>
                          <a:spcPts val="0"/>
                        </a:spcBef>
                        <a:spcAft>
                          <a:spcPts val="0"/>
                        </a:spcAft>
                      </a:pPr>
                      <a:r>
                        <a:rPr sz="1550" b="0">
                          <a:solidFill>
                            <a:srgbClr val="183A32"/>
                          </a:solidFill>
                          <a:latin typeface="Arial"/>
                        </a:rPr>
                        <a:t>effort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Coordinate development, finance, sales, asset</a:t>
                      </a:r>
                    </a:p>
                    <a:p>
                      <a:pPr>
                        <a:lnSpc>
                          <a:spcPts val="1829"/>
                        </a:lnSpc>
                        <a:spcBef>
                          <a:spcPts val="0"/>
                        </a:spcBef>
                        <a:spcAft>
                          <a:spcPts val="0"/>
                        </a:spcAft>
                      </a:pPr>
                      <a:r>
                        <a:rPr sz="1550" b="0">
                          <a:solidFill>
                            <a:srgbClr val="183A32"/>
                          </a:solidFill>
                          <a:latin typeface="Arial"/>
                        </a:rPr>
                        <a:t>management, operators, and partners</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29.2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31–32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Values Must Be Experienced Across Every Project.</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Value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What we believe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What it means in practice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Agility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Progress requires adaptability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Respond to market conditions and improve through</a:t>
                      </a:r>
                    </a:p>
                    <a:p>
                      <a:pPr>
                        <a:lnSpc>
                          <a:spcPts val="1829"/>
                        </a:lnSpc>
                        <a:spcBef>
                          <a:spcPts val="0"/>
                        </a:spcBef>
                        <a:spcAft>
                          <a:spcPts val="0"/>
                        </a:spcAft>
                      </a:pPr>
                      <a:r>
                        <a:rPr sz="1550" b="0">
                          <a:solidFill>
                            <a:srgbClr val="183A32"/>
                          </a:solidFill>
                          <a:latin typeface="Arial"/>
                        </a:rPr>
                        <a:t>customer and operating evidence</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39432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CULTURE STATEMENT</a:t>
            </a:r>
          </a:p>
        </p:txBody>
      </p:sp>
      <p:sp>
        <p:nvSpPr>
          <p:cNvPr id="13" name="TextBox 12"/>
          <p:cNvSpPr txBox="1"/>
          <p:nvPr/>
        </p:nvSpPr>
        <p:spPr>
          <a:xfrm>
            <a:off x="685800" y="371563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We listen before we build. We deliver what we promise. We grow together. We adapt to create better outcomes.</a:t>
            </a:r>
          </a:p>
        </p:txBody>
      </p:sp>
      <p:sp>
        <p:nvSpPr>
          <p:cNvPr id="14" name="TextBox 13"/>
          <p:cNvSpPr txBox="1"/>
          <p:nvPr/>
        </p:nvSpPr>
        <p:spPr>
          <a:xfrm>
            <a:off x="685800" y="417283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Portfolio application: Apply shared values through asset-specific behaviours rather than identical service procedures</a:t>
            </a:r>
          </a:p>
          <a:p>
            <a:pPr>
              <a:lnSpc>
                <a:spcPts val="2196"/>
              </a:lnSpc>
              <a:spcBef>
                <a:spcPts val="0"/>
              </a:spcBef>
              <a:spcAft>
                <a:spcPts val="0"/>
              </a:spcAft>
            </a:pPr>
            <a:r>
              <a:rPr sz="1800" b="0" i="0">
                <a:solidFill>
                  <a:srgbClr val="183A32"/>
                </a:solidFill>
                <a:latin typeface="Times New Roman"/>
              </a:rPr>
              <a:t>everywhere.</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32–32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079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We Take Responsibility for Places.</a:t>
            </a:r>
          </a:p>
        </p:txBody>
      </p:sp>
      <p:cxnSp>
        <p:nvCxnSpPr>
          <p:cNvPr id="11" name="Connector 10"/>
          <p:cNvCxnSpPr/>
          <p:nvPr/>
        </p:nvCxnSpPr>
        <p:spPr>
          <a:xfrm>
            <a:off x="6062472" y="2084831"/>
            <a:ext cx="0" cy="2926652"/>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Translate CINTA into five daily practices.</a:t>
            </a:r>
          </a:p>
        </p:txBody>
      </p:sp>
      <p:sp>
        <p:nvSpPr>
          <p:cNvPr id="13" name="Rectangle 12"/>
          <p:cNvSpPr/>
          <p:nvPr/>
        </p:nvSpPr>
        <p:spPr>
          <a:xfrm>
            <a:off x="685800" y="26334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42032"/>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Understand Before We Create Ground</a:t>
            </a:r>
          </a:p>
          <a:p>
            <a:pPr>
              <a:lnSpc>
                <a:spcPts val="2135"/>
              </a:lnSpc>
              <a:spcBef>
                <a:spcPts val="0"/>
              </a:spcBef>
              <a:spcAft>
                <a:spcPts val="0"/>
              </a:spcAft>
            </a:pPr>
            <a:r>
              <a:rPr sz="1750" b="0" i="0">
                <a:solidFill>
                  <a:srgbClr val="183A32"/>
                </a:solidFill>
                <a:latin typeface="Arial"/>
              </a:rPr>
              <a:t>decisions in customer, market, site, and operating</a:t>
            </a:r>
          </a:p>
          <a:p>
            <a:pPr>
              <a:lnSpc>
                <a:spcPts val="2135"/>
              </a:lnSpc>
              <a:spcBef>
                <a:spcPts val="0"/>
              </a:spcBef>
              <a:spcAft>
                <a:spcPts val="0"/>
              </a:spcAft>
            </a:pPr>
            <a:r>
              <a:rPr sz="1750" b="0" i="0">
                <a:solidFill>
                  <a:srgbClr val="183A32"/>
                </a:solidFill>
                <a:latin typeface="Arial"/>
              </a:rPr>
              <a:t>requirements.</a:t>
            </a:r>
          </a:p>
        </p:txBody>
      </p:sp>
      <p:sp>
        <p:nvSpPr>
          <p:cNvPr id="15" name="Rectangle 14"/>
          <p:cNvSpPr/>
          <p:nvPr/>
        </p:nvSpPr>
        <p:spPr>
          <a:xfrm>
            <a:off x="685800" y="36252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533774"/>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Own Every Commitment Assign each promise</a:t>
            </a:r>
          </a:p>
          <a:p>
            <a:pPr>
              <a:lnSpc>
                <a:spcPts val="2135"/>
              </a:lnSpc>
              <a:spcBef>
                <a:spcPts val="0"/>
              </a:spcBef>
              <a:spcAft>
                <a:spcPts val="0"/>
              </a:spcAft>
            </a:pPr>
            <a:r>
              <a:rPr sz="1750" b="0" i="0">
                <a:solidFill>
                  <a:srgbClr val="183A32"/>
                </a:solidFill>
                <a:latin typeface="Arial"/>
              </a:rPr>
              <a:t>a responsible owner, timeline, and measurable</a:t>
            </a:r>
          </a:p>
          <a:p>
            <a:pPr>
              <a:lnSpc>
                <a:spcPts val="2135"/>
              </a:lnSpc>
              <a:spcBef>
                <a:spcPts val="0"/>
              </a:spcBef>
              <a:spcAft>
                <a:spcPts val="0"/>
              </a:spcAft>
            </a:pPr>
            <a:r>
              <a:rPr sz="1750" b="0" i="0">
                <a:solidFill>
                  <a:srgbClr val="183A32"/>
                </a:solidFill>
                <a:latin typeface="Arial"/>
              </a:rPr>
              <a:t>outcome.</a:t>
            </a:r>
          </a:p>
        </p:txBody>
      </p:sp>
      <p:sp>
        <p:nvSpPr>
          <p:cNvPr id="17" name="Rectangle 16"/>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Work Beyond Silos Connect development,</a:t>
            </a:r>
          </a:p>
          <a:p>
            <a:pPr>
              <a:lnSpc>
                <a:spcPts val="2135"/>
              </a:lnSpc>
              <a:spcBef>
                <a:spcPts val="0"/>
              </a:spcBef>
              <a:spcAft>
                <a:spcPts val="0"/>
              </a:spcAft>
            </a:pPr>
            <a:r>
              <a:rPr sz="1750" b="0" i="0">
                <a:solidFill>
                  <a:srgbClr val="183A32"/>
                </a:solidFill>
                <a:latin typeface="Arial"/>
              </a:rPr>
              <a:t>sales, finance, operations, customer service, and</a:t>
            </a:r>
          </a:p>
          <a:p>
            <a:pPr>
              <a:lnSpc>
                <a:spcPts val="2135"/>
              </a:lnSpc>
              <a:spcBef>
                <a:spcPts val="0"/>
              </a:spcBef>
              <a:spcAft>
                <a:spcPts val="0"/>
              </a:spcAft>
            </a:pPr>
            <a:r>
              <a:rPr sz="1750" b="0" i="0">
                <a:solidFill>
                  <a:srgbClr val="183A32"/>
                </a:solidFill>
                <a:latin typeface="Arial"/>
              </a:rPr>
              <a:t>external operators.</a:t>
            </a:r>
          </a:p>
        </p:txBody>
      </p:sp>
      <p:sp>
        <p:nvSpPr>
          <p:cNvPr id="19" name="Rectangle 18"/>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076574"/>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Care Beyond Completion Treat handover and</a:t>
            </a:r>
          </a:p>
          <a:p>
            <a:pPr>
              <a:lnSpc>
                <a:spcPts val="2135"/>
              </a:lnSpc>
              <a:spcBef>
                <a:spcPts val="0"/>
              </a:spcBef>
              <a:spcAft>
                <a:spcPts val="0"/>
              </a:spcAft>
            </a:pPr>
            <a:r>
              <a:rPr sz="1750" b="0" i="0">
                <a:solidFill>
                  <a:srgbClr val="183A32"/>
                </a:solidFill>
                <a:latin typeface="Arial"/>
              </a:rPr>
              <a:t>opening as the beginning of a continuing</a:t>
            </a:r>
          </a:p>
          <a:p>
            <a:pPr>
              <a:lnSpc>
                <a:spcPts val="2135"/>
              </a:lnSpc>
              <a:spcBef>
                <a:spcPts val="0"/>
              </a:spcBef>
              <a:spcAft>
                <a:spcPts val="0"/>
              </a:spcAft>
            </a:pPr>
            <a:r>
              <a:rPr sz="1750" b="0" i="0">
                <a:solidFill>
                  <a:srgbClr val="183A32"/>
                </a:solidFill>
                <a:latin typeface="Arial"/>
              </a:rPr>
              <a:t>relationship.</a:t>
            </a:r>
          </a:p>
        </p:txBody>
      </p:sp>
      <p:sp>
        <p:nvSpPr>
          <p:cNvPr id="21" name="Rectangle 20"/>
          <p:cNvSpPr/>
          <p:nvPr/>
        </p:nvSpPr>
        <p:spPr>
          <a:xfrm>
            <a:off x="6400800" y="4159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068318"/>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Improve With Evidence Use customer</a:t>
            </a:r>
          </a:p>
          <a:p>
            <a:pPr>
              <a:lnSpc>
                <a:spcPts val="2135"/>
              </a:lnSpc>
              <a:spcBef>
                <a:spcPts val="0"/>
              </a:spcBef>
              <a:spcAft>
                <a:spcPts val="0"/>
              </a:spcAft>
            </a:pPr>
            <a:r>
              <a:rPr sz="1750" b="0" i="0">
                <a:solidFill>
                  <a:srgbClr val="183A32"/>
                </a:solidFill>
                <a:latin typeface="Arial"/>
              </a:rPr>
              <a:t>feedback, project outcomes, asset performance,</a:t>
            </a:r>
          </a:p>
          <a:p>
            <a:pPr>
              <a:lnSpc>
                <a:spcPts val="2135"/>
              </a:lnSpc>
              <a:spcBef>
                <a:spcPts val="0"/>
              </a:spcBef>
              <a:spcAft>
                <a:spcPts val="0"/>
              </a:spcAft>
            </a:pPr>
            <a:r>
              <a:rPr sz="1750" b="0" i="0">
                <a:solidFill>
                  <a:srgbClr val="183A32"/>
                </a:solidFill>
                <a:latin typeface="Arial"/>
              </a:rPr>
              <a:t>and operational data to improve decisions.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32–32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Cultural Commitment</a:t>
            </a:r>
          </a:p>
        </p:txBody>
      </p:sp>
      <p:sp>
        <p:nvSpPr>
          <p:cNvPr id="11" name="TextBox 10"/>
          <p:cNvSpPr txBox="1"/>
          <p:nvPr/>
        </p:nvSpPr>
        <p:spPr>
          <a:xfrm>
            <a:off x="6400800" y="2514600"/>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Every decision we make, every place we create,</a:t>
            </a:r>
          </a:p>
          <a:p>
            <a:pPr>
              <a:lnSpc>
                <a:spcPts val="2440"/>
              </a:lnSpc>
              <a:spcBef>
                <a:spcPts val="0"/>
              </a:spcBef>
              <a:spcAft>
                <a:spcPts val="0"/>
              </a:spcAft>
            </a:pPr>
            <a:r>
              <a:rPr sz="2000" b="0" i="0">
                <a:solidFill>
                  <a:srgbClr val="183A32"/>
                </a:solidFill>
                <a:latin typeface="Times New Roman"/>
              </a:rPr>
              <a:t>and every relationship we build should reflect the</a:t>
            </a:r>
          </a:p>
          <a:p>
            <a:pPr>
              <a:lnSpc>
                <a:spcPts val="2440"/>
              </a:lnSpc>
              <a:spcBef>
                <a:spcPts val="0"/>
              </a:spcBef>
              <a:spcAft>
                <a:spcPts val="0"/>
              </a:spcAft>
            </a:pPr>
            <a:r>
              <a:rPr sz="2000" b="0" i="0">
                <a:solidFill>
                  <a:srgbClr val="183A32"/>
                </a:solidFill>
                <a:latin typeface="Times New Roman"/>
              </a:rPr>
              <a:t>care, responsibility, and ambition of TANRISE.</a:t>
            </a:r>
          </a:p>
        </p:txBody>
      </p:sp>
      <p:sp>
        <p:nvSpPr>
          <p:cNvPr id="12" name="TextBox 11"/>
          <p:cNvSpPr txBox="1"/>
          <p:nvPr/>
        </p:nvSpPr>
        <p:spPr>
          <a:xfrm>
            <a:off x="6400800" y="3686555"/>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Implementation recommendation: Embed these</a:t>
            </a:r>
          </a:p>
          <a:p>
            <a:pPr>
              <a:lnSpc>
                <a:spcPts val="2440"/>
              </a:lnSpc>
              <a:spcBef>
                <a:spcPts val="0"/>
              </a:spcBef>
              <a:spcAft>
                <a:spcPts val="0"/>
              </a:spcAft>
            </a:pPr>
            <a:r>
              <a:rPr sz="2000" b="0" i="0">
                <a:solidFill>
                  <a:srgbClr val="183A32"/>
                </a:solidFill>
                <a:latin typeface="Times New Roman"/>
              </a:rPr>
              <a:t>behaviours in leadership reviews, project</a:t>
            </a:r>
          </a:p>
          <a:p>
            <a:pPr>
              <a:lnSpc>
                <a:spcPts val="2440"/>
              </a:lnSpc>
              <a:spcBef>
                <a:spcPts val="0"/>
              </a:spcBef>
              <a:spcAft>
                <a:spcPts val="0"/>
              </a:spcAft>
            </a:pPr>
            <a:r>
              <a:rPr sz="2000" b="0" i="0">
                <a:solidFill>
                  <a:srgbClr val="183A32"/>
                </a:solidFill>
                <a:latin typeface="Times New Roman"/>
              </a:rPr>
              <a:t>governance, onboarding, partner coordination,</a:t>
            </a:r>
          </a:p>
          <a:p>
            <a:pPr>
              <a:lnSpc>
                <a:spcPts val="2440"/>
              </a:lnSpc>
              <a:spcBef>
                <a:spcPts val="0"/>
              </a:spcBef>
              <a:spcAft>
                <a:spcPts val="0"/>
              </a:spcAft>
            </a:pPr>
            <a:r>
              <a:rPr sz="2000" b="0" i="0">
                <a:solidFill>
                  <a:srgbClr val="183A32"/>
                </a:solidFill>
                <a:latin typeface="Times New Roman"/>
              </a:rPr>
              <a:t>and customer experience standards.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33–33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Professional in Our Expertise. Human in Our Approach.</a:t>
            </a:r>
          </a:p>
        </p:txBody>
      </p:sp>
      <p:graphicFrame>
        <p:nvGraphicFramePr>
          <p:cNvPr id="11" name="Table 10"/>
          <p:cNvGraphicFramePr>
            <a:graphicFrameLocks noGrp="1"/>
          </p:cNvGraphicFramePr>
          <p:nvPr/>
        </p:nvGraphicFramePr>
        <p:xfrm>
          <a:off x="685800" y="2084831"/>
          <a:ext cx="10789919" cy="352983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Personality</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Meaning</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Expression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Thoughtful</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Understand before creating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Relevant concepts, purposeful planning, attention to</a:t>
                      </a:r>
                    </a:p>
                    <a:p>
                      <a:pPr>
                        <a:lnSpc>
                          <a:spcPts val="1829"/>
                        </a:lnSpc>
                        <a:spcBef>
                          <a:spcPts val="0"/>
                        </a:spcBef>
                        <a:spcAft>
                          <a:spcPts val="0"/>
                        </a:spcAft>
                      </a:pPr>
                      <a:r>
                        <a:rPr sz="1550" b="0">
                          <a:solidFill>
                            <a:srgbClr val="183A32"/>
                          </a:solidFill>
                          <a:latin typeface="Arial"/>
                        </a:rPr>
                        <a:t>detail</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Dependable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Honour commitments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Accurate communication, responsible delivery,</a:t>
                      </a:r>
                    </a:p>
                    <a:p>
                      <a:pPr>
                        <a:lnSpc>
                          <a:spcPts val="1829"/>
                        </a:lnSpc>
                        <a:spcBef>
                          <a:spcPts val="0"/>
                        </a:spcBef>
                        <a:spcAft>
                          <a:spcPts val="0"/>
                        </a:spcAft>
                      </a:pPr>
                      <a:r>
                        <a:rPr sz="1550" b="0">
                          <a:solidFill>
                            <a:srgbClr val="183A32"/>
                          </a:solidFill>
                          <a:latin typeface="Arial"/>
                        </a:rPr>
                        <a:t>consistent service</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Progressive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Embrace better possibilities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Innovation, adaptability, forward-looking development</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Warm</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Care about human experiences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Empathy, approachable communication, community</a:t>
                      </a:r>
                    </a:p>
                    <a:p>
                      <a:pPr>
                        <a:lnSpc>
                          <a:spcPts val="1829"/>
                        </a:lnSpc>
                        <a:spcBef>
                          <a:spcPts val="0"/>
                        </a:spcBef>
                        <a:spcAft>
                          <a:spcPts val="0"/>
                        </a:spcAft>
                      </a:pPr>
                      <a:r>
                        <a:rPr sz="1550" b="0">
                          <a:solidFill>
                            <a:srgbClr val="183A32"/>
                          </a:solidFill>
                          <a:latin typeface="Arial"/>
                        </a:rPr>
                        <a:t>relationships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Ambitious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Strive for meaningful growth</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High standards, commercial discipline, continuous</a:t>
                      </a:r>
                    </a:p>
                    <a:p>
                      <a:pPr>
                        <a:lnSpc>
                          <a:spcPts val="1829"/>
                        </a:lnSpc>
                        <a:spcBef>
                          <a:spcPts val="0"/>
                        </a:spcBef>
                        <a:spcAft>
                          <a:spcPts val="0"/>
                        </a:spcAft>
                      </a:pPr>
                      <a:r>
                        <a:rPr sz="1550" b="0">
                          <a:solidFill>
                            <a:srgbClr val="183A32"/>
                          </a:solidFill>
                          <a:latin typeface="Arial"/>
                        </a:rPr>
                        <a:t>improvement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33–33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Brand Character</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is the thoughtful visionary: a capable and trusted developer who understands that creating a place means</a:t>
            </a:r>
          </a:p>
          <a:p>
            <a:pPr>
              <a:lnSpc>
                <a:spcPts val="2196"/>
              </a:lnSpc>
              <a:spcBef>
                <a:spcPts val="0"/>
              </a:spcBef>
              <a:spcAft>
                <a:spcPts val="0"/>
              </a:spcAft>
            </a:pPr>
            <a:r>
              <a:rPr sz="1800" b="0" i="0">
                <a:solidFill>
                  <a:srgbClr val="183A32"/>
                </a:solidFill>
                <a:latin typeface="Times New Roman"/>
              </a:rPr>
              <a:t>taking responsibility for the people and businesses who depend on it.</a:t>
            </a:r>
          </a:p>
        </p:txBody>
      </p:sp>
      <p:sp>
        <p:nvSpPr>
          <p:cNvPr id="12" name="TextBox 11"/>
          <p:cNvSpPr txBox="1"/>
          <p:nvPr/>
        </p:nvSpPr>
        <p:spPr>
          <a:xfrm>
            <a:off x="685800" y="282092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Avoid: Arrogance, excessive luxury language, impersonal communication, unnecessary technical complexity, and</a:t>
            </a:r>
          </a:p>
          <a:p>
            <a:pPr>
              <a:lnSpc>
                <a:spcPts val="2196"/>
              </a:lnSpc>
              <a:spcBef>
                <a:spcPts val="0"/>
              </a:spcBef>
              <a:spcAft>
                <a:spcPts val="0"/>
              </a:spcAft>
            </a:pPr>
            <a:r>
              <a:rPr sz="1800" b="0" i="0">
                <a:solidFill>
                  <a:srgbClr val="183A32"/>
                </a:solidFill>
                <a:latin typeface="Times New Roman"/>
              </a:rPr>
              <a:t>unsupported claims.</a:t>
            </a:r>
          </a:p>
        </p:txBody>
      </p:sp>
      <p:sp>
        <p:nvSpPr>
          <p:cNvPr id="13" name="TextBox 12"/>
          <p:cNvSpPr txBox="1"/>
          <p:nvPr/>
        </p:nvSpPr>
        <p:spPr>
          <a:xfrm>
            <a:off x="685800" y="355701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Portfolio application: A logistics occupier, apartment buyer, township resident, and hotel investor should recognise</a:t>
            </a:r>
          </a:p>
          <a:p>
            <a:pPr>
              <a:lnSpc>
                <a:spcPts val="2196"/>
              </a:lnSpc>
              <a:spcBef>
                <a:spcPts val="0"/>
              </a:spcBef>
              <a:spcAft>
                <a:spcPts val="0"/>
              </a:spcAft>
            </a:pPr>
            <a:r>
              <a:rPr sz="1800" b="0" i="0">
                <a:solidFill>
                  <a:srgbClr val="183A32"/>
                </a:solidFill>
                <a:latin typeface="Times New Roman"/>
              </a:rPr>
              <a:t>the same corporate character through different relevant experiences.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34–35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Speak With Confidence. Connect With Humanity.</a:t>
            </a:r>
          </a:p>
        </p:txBody>
      </p:sp>
      <p:graphicFrame>
        <p:nvGraphicFramePr>
          <p:cNvPr id="11" name="Table 10"/>
          <p:cNvGraphicFramePr>
            <a:graphicFrameLocks noGrp="1"/>
          </p:cNvGraphicFramePr>
          <p:nvPr/>
        </p:nvGraphicFramePr>
        <p:xfrm>
          <a:off x="685800" y="2084831"/>
          <a:ext cx="10789919" cy="309638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Principle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Conventional language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TANRISE language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Human-centred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Premium residential development</a:t>
                      </a:r>
                    </a:p>
                    <a:p>
                      <a:pPr>
                        <a:lnSpc>
                          <a:spcPts val="1829"/>
                        </a:lnSpc>
                        <a:spcBef>
                          <a:spcPts val="0"/>
                        </a:spcBef>
                        <a:spcAft>
                          <a:spcPts val="0"/>
                        </a:spcAft>
                      </a:pPr>
                      <a:r>
                        <a:rPr sz="1550" b="0">
                          <a:solidFill>
                            <a:srgbClr val="183A32"/>
                          </a:solidFill>
                          <a:latin typeface="Arial"/>
                        </a:rPr>
                        <a:t>with comprehensive facilities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 neighbourhood designed around the everyday</a:t>
                      </a:r>
                    </a:p>
                    <a:p>
                      <a:pPr>
                        <a:lnSpc>
                          <a:spcPts val="1829"/>
                        </a:lnSpc>
                        <a:spcBef>
                          <a:spcPts val="0"/>
                        </a:spcBef>
                        <a:spcAft>
                          <a:spcPts val="0"/>
                        </a:spcAft>
                      </a:pPr>
                      <a:r>
                        <a:rPr sz="1550" b="0">
                          <a:solidFill>
                            <a:srgbClr val="183A32"/>
                          </a:solidFill>
                          <a:latin typeface="Arial"/>
                        </a:rPr>
                        <a:t>moments that matter</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Purposeful</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Strategically located commercial</a:t>
                      </a:r>
                    </a:p>
                    <a:p>
                      <a:pPr>
                        <a:lnSpc>
                          <a:spcPts val="1829"/>
                        </a:lnSpc>
                        <a:spcBef>
                          <a:spcPts val="0"/>
                        </a:spcBef>
                        <a:spcAft>
                          <a:spcPts val="0"/>
                        </a:spcAft>
                      </a:pPr>
                      <a:r>
                        <a:rPr sz="1550" b="0">
                          <a:solidFill>
                            <a:srgbClr val="183A32"/>
                          </a:solidFill>
                          <a:latin typeface="Arial"/>
                        </a:rPr>
                        <a:t>properties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Business spaces that bring people closer to opportunity</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Trustworthy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World-class quality guaranteed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Thoughtfully planned, clearly communicated, and</a:t>
                      </a:r>
                    </a:p>
                    <a:p>
                      <a:pPr>
                        <a:lnSpc>
                          <a:spcPts val="1829"/>
                        </a:lnSpc>
                        <a:spcBef>
                          <a:spcPts val="0"/>
                        </a:spcBef>
                        <a:spcAft>
                          <a:spcPts val="0"/>
                        </a:spcAft>
                      </a:pPr>
                      <a:r>
                        <a:rPr sz="1550" b="0">
                          <a:solidFill>
                            <a:srgbClr val="183A32"/>
                          </a:solidFill>
                          <a:latin typeface="Arial"/>
                        </a:rPr>
                        <a:t>responsibly delivered</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Progressive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Innovative integrated development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Connecting homes, businesses, and experiences to</a:t>
                      </a:r>
                    </a:p>
                    <a:p>
                      <a:pPr>
                        <a:lnSpc>
                          <a:spcPts val="1829"/>
                        </a:lnSpc>
                        <a:spcBef>
                          <a:spcPts val="0"/>
                        </a:spcBef>
                        <a:spcAft>
                          <a:spcPts val="0"/>
                        </a:spcAft>
                      </a:pPr>
                      <a:r>
                        <a:rPr sz="1550" b="0">
                          <a:solidFill>
                            <a:srgbClr val="183A32"/>
                          </a:solidFill>
                          <a:latin typeface="Arial"/>
                        </a:rPr>
                        <a:t>create new possibilities</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34–35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Speak With Confidence. Connect With Humanity.</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Principle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Conventional language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TANRISE language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Warm</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Providing exceptional customer</a:t>
                      </a:r>
                    </a:p>
                    <a:p>
                      <a:pPr>
                        <a:lnSpc>
                          <a:spcPts val="1829"/>
                        </a:lnSpc>
                        <a:spcBef>
                          <a:spcPts val="0"/>
                        </a:spcBef>
                        <a:spcAft>
                          <a:spcPts val="0"/>
                        </a:spcAft>
                      </a:pPr>
                      <a:r>
                        <a:rPr sz="1550" b="0">
                          <a:solidFill>
                            <a:srgbClr val="183A32"/>
                          </a:solidFill>
                          <a:latin typeface="Arial"/>
                        </a:rPr>
                        <a:t>service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Here to support you, from your first visit to the years that</a:t>
                      </a:r>
                    </a:p>
                    <a:p>
                      <a:pPr>
                        <a:lnSpc>
                          <a:spcPts val="1829"/>
                        </a:lnSpc>
                        <a:spcBef>
                          <a:spcPts val="0"/>
                        </a:spcBef>
                        <a:spcAft>
                          <a:spcPts val="0"/>
                        </a:spcAft>
                      </a:pPr>
                      <a:r>
                        <a:rPr sz="1550" b="0">
                          <a:solidFill>
                            <a:srgbClr val="183A32"/>
                          </a:solidFill>
                          <a:latin typeface="Arial"/>
                        </a:rPr>
                        <a:t>follow</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39432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CORPORATE VOICE</a:t>
            </a:r>
          </a:p>
        </p:txBody>
      </p:sp>
      <p:sp>
        <p:nvSpPr>
          <p:cNvPr id="13" name="TextBox 12"/>
          <p:cNvSpPr txBox="1"/>
          <p:nvPr/>
        </p:nvSpPr>
        <p:spPr>
          <a:xfrm>
            <a:off x="685800" y="371563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Confident, without boasting. Inspiring, without exaggeration. Warm and professional. Ambitious and grounded in</a:t>
            </a:r>
          </a:p>
          <a:p>
            <a:pPr>
              <a:lnSpc>
                <a:spcPts val="2196"/>
              </a:lnSpc>
              <a:spcBef>
                <a:spcPts val="0"/>
              </a:spcBef>
              <a:spcAft>
                <a:spcPts val="0"/>
              </a:spcAft>
            </a:pPr>
            <a:r>
              <a:rPr sz="1800" b="0" i="0">
                <a:solidFill>
                  <a:srgbClr val="183A32"/>
                </a:solidFill>
                <a:latin typeface="Times New Roman"/>
              </a:rPr>
              <a:t>evidence.</a:t>
            </a:r>
          </a:p>
        </p:txBody>
      </p:sp>
      <p:sp>
        <p:nvSpPr>
          <p:cNvPr id="14" name="TextBox 13"/>
          <p:cNvSpPr txBox="1"/>
          <p:nvPr/>
        </p:nvSpPr>
        <p:spPr>
          <a:xfrm>
            <a:off x="685800" y="44791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SUGGESTED CORPORATE NARRATIVE</a:t>
            </a:r>
          </a:p>
        </p:txBody>
      </p:sp>
      <p:sp>
        <p:nvSpPr>
          <p:cNvPr id="15" name="TextBox 14"/>
          <p:cNvSpPr txBox="1"/>
          <p:nvPr/>
        </p:nvSpPr>
        <p:spPr>
          <a:xfrm>
            <a:off x="685800" y="480047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Every place begins with a possibility.</a:t>
            </a:r>
          </a:p>
        </p:txBody>
      </p:sp>
      <p:sp>
        <p:nvSpPr>
          <p:cNvPr id="16" name="TextBox 15"/>
          <p:cNvSpPr txBox="1"/>
          <p:nvPr/>
        </p:nvSpPr>
        <p:spPr>
          <a:xfrm>
            <a:off x="685800" y="525767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place to call home. A space to grow a business. A destination to discover something new.</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34–35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Speak With Confidence. Connect With Humanity.</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At TANRISE, we believe thoughtful development can transform these possibilities into meaningful experiences.</a:t>
            </a:r>
          </a:p>
        </p:txBody>
      </p:sp>
      <p:sp>
        <p:nvSpPr>
          <p:cNvPr id="12" name="TextBox 11"/>
          <p:cNvSpPr txBox="1"/>
          <p:nvPr/>
        </p:nvSpPr>
        <p:spPr>
          <a:xfrm>
            <a:off x="685800" y="25420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Because what we build matters. What people can achieve within it matters even more.</a:t>
            </a:r>
          </a:p>
        </p:txBody>
      </p:sp>
      <p:sp>
        <p:nvSpPr>
          <p:cNvPr id="13" name="TextBox 12"/>
          <p:cNvSpPr txBox="1"/>
          <p:nvPr/>
        </p:nvSpPr>
        <p:spPr>
          <a:xfrm>
            <a:off x="685800" y="29992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Elevating Life.</a:t>
            </a:r>
          </a:p>
        </p:txBody>
      </p:sp>
      <p:sp>
        <p:nvSpPr>
          <p:cNvPr id="14" name="Rectangle 13"/>
          <p:cNvSpPr/>
          <p:nvPr/>
        </p:nvSpPr>
        <p:spPr>
          <a:xfrm>
            <a:off x="685800" y="3456432"/>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456432"/>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 y="3538727"/>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Communication rule: Clearly label existing facilities, ongoing works, future developments, and proposed concepts.</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35–36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Trust Is What People Experience.</a:t>
            </a:r>
          </a:p>
        </p:txBody>
      </p:sp>
      <p:sp>
        <p:nvSpPr>
          <p:cNvPr id="11" name="Rectangle 10"/>
          <p:cNvSpPr/>
          <p:nvPr/>
        </p:nvSpPr>
        <p:spPr>
          <a:xfrm>
            <a:off x="685800" y="2084831"/>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31136"/>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Listen</a:t>
            </a:r>
          </a:p>
        </p:txBody>
      </p:sp>
      <p:sp>
        <p:nvSpPr>
          <p:cNvPr id="13" name="TextBox 12"/>
          <p:cNvSpPr txBox="1"/>
          <p:nvPr/>
        </p:nvSpPr>
        <p:spPr>
          <a:xfrm>
            <a:off x="2733141"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4" name="Rectangle 13"/>
          <p:cNvSpPr/>
          <p:nvPr/>
        </p:nvSpPr>
        <p:spPr>
          <a:xfrm>
            <a:off x="2884017" y="2084831"/>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3745" y="2231136"/>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Design</a:t>
            </a:r>
          </a:p>
        </p:txBody>
      </p:sp>
      <p:sp>
        <p:nvSpPr>
          <p:cNvPr id="16" name="TextBox 15"/>
          <p:cNvSpPr txBox="1"/>
          <p:nvPr/>
        </p:nvSpPr>
        <p:spPr>
          <a:xfrm>
            <a:off x="4931359"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7" name="Rectangle 16"/>
          <p:cNvSpPr/>
          <p:nvPr/>
        </p:nvSpPr>
        <p:spPr>
          <a:xfrm>
            <a:off x="5082235" y="2084831"/>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1963" y="2231136"/>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Deliver</a:t>
            </a:r>
          </a:p>
        </p:txBody>
      </p:sp>
      <p:sp>
        <p:nvSpPr>
          <p:cNvPr id="19" name="TextBox 18"/>
          <p:cNvSpPr txBox="1"/>
          <p:nvPr/>
        </p:nvSpPr>
        <p:spPr>
          <a:xfrm>
            <a:off x="7129576"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0" name="Rectangle 19"/>
          <p:cNvSpPr/>
          <p:nvPr/>
        </p:nvSpPr>
        <p:spPr>
          <a:xfrm>
            <a:off x="7280452" y="2084831"/>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0180" y="2231136"/>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Care</a:t>
            </a:r>
          </a:p>
        </p:txBody>
      </p:sp>
      <p:sp>
        <p:nvSpPr>
          <p:cNvPr id="22" name="TextBox 21"/>
          <p:cNvSpPr txBox="1"/>
          <p:nvPr/>
        </p:nvSpPr>
        <p:spPr>
          <a:xfrm>
            <a:off x="9327794"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3" name="Rectangle 22"/>
          <p:cNvSpPr/>
          <p:nvPr/>
        </p:nvSpPr>
        <p:spPr>
          <a:xfrm>
            <a:off x="9478670" y="2084831"/>
            <a:ext cx="1997049" cy="73152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88398" y="2231136"/>
            <a:ext cx="1777593"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Improve</a:t>
            </a:r>
          </a:p>
        </p:txBody>
      </p:sp>
      <p:graphicFrame>
        <p:nvGraphicFramePr>
          <p:cNvPr id="25" name="Table 24"/>
          <p:cNvGraphicFramePr>
            <a:graphicFrameLocks noGrp="1"/>
          </p:cNvGraphicFramePr>
          <p:nvPr/>
        </p:nvGraphicFramePr>
        <p:xfrm>
          <a:off x="685800" y="2926079"/>
          <a:ext cx="10789919" cy="239953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Stage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Customer commitment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measurement</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Listen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Understand real needs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Research completion and customer insight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Design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Create relevant, useful concepts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Concept validation and feasibility approval</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Deliver</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Communicate and fulfil</a:t>
                      </a:r>
                    </a:p>
                    <a:p>
                      <a:pPr>
                        <a:lnSpc>
                          <a:spcPts val="1829"/>
                        </a:lnSpc>
                        <a:spcBef>
                          <a:spcPts val="0"/>
                        </a:spcBef>
                        <a:spcAft>
                          <a:spcPts val="0"/>
                        </a:spcAft>
                      </a:pPr>
                      <a:r>
                        <a:rPr sz="1550" b="0">
                          <a:solidFill>
                            <a:srgbClr val="183A32"/>
                          </a:solidFill>
                          <a:latin typeface="Arial"/>
                        </a:rPr>
                        <a:t>commitments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Timeliness, quality, and readiness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Care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Support continuing relationships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Resolution time, satisfaction, and retention</a:t>
                      </a:r>
                    </a:p>
                  </a:txBody>
                  <a:tcPr marL="109728" marR="109728" marT="82296" marB="0" anchor="t">
                    <a:solidFill>
                      <a:srgbClr val="E9E8DC"/>
                    </a:solidFill>
                    <a:lnL>
                      <a:noFill/>
                    </a:lnL>
                    <a:lnR>
                      <a:noFill/>
                    </a:lnR>
                    <a:lnT>
                      <a:noFill/>
                    </a:lnT>
                    <a:lnB>
                      <a:noFill/>
                    </a:lnB>
                  </a:tcPr>
                </a:tc>
              </a:tr>
            </a:tbl>
          </a:graphicData>
        </a:graphic>
      </p:graphicFrame>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35–36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Trust Is What People Experience.</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Stage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Customer commitment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measurement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Improve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Learn from feedback and</a:t>
                      </a:r>
                    </a:p>
                    <a:p>
                      <a:pPr>
                        <a:lnSpc>
                          <a:spcPts val="1829"/>
                        </a:lnSpc>
                        <a:spcBef>
                          <a:spcPts val="0"/>
                        </a:spcBef>
                        <a:spcAft>
                          <a:spcPts val="0"/>
                        </a:spcAft>
                      </a:pPr>
                      <a:r>
                        <a:rPr sz="1550" b="0">
                          <a:solidFill>
                            <a:srgbClr val="183A32"/>
                          </a:solidFill>
                          <a:latin typeface="Arial"/>
                        </a:rPr>
                        <a:t>performance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Recurring-issue reduction and completed improvements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39432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APPLY THE PHILOSOPHY BY ASSET TYPE</a:t>
            </a:r>
          </a:p>
        </p:txBody>
      </p:sp>
      <p:sp>
        <p:nvSpPr>
          <p:cNvPr id="13" name="Rectangle 12"/>
          <p:cNvSpPr/>
          <p:nvPr/>
        </p:nvSpPr>
        <p:spPr>
          <a:xfrm>
            <a:off x="685800" y="38070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37156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Integrated City: Infrastructure, public realm, resident communication, and destination coordination.</a:t>
            </a:r>
          </a:p>
        </p:txBody>
      </p:sp>
      <p:sp>
        <p:nvSpPr>
          <p:cNvPr id="15" name="Rectangle 14"/>
          <p:cNvSpPr/>
          <p:nvPr/>
        </p:nvSpPr>
        <p:spPr>
          <a:xfrm>
            <a:off x="685800" y="42565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1650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Community Living: Purchase, construction updates, handover, defects, and after-sales care.</a:t>
            </a:r>
          </a:p>
        </p:txBody>
      </p:sp>
      <p:sp>
        <p:nvSpPr>
          <p:cNvPr id="17" name="Rectangle 16"/>
          <p:cNvSpPr/>
          <p:nvPr/>
        </p:nvSpPr>
        <p:spPr>
          <a:xfrm>
            <a:off x="685800" y="470598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61454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Business Districts: Tenant onboarding, access, maintenance, and commercial support.</a:t>
            </a:r>
          </a:p>
        </p:txBody>
      </p:sp>
      <p:sp>
        <p:nvSpPr>
          <p:cNvPr id="19" name="Rectangle 18"/>
          <p:cNvSpPr/>
          <p:nvPr/>
        </p:nvSpPr>
        <p:spPr>
          <a:xfrm>
            <a:off x="685800" y="515543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506399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Logistic &amp; Industrial Park: Occupier readiness, infrastructure reliability, and operating support.</a:t>
            </a:r>
          </a:p>
        </p:txBody>
      </p:sp>
      <p:sp>
        <p:nvSpPr>
          <p:cNvPr id="21" name="Rectangle 20"/>
          <p:cNvSpPr/>
          <p:nvPr/>
        </p:nvSpPr>
        <p:spPr>
          <a:xfrm>
            <a:off x="685800" y="560489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551345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MICE, and Leisure: Guest experience and asset performance coordinated with the relevant operator.</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33.3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35–36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088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Trust Is What People Experience.</a:t>
            </a:r>
          </a:p>
        </p:txBody>
      </p:sp>
      <p:sp>
        <p:nvSpPr>
          <p:cNvPr id="11" name="TextBox 10"/>
          <p:cNvSpPr txBox="1"/>
          <p:nvPr/>
        </p:nvSpPr>
        <p:spPr>
          <a:xfrm>
            <a:off x="6400800" y="2514600"/>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1">
                <a:solidFill>
                  <a:srgbClr val="183A32"/>
                </a:solidFill>
                <a:latin typeface="Times New Roman"/>
              </a:rPr>
              <a:t>Recommendation: Establish shared</a:t>
            </a:r>
          </a:p>
          <a:p>
            <a:pPr>
              <a:lnSpc>
                <a:spcPts val="2440"/>
              </a:lnSpc>
              <a:spcBef>
                <a:spcPts val="0"/>
              </a:spcBef>
              <a:spcAft>
                <a:spcPts val="0"/>
              </a:spcAft>
            </a:pPr>
            <a:r>
              <a:rPr sz="2000" b="0" i="1">
                <a:solidFill>
                  <a:srgbClr val="183A32"/>
                </a:solidFill>
                <a:latin typeface="Times New Roman"/>
              </a:rPr>
              <a:t>customer-experience principles with clear</a:t>
            </a:r>
          </a:p>
          <a:p>
            <a:pPr>
              <a:lnSpc>
                <a:spcPts val="2440"/>
              </a:lnSpc>
              <a:spcBef>
                <a:spcPts val="0"/>
              </a:spcBef>
              <a:spcAft>
                <a:spcPts val="0"/>
              </a:spcAft>
            </a:pPr>
            <a:r>
              <a:rPr sz="2000" b="0" i="1">
                <a:solidFill>
                  <a:srgbClr val="183A32"/>
                </a:solidFill>
                <a:latin typeface="Times New Roman"/>
              </a:rPr>
              <a:t>responsibilities between TANRISE, subsidiaries,</a:t>
            </a:r>
          </a:p>
          <a:p>
            <a:pPr>
              <a:lnSpc>
                <a:spcPts val="2440"/>
              </a:lnSpc>
              <a:spcBef>
                <a:spcPts val="0"/>
              </a:spcBef>
              <a:spcAft>
                <a:spcPts val="0"/>
              </a:spcAft>
            </a:pPr>
            <a:r>
              <a:rPr sz="2000" b="0" i="1">
                <a:solidFill>
                  <a:srgbClr val="183A32"/>
                </a:solidFill>
                <a:latin typeface="Times New Roman"/>
              </a:rPr>
              <a:t>estate managers, TANLY, and other partners.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CHAPTER 06</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089</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06</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Business transformation strategy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36–37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090</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Strengthen Existing Income Engines. Develop Additional</a:t>
            </a:r>
          </a:p>
          <a:p>
            <a:pPr>
              <a:lnSpc>
                <a:spcPts val="3502"/>
              </a:lnSpc>
              <a:spcBef>
                <a:spcPts val="0"/>
              </a:spcBef>
              <a:spcAft>
                <a:spcPts val="0"/>
              </a:spcAft>
            </a:pPr>
            <a:r>
              <a:rPr sz="3100" b="0" i="0">
                <a:solidFill>
                  <a:srgbClr val="153F35"/>
                </a:solidFill>
                <a:latin typeface="Arial"/>
              </a:rPr>
              <a:t>Sources Selectively.</a:t>
            </a:r>
          </a:p>
        </p:txBody>
      </p:sp>
      <p:sp>
        <p:nvSpPr>
          <p:cNvPr id="11" name="TextBox 10"/>
          <p:cNvSpPr txBox="1"/>
          <p:nvPr/>
        </p:nvSpPr>
        <p:spPr>
          <a:xfrm>
            <a:off x="685800" y="216992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already reports development and recurring-income activities.</a:t>
            </a:r>
          </a:p>
        </p:txBody>
      </p:sp>
      <p:sp>
        <p:nvSpPr>
          <p:cNvPr id="12" name="TextBox 11"/>
          <p:cNvSpPr txBox="1"/>
          <p:nvPr/>
        </p:nvSpPr>
        <p:spPr>
          <a:xfrm>
            <a:off x="685800" y="26545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INCOME CATEGORIES</a:t>
            </a:r>
          </a:p>
        </p:txBody>
      </p:sp>
      <p:sp>
        <p:nvSpPr>
          <p:cNvPr id="13" name="TextBox 12"/>
          <p:cNvSpPr txBox="1"/>
          <p:nvPr/>
        </p:nvSpPr>
        <p:spPr>
          <a:xfrm>
            <a:off x="685800" y="300329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DEVELOPMENT</a:t>
            </a:r>
          </a:p>
        </p:txBody>
      </p:sp>
      <p:sp>
        <p:nvSpPr>
          <p:cNvPr id="14" name="Rectangle 13"/>
          <p:cNvSpPr/>
          <p:nvPr/>
        </p:nvSpPr>
        <p:spPr>
          <a:xfrm>
            <a:off x="685800" y="341604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32460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Apartments and condotels.</a:t>
            </a:r>
          </a:p>
        </p:txBody>
      </p:sp>
      <p:sp>
        <p:nvSpPr>
          <p:cNvPr id="16" name="Rectangle 15"/>
          <p:cNvSpPr/>
          <p:nvPr/>
        </p:nvSpPr>
        <p:spPr>
          <a:xfrm>
            <a:off x="685800" y="386549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77405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Warehouses and shophouses.</a:t>
            </a:r>
          </a:p>
        </p:txBody>
      </p:sp>
      <p:sp>
        <p:nvSpPr>
          <p:cNvPr id="18" name="Rectangle 17"/>
          <p:cNvSpPr/>
          <p:nvPr/>
        </p:nvSpPr>
        <p:spPr>
          <a:xfrm>
            <a:off x="685800" y="431495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2351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Houses and townhouses.</a:t>
            </a:r>
          </a:p>
        </p:txBody>
      </p:sp>
      <p:sp>
        <p:nvSpPr>
          <p:cNvPr id="20" name="Rectangle 19"/>
          <p:cNvSpPr/>
          <p:nvPr/>
        </p:nvSpPr>
        <p:spPr>
          <a:xfrm>
            <a:off x="685800" y="47644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67296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Land.</a:t>
            </a:r>
          </a:p>
        </p:txBody>
      </p:sp>
      <p:sp>
        <p:nvSpPr>
          <p:cNvPr id="22" name="TextBox 21"/>
          <p:cNvSpPr txBox="1"/>
          <p:nvPr/>
        </p:nvSpPr>
        <p:spPr>
          <a:xfrm>
            <a:off x="685800" y="5149850"/>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RECURRING</a:t>
            </a:r>
          </a:p>
        </p:txBody>
      </p:sp>
      <p:sp>
        <p:nvSpPr>
          <p:cNvPr id="23" name="Rectangle 22"/>
          <p:cNvSpPr/>
          <p:nvPr/>
        </p:nvSpPr>
        <p:spPr>
          <a:xfrm>
            <a:off x="685800" y="556260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47116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operations.</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36–37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Strengthen Existing Income Engines. Develop Additional</a:t>
            </a:r>
          </a:p>
          <a:p>
            <a:pPr>
              <a:lnSpc>
                <a:spcPts val="3502"/>
              </a:lnSpc>
              <a:spcBef>
                <a:spcPts val="0"/>
              </a:spcBef>
              <a:spcAft>
                <a:spcPts val="0"/>
              </a:spcAft>
            </a:pPr>
            <a:r>
              <a:rPr sz="3100" b="0" i="0">
                <a:solidFill>
                  <a:srgbClr val="153F35"/>
                </a:solidFill>
                <a:latin typeface="Arial"/>
              </a:rPr>
              <a:t>Sources Selectively.</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Rental of warehouses and shophouses.</a:t>
            </a:r>
          </a:p>
        </p:txBody>
      </p:sp>
      <p:sp>
        <p:nvSpPr>
          <p:cNvPr id="13" name="TextBox 12"/>
          <p:cNvSpPr txBox="1"/>
          <p:nvPr/>
        </p:nvSpPr>
        <p:spPr>
          <a:xfrm>
            <a:off x="685800" y="264680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EXPANSION OF VALUE CREATION</a:t>
            </a:r>
          </a:p>
        </p:txBody>
      </p:sp>
      <p:graphicFrame>
        <p:nvGraphicFramePr>
          <p:cNvPr id="14" name="Table 13"/>
          <p:cNvGraphicFramePr>
            <a:graphicFrameLocks noGrp="1"/>
          </p:cNvGraphicFramePr>
          <p:nvPr/>
        </p:nvGraphicFramePr>
        <p:xfrm>
          <a:off x="685800" y="2968117"/>
          <a:ext cx="10789919" cy="2864099"/>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Value engine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Potential activities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Development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Continue relevant property development and sales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Asset Income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Improve leasing, retained commercial assets, and selected hospitality</a:t>
                      </a:r>
                    </a:p>
                    <a:p>
                      <a:pPr>
                        <a:lnSpc>
                          <a:spcPts val="1829"/>
                        </a:lnSpc>
                        <a:spcBef>
                          <a:spcPts val="0"/>
                        </a:spcBef>
                        <a:spcAft>
                          <a:spcPts val="0"/>
                        </a:spcAft>
                      </a:pPr>
                      <a:r>
                        <a:rPr sz="1550" b="0">
                          <a:solidFill>
                            <a:srgbClr val="183A32"/>
                          </a:solidFill>
                          <a:latin typeface="Arial"/>
                        </a:rPr>
                        <a:t>investments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Operations &amp; Services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Evaluate estate management, facilities, destination operations, and suitable</a:t>
                      </a:r>
                    </a:p>
                    <a:p>
                      <a:pPr>
                        <a:lnSpc>
                          <a:spcPts val="1829"/>
                        </a:lnSpc>
                        <a:spcBef>
                          <a:spcPts val="0"/>
                        </a:spcBef>
                        <a:spcAft>
                          <a:spcPts val="0"/>
                        </a:spcAft>
                      </a:pPr>
                      <a:r>
                        <a:rPr sz="1550" b="0">
                          <a:solidFill>
                            <a:srgbClr val="183A32"/>
                          </a:solidFill>
                          <a:latin typeface="Arial"/>
                        </a:rPr>
                        <a:t>memberships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Partnerships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joint ventures, anchor tenants, institutional partnerships, and management</a:t>
                      </a:r>
                    </a:p>
                    <a:p>
                      <a:pPr>
                        <a:lnSpc>
                          <a:spcPts val="1829"/>
                        </a:lnSpc>
                        <a:spcBef>
                          <a:spcPts val="0"/>
                        </a:spcBef>
                        <a:spcAft>
                          <a:spcPts val="0"/>
                        </a:spcAft>
                      </a:pPr>
                      <a:r>
                        <a:rPr sz="1550" b="0">
                          <a:solidFill>
                            <a:srgbClr val="183A32"/>
                          </a:solidFill>
                          <a:latin typeface="Arial"/>
                        </a:rPr>
                        <a:t>arrangements</a:t>
                      </a:r>
                    </a:p>
                  </a:txBody>
                  <a:tcPr marL="109728" marR="109728" marT="82296" marB="0" anchor="t">
                    <a:solidFill>
                      <a:srgbClr val="E9E8DC"/>
                    </a:solidFill>
                    <a:lnL>
                      <a:noFill/>
                    </a:lnL>
                    <a:lnR>
                      <a:noFill/>
                    </a:lnR>
                    <a:lnT>
                      <a:noFill/>
                    </a:lnT>
                    <a:lnB>
                      <a:noFill/>
                    </a:lnB>
                  </a:tcPr>
                </a:tc>
              </a:tr>
            </a:tbl>
          </a:graphicData>
        </a:graphic>
      </p:graphicFrame>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36–37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092</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Strengthen Existing Income Engines. Develop Additional</a:t>
            </a:r>
          </a:p>
          <a:p>
            <a:pPr>
              <a:lnSpc>
                <a:spcPts val="3502"/>
              </a:lnSpc>
              <a:spcBef>
                <a:spcPts val="0"/>
              </a:spcBef>
              <a:spcAft>
                <a:spcPts val="0"/>
              </a:spcAft>
            </a:pPr>
            <a:r>
              <a:rPr sz="3100" b="0" i="0">
                <a:solidFill>
                  <a:srgbClr val="153F35"/>
                </a:solidFill>
                <a:latin typeface="Arial"/>
              </a:rPr>
              <a:t>Sources Selectively.</a:t>
            </a:r>
          </a:p>
        </p:txBody>
      </p:sp>
      <p:sp>
        <p:nvSpPr>
          <p:cNvPr id="11" name="TextBox 10"/>
          <p:cNvSpPr txBox="1"/>
          <p:nvPr/>
        </p:nvSpPr>
        <p:spPr>
          <a:xfrm>
            <a:off x="685800" y="216992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Examples include the commercial portfolio, retained hospitality assets, Taman Dayu leisure components, and</a:t>
            </a:r>
          </a:p>
          <a:p>
            <a:pPr>
              <a:lnSpc>
                <a:spcPts val="2196"/>
              </a:lnSpc>
              <a:spcBef>
                <a:spcPts val="0"/>
              </a:spcBef>
              <a:spcAft>
                <a:spcPts val="0"/>
              </a:spcAft>
            </a:pPr>
            <a:r>
              <a:rPr sz="1800" b="0" i="0">
                <a:solidFill>
                  <a:srgbClr val="183A32"/>
                </a:solidFill>
                <a:latin typeface="Times New Roman"/>
              </a:rPr>
              <a:t>selected industrial developments.</a:t>
            </a:r>
          </a:p>
        </p:txBody>
      </p:sp>
      <p:sp>
        <p:nvSpPr>
          <p:cNvPr id="12" name="Rectangle 11"/>
          <p:cNvSpPr/>
          <p:nvPr/>
        </p:nvSpPr>
        <p:spPr>
          <a:xfrm>
            <a:off x="685800" y="2906014"/>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906014"/>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2988309"/>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Strategic principle: Choose ownership and operating arrangements according to risk, return, capital requirements, and</a:t>
            </a:r>
          </a:p>
          <a:p>
            <a:pPr>
              <a:lnSpc>
                <a:spcPts val="2013"/>
              </a:lnSpc>
              <a:spcBef>
                <a:spcPts val="0"/>
              </a:spcBef>
              <a:spcAft>
                <a:spcPts val="0"/>
              </a:spcAft>
            </a:pPr>
            <a:r>
              <a:rPr sz="1650" b="0" i="0">
                <a:solidFill>
                  <a:srgbClr val="183A32"/>
                </a:solidFill>
                <a:latin typeface="Times New Roman"/>
              </a:rPr>
              <a:t>capability.</a:t>
            </a:r>
          </a:p>
        </p:txBody>
      </p:sp>
      <p:sp>
        <p:nvSpPr>
          <p:cNvPr id="15" name="Rectangle 14"/>
          <p:cNvSpPr/>
          <p:nvPr/>
        </p:nvSpPr>
        <p:spPr>
          <a:xfrm>
            <a:off x="685800" y="3732403"/>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732403"/>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3814699"/>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Proposed fees, memberships, and service businesses require feasibility assessment before being presented as</a:t>
            </a:r>
          </a:p>
          <a:p>
            <a:pPr>
              <a:lnSpc>
                <a:spcPts val="2013"/>
              </a:lnSpc>
              <a:spcBef>
                <a:spcPts val="0"/>
              </a:spcBef>
              <a:spcAft>
                <a:spcPts val="0"/>
              </a:spcAft>
            </a:pPr>
            <a:r>
              <a:rPr sz="1650" b="0" i="0">
                <a:solidFill>
                  <a:srgbClr val="183A32"/>
                </a:solidFill>
                <a:latin typeface="Times New Roman"/>
              </a:rPr>
              <a:t>established material income streams.</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37–39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One Corporate Strategy. Asset-Specific Growth Engines.</a:t>
            </a:r>
          </a:p>
        </p:txBody>
      </p:sp>
      <p:graphicFrame>
        <p:nvGraphicFramePr>
          <p:cNvPr id="11" name="Table 10"/>
          <p:cNvGraphicFramePr>
            <a:graphicFrameLocks noGrp="1"/>
          </p:cNvGraphicFramePr>
          <p:nvPr/>
        </p:nvGraphicFramePr>
        <p:xfrm>
          <a:off x="685800" y="2084831"/>
          <a:ext cx="10789919" cy="312749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Business pillar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Portfolio application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priority</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Integrated City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Taman Dayu; Bandung; City</a:t>
                      </a:r>
                    </a:p>
                    <a:p>
                      <a:pPr>
                        <a:lnSpc>
                          <a:spcPts val="1829"/>
                        </a:lnSpc>
                        <a:spcBef>
                          <a:spcPts val="0"/>
                        </a:spcBef>
                        <a:spcAft>
                          <a:spcPts val="0"/>
                        </a:spcAft>
                      </a:pPr>
                      <a:r>
                        <a:rPr sz="1550" b="0">
                          <a:solidFill>
                            <a:srgbClr val="183A32"/>
                          </a:solidFill>
                          <a:latin typeface="Arial"/>
                        </a:rPr>
                        <a:t>Sidoarjo; Swiss of Taman Dayu</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Coordinate masterplanning, infrastructure, phasing,</a:t>
                      </a:r>
                    </a:p>
                    <a:p>
                      <a:pPr>
                        <a:lnSpc>
                          <a:spcPts val="1829"/>
                        </a:lnSpc>
                        <a:spcBef>
                          <a:spcPts val="0"/>
                        </a:spcBef>
                        <a:spcAft>
                          <a:spcPts val="0"/>
                        </a:spcAft>
                      </a:pPr>
                      <a:r>
                        <a:rPr sz="1550" b="0">
                          <a:solidFill>
                            <a:srgbClr val="183A32"/>
                          </a:solidFill>
                          <a:latin typeface="Arial"/>
                        </a:rPr>
                        <a:t>anchors, and long-term place value</a:t>
                      </a:r>
                    </a:p>
                  </a:txBody>
                  <a:tcPr marL="109728" marR="109728" marT="82296" marB="0" anchor="t">
                    <a:solidFill>
                      <a:srgbClr val="F6F2E9"/>
                    </a:solidFill>
                    <a:lnL>
                      <a:noFill/>
                    </a:lnL>
                    <a:lnR>
                      <a:noFill/>
                    </a:lnR>
                    <a:lnT>
                      <a:noFill/>
                    </a:lnT>
                    <a:lnB>
                      <a:noFill/>
                    </a:lnB>
                  </a:tcPr>
                </a:tc>
              </a:tr>
              <a:tr h="1130299">
                <a:tc>
                  <a:txBody>
                    <a:bodyPr wrap="none"/>
                    <a:lstStyle/>
                    <a:p>
                      <a:pPr>
                        <a:lnSpc>
                          <a:spcPts val="1829"/>
                        </a:lnSpc>
                        <a:spcBef>
                          <a:spcPts val="0"/>
                        </a:spcBef>
                        <a:spcAft>
                          <a:spcPts val="0"/>
                        </a:spcAft>
                      </a:pPr>
                      <a:r>
                        <a:rPr sz="1550" b="0">
                          <a:solidFill>
                            <a:srgbClr val="183A32"/>
                          </a:solidFill>
                          <a:latin typeface="Arial"/>
                        </a:rPr>
                        <a:t>Community Living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Kyo Society; Grand Sunrise</a:t>
                      </a:r>
                    </a:p>
                    <a:p>
                      <a:pPr>
                        <a:lnSpc>
                          <a:spcPts val="1829"/>
                        </a:lnSpc>
                        <a:spcBef>
                          <a:spcPts val="0"/>
                        </a:spcBef>
                        <a:spcAft>
                          <a:spcPts val="0"/>
                        </a:spcAft>
                      </a:pPr>
                      <a:r>
                        <a:rPr sz="1550" b="0">
                          <a:solidFill>
                            <a:srgbClr val="183A32"/>
                          </a:solidFill>
                          <a:latin typeface="Arial"/>
                        </a:rPr>
                        <a:t>Menganti; Sidoarjo and Malang</a:t>
                      </a:r>
                    </a:p>
                    <a:p>
                      <a:pPr>
                        <a:lnSpc>
                          <a:spcPts val="1829"/>
                        </a:lnSpc>
                        <a:spcBef>
                          <a:spcPts val="0"/>
                        </a:spcBef>
                        <a:spcAft>
                          <a:spcPts val="0"/>
                        </a:spcAft>
                      </a:pPr>
                      <a:r>
                        <a:rPr sz="1550" b="0">
                          <a:solidFill>
                            <a:srgbClr val="183A32"/>
                          </a:solidFill>
                          <a:latin typeface="Arial"/>
                        </a:rPr>
                        <a:t>residential projects; ARC100</a:t>
                      </a:r>
                    </a:p>
                    <a:p>
                      <a:pPr>
                        <a:lnSpc>
                          <a:spcPts val="1829"/>
                        </a:lnSpc>
                        <a:spcBef>
                          <a:spcPts val="0"/>
                        </a:spcBef>
                        <a:spcAft>
                          <a:spcPts val="0"/>
                        </a:spcAft>
                      </a:pPr>
                      <a:r>
                        <a:rPr sz="1550" b="0">
                          <a:solidFill>
                            <a:srgbClr val="183A32"/>
                          </a:solidFill>
                          <a:latin typeface="Arial"/>
                        </a:rPr>
                        <a:t>portfolio reference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Match products to demand, clarify naming, improve</a:t>
                      </a:r>
                    </a:p>
                    <a:p>
                      <a:pPr>
                        <a:lnSpc>
                          <a:spcPts val="1829"/>
                        </a:lnSpc>
                        <a:spcBef>
                          <a:spcPts val="0"/>
                        </a:spcBef>
                        <a:spcAft>
                          <a:spcPts val="0"/>
                        </a:spcAft>
                      </a:pPr>
                      <a:r>
                        <a:rPr sz="1550" b="0">
                          <a:solidFill>
                            <a:srgbClr val="183A32"/>
                          </a:solidFill>
                          <a:latin typeface="Arial"/>
                        </a:rPr>
                        <a:t>absorption, delivery, and customer care</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Business Districts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Voza Tower; Rame-Rame; Grand</a:t>
                      </a:r>
                    </a:p>
                    <a:p>
                      <a:pPr>
                        <a:lnSpc>
                          <a:spcPts val="1829"/>
                        </a:lnSpc>
                        <a:spcBef>
                          <a:spcPts val="0"/>
                        </a:spcBef>
                        <a:spcAft>
                          <a:spcPts val="0"/>
                        </a:spcAft>
                      </a:pPr>
                      <a:r>
                        <a:rPr sz="1550" b="0">
                          <a:solidFill>
                            <a:srgbClr val="183A32"/>
                          </a:solidFill>
                          <a:latin typeface="Arial"/>
                        </a:rPr>
                        <a:t>Central Bandung; Midpoint</a:t>
                      </a:r>
                    </a:p>
                    <a:p>
                      <a:pPr>
                        <a:lnSpc>
                          <a:spcPts val="1829"/>
                        </a:lnSpc>
                        <a:spcBef>
                          <a:spcPts val="0"/>
                        </a:spcBef>
                        <a:spcAft>
                          <a:spcPts val="0"/>
                        </a:spcAft>
                      </a:pPr>
                      <a:r>
                        <a:rPr sz="1550" b="0">
                          <a:solidFill>
                            <a:srgbClr val="183A32"/>
                          </a:solidFill>
                          <a:latin typeface="Arial"/>
                        </a:rPr>
                        <a:t>Kayoon; Bali Bites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Improve commercial relevance, occupancy, tenant mix,</a:t>
                      </a:r>
                    </a:p>
                    <a:p>
                      <a:pPr>
                        <a:lnSpc>
                          <a:spcPts val="1829"/>
                        </a:lnSpc>
                        <a:spcBef>
                          <a:spcPts val="0"/>
                        </a:spcBef>
                        <a:spcAft>
                          <a:spcPts val="0"/>
                        </a:spcAft>
                      </a:pPr>
                      <a:r>
                        <a:rPr sz="1550" b="0">
                          <a:solidFill>
                            <a:srgbClr val="183A32"/>
                          </a:solidFill>
                          <a:latin typeface="Arial"/>
                        </a:rPr>
                        <a:t>visitation, and asset utilisation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37–39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One Corporate Strategy. Asset-Specific Growth Engines.</a:t>
            </a:r>
          </a:p>
        </p:txBody>
      </p:sp>
      <p:graphicFrame>
        <p:nvGraphicFramePr>
          <p:cNvPr id="11" name="Table 10"/>
          <p:cNvGraphicFramePr>
            <a:graphicFrameLocks noGrp="1"/>
          </p:cNvGraphicFramePr>
          <p:nvPr/>
        </p:nvGraphicFramePr>
        <p:xfrm>
          <a:off x="685800" y="2084831"/>
          <a:ext cx="10789919" cy="1764916"/>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Business pillar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Portfolio application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priority</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Logistic &amp; Industrial</a:t>
                      </a:r>
                    </a:p>
                    <a:p>
                      <a:pPr>
                        <a:lnSpc>
                          <a:spcPts val="1829"/>
                        </a:lnSpc>
                        <a:spcBef>
                          <a:spcPts val="0"/>
                        </a:spcBef>
                        <a:spcAft>
                          <a:spcPts val="0"/>
                        </a:spcAft>
                      </a:pPr>
                      <a:r>
                        <a:rPr sz="1550" b="0">
                          <a:solidFill>
                            <a:srgbClr val="183A32"/>
                          </a:solidFill>
                          <a:latin typeface="Arial"/>
                        </a:rPr>
                        <a:t>Park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Tritan assets; Gresik;</a:t>
                      </a:r>
                    </a:p>
                    <a:p>
                      <a:pPr>
                        <a:lnSpc>
                          <a:spcPts val="1829"/>
                        </a:lnSpc>
                        <a:spcBef>
                          <a:spcPts val="0"/>
                        </a:spcBef>
                        <a:spcAft>
                          <a:spcPts val="0"/>
                        </a:spcAft>
                      </a:pPr>
                      <a:r>
                        <a:rPr sz="1550" b="0">
                          <a:solidFill>
                            <a:srgbClr val="183A32"/>
                          </a:solidFill>
                          <a:latin typeface="Arial"/>
                        </a:rPr>
                        <a:t>Gempol; Palembang; Banjarbaru</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Deliver suitable infrastructure, occupier readiness,</a:t>
                      </a:r>
                    </a:p>
                    <a:p>
                      <a:pPr>
                        <a:lnSpc>
                          <a:spcPts val="1829"/>
                        </a:lnSpc>
                        <a:spcBef>
                          <a:spcPts val="0"/>
                        </a:spcBef>
                        <a:spcAft>
                          <a:spcPts val="0"/>
                        </a:spcAft>
                      </a:pPr>
                      <a:r>
                        <a:rPr sz="1550" b="0">
                          <a:solidFill>
                            <a:srgbClr val="183A32"/>
                          </a:solidFill>
                          <a:latin typeface="Arial"/>
                        </a:rPr>
                        <a:t>connectivity, and phased development</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Hotel, MICE, and</a:t>
                      </a:r>
                    </a:p>
                    <a:p>
                      <a:pPr>
                        <a:lnSpc>
                          <a:spcPts val="1829"/>
                        </a:lnSpc>
                        <a:spcBef>
                          <a:spcPts val="0"/>
                        </a:spcBef>
                        <a:spcAft>
                          <a:spcPts val="0"/>
                        </a:spcAft>
                      </a:pPr>
                      <a:r>
                        <a:rPr sz="1550" b="0">
                          <a:solidFill>
                            <a:srgbClr val="183A32"/>
                          </a:solidFill>
                          <a:latin typeface="Arial"/>
                        </a:rPr>
                        <a:t>Leisure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VASA; Cleo; Solaris; golf; Driving</a:t>
                      </a:r>
                    </a:p>
                    <a:p>
                      <a:pPr>
                        <a:lnSpc>
                          <a:spcPts val="1829"/>
                        </a:lnSpc>
                        <a:spcBef>
                          <a:spcPts val="0"/>
                        </a:spcBef>
                        <a:spcAft>
                          <a:spcPts val="0"/>
                        </a:spcAft>
                      </a:pPr>
                      <a:r>
                        <a:rPr sz="1550" b="0">
                          <a:solidFill>
                            <a:srgbClr val="183A32"/>
                          </a:solidFill>
                          <a:latin typeface="Arial"/>
                        </a:rPr>
                        <a:t>Range; hospitality pipeline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Improve operating performance and coordinate</a:t>
                      </a:r>
                    </a:p>
                    <a:p>
                      <a:pPr>
                        <a:lnSpc>
                          <a:spcPts val="1829"/>
                        </a:lnSpc>
                        <a:spcBef>
                          <a:spcPts val="0"/>
                        </a:spcBef>
                        <a:spcAft>
                          <a:spcPts val="0"/>
                        </a:spcAft>
                      </a:pPr>
                      <a:r>
                        <a:rPr sz="1550" b="0">
                          <a:solidFill>
                            <a:srgbClr val="183A32"/>
                          </a:solidFill>
                          <a:latin typeface="Arial"/>
                        </a:rPr>
                        <a:t>investment with management capability</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40600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KPI PRINCIPLE</a:t>
            </a:r>
          </a:p>
        </p:txBody>
      </p:sp>
      <p:sp>
        <p:nvSpPr>
          <p:cNvPr id="13" name="TextBox 12"/>
          <p:cNvSpPr txBox="1"/>
          <p:nvPr/>
        </p:nvSpPr>
        <p:spPr>
          <a:xfrm>
            <a:off x="685800" y="438137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Each pillar needs its own commercial measures, supported by a consolidated corporate scorecard.</a:t>
            </a:r>
          </a:p>
        </p:txBody>
      </p:sp>
      <p:sp>
        <p:nvSpPr>
          <p:cNvPr id="14" name="TextBox 13"/>
          <p:cNvSpPr txBox="1"/>
          <p:nvPr/>
        </p:nvSpPr>
        <p:spPr>
          <a:xfrm>
            <a:off x="685800" y="483857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Distinguish:</a:t>
            </a:r>
          </a:p>
        </p:txBody>
      </p:sp>
      <p:sp>
        <p:nvSpPr>
          <p:cNvPr id="15" name="Rectangle 14"/>
          <p:cNvSpPr/>
          <p:nvPr/>
        </p:nvSpPr>
        <p:spPr>
          <a:xfrm>
            <a:off x="685800" y="53872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529577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Development sales and recognised revenue.</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35.3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37–39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One Corporate Strategy. Asset-Specific Growth Engines.</a:t>
            </a:r>
          </a:p>
        </p:txBody>
      </p:sp>
      <p:sp>
        <p:nvSpPr>
          <p:cNvPr id="11" name="TextBox 10"/>
          <p:cNvSpPr txBox="1"/>
          <p:nvPr/>
        </p:nvSpPr>
        <p:spPr>
          <a:xfrm>
            <a:off x="6400800" y="2514600"/>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Operating income and cash flow.</a:t>
            </a:r>
          </a:p>
        </p:txBody>
      </p:sp>
      <p:sp>
        <p:nvSpPr>
          <p:cNvPr id="12" name="TextBox 11"/>
          <p:cNvSpPr txBox="1"/>
          <p:nvPr/>
        </p:nvSpPr>
        <p:spPr>
          <a:xfrm>
            <a:off x="6400800" y="3066796"/>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Utilisation and customer demand.</a:t>
            </a:r>
          </a:p>
        </p:txBody>
      </p:sp>
      <p:sp>
        <p:nvSpPr>
          <p:cNvPr id="13" name="TextBox 12"/>
          <p:cNvSpPr txBox="1"/>
          <p:nvPr/>
        </p:nvSpPr>
        <p:spPr>
          <a:xfrm>
            <a:off x="6400800" y="3618992"/>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Capital employed and investment returns.</a:t>
            </a:r>
          </a:p>
        </p:txBody>
      </p:sp>
      <p:sp>
        <p:nvSpPr>
          <p:cNvPr id="14" name="TextBox 13"/>
          <p:cNvSpPr txBox="1"/>
          <p:nvPr/>
        </p:nvSpPr>
        <p:spPr>
          <a:xfrm>
            <a:off x="6400800" y="4171188"/>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Customer and partner experience.</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39–40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Use the Existing Portfolio and Pipeline to Demonstrate the</a:t>
            </a:r>
          </a:p>
          <a:p>
            <a:pPr>
              <a:lnSpc>
                <a:spcPts val="3502"/>
              </a:lnSpc>
              <a:spcBef>
                <a:spcPts val="0"/>
              </a:spcBef>
              <a:spcAft>
                <a:spcPts val="0"/>
              </a:spcAft>
            </a:pPr>
            <a:r>
              <a:rPr sz="3100" b="0" i="0">
                <a:solidFill>
                  <a:srgbClr val="153F35"/>
                </a:solidFill>
                <a:latin typeface="Arial"/>
              </a:rPr>
              <a:t>Strategy.</a:t>
            </a:r>
          </a:p>
        </p:txBody>
      </p:sp>
      <p:cxnSp>
        <p:nvCxnSpPr>
          <p:cNvPr id="11" name="Connector 10"/>
          <p:cNvCxnSpPr/>
          <p:nvPr/>
        </p:nvCxnSpPr>
        <p:spPr>
          <a:xfrm>
            <a:off x="6062472" y="2169921"/>
            <a:ext cx="0" cy="3136774"/>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16992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Taman Dayu — Sport, Leisure, and</a:t>
            </a:r>
          </a:p>
          <a:p>
            <a:pPr>
              <a:lnSpc>
                <a:spcPts val="2135"/>
              </a:lnSpc>
              <a:spcBef>
                <a:spcPts val="0"/>
              </a:spcBef>
              <a:spcAft>
                <a:spcPts val="0"/>
              </a:spcAft>
            </a:pPr>
            <a:r>
              <a:rPr sz="1750" b="0" i="0">
                <a:solidFill>
                  <a:srgbClr val="183A32"/>
                </a:solidFill>
                <a:latin typeface="Arial"/>
              </a:rPr>
              <a:t>Destination Value</a:t>
            </a:r>
          </a:p>
        </p:txBody>
      </p:sp>
      <p:sp>
        <p:nvSpPr>
          <p:cNvPr id="14" name="TextBox 13"/>
          <p:cNvSpPr txBox="1"/>
          <p:nvPr/>
        </p:nvSpPr>
        <p:spPr>
          <a:xfrm>
            <a:off x="685800" y="289051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Coordinate Tanrise Taman Dayu Pandaan, Golf Taman</a:t>
            </a:r>
          </a:p>
          <a:p>
            <a:pPr>
              <a:lnSpc>
                <a:spcPts val="2196"/>
              </a:lnSpc>
              <a:spcBef>
                <a:spcPts val="0"/>
              </a:spcBef>
              <a:spcAft>
                <a:spcPts val="0"/>
              </a:spcAft>
            </a:pPr>
            <a:r>
              <a:rPr sz="1800" b="0" i="0">
                <a:solidFill>
                  <a:srgbClr val="183A32"/>
                </a:solidFill>
                <a:latin typeface="Times New Roman"/>
              </a:rPr>
              <a:t>Dayu, the Driving Range, and the Swiss of Taman</a:t>
            </a:r>
          </a:p>
          <a:p>
            <a:pPr>
              <a:lnSpc>
                <a:spcPts val="2196"/>
              </a:lnSpc>
              <a:spcBef>
                <a:spcPts val="0"/>
              </a:spcBef>
              <a:spcAft>
                <a:spcPts val="0"/>
              </a:spcAft>
            </a:pPr>
            <a:r>
              <a:rPr sz="1800" b="0" i="0">
                <a:solidFill>
                  <a:srgbClr val="183A32"/>
                </a:solidFill>
                <a:latin typeface="Times New Roman"/>
              </a:rPr>
              <a:t>Dayu Pandaan development.</a:t>
            </a:r>
          </a:p>
        </p:txBody>
      </p:sp>
      <p:sp>
        <p:nvSpPr>
          <p:cNvPr id="15" name="TextBox 14"/>
          <p:cNvSpPr txBox="1"/>
          <p:nvPr/>
        </p:nvSpPr>
        <p:spPr>
          <a:xfrm>
            <a:off x="685800" y="390550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Evaluate additional wellness, community, hospitality,</a:t>
            </a:r>
          </a:p>
          <a:p>
            <a:pPr>
              <a:lnSpc>
                <a:spcPts val="2196"/>
              </a:lnSpc>
              <a:spcBef>
                <a:spcPts val="0"/>
              </a:spcBef>
              <a:spcAft>
                <a:spcPts val="0"/>
              </a:spcAft>
            </a:pPr>
            <a:r>
              <a:rPr sz="1800" b="0" i="0">
                <a:solidFill>
                  <a:srgbClr val="183A32"/>
                </a:solidFill>
                <a:latin typeface="Times New Roman"/>
              </a:rPr>
              <a:t>and F&amp;B programming.</a:t>
            </a:r>
          </a:p>
        </p:txBody>
      </p:sp>
      <p:sp>
        <p:nvSpPr>
          <p:cNvPr id="16" name="TextBox 15"/>
          <p:cNvSpPr txBox="1"/>
          <p:nvPr/>
        </p:nvSpPr>
        <p:spPr>
          <a:xfrm>
            <a:off x="6400800" y="216992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Business hypothesis: More relevant activities and</a:t>
            </a:r>
          </a:p>
          <a:p>
            <a:pPr>
              <a:lnSpc>
                <a:spcPts val="2196"/>
              </a:lnSpc>
              <a:spcBef>
                <a:spcPts val="0"/>
              </a:spcBef>
              <a:spcAft>
                <a:spcPts val="0"/>
              </a:spcAft>
            </a:pPr>
            <a:r>
              <a:rPr sz="1800" b="0" i="0">
                <a:solidFill>
                  <a:srgbClr val="183A32"/>
                </a:solidFill>
                <a:latin typeface="Times New Roman"/>
              </a:rPr>
              <a:t>repeat visitation could support operating income and</a:t>
            </a:r>
          </a:p>
          <a:p>
            <a:pPr>
              <a:lnSpc>
                <a:spcPts val="2196"/>
              </a:lnSpc>
              <a:spcBef>
                <a:spcPts val="0"/>
              </a:spcBef>
              <a:spcAft>
                <a:spcPts val="0"/>
              </a:spcAft>
            </a:pPr>
            <a:r>
              <a:rPr sz="1800" b="0" i="0">
                <a:solidFill>
                  <a:srgbClr val="183A32"/>
                </a:solidFill>
                <a:latin typeface="Times New Roman"/>
              </a:rPr>
              <a:t>surrounding property demand.</a:t>
            </a:r>
          </a:p>
        </p:txBody>
      </p:sp>
      <p:sp>
        <p:nvSpPr>
          <p:cNvPr id="17" name="TextBox 16"/>
          <p:cNvSpPr txBox="1"/>
          <p:nvPr/>
        </p:nvSpPr>
        <p:spPr>
          <a:xfrm>
            <a:off x="6400800" y="3184905"/>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Measures: Visitation, repeat participation, asset</a:t>
            </a:r>
          </a:p>
          <a:p>
            <a:pPr>
              <a:lnSpc>
                <a:spcPts val="2196"/>
              </a:lnSpc>
              <a:spcBef>
                <a:spcPts val="0"/>
              </a:spcBef>
              <a:spcAft>
                <a:spcPts val="0"/>
              </a:spcAft>
            </a:pPr>
            <a:r>
              <a:rPr sz="1800" b="0" i="0">
                <a:solidFill>
                  <a:srgbClr val="183A32"/>
                </a:solidFill>
                <a:latin typeface="Times New Roman"/>
              </a:rPr>
              <a:t>utilisation, operating profit, and property enquiries.</a:t>
            </a:r>
          </a:p>
        </p:txBody>
      </p:sp>
      <p:sp>
        <p:nvSpPr>
          <p:cNvPr id="18" name="Rectangle 17"/>
          <p:cNvSpPr/>
          <p:nvPr/>
        </p:nvSpPr>
        <p:spPr>
          <a:xfrm>
            <a:off x="6400800" y="401243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92099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Integrated-City Growth — Sidoarjo and</a:t>
            </a:r>
          </a:p>
          <a:p>
            <a:pPr>
              <a:lnSpc>
                <a:spcPts val="2135"/>
              </a:lnSpc>
              <a:spcBef>
                <a:spcPts val="0"/>
              </a:spcBef>
              <a:spcAft>
                <a:spcPts val="0"/>
              </a:spcAft>
            </a:pPr>
            <a:r>
              <a:rPr sz="1750" b="0" i="0">
                <a:solidFill>
                  <a:srgbClr val="183A32"/>
                </a:solidFill>
                <a:latin typeface="Arial"/>
              </a:rPr>
              <a:t>Bandung</a:t>
            </a:r>
          </a:p>
        </p:txBody>
      </p:sp>
      <p:sp>
        <p:nvSpPr>
          <p:cNvPr id="20" name="TextBox 19"/>
          <p:cNvSpPr txBox="1"/>
          <p:nvPr/>
        </p:nvSpPr>
        <p:spPr>
          <a:xfrm>
            <a:off x="6400800" y="4641595"/>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Develop Tanrise City Sidoarjo and Tanrise Bandung</a:t>
            </a:r>
          </a:p>
          <a:p>
            <a:pPr>
              <a:lnSpc>
                <a:spcPts val="2196"/>
              </a:lnSpc>
              <a:spcBef>
                <a:spcPts val="0"/>
              </a:spcBef>
              <a:spcAft>
                <a:spcPts val="0"/>
              </a:spcAft>
            </a:pPr>
            <a:r>
              <a:rPr sz="1800" b="0" i="0">
                <a:solidFill>
                  <a:srgbClr val="183A32"/>
                </a:solidFill>
                <a:latin typeface="Times New Roman"/>
              </a:rPr>
              <a:t>through commercially sustainable phases.</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39–40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097</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Use the Existing Portfolio and Pipeline to Demonstrate the</a:t>
            </a:r>
          </a:p>
          <a:p>
            <a:pPr>
              <a:lnSpc>
                <a:spcPts val="3502"/>
              </a:lnSpc>
              <a:spcBef>
                <a:spcPts val="0"/>
              </a:spcBef>
              <a:spcAft>
                <a:spcPts val="0"/>
              </a:spcAft>
            </a:pPr>
            <a:r>
              <a:rPr sz="3100" b="0" i="0">
                <a:solidFill>
                  <a:srgbClr val="153F35"/>
                </a:solidFill>
                <a:latin typeface="Arial"/>
              </a:rPr>
              <a:t>Strategy.</a:t>
            </a:r>
          </a:p>
        </p:txBody>
      </p:sp>
      <p:cxnSp>
        <p:nvCxnSpPr>
          <p:cNvPr id="11" name="Connector 10"/>
          <p:cNvCxnSpPr/>
          <p:nvPr/>
        </p:nvCxnSpPr>
        <p:spPr>
          <a:xfrm>
            <a:off x="6062472" y="2169921"/>
            <a:ext cx="0" cy="241897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6992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Bandung, coordinate the wider destination with</a:t>
            </a:r>
          </a:p>
          <a:p>
            <a:pPr>
              <a:lnSpc>
                <a:spcPts val="2196"/>
              </a:lnSpc>
              <a:spcBef>
                <a:spcPts val="0"/>
              </a:spcBef>
              <a:spcAft>
                <a:spcPts val="0"/>
              </a:spcAft>
            </a:pPr>
            <a:r>
              <a:rPr sz="1800" b="0" i="0">
                <a:solidFill>
                  <a:srgbClr val="183A32"/>
                </a:solidFill>
                <a:latin typeface="Times New Roman"/>
              </a:rPr>
              <a:t>Grand Central Bandung and residential development.</a:t>
            </a:r>
          </a:p>
        </p:txBody>
      </p:sp>
      <p:sp>
        <p:nvSpPr>
          <p:cNvPr id="13" name="TextBox 12"/>
          <p:cNvSpPr txBox="1"/>
          <p:nvPr/>
        </p:nvSpPr>
        <p:spPr>
          <a:xfrm>
            <a:off x="685800" y="290601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Business hypothesis: Appropriate anchors,</a:t>
            </a:r>
          </a:p>
          <a:p>
            <a:pPr>
              <a:lnSpc>
                <a:spcPts val="2196"/>
              </a:lnSpc>
              <a:spcBef>
                <a:spcPts val="0"/>
              </a:spcBef>
              <a:spcAft>
                <a:spcPts val="0"/>
              </a:spcAft>
            </a:pPr>
            <a:r>
              <a:rPr sz="1800" b="0" i="0">
                <a:solidFill>
                  <a:srgbClr val="183A32"/>
                </a:solidFill>
                <a:latin typeface="Times New Roman"/>
              </a:rPr>
              <a:t>infrastructure, and visible delivery could improve</a:t>
            </a:r>
          </a:p>
          <a:p>
            <a:pPr>
              <a:lnSpc>
                <a:spcPts val="2196"/>
              </a:lnSpc>
              <a:spcBef>
                <a:spcPts val="0"/>
              </a:spcBef>
              <a:spcAft>
                <a:spcPts val="0"/>
              </a:spcAft>
            </a:pPr>
            <a:r>
              <a:rPr sz="1800" b="0" i="0">
                <a:solidFill>
                  <a:srgbClr val="183A32"/>
                </a:solidFill>
                <a:latin typeface="Times New Roman"/>
              </a:rPr>
              <a:t>buyer confidence and early-phase attractiveness.</a:t>
            </a:r>
          </a:p>
        </p:txBody>
      </p:sp>
      <p:sp>
        <p:nvSpPr>
          <p:cNvPr id="14" name="Rectangle 13"/>
          <p:cNvSpPr/>
          <p:nvPr/>
        </p:nvSpPr>
        <p:spPr>
          <a:xfrm>
            <a:off x="685800" y="401243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92099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Industrial and Logistics — Occupier</a:t>
            </a:r>
          </a:p>
          <a:p>
            <a:pPr>
              <a:lnSpc>
                <a:spcPts val="2135"/>
              </a:lnSpc>
              <a:spcBef>
                <a:spcPts val="0"/>
              </a:spcBef>
              <a:spcAft>
                <a:spcPts val="0"/>
              </a:spcAft>
            </a:pPr>
            <a:r>
              <a:rPr sz="1750" b="0" i="0">
                <a:solidFill>
                  <a:srgbClr val="183A32"/>
                </a:solidFill>
                <a:latin typeface="Arial"/>
              </a:rPr>
              <a:t>Productivity</a:t>
            </a:r>
          </a:p>
        </p:txBody>
      </p:sp>
      <p:sp>
        <p:nvSpPr>
          <p:cNvPr id="16" name="TextBox 15"/>
          <p:cNvSpPr txBox="1"/>
          <p:nvPr/>
        </p:nvSpPr>
        <p:spPr>
          <a:xfrm>
            <a:off x="6400800" y="216992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Use Tritan Gresik, Tritan Gempol Pasuruan, Tanrise</a:t>
            </a:r>
          </a:p>
          <a:p>
            <a:pPr>
              <a:lnSpc>
                <a:spcPts val="2196"/>
              </a:lnSpc>
              <a:spcBef>
                <a:spcPts val="0"/>
              </a:spcBef>
              <a:spcAft>
                <a:spcPts val="0"/>
              </a:spcAft>
            </a:pPr>
            <a:r>
              <a:rPr sz="1800" b="0" i="0">
                <a:solidFill>
                  <a:srgbClr val="183A32"/>
                </a:solidFill>
                <a:latin typeface="Times New Roman"/>
              </a:rPr>
              <a:t>Industrial Park Palembang, and Tanrise Industrial Park</a:t>
            </a:r>
          </a:p>
          <a:p>
            <a:pPr>
              <a:lnSpc>
                <a:spcPts val="2196"/>
              </a:lnSpc>
              <a:spcBef>
                <a:spcPts val="0"/>
              </a:spcBef>
              <a:spcAft>
                <a:spcPts val="0"/>
              </a:spcAft>
            </a:pPr>
            <a:r>
              <a:rPr sz="1800" b="0" i="0">
                <a:solidFill>
                  <a:srgbClr val="183A32"/>
                </a:solidFill>
                <a:latin typeface="Times New Roman"/>
              </a:rPr>
              <a:t>Banjarbaru to test a consistent occupier proposition.</a:t>
            </a:r>
          </a:p>
        </p:txBody>
      </p:sp>
      <p:sp>
        <p:nvSpPr>
          <p:cNvPr id="17" name="TextBox 16"/>
          <p:cNvSpPr txBox="1"/>
          <p:nvPr/>
        </p:nvSpPr>
        <p:spPr>
          <a:xfrm>
            <a:off x="6400800" y="3184905"/>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Business hypothesis: Technical suitability,</a:t>
            </a:r>
          </a:p>
          <a:p>
            <a:pPr>
              <a:lnSpc>
                <a:spcPts val="2196"/>
              </a:lnSpc>
              <a:spcBef>
                <a:spcPts val="0"/>
              </a:spcBef>
              <a:spcAft>
                <a:spcPts val="0"/>
              </a:spcAft>
            </a:pPr>
            <a:r>
              <a:rPr sz="1800" b="0" i="0">
                <a:solidFill>
                  <a:srgbClr val="183A32"/>
                </a:solidFill>
                <a:latin typeface="Times New Roman"/>
              </a:rPr>
              <a:t>infrastructure reliability, and coordinated services</a:t>
            </a:r>
          </a:p>
          <a:p>
            <a:pPr>
              <a:lnSpc>
                <a:spcPts val="2196"/>
              </a:lnSpc>
              <a:spcBef>
                <a:spcPts val="0"/>
              </a:spcBef>
              <a:spcAft>
                <a:spcPts val="0"/>
              </a:spcAft>
            </a:pPr>
            <a:r>
              <a:rPr sz="1800" b="0" i="0">
                <a:solidFill>
                  <a:srgbClr val="183A32"/>
                </a:solidFill>
                <a:latin typeface="Times New Roman"/>
              </a:rPr>
              <a:t>could strengthen acquisition and retention.</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36.3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39–40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098</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Supporting Workstream — Hospitality Investment and</a:t>
            </a:r>
          </a:p>
          <a:p>
            <a:pPr>
              <a:lnSpc>
                <a:spcPts val="3502"/>
              </a:lnSpc>
              <a:spcBef>
                <a:spcPts val="0"/>
              </a:spcBef>
              <a:spcAft>
                <a:spcPts val="0"/>
              </a:spcAft>
            </a:pPr>
            <a:r>
              <a:rPr sz="3100" b="0" i="0">
                <a:solidFill>
                  <a:srgbClr val="153F35"/>
                </a:solidFill>
                <a:latin typeface="Arial"/>
              </a:rPr>
              <a:t>Operations</a:t>
            </a:r>
          </a:p>
        </p:txBody>
      </p:sp>
      <p:sp>
        <p:nvSpPr>
          <p:cNvPr id="11" name="TextBox 10"/>
          <p:cNvSpPr txBox="1"/>
          <p:nvPr/>
        </p:nvSpPr>
        <p:spPr>
          <a:xfrm>
            <a:off x="6400800" y="2514600"/>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Align the VASA and Solaris pipeline with</a:t>
            </a:r>
          </a:p>
          <a:p>
            <a:pPr>
              <a:lnSpc>
                <a:spcPts val="2440"/>
              </a:lnSpc>
              <a:spcBef>
                <a:spcPts val="0"/>
              </a:spcBef>
              <a:spcAft>
                <a:spcPts val="0"/>
              </a:spcAft>
            </a:pPr>
            <a:r>
              <a:rPr sz="2000" b="0" i="0">
                <a:solidFill>
                  <a:srgbClr val="183A32"/>
                </a:solidFill>
                <a:latin typeface="Times New Roman"/>
              </a:rPr>
              <a:t>operating feasibility, management agreements,</a:t>
            </a:r>
          </a:p>
          <a:p>
            <a:pPr>
              <a:lnSpc>
                <a:spcPts val="2440"/>
              </a:lnSpc>
              <a:spcBef>
                <a:spcPts val="0"/>
              </a:spcBef>
              <a:spcAft>
                <a:spcPts val="0"/>
              </a:spcAft>
            </a:pPr>
            <a:r>
              <a:rPr sz="2000" b="0" i="0">
                <a:solidFill>
                  <a:srgbClr val="183A32"/>
                </a:solidFill>
                <a:latin typeface="Times New Roman"/>
              </a:rPr>
              <a:t>opening readiness, and capital discipline.</a:t>
            </a:r>
          </a:p>
        </p:txBody>
      </p:sp>
      <p:sp>
        <p:nvSpPr>
          <p:cNvPr id="12" name="TextBox 11"/>
          <p:cNvSpPr txBox="1"/>
          <p:nvPr/>
        </p:nvSpPr>
        <p:spPr>
          <a:xfrm>
            <a:off x="6400800" y="3686555"/>
            <a:ext cx="5029200" cy="989075"/>
          </a:xfrm>
          <a:prstGeom prst="rect">
            <a:avLst/>
          </a:prstGeom>
          <a:noFill/>
        </p:spPr>
        <p:txBody>
          <a:bodyPr wrap="none" lIns="0" rIns="0" tIns="0" bIns="0">
            <a:spAutoFit/>
          </a:bodyPr>
          <a:lstStyle/>
          <a:p>
            <a:pPr>
              <a:lnSpc>
                <a:spcPts val="2440"/>
              </a:lnSpc>
              <a:spcBef>
                <a:spcPts val="0"/>
              </a:spcBef>
              <a:spcAft>
                <a:spcPts val="0"/>
              </a:spcAft>
            </a:pPr>
            <a:r>
              <a:rPr sz="2000" b="0" i="1">
                <a:solidFill>
                  <a:srgbClr val="183A32"/>
                </a:solidFill>
                <a:latin typeface="Times New Roman"/>
              </a:rPr>
              <a:t>Recommendation: Advance each initiative</a:t>
            </a:r>
          </a:p>
          <a:p>
            <a:pPr>
              <a:lnSpc>
                <a:spcPts val="2440"/>
              </a:lnSpc>
              <a:spcBef>
                <a:spcPts val="0"/>
              </a:spcBef>
              <a:spcAft>
                <a:spcPts val="0"/>
              </a:spcAft>
            </a:pPr>
            <a:r>
              <a:rPr sz="2000" b="0" i="1">
                <a:solidFill>
                  <a:srgbClr val="183A32"/>
                </a:solidFill>
                <a:latin typeface="Times New Roman"/>
              </a:rPr>
              <a:t>through a documented business case before</a:t>
            </a:r>
          </a:p>
          <a:p>
            <a:pPr>
              <a:lnSpc>
                <a:spcPts val="2440"/>
              </a:lnSpc>
              <a:spcBef>
                <a:spcPts val="0"/>
              </a:spcBef>
              <a:spcAft>
                <a:spcPts val="0"/>
              </a:spcAft>
            </a:pPr>
            <a:r>
              <a:rPr sz="2000" b="0" i="1">
                <a:solidFill>
                  <a:srgbClr val="183A32"/>
                </a:solidFill>
                <a:latin typeface="Times New Roman"/>
              </a:rPr>
              <a:t>scaling the model.</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40–41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099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 Growth by Value Created.</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Evaluate developments and retained-asset initiatives through a common framework.</a:t>
            </a:r>
          </a:p>
        </p:txBody>
      </p:sp>
      <p:graphicFrame>
        <p:nvGraphicFramePr>
          <p:cNvPr id="12" name="Table 11"/>
          <p:cNvGraphicFramePr>
            <a:graphicFrameLocks noGrp="1"/>
          </p:cNvGraphicFramePr>
          <p:nvPr/>
        </p:nvGraphicFramePr>
        <p:xfrm>
          <a:off x="685800" y="2542032"/>
          <a:ext cx="10789919" cy="30341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Criterion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Core question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Market demand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Is there sufficient evidence of demand?</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Strategic fit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Does the investment support the portfolio strategy?</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Capital efficiency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What return is generated relative to investment?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Cash-flow resilience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How exposed is the project to market cycles and timing?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Recurring-income potential</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Can the asset produce sustainable continuing earnings?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Operating capability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Can TANRISE or a qualified partner operate it effectively?</a:t>
                      </a:r>
                    </a:p>
                  </a:txBody>
                  <a:tcPr marL="109728" marR="109728" marT="82296" marB="0" anchor="t">
                    <a:solidFill>
                      <a:srgbClr val="E9E8DC"/>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40–41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 Growth by Value Created.</a:t>
            </a:r>
          </a:p>
        </p:txBody>
      </p:sp>
      <p:graphicFrame>
        <p:nvGraphicFramePr>
          <p:cNvPr id="11" name="Table 10"/>
          <p:cNvGraphicFramePr>
            <a:graphicFrameLocks noGrp="1"/>
          </p:cNvGraphicFramePr>
          <p:nvPr/>
        </p:nvGraphicFramePr>
        <p:xfrm>
          <a:off x="685800" y="2084831"/>
          <a:ext cx="10789919" cy="13003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Criterion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Core question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Ownership economics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What share of cash flow and earnings is attributable to TANRISE?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Brand contribution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Will the investment strengthen trust and corporate reputation?</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359549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FINANCIAL DISCIPLINES</a:t>
            </a:r>
          </a:p>
        </p:txBody>
      </p:sp>
      <p:sp>
        <p:nvSpPr>
          <p:cNvPr id="13" name="TextBox 12"/>
          <p:cNvSpPr txBox="1"/>
          <p:nvPr/>
        </p:nvSpPr>
        <p:spPr>
          <a:xfrm>
            <a:off x="685800" y="391680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Project IRR · NPV · ROIC · Cash Conversion · Leverage · Operating Margin · Sensitivity Analysis</a:t>
            </a:r>
          </a:p>
        </p:txBody>
      </p:sp>
      <p:sp>
        <p:nvSpPr>
          <p:cNvPr id="14" name="TextBox 13"/>
          <p:cNvSpPr txBox="1"/>
          <p:nvPr/>
        </p:nvSpPr>
        <p:spPr>
          <a:xfrm>
            <a:off x="685800" y="4401439"/>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PIPELINE APPLICATION</a:t>
            </a:r>
          </a:p>
        </p:txBody>
      </p:sp>
      <p:sp>
        <p:nvSpPr>
          <p:cNvPr id="15" name="TextBox 14"/>
          <p:cNvSpPr txBox="1"/>
          <p:nvPr/>
        </p:nvSpPr>
        <p:spPr>
          <a:xfrm>
            <a:off x="685800" y="472274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Apply consistent evaluation to integrated cities, residential phases, commercial assets, industrial parks, warehouses,</a:t>
            </a:r>
          </a:p>
          <a:p>
            <a:pPr>
              <a:lnSpc>
                <a:spcPts val="2196"/>
              </a:lnSpc>
              <a:spcBef>
                <a:spcPts val="0"/>
              </a:spcBef>
              <a:spcAft>
                <a:spcPts val="0"/>
              </a:spcAft>
            </a:pPr>
            <a:r>
              <a:rPr sz="1800" b="0" i="0">
                <a:solidFill>
                  <a:srgbClr val="183A32"/>
                </a:solidFill>
                <a:latin typeface="Times New Roman"/>
              </a:rPr>
              <a:t>hotels, and leisure developments.</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37.3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40–41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 Growth by Value Created.</a:t>
            </a:r>
          </a:p>
        </p:txBody>
      </p:sp>
      <p:sp>
        <p:nvSpPr>
          <p:cNvPr id="11" name="TextBox 10"/>
          <p:cNvSpPr txBox="1"/>
          <p:nvPr/>
        </p:nvSpPr>
        <p:spPr>
          <a:xfrm>
            <a:off x="6400800" y="2514600"/>
            <a:ext cx="5029200" cy="98907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Management decision: Establish an investment</a:t>
            </a:r>
          </a:p>
          <a:p>
            <a:pPr>
              <a:lnSpc>
                <a:spcPts val="2440"/>
              </a:lnSpc>
              <a:spcBef>
                <a:spcPts val="0"/>
              </a:spcBef>
              <a:spcAft>
                <a:spcPts val="0"/>
              </a:spcAft>
            </a:pPr>
            <a:r>
              <a:rPr sz="2000" b="0" i="0">
                <a:solidFill>
                  <a:srgbClr val="183A32"/>
                </a:solidFill>
                <a:latin typeface="Times New Roman"/>
              </a:rPr>
              <a:t>committee process with asset-specific</a:t>
            </a:r>
          </a:p>
          <a:p>
            <a:pPr>
              <a:lnSpc>
                <a:spcPts val="2440"/>
              </a:lnSpc>
              <a:spcBef>
                <a:spcPts val="0"/>
              </a:spcBef>
              <a:spcAft>
                <a:spcPts val="0"/>
              </a:spcAft>
            </a:pPr>
            <a:r>
              <a:rPr sz="2000" b="0" i="0">
                <a:solidFill>
                  <a:srgbClr val="183A32"/>
                </a:solidFill>
                <a:latin typeface="Times New Roman"/>
              </a:rPr>
              <a:t>assumptions and clearly accountable sponsors.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CHAPTER 07</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102</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07</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The roadmap to 2035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41–42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Four Phases. One Ambition Through 2035.</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PERIOD / PHASE / PRIORITIES</a:t>
            </a:r>
          </a:p>
        </p:txBody>
      </p:sp>
      <p:sp>
        <p:nvSpPr>
          <p:cNvPr id="12" name="TextBox 11"/>
          <p:cNvSpPr txBox="1"/>
          <p:nvPr/>
        </p:nvSpPr>
        <p:spPr>
          <a:xfrm>
            <a:off x="685800" y="2084831"/>
            <a:ext cx="2560320" cy="431292"/>
          </a:xfrm>
          <a:prstGeom prst="rect">
            <a:avLst/>
          </a:prstGeom>
          <a:noFill/>
        </p:spPr>
        <p:txBody>
          <a:bodyPr wrap="none" lIns="0" rIns="0" tIns="0" bIns="0">
            <a:spAutoFit/>
          </a:bodyPr>
          <a:lstStyle/>
          <a:p>
            <a:pPr>
              <a:lnSpc>
                <a:spcPts val="2928"/>
              </a:lnSpc>
              <a:spcBef>
                <a:spcPts val="0"/>
              </a:spcBef>
              <a:spcAft>
                <a:spcPts val="0"/>
              </a:spcAft>
            </a:pPr>
            <a:r>
              <a:rPr sz="2400" b="0" i="0">
                <a:solidFill>
                  <a:srgbClr val="AD843F"/>
                </a:solidFill>
                <a:latin typeface="Times New Roman"/>
              </a:rPr>
              <a:t>2026–2027</a:t>
            </a:r>
          </a:p>
        </p:txBody>
      </p:sp>
      <p:cxnSp>
        <p:nvCxnSpPr>
          <p:cNvPr id="13" name="Connector 12"/>
          <p:cNvCxnSpPr/>
          <p:nvPr/>
        </p:nvCxnSpPr>
        <p:spPr>
          <a:xfrm>
            <a:off x="685800" y="2587752"/>
            <a:ext cx="2560320"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798063"/>
            <a:ext cx="256032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83A32"/>
                </a:solidFill>
                <a:latin typeface="Arial"/>
              </a:rPr>
              <a:t>Foundation</a:t>
            </a:r>
          </a:p>
        </p:txBody>
      </p:sp>
      <p:sp>
        <p:nvSpPr>
          <p:cNvPr id="15" name="TextBox 14"/>
          <p:cNvSpPr txBox="1"/>
          <p:nvPr/>
        </p:nvSpPr>
        <p:spPr>
          <a:xfrm>
            <a:off x="685800" y="3182111"/>
            <a:ext cx="2560320" cy="1546860"/>
          </a:xfrm>
          <a:prstGeom prst="rect">
            <a:avLst/>
          </a:prstGeom>
          <a:noFill/>
        </p:spPr>
        <p:txBody>
          <a:bodyPr wrap="none" lIns="0" rIns="0" tIns="0" bIns="0">
            <a:spAutoFit/>
          </a:bodyPr>
          <a:lstStyle/>
          <a:p>
            <a:pPr>
              <a:lnSpc>
                <a:spcPts val="1952"/>
              </a:lnSpc>
              <a:spcBef>
                <a:spcPts val="0"/>
              </a:spcBef>
              <a:spcAft>
                <a:spcPts val="0"/>
              </a:spcAft>
            </a:pPr>
            <a:r>
              <a:rPr sz="1600" b="0" i="0">
                <a:solidFill>
                  <a:srgbClr val="183A32"/>
                </a:solidFill>
                <a:latin typeface="Times New Roman"/>
              </a:rPr>
              <a:t>Reconcile the portfolio</a:t>
            </a:r>
          </a:p>
          <a:p>
            <a:pPr>
              <a:lnSpc>
                <a:spcPts val="1952"/>
              </a:lnSpc>
              <a:spcBef>
                <a:spcPts val="0"/>
              </a:spcBef>
              <a:spcAft>
                <a:spcPts val="0"/>
              </a:spcAft>
            </a:pPr>
            <a:r>
              <a:rPr sz="1600" b="0" i="0">
                <a:solidFill>
                  <a:srgbClr val="183A32"/>
                </a:solidFill>
                <a:latin typeface="Times New Roman"/>
              </a:rPr>
              <a:t>register; confirm naming and</a:t>
            </a:r>
          </a:p>
          <a:p>
            <a:pPr>
              <a:lnSpc>
                <a:spcPts val="1952"/>
              </a:lnSpc>
              <a:spcBef>
                <a:spcPts val="0"/>
              </a:spcBef>
              <a:spcAft>
                <a:spcPts val="0"/>
              </a:spcAft>
            </a:pPr>
            <a:r>
              <a:rPr sz="1600" b="0" i="0">
                <a:solidFill>
                  <a:srgbClr val="183A32"/>
                </a:solidFill>
                <a:latin typeface="Times New Roman"/>
              </a:rPr>
              <a:t>ownership; establish financial</a:t>
            </a:r>
          </a:p>
          <a:p>
            <a:pPr>
              <a:lnSpc>
                <a:spcPts val="1952"/>
              </a:lnSpc>
              <a:spcBef>
                <a:spcPts val="0"/>
              </a:spcBef>
              <a:spcAft>
                <a:spcPts val="0"/>
              </a:spcAft>
            </a:pPr>
            <a:r>
              <a:rPr sz="1600" b="0" i="0">
                <a:solidFill>
                  <a:srgbClr val="183A32"/>
                </a:solidFill>
                <a:latin typeface="Times New Roman"/>
              </a:rPr>
              <a:t>and operating baselines;</a:t>
            </a:r>
          </a:p>
          <a:p>
            <a:pPr>
              <a:lnSpc>
                <a:spcPts val="1952"/>
              </a:lnSpc>
              <a:spcBef>
                <a:spcPts val="0"/>
              </a:spcBef>
              <a:spcAft>
                <a:spcPts val="0"/>
              </a:spcAft>
            </a:pPr>
            <a:r>
              <a:rPr sz="1600" b="0" i="0">
                <a:solidFill>
                  <a:srgbClr val="183A32"/>
                </a:solidFill>
                <a:latin typeface="Times New Roman"/>
              </a:rPr>
              <a:t>review current pipeline</a:t>
            </a:r>
          </a:p>
          <a:p>
            <a:pPr>
              <a:lnSpc>
                <a:spcPts val="1952"/>
              </a:lnSpc>
              <a:spcBef>
                <a:spcPts val="0"/>
              </a:spcBef>
              <a:spcAft>
                <a:spcPts val="0"/>
              </a:spcAft>
            </a:pPr>
            <a:r>
              <a:rPr sz="1600" b="0" i="0">
                <a:solidFill>
                  <a:srgbClr val="183A32"/>
                </a:solidFill>
                <a:latin typeface="Times New Roman"/>
              </a:rPr>
              <a:t>commitments</a:t>
            </a:r>
          </a:p>
        </p:txBody>
      </p:sp>
      <p:sp>
        <p:nvSpPr>
          <p:cNvPr id="16" name="TextBox 15"/>
          <p:cNvSpPr txBox="1"/>
          <p:nvPr/>
        </p:nvSpPr>
        <p:spPr>
          <a:xfrm>
            <a:off x="3429000" y="2084831"/>
            <a:ext cx="2560320" cy="431292"/>
          </a:xfrm>
          <a:prstGeom prst="rect">
            <a:avLst/>
          </a:prstGeom>
          <a:noFill/>
        </p:spPr>
        <p:txBody>
          <a:bodyPr wrap="none" lIns="0" rIns="0" tIns="0" bIns="0">
            <a:spAutoFit/>
          </a:bodyPr>
          <a:lstStyle/>
          <a:p>
            <a:pPr>
              <a:lnSpc>
                <a:spcPts val="2928"/>
              </a:lnSpc>
              <a:spcBef>
                <a:spcPts val="0"/>
              </a:spcBef>
              <a:spcAft>
                <a:spcPts val="0"/>
              </a:spcAft>
            </a:pPr>
            <a:r>
              <a:rPr sz="2400" b="0" i="0">
                <a:solidFill>
                  <a:srgbClr val="AD843F"/>
                </a:solidFill>
                <a:latin typeface="Times New Roman"/>
              </a:rPr>
              <a:t>2028–2029</a:t>
            </a:r>
          </a:p>
        </p:txBody>
      </p:sp>
      <p:cxnSp>
        <p:nvCxnSpPr>
          <p:cNvPr id="17" name="Connector 16"/>
          <p:cNvCxnSpPr/>
          <p:nvPr/>
        </p:nvCxnSpPr>
        <p:spPr>
          <a:xfrm>
            <a:off x="3429000" y="2587752"/>
            <a:ext cx="2560320"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29000" y="2798063"/>
            <a:ext cx="256032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83A32"/>
                </a:solidFill>
                <a:latin typeface="Arial"/>
              </a:rPr>
              <a:t>Activation</a:t>
            </a:r>
          </a:p>
        </p:txBody>
      </p:sp>
      <p:sp>
        <p:nvSpPr>
          <p:cNvPr id="19" name="TextBox 18"/>
          <p:cNvSpPr txBox="1"/>
          <p:nvPr/>
        </p:nvSpPr>
        <p:spPr>
          <a:xfrm>
            <a:off x="3429000" y="3182111"/>
            <a:ext cx="2560320" cy="1298955"/>
          </a:xfrm>
          <a:prstGeom prst="rect">
            <a:avLst/>
          </a:prstGeom>
          <a:noFill/>
        </p:spPr>
        <p:txBody>
          <a:bodyPr wrap="none" lIns="0" rIns="0" tIns="0" bIns="0">
            <a:spAutoFit/>
          </a:bodyPr>
          <a:lstStyle/>
          <a:p>
            <a:pPr>
              <a:lnSpc>
                <a:spcPts val="1952"/>
              </a:lnSpc>
              <a:spcBef>
                <a:spcPts val="0"/>
              </a:spcBef>
              <a:spcAft>
                <a:spcPts val="0"/>
              </a:spcAft>
            </a:pPr>
            <a:r>
              <a:rPr sz="1600" b="0" i="0">
                <a:solidFill>
                  <a:srgbClr val="183A32"/>
                </a:solidFill>
                <a:latin typeface="Times New Roman"/>
              </a:rPr>
              <a:t>Strengthen commercial and</a:t>
            </a:r>
          </a:p>
          <a:p>
            <a:pPr>
              <a:lnSpc>
                <a:spcPts val="1952"/>
              </a:lnSpc>
              <a:spcBef>
                <a:spcPts val="0"/>
              </a:spcBef>
              <a:spcAft>
                <a:spcPts val="0"/>
              </a:spcAft>
            </a:pPr>
            <a:r>
              <a:rPr sz="1600" b="0" i="0">
                <a:solidFill>
                  <a:srgbClr val="183A32"/>
                </a:solidFill>
                <a:latin typeface="Times New Roman"/>
              </a:rPr>
              <a:t>operating capabilities; deliver</a:t>
            </a:r>
          </a:p>
          <a:p>
            <a:pPr>
              <a:lnSpc>
                <a:spcPts val="1952"/>
              </a:lnSpc>
              <a:spcBef>
                <a:spcPts val="0"/>
              </a:spcBef>
              <a:spcAft>
                <a:spcPts val="0"/>
              </a:spcAft>
            </a:pPr>
            <a:r>
              <a:rPr sz="1600" b="0" i="0">
                <a:solidFill>
                  <a:srgbClr val="183A32"/>
                </a:solidFill>
                <a:latin typeface="Times New Roman"/>
              </a:rPr>
              <a:t>approved development phases;</a:t>
            </a:r>
          </a:p>
          <a:p>
            <a:pPr>
              <a:lnSpc>
                <a:spcPts val="1952"/>
              </a:lnSpc>
              <a:spcBef>
                <a:spcPts val="0"/>
              </a:spcBef>
              <a:spcAft>
                <a:spcPts val="0"/>
              </a:spcAft>
            </a:pPr>
            <a:r>
              <a:rPr sz="1600" b="0" i="0">
                <a:solidFill>
                  <a:srgbClr val="183A32"/>
                </a:solidFill>
                <a:latin typeface="Times New Roman"/>
              </a:rPr>
              <a:t>improve performance of</a:t>
            </a:r>
          </a:p>
          <a:p>
            <a:pPr>
              <a:lnSpc>
                <a:spcPts val="1952"/>
              </a:lnSpc>
              <a:spcBef>
                <a:spcPts val="0"/>
              </a:spcBef>
              <a:spcAft>
                <a:spcPts val="0"/>
              </a:spcAft>
            </a:pPr>
            <a:r>
              <a:rPr sz="1600" b="0" i="0">
                <a:solidFill>
                  <a:srgbClr val="183A32"/>
                </a:solidFill>
                <a:latin typeface="Times New Roman"/>
              </a:rPr>
              <a:t>retained assets</a:t>
            </a:r>
          </a:p>
        </p:txBody>
      </p:sp>
      <p:sp>
        <p:nvSpPr>
          <p:cNvPr id="20" name="TextBox 19"/>
          <p:cNvSpPr txBox="1"/>
          <p:nvPr/>
        </p:nvSpPr>
        <p:spPr>
          <a:xfrm>
            <a:off x="6172200" y="2084831"/>
            <a:ext cx="2560320" cy="431292"/>
          </a:xfrm>
          <a:prstGeom prst="rect">
            <a:avLst/>
          </a:prstGeom>
          <a:noFill/>
        </p:spPr>
        <p:txBody>
          <a:bodyPr wrap="none" lIns="0" rIns="0" tIns="0" bIns="0">
            <a:spAutoFit/>
          </a:bodyPr>
          <a:lstStyle/>
          <a:p>
            <a:pPr>
              <a:lnSpc>
                <a:spcPts val="2928"/>
              </a:lnSpc>
              <a:spcBef>
                <a:spcPts val="0"/>
              </a:spcBef>
              <a:spcAft>
                <a:spcPts val="0"/>
              </a:spcAft>
            </a:pPr>
            <a:r>
              <a:rPr sz="2400" b="0" i="0">
                <a:solidFill>
                  <a:srgbClr val="AD843F"/>
                </a:solidFill>
                <a:latin typeface="Times New Roman"/>
              </a:rPr>
              <a:t>2030–2032</a:t>
            </a:r>
          </a:p>
        </p:txBody>
      </p:sp>
      <p:cxnSp>
        <p:nvCxnSpPr>
          <p:cNvPr id="21" name="Connector 20"/>
          <p:cNvCxnSpPr/>
          <p:nvPr/>
        </p:nvCxnSpPr>
        <p:spPr>
          <a:xfrm>
            <a:off x="6172200" y="2587752"/>
            <a:ext cx="2560320"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72200" y="2798063"/>
            <a:ext cx="256032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83A32"/>
                </a:solidFill>
                <a:latin typeface="Arial"/>
              </a:rPr>
              <a:t>Acceleration</a:t>
            </a:r>
          </a:p>
        </p:txBody>
      </p:sp>
      <p:sp>
        <p:nvSpPr>
          <p:cNvPr id="23" name="TextBox 22"/>
          <p:cNvSpPr txBox="1"/>
          <p:nvPr/>
        </p:nvSpPr>
        <p:spPr>
          <a:xfrm>
            <a:off x="6172200" y="3182111"/>
            <a:ext cx="2560320" cy="1051051"/>
          </a:xfrm>
          <a:prstGeom prst="rect">
            <a:avLst/>
          </a:prstGeom>
          <a:noFill/>
        </p:spPr>
        <p:txBody>
          <a:bodyPr wrap="none" lIns="0" rIns="0" tIns="0" bIns="0">
            <a:spAutoFit/>
          </a:bodyPr>
          <a:lstStyle/>
          <a:p>
            <a:pPr>
              <a:lnSpc>
                <a:spcPts val="1952"/>
              </a:lnSpc>
              <a:spcBef>
                <a:spcPts val="0"/>
              </a:spcBef>
              <a:spcAft>
                <a:spcPts val="0"/>
              </a:spcAft>
            </a:pPr>
            <a:r>
              <a:rPr sz="1600" b="0" i="0">
                <a:solidFill>
                  <a:srgbClr val="183A32"/>
                </a:solidFill>
                <a:latin typeface="Times New Roman"/>
              </a:rPr>
              <a:t>Scale validated models,</a:t>
            </a:r>
          </a:p>
          <a:p>
            <a:pPr>
              <a:lnSpc>
                <a:spcPts val="1952"/>
              </a:lnSpc>
              <a:spcBef>
                <a:spcPts val="0"/>
              </a:spcBef>
              <a:spcAft>
                <a:spcPts val="0"/>
              </a:spcAft>
            </a:pPr>
            <a:r>
              <a:rPr sz="1600" b="0" i="0">
                <a:solidFill>
                  <a:srgbClr val="183A32"/>
                </a:solidFill>
                <a:latin typeface="Times New Roman"/>
              </a:rPr>
              <a:t>productive assets, and effective</a:t>
            </a:r>
          </a:p>
          <a:p>
            <a:pPr>
              <a:lnSpc>
                <a:spcPts val="1952"/>
              </a:lnSpc>
              <a:spcBef>
                <a:spcPts val="0"/>
              </a:spcBef>
              <a:spcAft>
                <a:spcPts val="0"/>
              </a:spcAft>
            </a:pPr>
            <a:r>
              <a:rPr sz="1600" b="0" i="0">
                <a:solidFill>
                  <a:srgbClr val="183A32"/>
                </a:solidFill>
                <a:latin typeface="Times New Roman"/>
              </a:rPr>
              <a:t>partnerships across the five</a:t>
            </a:r>
          </a:p>
          <a:p>
            <a:pPr>
              <a:lnSpc>
                <a:spcPts val="1952"/>
              </a:lnSpc>
              <a:spcBef>
                <a:spcPts val="0"/>
              </a:spcBef>
              <a:spcAft>
                <a:spcPts val="0"/>
              </a:spcAft>
            </a:pPr>
            <a:r>
              <a:rPr sz="1600" b="0" i="0">
                <a:solidFill>
                  <a:srgbClr val="183A32"/>
                </a:solidFill>
                <a:latin typeface="Times New Roman"/>
              </a:rPr>
              <a:t>pillars</a:t>
            </a:r>
          </a:p>
        </p:txBody>
      </p:sp>
      <p:sp>
        <p:nvSpPr>
          <p:cNvPr id="24" name="TextBox 23"/>
          <p:cNvSpPr txBox="1"/>
          <p:nvPr/>
        </p:nvSpPr>
        <p:spPr>
          <a:xfrm>
            <a:off x="8915400" y="2084831"/>
            <a:ext cx="2560320" cy="431292"/>
          </a:xfrm>
          <a:prstGeom prst="rect">
            <a:avLst/>
          </a:prstGeom>
          <a:noFill/>
        </p:spPr>
        <p:txBody>
          <a:bodyPr wrap="none" lIns="0" rIns="0" tIns="0" bIns="0">
            <a:spAutoFit/>
          </a:bodyPr>
          <a:lstStyle/>
          <a:p>
            <a:pPr>
              <a:lnSpc>
                <a:spcPts val="2928"/>
              </a:lnSpc>
              <a:spcBef>
                <a:spcPts val="0"/>
              </a:spcBef>
              <a:spcAft>
                <a:spcPts val="0"/>
              </a:spcAft>
            </a:pPr>
            <a:r>
              <a:rPr sz="2400" b="0" i="0">
                <a:solidFill>
                  <a:srgbClr val="AD843F"/>
                </a:solidFill>
                <a:latin typeface="Times New Roman"/>
              </a:rPr>
              <a:t>2033–2035</a:t>
            </a:r>
          </a:p>
        </p:txBody>
      </p:sp>
      <p:cxnSp>
        <p:nvCxnSpPr>
          <p:cNvPr id="25" name="Connector 24"/>
          <p:cNvCxnSpPr/>
          <p:nvPr/>
        </p:nvCxnSpPr>
        <p:spPr>
          <a:xfrm>
            <a:off x="8915400" y="2587752"/>
            <a:ext cx="2560320"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915400" y="2798063"/>
            <a:ext cx="256032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83A32"/>
                </a:solidFill>
                <a:latin typeface="Arial"/>
              </a:rPr>
              <a:t>Leadership</a:t>
            </a:r>
          </a:p>
        </p:txBody>
      </p:sp>
      <p:sp>
        <p:nvSpPr>
          <p:cNvPr id="27" name="TextBox 26"/>
          <p:cNvSpPr txBox="1"/>
          <p:nvPr/>
        </p:nvSpPr>
        <p:spPr>
          <a:xfrm>
            <a:off x="8915400" y="3182111"/>
            <a:ext cx="2560320" cy="1051051"/>
          </a:xfrm>
          <a:prstGeom prst="rect">
            <a:avLst/>
          </a:prstGeom>
          <a:noFill/>
        </p:spPr>
        <p:txBody>
          <a:bodyPr wrap="none" lIns="0" rIns="0" tIns="0" bIns="0">
            <a:spAutoFit/>
          </a:bodyPr>
          <a:lstStyle/>
          <a:p>
            <a:pPr>
              <a:lnSpc>
                <a:spcPts val="1952"/>
              </a:lnSpc>
              <a:spcBef>
                <a:spcPts val="0"/>
              </a:spcBef>
              <a:spcAft>
                <a:spcPts val="0"/>
              </a:spcAft>
            </a:pPr>
            <a:r>
              <a:rPr sz="1600" b="0" i="0">
                <a:solidFill>
                  <a:srgbClr val="183A32"/>
                </a:solidFill>
                <a:latin typeface="Times New Roman"/>
              </a:rPr>
              <a:t>Optimise the portfolio,</a:t>
            </a:r>
          </a:p>
          <a:p>
            <a:pPr>
              <a:lnSpc>
                <a:spcPts val="1952"/>
              </a:lnSpc>
              <a:spcBef>
                <a:spcPts val="0"/>
              </a:spcBef>
              <a:spcAft>
                <a:spcPts val="0"/>
              </a:spcAft>
            </a:pPr>
            <a:r>
              <a:rPr sz="1600" b="0" i="0">
                <a:solidFill>
                  <a:srgbClr val="183A32"/>
                </a:solidFill>
                <a:latin typeface="Times New Roman"/>
              </a:rPr>
              <a:t>strengthen earnings resilience,</a:t>
            </a:r>
          </a:p>
          <a:p>
            <a:pPr>
              <a:lnSpc>
                <a:spcPts val="1952"/>
              </a:lnSpc>
              <a:spcBef>
                <a:spcPts val="0"/>
              </a:spcBef>
              <a:spcAft>
                <a:spcPts val="0"/>
              </a:spcAft>
            </a:pPr>
            <a:r>
              <a:rPr sz="1600" b="0" i="0">
                <a:solidFill>
                  <a:srgbClr val="183A32"/>
                </a:solidFill>
                <a:latin typeface="Times New Roman"/>
              </a:rPr>
              <a:t>and compete against the agreed</a:t>
            </a:r>
          </a:p>
          <a:p>
            <a:pPr>
              <a:lnSpc>
                <a:spcPts val="1952"/>
              </a:lnSpc>
              <a:spcBef>
                <a:spcPts val="0"/>
              </a:spcBef>
              <a:spcAft>
                <a:spcPts val="0"/>
              </a:spcAft>
            </a:pPr>
            <a:r>
              <a:rPr sz="1600" b="0" i="0">
                <a:solidFill>
                  <a:srgbClr val="183A32"/>
                </a:solidFill>
                <a:latin typeface="Times New Roman"/>
              </a:rPr>
              <a:t>Top Five benchmarks</a:t>
            </a:r>
          </a:p>
        </p:txBody>
      </p:sp>
      <p:sp>
        <p:nvSpPr>
          <p:cNvPr id="28" name="TextBox 2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41–42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Immediate Portfolio Focus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Integrated-city phasing in Bandung, Sidoarjo, and Taman Dayu.</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Community Living product and naming clarity.</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asset productivity.</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Industrial and logistics readiness.</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Hospitality development and opening discipline.</a:t>
            </a:r>
          </a:p>
        </p:txBody>
      </p:sp>
      <p:sp>
        <p:nvSpPr>
          <p:cNvPr id="21" name="Rectangle 20"/>
          <p:cNvSpPr/>
          <p:nvPr/>
        </p:nvSpPr>
        <p:spPr>
          <a:xfrm>
            <a:off x="685800" y="433209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33209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441439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Strategic principle: Measure financial, operational, and organisational progress throughout the journey.</a:t>
            </a:r>
          </a:p>
        </p:txBody>
      </p:sp>
      <p:sp>
        <p:nvSpPr>
          <p:cNvPr id="24" name="TextBox 23"/>
          <p:cNvSpPr txBox="1"/>
          <p:nvPr/>
        </p:nvSpPr>
        <p:spPr>
          <a:xfrm>
            <a:off x="685800" y="490073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roadmap is a proposed corporate transformation framework, not a replacement for individual project schedules.</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42–44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 the Ambition. Manage the Journey.</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Dimension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KPI</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Objective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Financial scale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Consolidated revenue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Top Five among the agreed listed-property peer group</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Profitability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Net profit attributable to owners of</a:t>
                      </a:r>
                    </a:p>
                    <a:p>
                      <a:pPr>
                        <a:lnSpc>
                          <a:spcPts val="1829"/>
                        </a:lnSpc>
                        <a:spcBef>
                          <a:spcPts val="0"/>
                        </a:spcBef>
                        <a:spcAft>
                          <a:spcPts val="0"/>
                        </a:spcAft>
                      </a:pPr>
                      <a:r>
                        <a:rPr sz="1550" b="0">
                          <a:solidFill>
                            <a:srgbClr val="183A32"/>
                          </a:solidFill>
                          <a:latin typeface="Arial"/>
                        </a:rPr>
                        <a:t>the parent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Top Five among the agreed peer group</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Capital productivity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ROIC and project IRR</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Meet board-approved hurdles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Financial resilience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Debt, liquidity, and cash</a:t>
                      </a:r>
                    </a:p>
                    <a:p>
                      <a:pPr>
                        <a:lnSpc>
                          <a:spcPts val="1829"/>
                        </a:lnSpc>
                        <a:spcBef>
                          <a:spcPts val="0"/>
                        </a:spcBef>
                        <a:spcAft>
                          <a:spcPts val="0"/>
                        </a:spcAft>
                      </a:pPr>
                      <a:r>
                        <a:rPr sz="1550" b="0">
                          <a:solidFill>
                            <a:srgbClr val="183A32"/>
                          </a:solidFill>
                          <a:latin typeface="Arial"/>
                        </a:rPr>
                        <a:t>conversion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Sustainable funding and leverage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Recurring income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Revenue, operating profit, and</a:t>
                      </a:r>
                    </a:p>
                    <a:p>
                      <a:pPr>
                        <a:lnSpc>
                          <a:spcPts val="1829"/>
                        </a:lnSpc>
                        <a:spcBef>
                          <a:spcPts val="0"/>
                        </a:spcBef>
                        <a:spcAft>
                          <a:spcPts val="0"/>
                        </a:spcAft>
                      </a:pPr>
                      <a:r>
                        <a:rPr sz="1550" b="0">
                          <a:solidFill>
                            <a:srgbClr val="183A32"/>
                          </a:solidFill>
                          <a:latin typeface="Arial"/>
                        </a:rPr>
                        <a:t>cash contribution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Meaningful, growing contribution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42–44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 the Ambition. Manage the Journey.</a:t>
            </a:r>
          </a:p>
        </p:txBody>
      </p:sp>
      <p:graphicFrame>
        <p:nvGraphicFramePr>
          <p:cNvPr id="11" name="Table 10"/>
          <p:cNvGraphicFramePr>
            <a:graphicFrameLocks noGrp="1"/>
          </p:cNvGraphicFramePr>
          <p:nvPr/>
        </p:nvGraphicFramePr>
        <p:xfrm>
          <a:off x="685800" y="2084831"/>
          <a:ext cx="10789919" cy="309638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Dimension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KPI</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Objective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Development execution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Absorption, handover, project</a:t>
                      </a:r>
                    </a:p>
                    <a:p>
                      <a:pPr>
                        <a:lnSpc>
                          <a:spcPts val="1829"/>
                        </a:lnSpc>
                        <a:spcBef>
                          <a:spcPts val="0"/>
                        </a:spcBef>
                        <a:spcAft>
                          <a:spcPts val="0"/>
                        </a:spcAft>
                      </a:pPr>
                      <a:r>
                        <a:rPr sz="1550" b="0">
                          <a:solidFill>
                            <a:srgbClr val="183A32"/>
                          </a:solidFill>
                          <a:latin typeface="Arial"/>
                        </a:rPr>
                        <a:t>margin, and delivery milestones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Consistent execution</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Asset productivity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Occupancy, RevPAR, NOI,</a:t>
                      </a:r>
                    </a:p>
                    <a:p>
                      <a:pPr>
                        <a:lnSpc>
                          <a:spcPts val="1829"/>
                        </a:lnSpc>
                        <a:spcBef>
                          <a:spcPts val="0"/>
                        </a:spcBef>
                        <a:spcAft>
                          <a:spcPts val="0"/>
                        </a:spcAft>
                      </a:pPr>
                      <a:r>
                        <a:rPr sz="1550" b="0">
                          <a:solidFill>
                            <a:srgbClr val="183A32"/>
                          </a:solidFill>
                          <a:latin typeface="Arial"/>
                        </a:rPr>
                        <a:t>utilisation, and visitation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Improve against asset-specific benchmarks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Customer confidence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Satisfaction, complaints, handover</a:t>
                      </a:r>
                    </a:p>
                    <a:p>
                      <a:pPr>
                        <a:lnSpc>
                          <a:spcPts val="1829"/>
                        </a:lnSpc>
                        <a:spcBef>
                          <a:spcPts val="0"/>
                        </a:spcBef>
                        <a:spcAft>
                          <a:spcPts val="0"/>
                        </a:spcAft>
                      </a:pPr>
                      <a:r>
                        <a:rPr sz="1550" b="0">
                          <a:solidFill>
                            <a:srgbClr val="183A32"/>
                          </a:solidFill>
                          <a:latin typeface="Arial"/>
                        </a:rPr>
                        <a:t>quality, and retention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Measurable improvement</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Brand strength</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Awareness, trust, and</a:t>
                      </a:r>
                    </a:p>
                    <a:p>
                      <a:pPr>
                        <a:lnSpc>
                          <a:spcPts val="1829"/>
                        </a:lnSpc>
                        <a:spcBef>
                          <a:spcPts val="0"/>
                        </a:spcBef>
                        <a:spcAft>
                          <a:spcPts val="0"/>
                        </a:spcAft>
                      </a:pPr>
                      <a:r>
                        <a:rPr sz="1550" b="0">
                          <a:solidFill>
                            <a:srgbClr val="183A32"/>
                          </a:solidFill>
                          <a:latin typeface="Arial"/>
                        </a:rPr>
                        <a:t>endorsement recognition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Stronger corporate reputation</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39.3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42–44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 the Ambition. Manage the Journey.</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Dimension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KPI</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Objective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Portfolio governance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Approved names, status,</a:t>
                      </a:r>
                    </a:p>
                    <a:p>
                      <a:pPr>
                        <a:lnSpc>
                          <a:spcPts val="1829"/>
                        </a:lnSpc>
                        <a:spcBef>
                          <a:spcPts val="0"/>
                        </a:spcBef>
                        <a:spcAft>
                          <a:spcPts val="0"/>
                        </a:spcAft>
                      </a:pPr>
                      <a:r>
                        <a:rPr sz="1550" b="0">
                          <a:solidFill>
                            <a:srgbClr val="183A32"/>
                          </a:solidFill>
                          <a:latin typeface="Arial"/>
                        </a:rPr>
                        <a:t>ownership, and operator records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One reconciled portfolio register</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39432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FINANCIAL PLANNING REQUIREMENT</a:t>
            </a:r>
          </a:p>
        </p:txBody>
      </p:sp>
      <p:sp>
        <p:nvSpPr>
          <p:cNvPr id="13" name="TextBox 12"/>
          <p:cNvSpPr txBox="1"/>
          <p:nvPr/>
        </p:nvSpPr>
        <p:spPr>
          <a:xfrm>
            <a:off x="685800" y="371563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Build an integrated model covering the contribution and funding requirements of:</a:t>
            </a:r>
          </a:p>
        </p:txBody>
      </p:sp>
      <p:sp>
        <p:nvSpPr>
          <p:cNvPr id="14" name="Rectangle 13"/>
          <p:cNvSpPr/>
          <p:nvPr/>
        </p:nvSpPr>
        <p:spPr>
          <a:xfrm>
            <a:off x="685800" y="42642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41728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Existing assets.</a:t>
            </a:r>
          </a:p>
        </p:txBody>
      </p:sp>
      <p:sp>
        <p:nvSpPr>
          <p:cNvPr id="16" name="Rectangle 15"/>
          <p:cNvSpPr/>
          <p:nvPr/>
        </p:nvSpPr>
        <p:spPr>
          <a:xfrm>
            <a:off x="685800" y="47137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62229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Ongoing developments.</a:t>
            </a:r>
          </a:p>
        </p:txBody>
      </p:sp>
      <p:sp>
        <p:nvSpPr>
          <p:cNvPr id="18" name="Rectangle 17"/>
          <p:cNvSpPr/>
          <p:nvPr/>
        </p:nvSpPr>
        <p:spPr>
          <a:xfrm>
            <a:off x="685800" y="516318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507174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Upcoming projects.</a:t>
            </a:r>
          </a:p>
        </p:txBody>
      </p:sp>
      <p:sp>
        <p:nvSpPr>
          <p:cNvPr id="20" name="Rectangle 19"/>
          <p:cNvSpPr/>
          <p:nvPr/>
        </p:nvSpPr>
        <p:spPr>
          <a:xfrm>
            <a:off x="685800" y="561263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552119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Retained commercial and hospitality assets.</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39.4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42–44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 the Ambition. Manage the Journey.</a:t>
            </a:r>
          </a:p>
        </p:txBody>
      </p:sp>
      <p:sp>
        <p:nvSpPr>
          <p:cNvPr id="11" name="TextBox 10"/>
          <p:cNvSpPr txBox="1"/>
          <p:nvPr/>
        </p:nvSpPr>
        <p:spPr>
          <a:xfrm>
            <a:off x="6400800" y="2514600"/>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Partnerships and potential acquisitions.</a:t>
            </a:r>
          </a:p>
        </p:txBody>
      </p:sp>
      <p:sp>
        <p:nvSpPr>
          <p:cNvPr id="12" name="TextBox 11"/>
          <p:cNvSpPr txBox="1"/>
          <p:nvPr/>
        </p:nvSpPr>
        <p:spPr>
          <a:xfrm>
            <a:off x="6400800" y="3066796"/>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Downside scenarios.</a:t>
            </a:r>
          </a:p>
        </p:txBody>
      </p:sp>
      <p:sp>
        <p:nvSpPr>
          <p:cNvPr id="13" name="TextBox 12"/>
          <p:cNvSpPr txBox="1"/>
          <p:nvPr/>
        </p:nvSpPr>
        <p:spPr>
          <a:xfrm>
            <a:off x="6400800" y="3618992"/>
            <a:ext cx="5029200" cy="36931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Projected competitor thresholds.</a:t>
            </a:r>
          </a:p>
        </p:txBody>
      </p:sp>
      <p:sp>
        <p:nvSpPr>
          <p:cNvPr id="14" name="TextBox 13"/>
          <p:cNvSpPr txBox="1"/>
          <p:nvPr/>
        </p:nvSpPr>
        <p:spPr>
          <a:xfrm>
            <a:off x="6400800" y="4171188"/>
            <a:ext cx="5029200" cy="1298955"/>
          </a:xfrm>
          <a:prstGeom prst="rect">
            <a:avLst/>
          </a:prstGeom>
          <a:noFill/>
        </p:spPr>
        <p:txBody>
          <a:bodyPr wrap="none" lIns="0" rIns="0" tIns="0" bIns="0">
            <a:spAutoFit/>
          </a:bodyPr>
          <a:lstStyle/>
          <a:p>
            <a:pPr>
              <a:lnSpc>
                <a:spcPts val="2440"/>
              </a:lnSpc>
              <a:spcBef>
                <a:spcPts val="0"/>
              </a:spcBef>
              <a:spcAft>
                <a:spcPts val="0"/>
              </a:spcAft>
            </a:pPr>
            <a:r>
              <a:rPr sz="2000" b="0" i="0">
                <a:solidFill>
                  <a:srgbClr val="183A32"/>
                </a:solidFill>
                <a:latin typeface="Times New Roman"/>
              </a:rPr>
              <a:t>Scale challenge: The FY2025 revenue baseline</a:t>
            </a:r>
          </a:p>
          <a:p>
            <a:pPr>
              <a:lnSpc>
                <a:spcPts val="2440"/>
              </a:lnSpc>
              <a:spcBef>
                <a:spcPts val="0"/>
              </a:spcBef>
              <a:spcAft>
                <a:spcPts val="0"/>
              </a:spcAft>
            </a:pPr>
            <a:r>
              <a:rPr sz="2000" b="0" i="0">
                <a:solidFill>
                  <a:srgbClr val="183A32"/>
                </a:solidFill>
                <a:latin typeface="Times New Roman"/>
              </a:rPr>
              <a:t>of approximately Rp410.7 billion requires</a:t>
            </a:r>
          </a:p>
          <a:p>
            <a:pPr>
              <a:lnSpc>
                <a:spcPts val="2440"/>
              </a:lnSpc>
              <a:spcBef>
                <a:spcPts val="0"/>
              </a:spcBef>
              <a:spcAft>
                <a:spcPts val="0"/>
              </a:spcAft>
            </a:pPr>
            <a:r>
              <a:rPr sz="2000" b="0" i="0">
                <a:solidFill>
                  <a:srgbClr val="183A32"/>
                </a:solidFill>
                <a:latin typeface="Times New Roman"/>
              </a:rPr>
              <a:t>substantial growth; competitors may also</a:t>
            </a:r>
          </a:p>
          <a:p>
            <a:pPr>
              <a:lnSpc>
                <a:spcPts val="2440"/>
              </a:lnSpc>
              <a:spcBef>
                <a:spcPts val="0"/>
              </a:spcBef>
              <a:spcAft>
                <a:spcPts val="0"/>
              </a:spcAft>
            </a:pPr>
            <a:r>
              <a:rPr sz="2000" b="0" i="0">
                <a:solidFill>
                  <a:srgbClr val="183A32"/>
                </a:solidFill>
                <a:latin typeface="Times New Roman"/>
              </a:rPr>
              <a:t>expand.</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40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44–45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109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Turn Portfolio Clarity Into Executive Decisions.</a:t>
            </a:r>
          </a:p>
        </p:txBody>
      </p:sp>
      <p:graphicFrame>
        <p:nvGraphicFramePr>
          <p:cNvPr id="11" name="Table 10"/>
          <p:cNvGraphicFramePr>
            <a:graphicFrameLocks noGrp="1"/>
          </p:cNvGraphicFramePr>
          <p:nvPr/>
        </p:nvGraphicFramePr>
        <p:xfrm>
          <a:off x="685800" y="2084831"/>
          <a:ext cx="10789919" cy="3328666"/>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Priority action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Deliverable</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Days 1–30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Reconcile all projects, names,</a:t>
                      </a:r>
                    </a:p>
                    <a:p>
                      <a:pPr>
                        <a:lnSpc>
                          <a:spcPts val="1829"/>
                        </a:lnSpc>
                        <a:spcBef>
                          <a:spcPts val="0"/>
                        </a:spcBef>
                        <a:spcAft>
                          <a:spcPts val="0"/>
                        </a:spcAft>
                      </a:pPr>
                      <a:r>
                        <a:rPr sz="1550" b="0">
                          <a:solidFill>
                            <a:srgbClr val="183A32"/>
                          </a:solidFill>
                          <a:latin typeface="Arial"/>
                        </a:rPr>
                        <a:t>statuses, ownership interests, and</a:t>
                      </a:r>
                    </a:p>
                    <a:p>
                      <a:pPr>
                        <a:lnSpc>
                          <a:spcPts val="1829"/>
                        </a:lnSpc>
                        <a:spcBef>
                          <a:spcPts val="0"/>
                        </a:spcBef>
                        <a:spcAft>
                          <a:spcPts val="0"/>
                        </a:spcAft>
                      </a:pPr>
                      <a:r>
                        <a:rPr sz="1550" b="0">
                          <a:solidFill>
                            <a:srgbClr val="183A32"/>
                          </a:solidFill>
                          <a:latin typeface="Arial"/>
                        </a:rPr>
                        <a:t>management relationships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Approved master portfolio register</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Days 1–45</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Audit financial and operating</a:t>
                      </a:r>
                    </a:p>
                    <a:p>
                      <a:pPr>
                        <a:lnSpc>
                          <a:spcPts val="1829"/>
                        </a:lnSpc>
                        <a:spcBef>
                          <a:spcPts val="0"/>
                        </a:spcBef>
                        <a:spcAft>
                          <a:spcPts val="0"/>
                        </a:spcAft>
                      </a:pPr>
                      <a:r>
                        <a:rPr sz="1550" b="0">
                          <a:solidFill>
                            <a:srgbClr val="183A32"/>
                          </a:solidFill>
                          <a:latin typeface="Arial"/>
                        </a:rPr>
                        <a:t>performance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Profitability, capital, cash-flow, and productivity baseline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Days 30–60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Approve corporate brand platform</a:t>
                      </a:r>
                    </a:p>
                    <a:p>
                      <a:pPr>
                        <a:lnSpc>
                          <a:spcPts val="1829"/>
                        </a:lnSpc>
                        <a:spcBef>
                          <a:spcPts val="0"/>
                        </a:spcBef>
                        <a:spcAft>
                          <a:spcPts val="0"/>
                        </a:spcAft>
                      </a:pPr>
                      <a:r>
                        <a:rPr sz="1550" b="0">
                          <a:solidFill>
                            <a:srgbClr val="183A32"/>
                          </a:solidFill>
                          <a:latin typeface="Arial"/>
                        </a:rPr>
                        <a:t>and naming governance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Brand strategy and endorsement framework</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Days 30–90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Review existing commitments and</a:t>
                      </a:r>
                    </a:p>
                    <a:p>
                      <a:pPr>
                        <a:lnSpc>
                          <a:spcPts val="1829"/>
                        </a:lnSpc>
                        <a:spcBef>
                          <a:spcPts val="0"/>
                        </a:spcBef>
                        <a:spcAft>
                          <a:spcPts val="0"/>
                        </a:spcAft>
                      </a:pPr>
                      <a:r>
                        <a:rPr sz="1550" b="0">
                          <a:solidFill>
                            <a:srgbClr val="183A32"/>
                          </a:solidFill>
                          <a:latin typeface="Arial"/>
                        </a:rPr>
                        <a:t>prioritise the pipeline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Investment and transformation opportunity matrix</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40.2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44–45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Turn Portfolio Clarity Into Executive Decisions.</a:t>
            </a:r>
          </a:p>
        </p:txBody>
      </p:sp>
      <p:graphicFrame>
        <p:nvGraphicFramePr>
          <p:cNvPr id="11" name="Table 10"/>
          <p:cNvGraphicFramePr>
            <a:graphicFrameLocks noGrp="1"/>
          </p:cNvGraphicFramePr>
          <p:nvPr/>
        </p:nvGraphicFramePr>
        <p:xfrm>
          <a:off x="685800" y="2084831"/>
          <a:ext cx="10789919" cy="24306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Priority action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Deliverable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Days 60–120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Develop priority business cases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Taman Dayu, integrated-city, industrial, and hospitality</a:t>
                      </a:r>
                    </a:p>
                    <a:p>
                      <a:pPr>
                        <a:lnSpc>
                          <a:spcPts val="1829"/>
                        </a:lnSpc>
                        <a:spcBef>
                          <a:spcPts val="0"/>
                        </a:spcBef>
                        <a:spcAft>
                          <a:spcPts val="0"/>
                        </a:spcAft>
                      </a:pPr>
                      <a:r>
                        <a:rPr sz="1550" b="0">
                          <a:solidFill>
                            <a:srgbClr val="183A32"/>
                          </a:solidFill>
                          <a:latin typeface="Arial"/>
                        </a:rPr>
                        <a:t>workstreams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Days 90–150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 customer and operating</a:t>
                      </a:r>
                    </a:p>
                    <a:p>
                      <a:pPr>
                        <a:lnSpc>
                          <a:spcPts val="1829"/>
                        </a:lnSpc>
                        <a:spcBef>
                          <a:spcPts val="0"/>
                        </a:spcBef>
                        <a:spcAft>
                          <a:spcPts val="0"/>
                        </a:spcAft>
                      </a:pPr>
                      <a:r>
                        <a:rPr sz="1550" b="0">
                          <a:solidFill>
                            <a:srgbClr val="183A32"/>
                          </a:solidFill>
                          <a:latin typeface="Arial"/>
                        </a:rPr>
                        <a:t>standards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Super-Serving measures and partner responsibilities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Days 120–180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Approve the funded</a:t>
                      </a:r>
                    </a:p>
                    <a:p>
                      <a:pPr>
                        <a:lnSpc>
                          <a:spcPts val="1829"/>
                        </a:lnSpc>
                        <a:spcBef>
                          <a:spcPts val="0"/>
                        </a:spcBef>
                        <a:spcAft>
                          <a:spcPts val="0"/>
                        </a:spcAft>
                      </a:pPr>
                      <a:r>
                        <a:rPr sz="1550" b="0">
                          <a:solidFill>
                            <a:srgbClr val="183A32"/>
                          </a:solidFill>
                          <a:latin typeface="Arial"/>
                        </a:rPr>
                        <a:t>transformation plan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Roadmap, accountable owners, and quarterly scorecard</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725797"/>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GOVERNANCE</a:t>
            </a:r>
          </a:p>
        </p:txBody>
      </p:sp>
      <p:sp>
        <p:nvSpPr>
          <p:cNvPr id="13" name="TextBox 12"/>
          <p:cNvSpPr txBox="1"/>
          <p:nvPr/>
        </p:nvSpPr>
        <p:spPr>
          <a:xfrm>
            <a:off x="685800" y="504710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Create an executive-led steering committee representing finance, development, commercial, operations, corporate</a:t>
            </a:r>
          </a:p>
          <a:p>
            <a:pPr>
              <a:lnSpc>
                <a:spcPts val="2196"/>
              </a:lnSpc>
              <a:spcBef>
                <a:spcPts val="0"/>
              </a:spcBef>
              <a:spcAft>
                <a:spcPts val="0"/>
              </a:spcAft>
            </a:pPr>
            <a:r>
              <a:rPr sz="1800" b="0" i="0">
                <a:solidFill>
                  <a:srgbClr val="183A32"/>
                </a:solidFill>
                <a:latin typeface="Times New Roman"/>
              </a:rPr>
              <a:t>strategy, and relevant operating partners.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MAIN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40.3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44–45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Turn Portfolio Clarity Into Executive Decisions.</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Rubicube can support strategy, brand governance, concept development, and communication architecture.</a:t>
            </a:r>
          </a:p>
        </p:txBody>
      </p:sp>
      <p:sp>
        <p:nvSpPr>
          <p:cNvPr id="12" name="TextBox 11"/>
          <p:cNvSpPr txBox="1"/>
          <p:nvPr/>
        </p:nvSpPr>
        <p:spPr>
          <a:xfrm>
            <a:off x="685800" y="25420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Investment and operating decisions remain with TANRISE management and qualified delivery partners.</a:t>
            </a:r>
          </a:p>
        </p:txBody>
      </p:sp>
      <p:sp>
        <p:nvSpPr>
          <p:cNvPr id="13" name="TextBox 12"/>
          <p:cNvSpPr txBox="1"/>
          <p:nvPr/>
        </p:nvSpPr>
        <p:spPr>
          <a:xfrm>
            <a:off x="685800" y="30266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CLOSING STATEMENT</a:t>
            </a:r>
          </a:p>
        </p:txBody>
      </p:sp>
      <p:sp>
        <p:nvSpPr>
          <p:cNvPr id="14" name="TextBox 13"/>
          <p:cNvSpPr txBox="1"/>
          <p:nvPr/>
        </p:nvSpPr>
        <p:spPr>
          <a:xfrm>
            <a:off x="685800" y="33479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We Build Places. We Create Possibilities. We Elevate Life.</a:t>
            </a:r>
          </a:p>
        </p:txBody>
      </p:sp>
      <p:sp>
        <p:nvSpPr>
          <p:cNvPr id="15" name="TextBox 14"/>
          <p:cNvSpPr txBox="1"/>
          <p:nvPr/>
        </p:nvSpPr>
        <p:spPr>
          <a:xfrm>
            <a:off x="685800" y="3805173"/>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future of TANRISE will be shaped by the lives we enrich, the businesses we enable, the communities we</a:t>
            </a:r>
          </a:p>
          <a:p>
            <a:pPr>
              <a:lnSpc>
                <a:spcPts val="2196"/>
              </a:lnSpc>
              <a:spcBef>
                <a:spcPts val="0"/>
              </a:spcBef>
              <a:spcAft>
                <a:spcPts val="0"/>
              </a:spcAft>
            </a:pPr>
            <a:r>
              <a:rPr sz="1800" b="0" i="0">
                <a:solidFill>
                  <a:srgbClr val="183A32"/>
                </a:solidFill>
                <a:latin typeface="Times New Roman"/>
              </a:rPr>
              <a:t>strengthen, and the lasting value we create.</a:t>
            </a:r>
          </a:p>
        </p:txBody>
      </p:sp>
      <p:sp>
        <p:nvSpPr>
          <p:cNvPr id="16" name="TextBox 15"/>
          <p:cNvSpPr txBox="1"/>
          <p:nvPr/>
        </p:nvSpPr>
        <p:spPr>
          <a:xfrm>
            <a:off x="685800" y="454126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 Elevating Life.</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APPENDIX A</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112</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A</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Complete Project And Naming Register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45–46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Integrated City</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Naming and interpretation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Tanrise Taman Dayu</a:t>
                      </a:r>
                    </a:p>
                    <a:p>
                      <a:pPr>
                        <a:lnSpc>
                          <a:spcPts val="1829"/>
                        </a:lnSpc>
                        <a:spcBef>
                          <a:spcPts val="0"/>
                        </a:spcBef>
                        <a:spcAft>
                          <a:spcPts val="0"/>
                        </a:spcAft>
                      </a:pPr>
                      <a:r>
                        <a:rPr sz="1550" b="0">
                          <a:solidFill>
                            <a:srgbClr val="183A32"/>
                          </a:solidFill>
                          <a:latin typeface="Arial"/>
                        </a:rPr>
                        <a:t>Pandaan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Integrated destination; distinguish it from golf, resort,</a:t>
                      </a:r>
                    </a:p>
                    <a:p>
                      <a:pPr>
                        <a:lnSpc>
                          <a:spcPts val="1829"/>
                        </a:lnSpc>
                        <a:spcBef>
                          <a:spcPts val="0"/>
                        </a:spcBef>
                        <a:spcAft>
                          <a:spcPts val="0"/>
                        </a:spcAft>
                      </a:pPr>
                      <a:r>
                        <a:rPr sz="1550" b="0">
                          <a:solidFill>
                            <a:srgbClr val="183A32"/>
                          </a:solidFill>
                          <a:latin typeface="Arial"/>
                        </a:rPr>
                        <a:t>Driving Range, and other components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Tanrise Bandung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Integrated development in Bandung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Tanrise City Sidoarjo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Integrated-city development in Sidoarjo</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Swiss of Taman Dayu</a:t>
                      </a:r>
                    </a:p>
                    <a:p>
                      <a:pPr>
                        <a:lnSpc>
                          <a:spcPts val="1829"/>
                        </a:lnSpc>
                        <a:spcBef>
                          <a:spcPts val="0"/>
                        </a:spcBef>
                        <a:spcAft>
                          <a:spcPts val="0"/>
                        </a:spcAft>
                      </a:pPr>
                      <a:r>
                        <a:rPr sz="1550" b="0">
                          <a:solidFill>
                            <a:srgbClr val="183A32"/>
                          </a:solidFill>
                          <a:latin typeface="Arial"/>
                        </a:rPr>
                        <a:t>Pandaan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Separate development reference within the wider Taman</a:t>
                      </a:r>
                    </a:p>
                    <a:p>
                      <a:pPr>
                        <a:lnSpc>
                          <a:spcPts val="1829"/>
                        </a:lnSpc>
                        <a:spcBef>
                          <a:spcPts val="0"/>
                        </a:spcBef>
                        <a:spcAft>
                          <a:spcPts val="0"/>
                        </a:spcAft>
                      </a:pPr>
                      <a:r>
                        <a:rPr sz="1550" b="0">
                          <a:solidFill>
                            <a:srgbClr val="183A32"/>
                          </a:solidFill>
                          <a:latin typeface="Arial"/>
                        </a:rPr>
                        <a:t>Dayu context</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Tanrise Taman Dayu /</a:t>
                      </a:r>
                    </a:p>
                    <a:p>
                      <a:pPr>
                        <a:lnSpc>
                          <a:spcPts val="1829"/>
                        </a:lnSpc>
                        <a:spcBef>
                          <a:spcPts val="0"/>
                        </a:spcBef>
                        <a:spcAft>
                          <a:spcPts val="0"/>
                        </a:spcAft>
                      </a:pPr>
                      <a:r>
                        <a:rPr sz="1550" b="0">
                          <a:solidFill>
                            <a:srgbClr val="183A32"/>
                          </a:solidFill>
                          <a:latin typeface="Arial"/>
                        </a:rPr>
                        <a:t>Taman Dayu</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Brand and destination references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the approved full destination name consistently</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45–46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Integrated City</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Naming and interpretation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Tanrise City Sidoarjo</a:t>
                      </a:r>
                    </a:p>
                    <a:p>
                      <a:pPr>
                        <a:lnSpc>
                          <a:spcPts val="1829"/>
                        </a:lnSpc>
                        <a:spcBef>
                          <a:spcPts val="0"/>
                        </a:spcBef>
                        <a:spcAft>
                          <a:spcPts val="0"/>
                        </a:spcAft>
                      </a:pPr>
                      <a:r>
                        <a:rPr sz="1550" b="0">
                          <a:solidFill>
                            <a:srgbClr val="183A32"/>
                          </a:solidFill>
                          <a:latin typeface="Arial"/>
                        </a:rPr>
                        <a:t>logo treatment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Brand portfolio proposal</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Naming exists in investor materials; final visual lockup</a:t>
                      </a:r>
                    </a:p>
                    <a:p>
                      <a:pPr>
                        <a:lnSpc>
                          <a:spcPts val="1829"/>
                        </a:lnSpc>
                        <a:spcBef>
                          <a:spcPts val="0"/>
                        </a:spcBef>
                        <a:spcAft>
                          <a:spcPts val="0"/>
                        </a:spcAft>
                      </a:pPr>
                      <a:r>
                        <a:rPr sz="1550" b="0">
                          <a:solidFill>
                            <a:srgbClr val="183A32"/>
                          </a:solidFill>
                          <a:latin typeface="Arial"/>
                        </a:rPr>
                        <a:t>requires approval</a:t>
                      </a:r>
                    </a:p>
                  </a:txBody>
                  <a:tcPr marL="109728" marR="109728" marT="82296" marB="0" anchor="t">
                    <a:solidFill>
                      <a:srgbClr val="F6F2E9"/>
                    </a:solidFill>
                    <a:lnL>
                      <a:noFill/>
                    </a:lnL>
                    <a:lnR>
                      <a:noFill/>
                    </a:lnR>
                    <a:lnT>
                      <a:noFill/>
                    </a:lnT>
                    <a:lnB>
                      <a:noFill/>
                    </a:lnB>
                  </a:tcPr>
                </a:tc>
              </a:tr>
            </a:tbl>
          </a:graphicData>
        </a:graphic>
      </p:graphicFrame>
      <p:sp>
        <p:nvSpPr>
          <p:cNvPr id="12" name="Rectangle 11"/>
          <p:cNvSpPr/>
          <p:nvPr/>
        </p:nvSpPr>
        <p:spPr>
          <a:xfrm>
            <a:off x="685800" y="336689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36689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344919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Rule: Do not merge the wider Taman Dayu destination and its component assets into a single undifferentiated investment.</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46–48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Community Living and High-Rise Residential</a:t>
            </a:r>
          </a:p>
        </p:txBody>
      </p:sp>
      <p:graphicFrame>
        <p:nvGraphicFramePr>
          <p:cNvPr id="11" name="Table 10"/>
          <p:cNvGraphicFramePr>
            <a:graphicFrameLocks noGrp="1"/>
          </p:cNvGraphicFramePr>
          <p:nvPr/>
        </p:nvGraphicFramePr>
        <p:xfrm>
          <a:off x="685800" y="2084831"/>
          <a:ext cx="10789919" cy="3297550"/>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 or name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or evidence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Grand Sunrise Menganti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in investor deck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Grand Sunrise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Established brand reference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location descriptor where approved</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Jumana Residence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public-facing name and</a:t>
                      </a:r>
                    </a:p>
                    <a:p>
                      <a:pPr>
                        <a:lnSpc>
                          <a:spcPts val="1829"/>
                        </a:lnSpc>
                        <a:spcBef>
                          <a:spcPts val="0"/>
                        </a:spcBef>
                        <a:spcAft>
                          <a:spcPts val="0"/>
                        </a:spcAft>
                      </a:pPr>
                      <a:r>
                        <a:rPr sz="1550" b="0">
                          <a:solidFill>
                            <a:srgbClr val="183A32"/>
                          </a:solidFill>
                          <a:latin typeface="Arial"/>
                        </a:rPr>
                        <a:t>investor milestone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 as a recognised name during transition</a:t>
                      </a:r>
                    </a:p>
                  </a:txBody>
                  <a:tcPr marL="109728" marR="109728" marT="82296" marB="0" anchor="t">
                    <a:solidFill>
                      <a:srgbClr val="F6F2E9"/>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Sunrise Residence</a:t>
                      </a:r>
                    </a:p>
                    <a:p>
                      <a:pPr>
                        <a:lnSpc>
                          <a:spcPts val="1829"/>
                        </a:lnSpc>
                        <a:spcBef>
                          <a:spcPts val="0"/>
                        </a:spcBef>
                        <a:spcAft>
                          <a:spcPts val="0"/>
                        </a:spcAft>
                      </a:pPr>
                      <a:r>
                        <a:rPr sz="1550" b="0">
                          <a:solidFill>
                            <a:srgbClr val="183A32"/>
                          </a:solidFill>
                          <a:latin typeface="Arial"/>
                        </a:rPr>
                        <a:t>Sidoarjo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listing in investor deck;</a:t>
                      </a:r>
                    </a:p>
                    <a:p>
                      <a:pPr>
                        <a:lnSpc>
                          <a:spcPts val="1829"/>
                        </a:lnSpc>
                        <a:spcBef>
                          <a:spcPts val="0"/>
                        </a:spcBef>
                        <a:spcAft>
                          <a:spcPts val="0"/>
                        </a:spcAft>
                      </a:pPr>
                      <a:r>
                        <a:rPr sz="1550" b="0">
                          <a:solidFill>
                            <a:srgbClr val="183A32"/>
                          </a:solidFill>
                          <a:latin typeface="Arial"/>
                        </a:rPr>
                        <a:t>proposed replacement for Jumana</a:t>
                      </a:r>
                    </a:p>
                    <a:p>
                      <a:pPr>
                        <a:lnSpc>
                          <a:spcPts val="1829"/>
                        </a:lnSpc>
                        <a:spcBef>
                          <a:spcPts val="0"/>
                        </a:spcBef>
                        <a:spcAft>
                          <a:spcPts val="0"/>
                        </a:spcAft>
                      </a:pPr>
                      <a:r>
                        <a:rPr sz="1550" b="0">
                          <a:solidFill>
                            <a:srgbClr val="183A32"/>
                          </a:solidFill>
                          <a:latin typeface="Arial"/>
                        </a:rPr>
                        <a:t>in brand deck</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Record as one project with a naming transition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Kyo Society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Residential apartment project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46–48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Community Living and High-Rise Residential</a:t>
            </a:r>
          </a:p>
        </p:txBody>
      </p:sp>
      <p:graphicFrame>
        <p:nvGraphicFramePr>
          <p:cNvPr id="11" name="Table 10"/>
          <p:cNvGraphicFramePr>
            <a:graphicFrameLocks noGrp="1"/>
          </p:cNvGraphicFramePr>
          <p:nvPr/>
        </p:nvGraphicFramePr>
        <p:xfrm>
          <a:off x="685800" y="2084831"/>
          <a:ext cx="10789919" cy="352983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 or name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or evidence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Kyo Apartment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Descriptive label in branding deck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Do not count separately from Kyo Society</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ARC100 / ARC 100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Documented apartment brand and</a:t>
                      </a:r>
                    </a:p>
                    <a:p>
                      <a:pPr>
                        <a:lnSpc>
                          <a:spcPts val="1829"/>
                        </a:lnSpc>
                        <a:spcBef>
                          <a:spcPts val="0"/>
                        </a:spcBef>
                        <a:spcAft>
                          <a:spcPts val="0"/>
                        </a:spcAft>
                      </a:pPr>
                      <a:r>
                        <a:rPr sz="1550" b="0">
                          <a:solidFill>
                            <a:srgbClr val="183A32"/>
                          </a:solidFill>
                          <a:latin typeface="Arial"/>
                        </a:rPr>
                        <a:t>investor milestones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consistent approved styling; confirm relationship to</a:t>
                      </a:r>
                    </a:p>
                    <a:p>
                      <a:pPr>
                        <a:lnSpc>
                          <a:spcPts val="1829"/>
                        </a:lnSpc>
                        <a:spcBef>
                          <a:spcPts val="0"/>
                        </a:spcBef>
                        <a:spcAft>
                          <a:spcPts val="0"/>
                        </a:spcAft>
                      </a:pPr>
                      <a:r>
                        <a:rPr sz="1550" b="0">
                          <a:solidFill>
                            <a:srgbClr val="183A32"/>
                          </a:solidFill>
                          <a:latin typeface="Arial"/>
                        </a:rPr>
                        <a:t>other accommodation names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Sunrise Residence</a:t>
                      </a:r>
                    </a:p>
                    <a:p>
                      <a:pPr>
                        <a:lnSpc>
                          <a:spcPts val="1829"/>
                        </a:lnSpc>
                        <a:spcBef>
                          <a:spcPts val="0"/>
                        </a:spcBef>
                        <a:spcAft>
                          <a:spcPts val="0"/>
                        </a:spcAft>
                      </a:pPr>
                      <a:r>
                        <a:rPr sz="1550" b="0">
                          <a:solidFill>
                            <a:srgbClr val="183A32"/>
                          </a:solidFill>
                          <a:latin typeface="Arial"/>
                        </a:rPr>
                        <a:t>Malang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 in investor deck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final name and scope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Sunrise Garden Malang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Name used on investor portfolio</a:t>
                      </a:r>
                    </a:p>
                    <a:p>
                      <a:pPr>
                        <a:lnSpc>
                          <a:spcPts val="1829"/>
                        </a:lnSpc>
                        <a:spcBef>
                          <a:spcPts val="0"/>
                        </a:spcBef>
                        <a:spcAft>
                          <a:spcPts val="0"/>
                        </a:spcAft>
                      </a:pPr>
                      <a:r>
                        <a:rPr sz="1550" b="0">
                          <a:solidFill>
                            <a:srgbClr val="183A32"/>
                          </a:solidFill>
                          <a:latin typeface="Arial"/>
                        </a:rPr>
                        <a:t>map</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Reconcile with other Malang references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Grand Sunrise Malang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Shown in proposed naming and</a:t>
                      </a:r>
                    </a:p>
                    <a:p>
                      <a:pPr>
                        <a:lnSpc>
                          <a:spcPts val="1829"/>
                        </a:lnSpc>
                        <a:spcBef>
                          <a:spcPts val="0"/>
                        </a:spcBef>
                        <a:spcAft>
                          <a:spcPts val="0"/>
                        </a:spcAft>
                      </a:pPr>
                      <a:r>
                        <a:rPr sz="1550" b="0">
                          <a:solidFill>
                            <a:srgbClr val="183A32"/>
                          </a:solidFill>
                          <a:latin typeface="Arial"/>
                        </a:rPr>
                        <a:t>project rendering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whether separate from, or a naming alternative</a:t>
                      </a:r>
                    </a:p>
                    <a:p>
                      <a:pPr>
                        <a:lnSpc>
                          <a:spcPts val="1829"/>
                        </a:lnSpc>
                        <a:spcBef>
                          <a:spcPts val="0"/>
                        </a:spcBef>
                        <a:spcAft>
                          <a:spcPts val="0"/>
                        </a:spcAft>
                      </a:pPr>
                      <a:r>
                        <a:rPr sz="1550" b="0">
                          <a:solidFill>
                            <a:srgbClr val="183A32"/>
                          </a:solidFill>
                          <a:latin typeface="Arial"/>
                        </a:rPr>
                        <a:t>to, Sunrise Residence Malang</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46–48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Community Living and High-Rise Residential</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 or name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or evidence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Aegis Avenue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Historical launch reference in</a:t>
                      </a:r>
                    </a:p>
                    <a:p>
                      <a:pPr>
                        <a:lnSpc>
                          <a:spcPts val="1829"/>
                        </a:lnSpc>
                        <a:spcBef>
                          <a:spcPts val="0"/>
                        </a:spcBef>
                        <a:spcAft>
                          <a:spcPts val="0"/>
                        </a:spcAft>
                      </a:pPr>
                      <a:r>
                        <a:rPr sz="1550" b="0">
                          <a:solidFill>
                            <a:srgbClr val="183A32"/>
                          </a:solidFill>
                          <a:latin typeface="Arial"/>
                        </a:rPr>
                        <a:t>investor milestones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 in historical register; confirm current name,</a:t>
                      </a:r>
                    </a:p>
                    <a:p>
                      <a:pPr>
                        <a:lnSpc>
                          <a:spcPts val="1829"/>
                        </a:lnSpc>
                        <a:spcBef>
                          <a:spcPts val="0"/>
                        </a:spcBef>
                        <a:spcAft>
                          <a:spcPts val="0"/>
                        </a:spcAft>
                      </a:pPr>
                      <a:r>
                        <a:rPr sz="1550" b="0">
                          <a:solidFill>
                            <a:srgbClr val="183A32"/>
                          </a:solidFill>
                          <a:latin typeface="Arial"/>
                        </a:rPr>
                        <a:t>classification, and relationship to other projects</a:t>
                      </a:r>
                    </a:p>
                  </a:txBody>
                  <a:tcPr marL="109728" marR="109728" marT="82296" marB="0" anchor="t">
                    <a:solidFill>
                      <a:srgbClr val="F6F2E9"/>
                    </a:solidFill>
                    <a:lnL>
                      <a:noFill/>
                    </a:lnL>
                    <a:lnR>
                      <a:noFill/>
                    </a:lnR>
                    <a:lnT>
                      <a:noFill/>
                    </a:lnT>
                    <a:lnB>
                      <a:noFill/>
                    </a:lnB>
                  </a:tcPr>
                </a:tc>
              </a:tr>
            </a:tbl>
          </a:graphicData>
        </a:graphic>
      </p:graphicFrame>
      <p:sp>
        <p:nvSpPr>
          <p:cNvPr id="12" name="Rectangle 11"/>
          <p:cNvSpPr/>
          <p:nvPr/>
        </p:nvSpPr>
        <p:spPr>
          <a:xfrm>
            <a:off x="685800" y="3366896"/>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366896"/>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3449192"/>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rule: Jumana Residence and Sunrise Residence Sidoarjo should not be counted as two separate projects without</a:t>
            </a:r>
          </a:p>
          <a:p>
            <a:pPr>
              <a:lnSpc>
                <a:spcPts val="2013"/>
              </a:lnSpc>
              <a:spcBef>
                <a:spcPts val="0"/>
              </a:spcBef>
              <a:spcAft>
                <a:spcPts val="0"/>
              </a:spcAft>
            </a:pPr>
            <a:r>
              <a:rPr sz="1650" b="0" i="0">
                <a:solidFill>
                  <a:srgbClr val="183A32"/>
                </a:solidFill>
                <a:latin typeface="Times New Roman"/>
              </a:rPr>
              <a:t>evidence of distinct assets.</a:t>
            </a:r>
          </a:p>
        </p:txBody>
      </p:sp>
      <p:sp>
        <p:nvSpPr>
          <p:cNvPr id="15" name="TextBox 14"/>
          <p:cNvSpPr txBox="1"/>
          <p:nvPr/>
        </p:nvSpPr>
        <p:spPr>
          <a:xfrm>
            <a:off x="685800" y="419328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Malang rule: Do not assume that every Malang name represents a separate development.</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48–49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Districts, Commercial, and Retail</a:t>
            </a:r>
          </a:p>
        </p:txBody>
      </p:sp>
      <p:graphicFrame>
        <p:nvGraphicFramePr>
          <p:cNvPr id="11" name="Table 10"/>
          <p:cNvGraphicFramePr>
            <a:graphicFrameLocks noGrp="1"/>
          </p:cNvGraphicFramePr>
          <p:nvPr/>
        </p:nvGraphicFramePr>
        <p:xfrm>
          <a:off x="685800" y="2084831"/>
          <a:ext cx="10789919" cy="352983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or evidence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Voza Tower</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Office development</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Rame-Rame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listing; 2026 launch year</a:t>
                      </a:r>
                    </a:p>
                    <a:p>
                      <a:pPr>
                        <a:lnSpc>
                          <a:spcPts val="1829"/>
                        </a:lnSpc>
                        <a:spcBef>
                          <a:spcPts val="0"/>
                        </a:spcBef>
                        <a:spcAft>
                          <a:spcPts val="0"/>
                        </a:spcAft>
                      </a:pPr>
                      <a:r>
                        <a:rPr sz="1550" b="0">
                          <a:solidFill>
                            <a:srgbClr val="183A32"/>
                          </a:solidFill>
                          <a:latin typeface="Arial"/>
                        </a:rPr>
                        <a:t>shown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Commercial destination with stalls, sportainment, and</a:t>
                      </a:r>
                    </a:p>
                    <a:p>
                      <a:pPr>
                        <a:lnSpc>
                          <a:spcPts val="1829"/>
                        </a:lnSpc>
                        <a:spcBef>
                          <a:spcPts val="0"/>
                        </a:spcBef>
                        <a:spcAft>
                          <a:spcPts val="0"/>
                        </a:spcAft>
                      </a:pPr>
                      <a:r>
                        <a:rPr sz="1550" b="0">
                          <a:solidFill>
                            <a:srgbClr val="183A32"/>
                          </a:solidFill>
                          <a:latin typeface="Arial"/>
                        </a:rPr>
                        <a:t>cinema components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Grand Central Bandung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Commercial development associated with the Bandung</a:t>
                      </a:r>
                    </a:p>
                    <a:p>
                      <a:pPr>
                        <a:lnSpc>
                          <a:spcPts val="1829"/>
                        </a:lnSpc>
                        <a:spcBef>
                          <a:spcPts val="0"/>
                        </a:spcBef>
                        <a:spcAft>
                          <a:spcPts val="0"/>
                        </a:spcAft>
                      </a:pPr>
                      <a:r>
                        <a:rPr sz="1550" b="0">
                          <a:solidFill>
                            <a:srgbClr val="183A32"/>
                          </a:solidFill>
                          <a:latin typeface="Arial"/>
                        </a:rPr>
                        <a:t>site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Midpoint Kayoon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Included in brand portfolio deck</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Commercial project; confirm current completion and</a:t>
                      </a:r>
                    </a:p>
                    <a:p>
                      <a:pPr>
                        <a:lnSpc>
                          <a:spcPts val="1829"/>
                        </a:lnSpc>
                        <a:spcBef>
                          <a:spcPts val="0"/>
                        </a:spcBef>
                        <a:spcAft>
                          <a:spcPts val="0"/>
                        </a:spcAft>
                      </a:pPr>
                      <a:r>
                        <a:rPr sz="1550" b="0">
                          <a:solidFill>
                            <a:srgbClr val="183A32"/>
                          </a:solidFill>
                          <a:latin typeface="Arial"/>
                        </a:rPr>
                        <a:t>operating status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Bali Bites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listing in investor portfolio</a:t>
                      </a:r>
                    </a:p>
                    <a:p>
                      <a:pPr>
                        <a:lnSpc>
                          <a:spcPts val="1829"/>
                        </a:lnSpc>
                        <a:spcBef>
                          <a:spcPts val="0"/>
                        </a:spcBef>
                        <a:spcAft>
                          <a:spcPts val="0"/>
                        </a:spcAft>
                      </a:pPr>
                      <a:r>
                        <a:rPr sz="1550" b="0">
                          <a:solidFill>
                            <a:srgbClr val="183A32"/>
                          </a:solidFill>
                          <a:latin typeface="Arial"/>
                        </a:rPr>
                        <a:t>map and brand deck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Commercial/F&amp;B destination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48–49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119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Districts, Commercial, and Retail</a:t>
            </a:r>
          </a:p>
        </p:txBody>
      </p:sp>
      <p:graphicFrame>
        <p:nvGraphicFramePr>
          <p:cNvPr id="11" name="Table 10"/>
          <p:cNvGraphicFramePr>
            <a:graphicFrameLocks noGrp="1"/>
          </p:cNvGraphicFramePr>
          <p:nvPr/>
        </p:nvGraphicFramePr>
        <p:xfrm>
          <a:off x="685800" y="2084831"/>
          <a:ext cx="10789919" cy="24306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or evidence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Temu Kamu</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Named within the Bali Bites</a:t>
                      </a:r>
                    </a:p>
                    <a:p>
                      <a:pPr>
                        <a:lnSpc>
                          <a:spcPts val="1829"/>
                        </a:lnSpc>
                        <a:spcBef>
                          <a:spcPts val="0"/>
                        </a:spcBef>
                        <a:spcAft>
                          <a:spcPts val="0"/>
                        </a:spcAft>
                      </a:pPr>
                      <a:r>
                        <a:rPr sz="1550" b="0">
                          <a:solidFill>
                            <a:srgbClr val="183A32"/>
                          </a:solidFill>
                          <a:latin typeface="Arial"/>
                        </a:rPr>
                        <a:t>reference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F&amp;B operating concept; distinguish from the property</a:t>
                      </a:r>
                    </a:p>
                    <a:p>
                      <a:pPr>
                        <a:lnSpc>
                          <a:spcPts val="1829"/>
                        </a:lnSpc>
                        <a:spcBef>
                          <a:spcPts val="0"/>
                        </a:spcBef>
                        <a:spcAft>
                          <a:spcPts val="0"/>
                        </a:spcAft>
                      </a:pPr>
                      <a:r>
                        <a:rPr sz="1550" b="0">
                          <a:solidFill>
                            <a:srgbClr val="183A32"/>
                          </a:solidFill>
                          <a:latin typeface="Arial"/>
                        </a:rPr>
                        <a:t>asset</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Chamas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Named within the Bali Bites</a:t>
                      </a:r>
                    </a:p>
                    <a:p>
                      <a:pPr>
                        <a:lnSpc>
                          <a:spcPts val="1829"/>
                        </a:lnSpc>
                        <a:spcBef>
                          <a:spcPts val="0"/>
                        </a:spcBef>
                        <a:spcAft>
                          <a:spcPts val="0"/>
                        </a:spcAft>
                      </a:pPr>
                      <a:r>
                        <a:rPr sz="1550" b="0">
                          <a:solidFill>
                            <a:srgbClr val="183A32"/>
                          </a:solidFill>
                          <a:latin typeface="Arial"/>
                        </a:rPr>
                        <a:t>reference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F&amp;B operating concept; distinguish from the property</a:t>
                      </a:r>
                    </a:p>
                    <a:p>
                      <a:pPr>
                        <a:lnSpc>
                          <a:spcPts val="1829"/>
                        </a:lnSpc>
                        <a:spcBef>
                          <a:spcPts val="0"/>
                        </a:spcBef>
                        <a:spcAft>
                          <a:spcPts val="0"/>
                        </a:spcAft>
                      </a:pPr>
                      <a:r>
                        <a:rPr sz="1550" b="0">
                          <a:solidFill>
                            <a:srgbClr val="183A32"/>
                          </a:solidFill>
                          <a:latin typeface="Arial"/>
                        </a:rPr>
                        <a:t>asset</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Kyo Society under</a:t>
                      </a:r>
                    </a:p>
                    <a:p>
                      <a:pPr>
                        <a:lnSpc>
                          <a:spcPts val="1829"/>
                        </a:lnSpc>
                        <a:spcBef>
                          <a:spcPts val="0"/>
                        </a:spcBef>
                        <a:spcAft>
                          <a:spcPts val="0"/>
                        </a:spcAft>
                      </a:pPr>
                      <a:r>
                        <a:rPr sz="1550" b="0">
                          <a:solidFill>
                            <a:srgbClr val="183A32"/>
                          </a:solidFill>
                          <a:latin typeface="Arial"/>
                        </a:rPr>
                        <a:t>Commercial &amp; Retail</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Classification used in branding</a:t>
                      </a:r>
                    </a:p>
                    <a:p>
                      <a:pPr>
                        <a:lnSpc>
                          <a:spcPts val="1829"/>
                        </a:lnSpc>
                        <a:spcBef>
                          <a:spcPts val="0"/>
                        </a:spcBef>
                        <a:spcAft>
                          <a:spcPts val="0"/>
                        </a:spcAft>
                      </a:pPr>
                      <a:r>
                        <a:rPr sz="1550" b="0">
                          <a:solidFill>
                            <a:srgbClr val="183A32"/>
                          </a:solidFill>
                          <a:latin typeface="Arial"/>
                        </a:rPr>
                        <a:t>deck</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Explain investment marketing separately; retain primary</a:t>
                      </a:r>
                    </a:p>
                    <a:p>
                      <a:pPr>
                        <a:lnSpc>
                          <a:spcPts val="1829"/>
                        </a:lnSpc>
                        <a:spcBef>
                          <a:spcPts val="0"/>
                        </a:spcBef>
                        <a:spcAft>
                          <a:spcPts val="0"/>
                        </a:spcAft>
                      </a:pPr>
                      <a:r>
                        <a:rPr sz="1550" b="0">
                          <a:solidFill>
                            <a:srgbClr val="183A32"/>
                          </a:solidFill>
                          <a:latin typeface="Arial"/>
                        </a:rPr>
                        <a:t>residential-apartment classification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698365"/>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Commercial-component rule: Shophouses and retail areas within housing, warehouse, or township projects are</a:t>
            </a:r>
          </a:p>
          <a:p>
            <a:pPr>
              <a:lnSpc>
                <a:spcPts val="2196"/>
              </a:lnSpc>
              <a:spcBef>
                <a:spcPts val="0"/>
              </a:spcBef>
              <a:spcAft>
                <a:spcPts val="0"/>
              </a:spcAft>
            </a:pPr>
            <a:r>
              <a:rPr sz="1800" b="0" i="0">
                <a:solidFill>
                  <a:srgbClr val="183A32"/>
                </a:solidFill>
                <a:latin typeface="Times New Roman"/>
              </a:rPr>
              <a:t>components of those developments unless documented as separate brands or assets.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49–51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Logistics and Warehouse Portfolio</a:t>
            </a:r>
          </a:p>
        </p:txBody>
      </p:sp>
      <p:graphicFrame>
        <p:nvGraphicFramePr>
          <p:cNvPr id="11" name="Table 10"/>
          <p:cNvGraphicFramePr>
            <a:graphicFrameLocks noGrp="1"/>
          </p:cNvGraphicFramePr>
          <p:nvPr/>
        </p:nvGraphicFramePr>
        <p:xfrm>
          <a:off x="685800" y="2084831"/>
          <a:ext cx="10789919" cy="352983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 or brand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Tritan Surabaya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 approved location naming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Medan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Warehouse development; do not automatically rename</a:t>
                      </a:r>
                    </a:p>
                    <a:p>
                      <a:pPr>
                        <a:lnSpc>
                          <a:spcPts val="1829"/>
                        </a:lnSpc>
                        <a:spcBef>
                          <a:spcPts val="0"/>
                        </a:spcBef>
                        <a:spcAft>
                          <a:spcPts val="0"/>
                        </a:spcAft>
                      </a:pPr>
                      <a:r>
                        <a:rPr sz="1550" b="0">
                          <a:solidFill>
                            <a:srgbClr val="183A32"/>
                          </a:solidFill>
                          <a:latin typeface="Arial"/>
                        </a:rPr>
                        <a:t>as an industrial park</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Wedi 1 —</a:t>
                      </a:r>
                    </a:p>
                    <a:p>
                      <a:pPr>
                        <a:lnSpc>
                          <a:spcPts val="1829"/>
                        </a:lnSpc>
                        <a:spcBef>
                          <a:spcPts val="0"/>
                        </a:spcBef>
                        <a:spcAft>
                          <a:spcPts val="0"/>
                        </a:spcAft>
                      </a:pPr>
                      <a:r>
                        <a:rPr sz="1550" b="0">
                          <a:solidFill>
                            <a:srgbClr val="183A32"/>
                          </a:solidFill>
                          <a:latin typeface="Arial"/>
                        </a:rPr>
                        <a:t>Sidoarjo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Wedi 2 —</a:t>
                      </a:r>
                    </a:p>
                    <a:p>
                      <a:pPr>
                        <a:lnSpc>
                          <a:spcPts val="1829"/>
                        </a:lnSpc>
                        <a:spcBef>
                          <a:spcPts val="0"/>
                        </a:spcBef>
                        <a:spcAft>
                          <a:spcPts val="0"/>
                        </a:spcAft>
                      </a:pPr>
                      <a:r>
                        <a:rPr sz="1550" b="0">
                          <a:solidFill>
                            <a:srgbClr val="183A32"/>
                          </a:solidFill>
                          <a:latin typeface="Arial"/>
                        </a:rPr>
                        <a:t>Sidoarjo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Taman —</a:t>
                      </a:r>
                    </a:p>
                    <a:p>
                      <a:pPr>
                        <a:lnSpc>
                          <a:spcPts val="1829"/>
                        </a:lnSpc>
                        <a:spcBef>
                          <a:spcPts val="0"/>
                        </a:spcBef>
                        <a:spcAft>
                          <a:spcPts val="0"/>
                        </a:spcAft>
                      </a:pPr>
                      <a:r>
                        <a:rPr sz="1550" b="0">
                          <a:solidFill>
                            <a:srgbClr val="183A32"/>
                          </a:solidFill>
                          <a:latin typeface="Arial"/>
                        </a:rPr>
                        <a:t>Sidoarjo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49–51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Logistics and Warehouse Portfolio</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 or brand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Southgate / South</a:t>
                      </a:r>
                    </a:p>
                    <a:p>
                      <a:pPr>
                        <a:lnSpc>
                          <a:spcPts val="1829"/>
                        </a:lnSpc>
                        <a:spcBef>
                          <a:spcPts val="0"/>
                        </a:spcBef>
                        <a:spcAft>
                          <a:spcPts val="0"/>
                        </a:spcAft>
                      </a:pPr>
                      <a:r>
                        <a:rPr sz="1550" b="0">
                          <a:solidFill>
                            <a:srgbClr val="183A32"/>
                          </a:solidFill>
                          <a:latin typeface="Arial"/>
                        </a:rPr>
                        <a:t>Gate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and historical references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Standardise approved spelling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Banyu Urip</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Historical development reference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relationship to current Surabaya naming before</a:t>
                      </a:r>
                    </a:p>
                    <a:p>
                      <a:pPr>
                        <a:lnSpc>
                          <a:spcPts val="1829"/>
                        </a:lnSpc>
                        <a:spcBef>
                          <a:spcPts val="0"/>
                        </a:spcBef>
                        <a:spcAft>
                          <a:spcPts val="0"/>
                        </a:spcAft>
                      </a:pPr>
                      <a:r>
                        <a:rPr sz="1550" b="0">
                          <a:solidFill>
                            <a:srgbClr val="183A32"/>
                          </a:solidFill>
                          <a:latin typeface="Arial"/>
                        </a:rPr>
                        <a:t>counting separately</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Point Bandung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Historical warehouse reference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Distinguish from the newer Tanrise Bandung integrated</a:t>
                      </a:r>
                    </a:p>
                    <a:p>
                      <a:pPr>
                        <a:lnSpc>
                          <a:spcPts val="1829"/>
                        </a:lnSpc>
                        <a:spcBef>
                          <a:spcPts val="0"/>
                        </a:spcBef>
                        <a:spcAft>
                          <a:spcPts val="0"/>
                        </a:spcAft>
                      </a:pPr>
                      <a:r>
                        <a:rPr sz="1550" b="0">
                          <a:solidFill>
                            <a:srgbClr val="183A32"/>
                          </a:solidFill>
                          <a:latin typeface="Arial"/>
                        </a:rPr>
                        <a:t>development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Tritan Gresik</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latest delivery status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Tritan Gempol Pasuruan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location record and latest delivery status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49–51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Logistics and Warehouse Portfolio</a:t>
            </a:r>
          </a:p>
        </p:txBody>
      </p:sp>
      <p:graphicFrame>
        <p:nvGraphicFramePr>
          <p:cNvPr id="11" name="Table 10"/>
          <p:cNvGraphicFramePr>
            <a:graphicFrameLocks noGrp="1"/>
          </p:cNvGraphicFramePr>
          <p:nvPr/>
        </p:nvGraphicFramePr>
        <p:xfrm>
          <a:off x="685800" y="2084831"/>
          <a:ext cx="10789919" cy="286409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 or brand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TritanPoint / Tritan Point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brand reference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Record alongside proposed naming transition</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TritanHub / Tritan Hub</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brand reference and</a:t>
                      </a:r>
                    </a:p>
                    <a:p>
                      <a:pPr>
                        <a:lnSpc>
                          <a:spcPts val="1829"/>
                        </a:lnSpc>
                        <a:spcBef>
                          <a:spcPts val="0"/>
                        </a:spcBef>
                        <a:spcAft>
                          <a:spcPts val="0"/>
                        </a:spcAft>
                      </a:pPr>
                      <a:r>
                        <a:rPr sz="1550" b="0">
                          <a:solidFill>
                            <a:srgbClr val="183A32"/>
                          </a:solidFill>
                          <a:latin typeface="Arial"/>
                        </a:rPr>
                        <a:t>milestones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Record alongside proposed naming transition</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 Location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Proposed consolidated naming</a:t>
                      </a:r>
                    </a:p>
                    <a:p>
                      <a:pPr>
                        <a:lnSpc>
                          <a:spcPts val="1829"/>
                        </a:lnSpc>
                        <a:spcBef>
                          <a:spcPts val="0"/>
                        </a:spcBef>
                        <a:spcAft>
                          <a:spcPts val="0"/>
                        </a:spcAft>
                      </a:pPr>
                      <a:r>
                        <a:rPr sz="1550" b="0">
                          <a:solidFill>
                            <a:srgbClr val="183A32"/>
                          </a:solidFill>
                          <a:latin typeface="Arial"/>
                        </a:rPr>
                        <a:t>system</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Do not describe as fully implemented without approval</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Tritan Kediri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Shown in proposed brand</a:t>
                      </a:r>
                    </a:p>
                    <a:p>
                      <a:pPr>
                        <a:lnSpc>
                          <a:spcPts val="1829"/>
                        </a:lnSpc>
                        <a:spcBef>
                          <a:spcPts val="0"/>
                        </a:spcBef>
                        <a:spcAft>
                          <a:spcPts val="0"/>
                        </a:spcAft>
                      </a:pPr>
                      <a:r>
                        <a:rPr sz="1550" b="0">
                          <a:solidFill>
                            <a:srgbClr val="183A32"/>
                          </a:solidFill>
                          <a:latin typeface="Arial"/>
                        </a:rPr>
                        <a:t>architecture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scope and operating/development status require</a:t>
                      </a:r>
                    </a:p>
                    <a:p>
                      <a:pPr>
                        <a:lnSpc>
                          <a:spcPts val="1829"/>
                        </a:lnSpc>
                        <a:spcBef>
                          <a:spcPts val="0"/>
                        </a:spcBef>
                        <a:spcAft>
                          <a:spcPts val="0"/>
                        </a:spcAft>
                      </a:pPr>
                      <a:r>
                        <a:rPr sz="1550" b="0">
                          <a:solidFill>
                            <a:srgbClr val="183A32"/>
                          </a:solidFill>
                          <a:latin typeface="Arial"/>
                        </a:rPr>
                        <a:t>confirmation</a:t>
                      </a:r>
                    </a:p>
                  </a:txBody>
                  <a:tcPr marL="109728" marR="109728" marT="82296" marB="0" anchor="t">
                    <a:solidFill>
                      <a:srgbClr val="E9E8DC"/>
                    </a:solidFill>
                    <a:lnL>
                      <a:noFill/>
                    </a:lnL>
                    <a:lnR>
                      <a:noFill/>
                    </a:lnR>
                    <a:lnT>
                      <a:noFill/>
                    </a:lnT>
                    <a:lnB>
                      <a:noFill/>
                    </a:lnB>
                  </a:tcPr>
                </a:tc>
              </a:tr>
            </a:tbl>
          </a:graphicData>
        </a:graphic>
      </p:graphicFrame>
      <p:sp>
        <p:nvSpPr>
          <p:cNvPr id="12" name="Rectangle 11"/>
          <p:cNvSpPr/>
          <p:nvPr/>
        </p:nvSpPr>
        <p:spPr>
          <a:xfrm>
            <a:off x="685800" y="513181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13181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521411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Rule: Location-based naming proposals do not, by themselves, establish that each location is an operating project.</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51–51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Industrial Parks</a:t>
            </a:r>
          </a:p>
        </p:txBody>
      </p:sp>
      <p:graphicFrame>
        <p:nvGraphicFramePr>
          <p:cNvPr id="11" name="Table 10"/>
          <p:cNvGraphicFramePr>
            <a:graphicFrameLocks noGrp="1"/>
          </p:cNvGraphicFramePr>
          <p:nvPr/>
        </p:nvGraphicFramePr>
        <p:xfrm>
          <a:off x="685800" y="2084831"/>
          <a:ext cx="10789919" cy="433450"/>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Naming and interpretation</a:t>
                      </a:r>
                    </a:p>
                  </a:txBody>
                  <a:tcPr marL="109728" marR="109728" marT="82296" marB="0" anchor="t">
                    <a:solidFill>
                      <a:srgbClr val="153F35"/>
                    </a:solidFill>
                    <a:lnL>
                      <a:noFill/>
                    </a:lnL>
                    <a:lnR>
                      <a:noFill/>
                    </a:lnR>
                    <a:lnT>
                      <a:noFill/>
                    </a:lnT>
                    <a:lnB>
                      <a:noFill/>
                    </a:lnB>
                  </a:tcPr>
                </a:tc>
              </a:tr>
            </a:tbl>
          </a:graphicData>
        </a:graphic>
      </p:graphicFrame>
      <p:sp>
        <p:nvSpPr>
          <p:cNvPr id="12" name="TextBox 11"/>
          <p:cNvSpPr txBox="1"/>
          <p:nvPr/>
        </p:nvSpPr>
        <p:spPr>
          <a:xfrm>
            <a:off x="685800" y="2728594"/>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TREATMENT</a:t>
            </a:r>
          </a:p>
        </p:txBody>
      </p:sp>
      <p:graphicFrame>
        <p:nvGraphicFramePr>
          <p:cNvPr id="13" name="Table 12"/>
          <p:cNvGraphicFramePr>
            <a:graphicFrameLocks noGrp="1"/>
          </p:cNvGraphicFramePr>
          <p:nvPr/>
        </p:nvGraphicFramePr>
        <p:xfrm>
          <a:off x="685800" y="3049904"/>
          <a:ext cx="10789919" cy="1997199"/>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Tanrise Industrial Park</a:t>
                      </a:r>
                    </a:p>
                    <a:p>
                      <a:pPr>
                        <a:lnSpc>
                          <a:spcPts val="1829"/>
                        </a:lnSpc>
                        <a:spcBef>
                          <a:spcPts val="0"/>
                        </a:spcBef>
                        <a:spcAft>
                          <a:spcPts val="0"/>
                        </a:spcAft>
                      </a:pPr>
                      <a:r>
                        <a:rPr sz="1550" b="1">
                          <a:solidFill>
                            <a:srgbClr val="F6F2E9"/>
                          </a:solidFill>
                          <a:latin typeface="Arial"/>
                        </a:rPr>
                        <a:t>Palembang</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Ongoing</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Confirm development area definitions and current</a:t>
                      </a:r>
                    </a:p>
                    <a:p>
                      <a:pPr>
                        <a:lnSpc>
                          <a:spcPts val="1829"/>
                        </a:lnSpc>
                        <a:spcBef>
                          <a:spcPts val="0"/>
                        </a:spcBef>
                        <a:spcAft>
                          <a:spcPts val="0"/>
                        </a:spcAft>
                      </a:pPr>
                      <a:r>
                        <a:rPr sz="1550" b="1">
                          <a:solidFill>
                            <a:srgbClr val="F6F2E9"/>
                          </a:solidFill>
                          <a:latin typeface="Arial"/>
                        </a:rPr>
                        <a:t>milestone status</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Tanrise Industrial Park</a:t>
                      </a:r>
                    </a:p>
                    <a:p>
                      <a:pPr>
                        <a:lnSpc>
                          <a:spcPts val="1829"/>
                        </a:lnSpc>
                        <a:spcBef>
                          <a:spcPts val="0"/>
                        </a:spcBef>
                        <a:spcAft>
                          <a:spcPts val="0"/>
                        </a:spcAft>
                      </a:pPr>
                      <a:r>
                        <a:rPr sz="1550" b="0">
                          <a:solidFill>
                            <a:srgbClr val="183A32"/>
                          </a:solidFill>
                          <a:latin typeface="Arial"/>
                        </a:rPr>
                        <a:t>Banjarbaru</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Banjarbaru consistently; abbreviated “Banjar”</a:t>
                      </a:r>
                    </a:p>
                    <a:p>
                      <a:pPr>
                        <a:lnSpc>
                          <a:spcPts val="1829"/>
                        </a:lnSpc>
                        <a:spcBef>
                          <a:spcPts val="0"/>
                        </a:spcBef>
                        <a:spcAft>
                          <a:spcPts val="0"/>
                        </a:spcAft>
                      </a:pPr>
                      <a:r>
                        <a:rPr sz="1550" b="0">
                          <a:solidFill>
                            <a:srgbClr val="183A32"/>
                          </a:solidFill>
                          <a:latin typeface="Arial"/>
                        </a:rPr>
                        <a:t>references should be reconciled</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Tanrise Industrial Park</a:t>
                      </a:r>
                    </a:p>
                    <a:p>
                      <a:pPr>
                        <a:lnSpc>
                          <a:spcPts val="1829"/>
                        </a:lnSpc>
                        <a:spcBef>
                          <a:spcPts val="0"/>
                        </a:spcBef>
                        <a:spcAft>
                          <a:spcPts val="0"/>
                        </a:spcAft>
                      </a:pPr>
                      <a:r>
                        <a:rPr sz="1550" b="0">
                          <a:solidFill>
                            <a:srgbClr val="183A32"/>
                          </a:solidFill>
                          <a:latin typeface="Arial"/>
                        </a:rPr>
                        <a:t>Medan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Shown in proposed branding deck</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whether this is a separate project, future plan, or</a:t>
                      </a:r>
                    </a:p>
                    <a:p>
                      <a:pPr>
                        <a:lnSpc>
                          <a:spcPts val="1829"/>
                        </a:lnSpc>
                        <a:spcBef>
                          <a:spcPts val="0"/>
                        </a:spcBef>
                        <a:spcAft>
                          <a:spcPts val="0"/>
                        </a:spcAft>
                      </a:pPr>
                      <a:r>
                        <a:rPr sz="1550" b="0">
                          <a:solidFill>
                            <a:srgbClr val="183A32"/>
                          </a:solidFill>
                          <a:latin typeface="Arial"/>
                        </a:rPr>
                        <a:t>proposed naming treatment</a:t>
                      </a:r>
                    </a:p>
                  </a:txBody>
                  <a:tcPr marL="109728" marR="109728" marT="82296" marB="0" anchor="t">
                    <a:solidFill>
                      <a:srgbClr val="E9E8DC"/>
                    </a:solidFill>
                    <a:lnL>
                      <a:noFill/>
                    </a:lnL>
                    <a:lnR>
                      <a:noFill/>
                    </a:lnR>
                    <a:lnT>
                      <a:noFill/>
                    </a:lnT>
                    <a:lnB>
                      <a:noFill/>
                    </a:lnB>
                  </a:tcPr>
                </a:tc>
              </a:tr>
            </a:tbl>
          </a:graphicData>
        </a:graphic>
      </p:graphicFrame>
      <p:sp>
        <p:nvSpPr>
          <p:cNvPr id="14" name="Rectangle 13"/>
          <p:cNvSpPr/>
          <p:nvPr/>
        </p:nvSpPr>
        <p:spPr>
          <a:xfrm>
            <a:off x="685800" y="522998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522998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 y="531228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Rule: Keep Tritan Medan and Tanrise Industrial Park Medan distinct in the register until their relationship is established.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52–53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Existing Hospitality and Leisure References</a:t>
            </a:r>
          </a:p>
        </p:txBody>
      </p:sp>
      <p:graphicFrame>
        <p:nvGraphicFramePr>
          <p:cNvPr id="11" name="Table 10"/>
          <p:cNvGraphicFramePr>
            <a:graphicFrameLocks noGrp="1"/>
          </p:cNvGraphicFramePr>
          <p:nvPr/>
        </p:nvGraphicFramePr>
        <p:xfrm>
          <a:off x="685800" y="2084831"/>
          <a:ext cx="10789919" cy="3096382"/>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Property or asset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Naming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Vasa Hotel Surabaya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VASA, HR Muhammad —</a:t>
                      </a:r>
                    </a:p>
                    <a:p>
                      <a:pPr>
                        <a:lnSpc>
                          <a:spcPts val="1829"/>
                        </a:lnSpc>
                        <a:spcBef>
                          <a:spcPts val="0"/>
                        </a:spcBef>
                        <a:spcAft>
                          <a:spcPts val="0"/>
                        </a:spcAft>
                      </a:pPr>
                      <a:r>
                        <a:rPr sz="1550" b="0">
                          <a:solidFill>
                            <a:srgbClr val="183A32"/>
                          </a:solidFill>
                          <a:latin typeface="Arial"/>
                        </a:rPr>
                        <a:t>Surabaya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hotel reference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Vasa Suite Surabaya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VASA, Gubeng — Surabaya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accommodation reference; standardise</a:t>
                      </a:r>
                    </a:p>
                    <a:p>
                      <a:pPr>
                        <a:lnSpc>
                          <a:spcPts val="1829"/>
                        </a:lnSpc>
                        <a:spcBef>
                          <a:spcPts val="0"/>
                        </a:spcBef>
                        <a:spcAft>
                          <a:spcPts val="0"/>
                        </a:spcAft>
                      </a:pPr>
                      <a:r>
                        <a:rPr sz="1550" b="0">
                          <a:solidFill>
                            <a:srgbClr val="183A32"/>
                          </a:solidFill>
                          <a:latin typeface="Arial"/>
                        </a:rPr>
                        <a:t>Suite/Suites styling</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Cleo Business Hotel</a:t>
                      </a:r>
                    </a:p>
                    <a:p>
                      <a:pPr>
                        <a:lnSpc>
                          <a:spcPts val="1829"/>
                        </a:lnSpc>
                        <a:spcBef>
                          <a:spcPts val="0"/>
                        </a:spcBef>
                        <a:spcAft>
                          <a:spcPts val="0"/>
                        </a:spcAft>
                      </a:pPr>
                      <a:r>
                        <a:rPr sz="1550" b="0">
                          <a:solidFill>
                            <a:srgbClr val="183A32"/>
                          </a:solidFill>
                          <a:latin typeface="Arial"/>
                        </a:rPr>
                        <a:t>Basuki Rahmat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portfolio and milestones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hotel reference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Cleo Business Hotel</a:t>
                      </a:r>
                    </a:p>
                    <a:p>
                      <a:pPr>
                        <a:lnSpc>
                          <a:spcPts val="1829"/>
                        </a:lnSpc>
                        <a:spcBef>
                          <a:spcPts val="0"/>
                        </a:spcBef>
                        <a:spcAft>
                          <a:spcPts val="0"/>
                        </a:spcAft>
                      </a:pPr>
                      <a:r>
                        <a:rPr sz="1550" b="0">
                          <a:solidFill>
                            <a:srgbClr val="183A32"/>
                          </a:solidFill>
                          <a:latin typeface="Arial"/>
                        </a:rPr>
                        <a:t>Walikota Mustajab</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portfolio and milestones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hotel reference</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52–53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Existing Hospitality and Leisure References</a:t>
            </a:r>
          </a:p>
        </p:txBody>
      </p:sp>
      <p:graphicFrame>
        <p:nvGraphicFramePr>
          <p:cNvPr id="11" name="Table 10"/>
          <p:cNvGraphicFramePr>
            <a:graphicFrameLocks noGrp="1"/>
          </p:cNvGraphicFramePr>
          <p:nvPr/>
        </p:nvGraphicFramePr>
        <p:xfrm>
          <a:off x="685800" y="2084831"/>
          <a:ext cx="10789919" cy="352983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Property or asset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Naming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Cleo Business Hotel</a:t>
                      </a:r>
                    </a:p>
                    <a:p>
                      <a:pPr>
                        <a:lnSpc>
                          <a:spcPts val="1829"/>
                        </a:lnSpc>
                        <a:spcBef>
                          <a:spcPts val="0"/>
                        </a:spcBef>
                        <a:spcAft>
                          <a:spcPts val="0"/>
                        </a:spcAft>
                      </a:pPr>
                      <a:r>
                        <a:rPr sz="1550" b="0">
                          <a:solidFill>
                            <a:srgbClr val="183A32"/>
                          </a:solidFill>
                          <a:latin typeface="Arial"/>
                        </a:rPr>
                        <a:t>Jemursari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portfolio and milestones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hotel reference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Solaris Hotel Kuta Bali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portfolio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hotel reference</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Solaris Hotel Malang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Historical and portfolio references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hotel reference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Solaris Villa Bali / Villa</a:t>
                      </a:r>
                    </a:p>
                    <a:p>
                      <a:pPr>
                        <a:lnSpc>
                          <a:spcPts val="1829"/>
                        </a:lnSpc>
                        <a:spcBef>
                          <a:spcPts val="0"/>
                        </a:spcBef>
                        <a:spcAft>
                          <a:spcPts val="0"/>
                        </a:spcAft>
                      </a:pPr>
                      <a:r>
                        <a:rPr sz="1550" b="0">
                          <a:solidFill>
                            <a:srgbClr val="183A32"/>
                          </a:solidFill>
                          <a:latin typeface="Arial"/>
                        </a:rPr>
                        <a:t>Solaris Bali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portfolio and milestones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listing; use approved styling</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Solaris Villa Malang /</a:t>
                      </a:r>
                    </a:p>
                    <a:p>
                      <a:pPr>
                        <a:lnSpc>
                          <a:spcPts val="1829"/>
                        </a:lnSpc>
                        <a:spcBef>
                          <a:spcPts val="0"/>
                        </a:spcBef>
                        <a:spcAft>
                          <a:spcPts val="0"/>
                        </a:spcAft>
                      </a:pPr>
                      <a:r>
                        <a:rPr sz="1550" b="0">
                          <a:solidFill>
                            <a:srgbClr val="183A32"/>
                          </a:solidFill>
                          <a:latin typeface="Arial"/>
                        </a:rPr>
                        <a:t>Solaris Villa Extension</a:t>
                      </a:r>
                    </a:p>
                    <a:p>
                      <a:pPr>
                        <a:lnSpc>
                          <a:spcPts val="1829"/>
                        </a:lnSpc>
                        <a:spcBef>
                          <a:spcPts val="0"/>
                        </a:spcBef>
                        <a:spcAft>
                          <a:spcPts val="0"/>
                        </a:spcAft>
                      </a:pPr>
                      <a:r>
                        <a:rPr sz="1550" b="0">
                          <a:solidFill>
                            <a:srgbClr val="183A32"/>
                          </a:solidFill>
                          <a:latin typeface="Arial"/>
                        </a:rPr>
                        <a:t>Malang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portfolio and milestones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Existing listing; identify the villa extension separately</a:t>
                      </a:r>
                    </a:p>
                    <a:p>
                      <a:pPr>
                        <a:lnSpc>
                          <a:spcPts val="1829"/>
                        </a:lnSpc>
                        <a:spcBef>
                          <a:spcPts val="0"/>
                        </a:spcBef>
                        <a:spcAft>
                          <a:spcPts val="0"/>
                        </a:spcAft>
                      </a:pPr>
                      <a:r>
                        <a:rPr sz="1550" b="0">
                          <a:solidFill>
                            <a:srgbClr val="183A32"/>
                          </a:solidFill>
                          <a:latin typeface="Arial"/>
                        </a:rPr>
                        <a:t>from the hotel</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A6.3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52–53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Existing Hospitality and Leisure References</a:t>
            </a:r>
          </a:p>
        </p:txBody>
      </p:sp>
      <p:graphicFrame>
        <p:nvGraphicFramePr>
          <p:cNvPr id="11" name="Table 10"/>
          <p:cNvGraphicFramePr>
            <a:graphicFrameLocks noGrp="1"/>
          </p:cNvGraphicFramePr>
          <p:nvPr/>
        </p:nvGraphicFramePr>
        <p:xfrm>
          <a:off x="685800" y="2084831"/>
          <a:ext cx="10789919" cy="19660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Property or asset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Naming in client materials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Golf Taman Dayu</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asset schedule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Golf asset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Driving Range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Investor asset schedule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Separate leisure asset within the Taman Dayu context</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Taman Dayu Golf &amp;</a:t>
                      </a:r>
                    </a:p>
                    <a:p>
                      <a:pPr>
                        <a:lnSpc>
                          <a:spcPts val="1829"/>
                        </a:lnSpc>
                        <a:spcBef>
                          <a:spcPts val="0"/>
                        </a:spcBef>
                        <a:spcAft>
                          <a:spcPts val="0"/>
                        </a:spcAft>
                      </a:pPr>
                      <a:r>
                        <a:rPr sz="1550" b="0">
                          <a:solidFill>
                            <a:srgbClr val="183A32"/>
                          </a:solidFill>
                          <a:latin typeface="Arial"/>
                        </a:rPr>
                        <a:t>Resort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TANLY operating/destination</a:t>
                      </a:r>
                    </a:p>
                    <a:p>
                      <a:pPr>
                        <a:lnSpc>
                          <a:spcPts val="1829"/>
                        </a:lnSpc>
                        <a:spcBef>
                          <a:spcPts val="0"/>
                        </a:spcBef>
                        <a:spcAft>
                          <a:spcPts val="0"/>
                        </a:spcAft>
                      </a:pPr>
                      <a:r>
                        <a:rPr sz="1550" b="0">
                          <a:solidFill>
                            <a:srgbClr val="183A32"/>
                          </a:solidFill>
                          <a:latin typeface="Arial"/>
                        </a:rPr>
                        <a:t>name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Map its relationship to the underlying property assets</a:t>
                      </a:r>
                    </a:p>
                    <a:p>
                      <a:pPr>
                        <a:lnSpc>
                          <a:spcPts val="1829"/>
                        </a:lnSpc>
                        <a:spcBef>
                          <a:spcPts val="0"/>
                        </a:spcBef>
                        <a:spcAft>
                          <a:spcPts val="0"/>
                        </a:spcAft>
                      </a:pPr>
                      <a:r>
                        <a:rPr sz="1550" b="0">
                          <a:solidFill>
                            <a:srgbClr val="183A32"/>
                          </a:solidFill>
                          <a:latin typeface="Arial"/>
                        </a:rPr>
                        <a:t>and operating arrangements</a:t>
                      </a:r>
                    </a:p>
                  </a:txBody>
                  <a:tcPr marL="109728" marR="109728" marT="82296" marB="0" anchor="t">
                    <a:solidFill>
                      <a:srgbClr val="F6F2E9"/>
                    </a:solidFill>
                    <a:lnL>
                      <a:noFill/>
                    </a:lnL>
                    <a:lnR>
                      <a:noFill/>
                    </a:lnR>
                    <a:lnT>
                      <a:noFill/>
                    </a:lnT>
                    <a:lnB>
                      <a:noFill/>
                    </a:lnB>
                  </a:tcPr>
                </a:tc>
              </a:tr>
            </a:tbl>
          </a:graphicData>
        </a:graphic>
      </p:graphicFrame>
      <p:sp>
        <p:nvSpPr>
          <p:cNvPr id="12" name="Rectangle 11"/>
          <p:cNvSpPr/>
          <p:nvPr/>
        </p:nvSpPr>
        <p:spPr>
          <a:xfrm>
            <a:off x="685800" y="4233798"/>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233798"/>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4316094"/>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Rule: A hotel brand, legal owner, developer, and management company may occupy different levels of the architecture.</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53–54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Hospitality Development Pipeline</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Project</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Status in investor deck</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Treatment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VASA Ubud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Vasa Resort Ubud naming also appears publicly; confirm</a:t>
                      </a:r>
                    </a:p>
                    <a:p>
                      <a:pPr>
                        <a:lnSpc>
                          <a:spcPts val="1829"/>
                        </a:lnSpc>
                        <a:spcBef>
                          <a:spcPts val="0"/>
                        </a:spcBef>
                        <a:spcAft>
                          <a:spcPts val="0"/>
                        </a:spcAft>
                      </a:pPr>
                      <a:r>
                        <a:rPr sz="1550" b="0">
                          <a:solidFill>
                            <a:srgbClr val="183A32"/>
                          </a:solidFill>
                          <a:latin typeface="Arial"/>
                        </a:rPr>
                        <a:t>final approved name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VASA Bromo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Ongoing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Vasa Hotel/Resort Bromo styling should be standardised</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VASA Canggu</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Upcoming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Do not present as operating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VASA Malang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Upcoming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Distinguish from Solaris Malang and other Malang</a:t>
                      </a:r>
                    </a:p>
                    <a:p>
                      <a:pPr>
                        <a:lnSpc>
                          <a:spcPts val="1829"/>
                        </a:lnSpc>
                        <a:spcBef>
                          <a:spcPts val="0"/>
                        </a:spcBef>
                        <a:spcAft>
                          <a:spcPts val="0"/>
                        </a:spcAft>
                      </a:pPr>
                      <a:r>
                        <a:rPr sz="1550" b="0">
                          <a:solidFill>
                            <a:srgbClr val="183A32"/>
                          </a:solidFill>
                          <a:latin typeface="Arial"/>
                        </a:rPr>
                        <a:t>developments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GOED Malang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Upcoming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Separate brand/project entry within the Malang</a:t>
                      </a:r>
                    </a:p>
                    <a:p>
                      <a:pPr>
                        <a:lnSpc>
                          <a:spcPts val="1829"/>
                        </a:lnSpc>
                        <a:spcBef>
                          <a:spcPts val="0"/>
                        </a:spcBef>
                        <a:spcAft>
                          <a:spcPts val="0"/>
                        </a:spcAft>
                      </a:pPr>
                      <a:r>
                        <a:rPr sz="1550" b="0">
                          <a:solidFill>
                            <a:srgbClr val="183A32"/>
                          </a:solidFill>
                          <a:latin typeface="Arial"/>
                        </a:rPr>
                        <a:t>development context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53–54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Hospitality Development Pipeline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Ownership figures for Ubud and Bromo conflict between the summary and detailed pages. Do not reproduce a single</a:t>
            </a:r>
          </a:p>
          <a:p>
            <a:pPr>
              <a:lnSpc>
                <a:spcPts val="2196"/>
              </a:lnSpc>
              <a:spcBef>
                <a:spcPts val="0"/>
              </a:spcBef>
              <a:spcAft>
                <a:spcPts val="0"/>
              </a:spcAft>
            </a:pPr>
            <a:r>
              <a:rPr sz="1800" b="0" i="0">
                <a:solidFill>
                  <a:srgbClr val="183A32"/>
                </a:solidFill>
                <a:latin typeface="Times New Roman"/>
              </a:rPr>
              <a:t>percentage without reconciliation.</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54–54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129</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Wider TANLY Pipeline — Separate From Confirmed</a:t>
            </a:r>
          </a:p>
          <a:p>
            <a:pPr>
              <a:lnSpc>
                <a:spcPts val="3502"/>
              </a:lnSpc>
              <a:spcBef>
                <a:spcPts val="0"/>
              </a:spcBef>
              <a:spcAft>
                <a:spcPts val="0"/>
              </a:spcAft>
            </a:pPr>
            <a:r>
              <a:rPr sz="3100" b="0" i="0">
                <a:solidFill>
                  <a:srgbClr val="153F35"/>
                </a:solidFill>
                <a:latin typeface="Arial"/>
              </a:rPr>
              <a:t>TANRISE Asset Ownership</a:t>
            </a:r>
          </a:p>
        </p:txBody>
      </p:sp>
      <p:sp>
        <p:nvSpPr>
          <p:cNvPr id="11" name="TextBox 10"/>
          <p:cNvSpPr txBox="1"/>
          <p:nvPr/>
        </p:nvSpPr>
        <p:spPr>
          <a:xfrm>
            <a:off x="685800" y="216992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TANLY’s publicly listed future collection also includes:</a:t>
            </a:r>
          </a:p>
        </p:txBody>
      </p:sp>
      <p:sp>
        <p:nvSpPr>
          <p:cNvPr id="12" name="Rectangle 11"/>
          <p:cNvSpPr/>
          <p:nvPr/>
        </p:nvSpPr>
        <p:spPr>
          <a:xfrm>
            <a:off x="685800" y="27185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6271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Vasa Hotel Manado.</a:t>
            </a:r>
          </a:p>
        </p:txBody>
      </p:sp>
      <p:sp>
        <p:nvSpPr>
          <p:cNvPr id="14" name="Rectangle 13"/>
          <p:cNvSpPr/>
          <p:nvPr/>
        </p:nvSpPr>
        <p:spPr>
          <a:xfrm>
            <a:off x="685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076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Vasa Hotel Benoa.</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Vasa Hotel Nilaya, Batu.</a:t>
            </a:r>
          </a:p>
        </p:txBody>
      </p:sp>
      <p:sp>
        <p:nvSpPr>
          <p:cNvPr id="18" name="Rectangle 17"/>
          <p:cNvSpPr/>
          <p:nvPr/>
        </p:nvSpPr>
        <p:spPr>
          <a:xfrm>
            <a:off x="685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75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GOED President Pacitan.</a:t>
            </a:r>
          </a:p>
        </p:txBody>
      </p:sp>
      <p:sp>
        <p:nvSpPr>
          <p:cNvPr id="20" name="TextBox 19"/>
          <p:cNvSpPr txBox="1"/>
          <p:nvPr/>
        </p:nvSpPr>
        <p:spPr>
          <a:xfrm>
            <a:off x="685800" y="442493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wider hospitality-management portfolio references.</a:t>
            </a:r>
          </a:p>
        </p:txBody>
      </p:sp>
      <p:sp>
        <p:nvSpPr>
          <p:cNvPr id="21" name="TextBox 20"/>
          <p:cNvSpPr txBox="1"/>
          <p:nvPr/>
        </p:nvSpPr>
        <p:spPr>
          <a:xfrm>
            <a:off x="685800" y="488213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Do not add them to TANRISE’s owned or invested asset list unless the client confirms the relevant property interest.</a:t>
            </a:r>
          </a:p>
        </p:txBody>
      </p:sp>
      <p:sp>
        <p:nvSpPr>
          <p:cNvPr id="22" name="TextBox 21"/>
          <p:cNvSpPr txBox="1"/>
          <p:nvPr/>
        </p:nvSpPr>
        <p:spPr>
          <a:xfrm>
            <a:off x="685800" y="533933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Public hotel naming also differs from some investor-deck labels. Maintain an alias field rather than creating duplicate</a:t>
            </a:r>
          </a:p>
          <a:p>
            <a:pPr>
              <a:lnSpc>
                <a:spcPts val="2196"/>
              </a:lnSpc>
              <a:spcBef>
                <a:spcPts val="0"/>
              </a:spcBef>
              <a:spcAft>
                <a:spcPts val="0"/>
              </a:spcAft>
            </a:pPr>
            <a:r>
              <a:rPr sz="1800" b="0" i="0">
                <a:solidFill>
                  <a:srgbClr val="183A32"/>
                </a:solidFill>
                <a:latin typeface="Times New Roman"/>
              </a:rPr>
              <a:t>project entries.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APPENDIX B</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130</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B</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Naming, Classification, And Data Reconciliation</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B1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55–56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131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Naming and Classification Decisions</a:t>
            </a:r>
          </a:p>
        </p:txBody>
      </p:sp>
      <p:graphicFrame>
        <p:nvGraphicFramePr>
          <p:cNvPr id="11" name="Table 10"/>
          <p:cNvGraphicFramePr>
            <a:graphicFrameLocks noGrp="1"/>
          </p:cNvGraphicFramePr>
          <p:nvPr/>
        </p:nvGraphicFramePr>
        <p:xfrm>
          <a:off x="685800" y="2084831"/>
          <a:ext cx="10789919" cy="309638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Issue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Required decision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Jumana → Sunrise Residence</a:t>
                      </a:r>
                    </a:p>
                    <a:p>
                      <a:pPr>
                        <a:lnSpc>
                          <a:spcPts val="1829"/>
                        </a:lnSpc>
                        <a:spcBef>
                          <a:spcPts val="0"/>
                        </a:spcBef>
                        <a:spcAft>
                          <a:spcPts val="0"/>
                        </a:spcAft>
                      </a:pPr>
                      <a:r>
                        <a:rPr sz="1550" b="0">
                          <a:solidFill>
                            <a:srgbClr val="183A32"/>
                          </a:solidFill>
                          <a:latin typeface="Arial"/>
                        </a:rPr>
                        <a:t>Sidoarjo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whether the change is approved and implemented</a:t>
                      </a:r>
                    </a:p>
                  </a:txBody>
                  <a:tcPr marL="109728" marR="109728" marT="82296" marB="0" anchor="t">
                    <a:solidFill>
                      <a:srgbClr val="F6F2E9"/>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Grand Sunrise Malang / Sunrise</a:t>
                      </a:r>
                    </a:p>
                    <a:p>
                      <a:pPr>
                        <a:lnSpc>
                          <a:spcPts val="1829"/>
                        </a:lnSpc>
                        <a:spcBef>
                          <a:spcPts val="0"/>
                        </a:spcBef>
                        <a:spcAft>
                          <a:spcPts val="0"/>
                        </a:spcAft>
                      </a:pPr>
                      <a:r>
                        <a:rPr sz="1550" b="0">
                          <a:solidFill>
                            <a:srgbClr val="183A32"/>
                          </a:solidFill>
                          <a:latin typeface="Arial"/>
                        </a:rPr>
                        <a:t>Residence Malang / Sunrise Garden</a:t>
                      </a:r>
                    </a:p>
                    <a:p>
                      <a:pPr>
                        <a:lnSpc>
                          <a:spcPts val="1829"/>
                        </a:lnSpc>
                        <a:spcBef>
                          <a:spcPts val="0"/>
                        </a:spcBef>
                        <a:spcAft>
                          <a:spcPts val="0"/>
                        </a:spcAft>
                      </a:pPr>
                      <a:r>
                        <a:rPr sz="1550" b="0">
                          <a:solidFill>
                            <a:srgbClr val="183A32"/>
                          </a:solidFill>
                          <a:latin typeface="Arial"/>
                        </a:rPr>
                        <a:t>Malang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number of projects, approved names, and scopes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TritanPoint / TritanHub → TRITAN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implementation and location mapping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Kyo Society classified under</a:t>
                      </a:r>
                    </a:p>
                    <a:p>
                      <a:pPr>
                        <a:lnSpc>
                          <a:spcPts val="1829"/>
                        </a:lnSpc>
                        <a:spcBef>
                          <a:spcPts val="0"/>
                        </a:spcBef>
                        <a:spcAft>
                          <a:spcPts val="0"/>
                        </a:spcAft>
                      </a:pPr>
                      <a:r>
                        <a:rPr sz="1550" b="0">
                          <a:solidFill>
                            <a:srgbClr val="183A32"/>
                          </a:solidFill>
                          <a:latin typeface="Arial"/>
                        </a:rPr>
                        <a:t>Commercial</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Agree primary classification and explain the investment proposition separately</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B1.2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55–56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132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Naming and Classification Decisions</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Issue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Required decision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ARC100 and accommodation</a:t>
                      </a:r>
                    </a:p>
                    <a:p>
                      <a:pPr>
                        <a:lnSpc>
                          <a:spcPts val="1829"/>
                        </a:lnSpc>
                        <a:spcBef>
                          <a:spcPts val="0"/>
                        </a:spcBef>
                        <a:spcAft>
                          <a:spcPts val="0"/>
                        </a:spcAft>
                      </a:pPr>
                      <a:r>
                        <a:rPr sz="1550" b="0">
                          <a:solidFill>
                            <a:srgbClr val="183A32"/>
                          </a:solidFill>
                          <a:latin typeface="Arial"/>
                        </a:rPr>
                        <a:t>references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current brand, asset, and operating relationships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Midpoint Kayoon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current project status and commercial model</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Bali Bites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Clarify asset ownership, destination identity, and restaurant-management</a:t>
                      </a:r>
                    </a:p>
                    <a:p>
                      <a:pPr>
                        <a:lnSpc>
                          <a:spcPts val="1829"/>
                        </a:lnSpc>
                        <a:spcBef>
                          <a:spcPts val="0"/>
                        </a:spcBef>
                        <a:spcAft>
                          <a:spcPts val="0"/>
                        </a:spcAft>
                      </a:pPr>
                      <a:r>
                        <a:rPr sz="1550" b="0">
                          <a:solidFill>
                            <a:srgbClr val="183A32"/>
                          </a:solidFill>
                          <a:latin typeface="Arial"/>
                        </a:rPr>
                        <a:t>relationships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The House of VASA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Confirm whether this is an approved architecture or an unapproved proposal</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Education and Healthcare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Identify any committed facilities or operating businesses before presenting them</a:t>
                      </a:r>
                    </a:p>
                    <a:p>
                      <a:pPr>
                        <a:lnSpc>
                          <a:spcPts val="1829"/>
                        </a:lnSpc>
                        <a:spcBef>
                          <a:spcPts val="0"/>
                        </a:spcBef>
                        <a:spcAft>
                          <a:spcPts val="0"/>
                        </a:spcAft>
                      </a:pPr>
                      <a:r>
                        <a:rPr sz="1550" b="0">
                          <a:solidFill>
                            <a:srgbClr val="183A32"/>
                          </a:solidFill>
                          <a:latin typeface="Arial"/>
                        </a:rPr>
                        <a:t>as established units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B1.3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55–56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133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Naming and Classification Decisions</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Issue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Required decision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Five business pillars versus seven</a:t>
                      </a:r>
                    </a:p>
                    <a:p>
                      <a:pPr>
                        <a:lnSpc>
                          <a:spcPts val="1829"/>
                        </a:lnSpc>
                        <a:spcBef>
                          <a:spcPts val="0"/>
                        </a:spcBef>
                        <a:spcAft>
                          <a:spcPts val="0"/>
                        </a:spcAft>
                      </a:pPr>
                      <a:r>
                        <a:rPr sz="1550" b="0">
                          <a:solidFill>
                            <a:srgbClr val="183A32"/>
                          </a:solidFill>
                          <a:latin typeface="Arial"/>
                        </a:rPr>
                        <a:t>product categories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Approve one reporting hierarchy and a clear cross-reference</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B2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56–56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134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Internal Numerical Conflicts in the Investor Deck</a:t>
            </a:r>
          </a:p>
        </p:txBody>
      </p:sp>
      <p:graphicFrame>
        <p:nvGraphicFramePr>
          <p:cNvPr id="11" name="Table 10"/>
          <p:cNvGraphicFramePr>
            <a:graphicFrameLocks noGrp="1"/>
          </p:cNvGraphicFramePr>
          <p:nvPr/>
        </p:nvGraphicFramePr>
        <p:xfrm>
          <a:off x="685800" y="2084831"/>
          <a:ext cx="10789919" cy="326643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Item</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Conflicting information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VASA Ubud ownership</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Summary: 100%; detailed project page: 73.3%</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VASA Bromo ownership</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Summary: 73.3%; detailed project page: 100%</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Swiss of Taman Dayu ownership</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Summary: 45.0%; detailed page: 45.5%</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Palembang industrial-park area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Table: 131.1 hectares; rendering caption: 212 hectares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Tritan Gempol location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name/map: Pasuruan; detailed table: Sidoarjo</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Rounded versus detailed ownership</a:t>
                      </a:r>
                    </a:p>
                    <a:p>
                      <a:pPr>
                        <a:lnSpc>
                          <a:spcPts val="1829"/>
                        </a:lnSpc>
                        <a:spcBef>
                          <a:spcPts val="0"/>
                        </a:spcBef>
                        <a:spcAft>
                          <a:spcPts val="0"/>
                        </a:spcAft>
                      </a:pPr>
                      <a:r>
                        <a:rPr sz="1550" b="0">
                          <a:solidFill>
                            <a:srgbClr val="183A32"/>
                          </a:solidFill>
                          <a:latin typeface="Arial"/>
                        </a:rPr>
                        <a:t>figures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Several summary percentages differ slightly from detailed legal-interest figures</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B2.2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56–56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135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Internal Numerical Conflicts in the Investor Deck</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Differences may reflect rounding, effective ownership, legal ownership, development phases, or errors. The decks do</a:t>
            </a:r>
          </a:p>
          <a:p>
            <a:pPr>
              <a:lnSpc>
                <a:spcPts val="2196"/>
              </a:lnSpc>
              <a:spcBef>
                <a:spcPts val="0"/>
              </a:spcBef>
              <a:spcAft>
                <a:spcPts val="0"/>
              </a:spcAft>
            </a:pPr>
            <a:r>
              <a:rPr sz="1800" b="0" i="0">
                <a:solidFill>
                  <a:srgbClr val="183A32"/>
                </a:solidFill>
                <a:latin typeface="Times New Roman"/>
              </a:rPr>
              <a:t>not provide sufficient reconciliation.</a:t>
            </a:r>
          </a:p>
        </p:txBody>
      </p:sp>
      <p:sp>
        <p:nvSpPr>
          <p:cNvPr id="12" name="Rectangle 11"/>
          <p:cNvSpPr/>
          <p:nvPr/>
        </p:nvSpPr>
        <p:spPr>
          <a:xfrm>
            <a:off x="685800" y="2820924"/>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820924"/>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2903220"/>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Presentation rule: Omit disputed percentages and areas from the leadership narrative until clarified.</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APPENDIX C</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136</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C</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Financial Validation Workstream</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C</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57–57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137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Financial Validation Workstream</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2035 FINANCIAL GAP ANALYSIS AND GROWTH SCENARIOS</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Establish:</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Current audited revenue, attributable profit, assets, debt, and operating cash flow.</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Consistent peer revenue and attributable-profit rankings.</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Projected 2035 thresholds under different competitor-growth assumptions.</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Contributions required from the five business pillars.</a:t>
            </a:r>
          </a:p>
        </p:txBody>
      </p:sp>
      <p:sp>
        <p:nvSpPr>
          <p:cNvPr id="21" name="Rectangle 20"/>
          <p:cNvSpPr/>
          <p:nvPr/>
        </p:nvSpPr>
        <p:spPr>
          <a:xfrm>
            <a:off x="685800" y="47800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6885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Revenue and cash-flow timing from existing, ongoing, and upcoming projects.</a:t>
            </a:r>
          </a:p>
        </p:txBody>
      </p:sp>
      <p:sp>
        <p:nvSpPr>
          <p:cNvPr id="23" name="Rectangle 22"/>
          <p:cNvSpPr/>
          <p:nvPr/>
        </p:nvSpPr>
        <p:spPr>
          <a:xfrm>
            <a:off x="685800" y="52294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13803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6. Ownership-adjusted earnings contribution.</a:t>
            </a:r>
          </a:p>
        </p:txBody>
      </p:sp>
      <p:sp>
        <p:nvSpPr>
          <p:cNvPr id="25" name="Rectangle 24"/>
          <p:cNvSpPr/>
          <p:nvPr/>
        </p:nvSpPr>
        <p:spPr>
          <a:xfrm>
            <a:off x="685800" y="56789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58749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7. Capital investment and funding requirements.</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C.2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57–57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138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Financial Validation Workstream</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8. Contributions from partnerships and potential acquisitions.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9. Annual milestones and downside scenarios.</a:t>
            </a:r>
          </a:p>
        </p:txBody>
      </p:sp>
      <p:sp>
        <p:nvSpPr>
          <p:cNvPr id="15" name="TextBox 14"/>
          <p:cNvSpPr txBox="1"/>
          <p:nvPr/>
        </p:nvSpPr>
        <p:spPr>
          <a:xfrm>
            <a:off x="685800" y="298373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Recommended deliverable: TANRISE 2035 Financial Gap Analysis &amp; Growth Scenarios.</a:t>
            </a:r>
          </a:p>
        </p:txBody>
      </p:sp>
      <p:sp>
        <p:nvSpPr>
          <p:cNvPr id="16" name="TextBox 15"/>
          <p:cNvSpPr txBox="1"/>
          <p:nvPr/>
        </p:nvSpPr>
        <p:spPr>
          <a:xfrm>
            <a:off x="685800" y="344093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Use audited financial statements as the primary financial baseline and reconcile differences with presentation</a:t>
            </a:r>
          </a:p>
          <a:p>
            <a:pPr>
              <a:lnSpc>
                <a:spcPts val="2196"/>
              </a:lnSpc>
              <a:spcBef>
                <a:spcPts val="0"/>
              </a:spcBef>
              <a:spcAft>
                <a:spcPts val="0"/>
              </a:spcAft>
            </a:pPr>
            <a:r>
              <a:rPr sz="1800" b="0" i="0">
                <a:solidFill>
                  <a:srgbClr val="183A32"/>
                </a:solidFill>
                <a:latin typeface="Times New Roman"/>
              </a:rPr>
              <a:t>summaries.</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APPENDIX D</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139</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D</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Turning Strategy Into Business Cases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D</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57–58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Turning Strategy Into Business Cases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EVERY INITIATIVE SHOULD ANSWER THREE QUESTIONS</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What Opportunity Are We Pursuing?</a:t>
            </a:r>
          </a:p>
        </p:txBody>
      </p:sp>
      <p:sp>
        <p:nvSpPr>
          <p:cNvPr id="14" name="TextBox 13"/>
          <p:cNvSpPr txBox="1"/>
          <p:nvPr/>
        </p:nvSpPr>
        <p:spPr>
          <a:xfrm>
            <a:off x="685800" y="2883027"/>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Examples:</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Taman Dayu destination utilisation.</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Strengthen early-phase demand in Sidoarjo and Bandung.</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industrial occupier acquisition.</a:t>
            </a:r>
          </a:p>
        </p:txBody>
      </p:sp>
      <p:sp>
        <p:nvSpPr>
          <p:cNvPr id="21" name="Rectangle 20"/>
          <p:cNvSpPr/>
          <p:nvPr/>
        </p:nvSpPr>
        <p:spPr>
          <a:xfrm>
            <a:off x="685800" y="47800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6885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Increase productivity of retained commercial and hospitality assets.</a:t>
            </a:r>
          </a:p>
        </p:txBody>
      </p:sp>
      <p:sp>
        <p:nvSpPr>
          <p:cNvPr id="23" name="Rectangle 22"/>
          <p:cNvSpPr/>
          <p:nvPr/>
        </p:nvSpPr>
        <p:spPr>
          <a:xfrm>
            <a:off x="685800" y="52294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13803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What Capabilities Are Required?</a:t>
            </a:r>
          </a:p>
        </p:txBody>
      </p:sp>
      <p:sp>
        <p:nvSpPr>
          <p:cNvPr id="25" name="Rectangle 24"/>
          <p:cNvSpPr/>
          <p:nvPr/>
        </p:nvSpPr>
        <p:spPr>
          <a:xfrm>
            <a:off x="685800" y="56789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58749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Development and infrastructure delivery.</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D.2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57–58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Turning Strategy Into Business Cases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leasing and tenant curation.</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Destination programming.</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Partnerships.</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Customer and membership management.</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Asset management.</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Hospitality operations.</a:t>
            </a:r>
          </a:p>
        </p:txBody>
      </p:sp>
      <p:sp>
        <p:nvSpPr>
          <p:cNvPr id="23" name="Rectangle 22"/>
          <p:cNvSpPr/>
          <p:nvPr/>
        </p:nvSpPr>
        <p:spPr>
          <a:xfrm>
            <a:off x="685800" y="48729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7815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Reliable portfolio and financial reporting.</a:t>
            </a:r>
          </a:p>
        </p:txBody>
      </p:sp>
      <p:sp>
        <p:nvSpPr>
          <p:cNvPr id="25" name="Rectangle 24"/>
          <p:cNvSpPr/>
          <p:nvPr/>
        </p:nvSpPr>
        <p:spPr>
          <a:xfrm>
            <a:off x="685800" y="532244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23100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How Will Success Be Measured?</a:t>
            </a:r>
          </a:p>
        </p:txBody>
      </p:sp>
      <p:sp>
        <p:nvSpPr>
          <p:cNvPr id="27" name="TextBox 26"/>
          <p:cNvSpPr txBox="1"/>
          <p:nvPr/>
        </p:nvSpPr>
        <p:spPr>
          <a:xfrm>
            <a:off x="685800" y="568045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Use appropriate measures for each asset:</a:t>
            </a:r>
          </a:p>
        </p:txBody>
      </p:sp>
      <p:sp>
        <p:nvSpPr>
          <p:cNvPr id="28" name="TextBox 2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D.3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57–58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Turning Strategy Into Business Cases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Sales absorption and margin.</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Handover and opening readiness.</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Occupancy and retention.</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Visitation and repeat visits.</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RevPAR and operating profit.</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NOI and cash contribution.</a:t>
            </a:r>
          </a:p>
        </p:txBody>
      </p:sp>
      <p:sp>
        <p:nvSpPr>
          <p:cNvPr id="23" name="Rectangle 22"/>
          <p:cNvSpPr/>
          <p:nvPr/>
        </p:nvSpPr>
        <p:spPr>
          <a:xfrm>
            <a:off x="685800" y="48729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7815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Customer satisfaction.</a:t>
            </a:r>
          </a:p>
        </p:txBody>
      </p:sp>
      <p:sp>
        <p:nvSpPr>
          <p:cNvPr id="25" name="Rectangle 24"/>
          <p:cNvSpPr/>
          <p:nvPr/>
        </p:nvSpPr>
        <p:spPr>
          <a:xfrm>
            <a:off x="685800" y="532244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23100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Return on invested capital.</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D.4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57–58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Turning Strategy Into Business Cases</a:t>
            </a:r>
          </a:p>
        </p:txBody>
      </p:sp>
      <p:sp>
        <p:nvSpPr>
          <p:cNvPr id="11" name="Rectangle 10"/>
          <p:cNvSpPr/>
          <p:nvPr/>
        </p:nvSpPr>
        <p:spPr>
          <a:xfrm>
            <a:off x="685800" y="2084831"/>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84831"/>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2167127"/>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Rule: Every business case needs an accountable owner, investment envelope, milestones, assumptions, and review dates.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APPENDIX E</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144</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E</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Executive Decisions Required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E</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58–59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Executive Decisions Required</a:t>
            </a:r>
          </a:p>
        </p:txBody>
      </p:sp>
      <p:graphicFrame>
        <p:nvGraphicFramePr>
          <p:cNvPr id="11" name="Table 10"/>
          <p:cNvGraphicFramePr>
            <a:graphicFrameLocks noGrp="1"/>
          </p:cNvGraphicFramePr>
          <p:nvPr/>
        </p:nvGraphicFramePr>
        <p:xfrm>
          <a:off x="685800" y="2084831"/>
          <a:ext cx="10789919" cy="3065266"/>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Decision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recommendation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Corporate positioning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Adopt Elevating Life as the primary corporate expression</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Portfolio reporting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the five documented business pillars as the current business-description</a:t>
                      </a:r>
                    </a:p>
                    <a:p>
                      <a:pPr>
                        <a:lnSpc>
                          <a:spcPts val="1829"/>
                        </a:lnSpc>
                        <a:spcBef>
                          <a:spcPts val="0"/>
                        </a:spcBef>
                        <a:spcAft>
                          <a:spcPts val="0"/>
                        </a:spcAft>
                      </a:pPr>
                      <a:r>
                        <a:rPr sz="1550" b="0">
                          <a:solidFill>
                            <a:srgbClr val="183A32"/>
                          </a:solidFill>
                          <a:latin typeface="Arial"/>
                        </a:rPr>
                        <a:t>baseline</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Naming governance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Preserve established names and implement only approved naming transitions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Group architecture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Distinguish TANRISE’s property role from TANLY’s hospitality-management role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Business model</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Strengthen development performance and selectively improve recurring-income</a:t>
                      </a:r>
                    </a:p>
                    <a:p>
                      <a:pPr>
                        <a:lnSpc>
                          <a:spcPts val="1829"/>
                        </a:lnSpc>
                        <a:spcBef>
                          <a:spcPts val="0"/>
                        </a:spcBef>
                        <a:spcAft>
                          <a:spcPts val="0"/>
                        </a:spcAft>
                      </a:pPr>
                      <a:r>
                        <a:rPr sz="1550" b="0">
                          <a:solidFill>
                            <a:srgbClr val="183A32"/>
                          </a:solidFill>
                          <a:latin typeface="Arial"/>
                        </a:rPr>
                        <a:t>engines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E.2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58–59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Executive Decisions Required</a:t>
            </a:r>
          </a:p>
        </p:txBody>
      </p:sp>
      <p:graphicFrame>
        <p:nvGraphicFramePr>
          <p:cNvPr id="11" name="Table 10"/>
          <p:cNvGraphicFramePr>
            <a:graphicFrameLocks noGrp="1"/>
          </p:cNvGraphicFramePr>
          <p:nvPr/>
        </p:nvGraphicFramePr>
        <p:xfrm>
          <a:off x="685800" y="2084831"/>
          <a:ext cx="10789919" cy="153263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Decision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Proposed recommendation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Strategic priorities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Advance Taman Dayu, integrated-city, industrial, and hospitality business cases</a:t>
                      </a:r>
                    </a:p>
                    <a:p>
                      <a:pPr>
                        <a:lnSpc>
                          <a:spcPts val="1829"/>
                        </a:lnSpc>
                        <a:spcBef>
                          <a:spcPts val="0"/>
                        </a:spcBef>
                        <a:spcAft>
                          <a:spcPts val="0"/>
                        </a:spcAft>
                      </a:pPr>
                      <a:r>
                        <a:rPr sz="1550" b="0">
                          <a:solidFill>
                            <a:srgbClr val="183A32"/>
                          </a:solidFill>
                          <a:latin typeface="Arial"/>
                        </a:rPr>
                        <a:t>according to feasibility</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2035 transformation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 a funded roadmap with annual milestones and executive accountability</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3800347"/>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All recommendations require leadership approval.</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APPENDIX F</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147</a:t>
            </a:r>
          </a:p>
        </p:txBody>
      </p:sp>
      <p:sp>
        <p:nvSpPr>
          <p:cNvPr id="10" name="TextBox 9"/>
          <p:cNvSpPr txBox="1"/>
          <p:nvPr/>
        </p:nvSpPr>
        <p:spPr>
          <a:xfrm>
            <a:off x="685800" y="1353312"/>
            <a:ext cx="10789920" cy="1278636"/>
          </a:xfrm>
          <a:prstGeom prst="rect">
            <a:avLst/>
          </a:prstGeom>
          <a:noFill/>
        </p:spPr>
        <p:txBody>
          <a:bodyPr wrap="none" lIns="0" rIns="0" tIns="0" bIns="0">
            <a:spAutoFit/>
          </a:bodyPr>
          <a:lstStyle/>
          <a:p>
            <a:pPr>
              <a:lnSpc>
                <a:spcPts val="9600"/>
              </a:lnSpc>
              <a:spcBef>
                <a:spcPts val="0"/>
              </a:spcBef>
              <a:spcAft>
                <a:spcPts val="0"/>
              </a:spcAft>
            </a:pPr>
            <a:r>
              <a:rPr sz="9600" b="0" i="0">
                <a:solidFill>
                  <a:srgbClr val="AD843F"/>
                </a:solidFill>
                <a:latin typeface="Times New Roman"/>
              </a:rPr>
              <a:t>F</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Design And Source Guidance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F</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59–61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 And Source Guidance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PRESENTATION STRUCTURE</a:t>
            </a:r>
          </a:p>
        </p:txBody>
      </p:sp>
      <p:graphicFrame>
        <p:nvGraphicFramePr>
          <p:cNvPr id="12" name="Table 11"/>
          <p:cNvGraphicFramePr>
            <a:graphicFrameLocks noGrp="1"/>
          </p:cNvGraphicFramePr>
          <p:nvPr/>
        </p:nvGraphicFramePr>
        <p:xfrm>
          <a:off x="685800" y="2433574"/>
          <a:ext cx="10789919" cy="3065266"/>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Section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Slides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Objective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Corporate research and</a:t>
                      </a:r>
                    </a:p>
                    <a:p>
                      <a:pPr>
                        <a:lnSpc>
                          <a:spcPts val="1829"/>
                        </a:lnSpc>
                        <a:spcBef>
                          <a:spcPts val="0"/>
                        </a:spcBef>
                        <a:spcAft>
                          <a:spcPts val="0"/>
                        </a:spcAft>
                      </a:pPr>
                      <a:r>
                        <a:rPr sz="1550" b="0">
                          <a:solidFill>
                            <a:srgbClr val="183A32"/>
                          </a:solidFill>
                          <a:latin typeface="Arial"/>
                        </a:rPr>
                        <a:t>diagnosis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01–07</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 the business, portfolio, and growth challenge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Competitive intelligence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08–17</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Identify relevant competitive mechanisms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Corporate and portfolio</a:t>
                      </a:r>
                    </a:p>
                    <a:p>
                      <a:pPr>
                        <a:lnSpc>
                          <a:spcPts val="1829"/>
                        </a:lnSpc>
                        <a:spcBef>
                          <a:spcPts val="0"/>
                        </a:spcBef>
                        <a:spcAft>
                          <a:spcPts val="0"/>
                        </a:spcAft>
                      </a:pPr>
                      <a:r>
                        <a:rPr sz="1550" b="0">
                          <a:solidFill>
                            <a:srgbClr val="183A32"/>
                          </a:solidFill>
                          <a:latin typeface="Arial"/>
                        </a:rPr>
                        <a:t>architecture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18–21</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Clarify group roles, projects, naming, and status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Three brand alternatives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22–25</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Present strategic choices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Recommended platform</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26–33</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Define identity, values, culture, and experience</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F.2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59–61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149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 And Source Guidance</a:t>
            </a:r>
          </a:p>
        </p:txBody>
      </p:sp>
      <p:graphicFrame>
        <p:nvGraphicFramePr>
          <p:cNvPr id="11" name="Table 10"/>
          <p:cNvGraphicFramePr>
            <a:graphicFrameLocks noGrp="1"/>
          </p:cNvGraphicFramePr>
          <p:nvPr/>
        </p:nvGraphicFramePr>
        <p:xfrm>
          <a:off x="685800" y="2084831"/>
          <a:ext cx="10789919" cy="1300350"/>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Section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Slides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Objective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Business transformation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34–37</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Connect the portfolio to commercial value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Roadmap and execution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38–40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Translate ambition into action</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359549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VISUAL DIRECTION</a:t>
            </a:r>
          </a:p>
        </p:txBody>
      </p:sp>
      <p:sp>
        <p:nvSpPr>
          <p:cNvPr id="13" name="TextBox 12"/>
          <p:cNvSpPr txBox="1"/>
          <p:nvPr/>
        </p:nvSpPr>
        <p:spPr>
          <a:xfrm>
            <a:off x="685800" y="391680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Portfolio research Use actual client project photography and renderings. Label renderings and future facilities clearly.</a:t>
            </a:r>
          </a:p>
        </p:txBody>
      </p:sp>
      <p:sp>
        <p:nvSpPr>
          <p:cNvPr id="14" name="TextBox 13"/>
          <p:cNvSpPr txBox="1"/>
          <p:nvPr/>
        </p:nvSpPr>
        <p:spPr>
          <a:xfrm>
            <a:off x="685800" y="437400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Architecture Separate corporate group relationships, business pillars, destination brands, individual projects, and</a:t>
            </a:r>
          </a:p>
          <a:p>
            <a:pPr>
              <a:lnSpc>
                <a:spcPts val="2196"/>
              </a:lnSpc>
              <a:spcBef>
                <a:spcPts val="0"/>
              </a:spcBef>
              <a:spcAft>
                <a:spcPts val="0"/>
              </a:spcAft>
            </a:pPr>
            <a:r>
              <a:rPr sz="1800" b="0" i="0">
                <a:solidFill>
                  <a:srgbClr val="183A32"/>
                </a:solidFill>
                <a:latin typeface="Times New Roman"/>
              </a:rPr>
              <a:t>operators.</a:t>
            </a:r>
          </a:p>
        </p:txBody>
      </p:sp>
      <p:sp>
        <p:nvSpPr>
          <p:cNvPr id="15" name="TextBox 14"/>
          <p:cNvSpPr txBox="1"/>
          <p:nvPr/>
        </p:nvSpPr>
        <p:spPr>
          <a:xfrm>
            <a:off x="685800" y="511009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Project status Use a consistent visual key for existing, ongoing, upcoming, proposed naming, and unresolved</a:t>
            </a:r>
          </a:p>
          <a:p>
            <a:pPr>
              <a:lnSpc>
                <a:spcPts val="2196"/>
              </a:lnSpc>
              <a:spcBef>
                <a:spcPts val="0"/>
              </a:spcBef>
              <a:spcAft>
                <a:spcPts val="0"/>
              </a:spcAft>
            </a:pPr>
            <a:r>
              <a:rPr sz="1800" b="0" i="0">
                <a:solidFill>
                  <a:srgbClr val="183A32"/>
                </a:solidFill>
                <a:latin typeface="Times New Roman"/>
              </a:rPr>
              <a:t>information.</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F.3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59–61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 And Source Guidance</a:t>
            </a:r>
          </a:p>
        </p:txBody>
      </p:sp>
      <p:cxnSp>
        <p:nvCxnSpPr>
          <p:cNvPr id="11" name="Connector 10"/>
          <p:cNvCxnSpPr/>
          <p:nvPr/>
        </p:nvCxnSpPr>
        <p:spPr>
          <a:xfrm>
            <a:off x="6062472" y="2084831"/>
            <a:ext cx="0" cy="303885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Financial comparisons Use consistent periods,</a:t>
            </a:r>
          </a:p>
          <a:p>
            <a:pPr>
              <a:lnSpc>
                <a:spcPts val="2196"/>
              </a:lnSpc>
              <a:spcBef>
                <a:spcPts val="0"/>
              </a:spcBef>
              <a:spcAft>
                <a:spcPts val="0"/>
              </a:spcAft>
            </a:pPr>
            <a:r>
              <a:rPr sz="1800" b="0" i="0">
                <a:solidFill>
                  <a:srgbClr val="183A32"/>
                </a:solidFill>
                <a:latin typeface="Times New Roman"/>
              </a:rPr>
              <a:t>definitions, and units. Show disputed or unreconciled</a:t>
            </a:r>
          </a:p>
          <a:p>
            <a:pPr>
              <a:lnSpc>
                <a:spcPts val="2196"/>
              </a:lnSpc>
              <a:spcBef>
                <a:spcPts val="0"/>
              </a:spcBef>
              <a:spcAft>
                <a:spcPts val="0"/>
              </a:spcAft>
            </a:pPr>
            <a:r>
              <a:rPr sz="1800" b="0" i="0">
                <a:solidFill>
                  <a:srgbClr val="183A32"/>
                </a:solidFill>
                <a:latin typeface="Times New Roman"/>
              </a:rPr>
              <a:t>figures only in the validation appendix.</a:t>
            </a:r>
          </a:p>
        </p:txBody>
      </p:sp>
      <p:sp>
        <p:nvSpPr>
          <p:cNvPr id="13" name="TextBox 12"/>
          <p:cNvSpPr txBox="1"/>
          <p:nvPr/>
        </p:nvSpPr>
        <p:spPr>
          <a:xfrm>
            <a:off x="685800" y="3099815"/>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Brand options Maintain one presentation system while</a:t>
            </a:r>
          </a:p>
          <a:p>
            <a:pPr>
              <a:lnSpc>
                <a:spcPts val="2196"/>
              </a:lnSpc>
              <a:spcBef>
                <a:spcPts val="0"/>
              </a:spcBef>
              <a:spcAft>
                <a:spcPts val="0"/>
              </a:spcAft>
            </a:pPr>
            <a:r>
              <a:rPr sz="1800" b="0" i="0">
                <a:solidFill>
                  <a:srgbClr val="183A32"/>
                </a:solidFill>
                <a:latin typeface="Times New Roman"/>
              </a:rPr>
              <a:t>giving each strategic option a distinctive emphasis.</a:t>
            </a:r>
          </a:p>
        </p:txBody>
      </p:sp>
      <p:sp>
        <p:nvSpPr>
          <p:cNvPr id="14" name="TextBox 13"/>
          <p:cNvSpPr txBox="1"/>
          <p:nvPr/>
        </p:nvSpPr>
        <p:spPr>
          <a:xfrm>
            <a:off x="685800" y="3835907"/>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Roadmap Distinguish the proposed corporate roadmap</a:t>
            </a:r>
          </a:p>
          <a:p>
            <a:pPr>
              <a:lnSpc>
                <a:spcPts val="2196"/>
              </a:lnSpc>
              <a:spcBef>
                <a:spcPts val="0"/>
              </a:spcBef>
              <a:spcAft>
                <a:spcPts val="0"/>
              </a:spcAft>
            </a:pPr>
            <a:r>
              <a:rPr sz="1800" b="0" i="0">
                <a:solidFill>
                  <a:srgbClr val="183A32"/>
                </a:solidFill>
                <a:latin typeface="Times New Roman"/>
              </a:rPr>
              <a:t>from individual project schedules.</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PRIMARY CLIENT SOURCES</a:t>
            </a:r>
          </a:p>
        </p:txBody>
      </p:sp>
      <p:sp>
        <p:nvSpPr>
          <p:cNvPr id="16" name="TextBox 15"/>
          <p:cNvSpPr txBox="1"/>
          <p:nvPr/>
        </p:nvSpPr>
        <p:spPr>
          <a:xfrm>
            <a:off x="6400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Client Source 1 RISE Investor Presentation — 1Q26</a:t>
            </a:r>
          </a:p>
          <a:p>
            <a:pPr>
              <a:lnSpc>
                <a:spcPts val="2196"/>
              </a:lnSpc>
              <a:spcBef>
                <a:spcPts val="0"/>
              </a:spcBef>
              <a:spcAft>
                <a:spcPts val="0"/>
              </a:spcAft>
            </a:pPr>
            <a:r>
              <a:rPr sz="1800" b="0" i="0">
                <a:solidFill>
                  <a:srgbClr val="183A32"/>
                </a:solidFill>
                <a:latin typeface="Times New Roman"/>
              </a:rPr>
              <a:t>Result, dated 20 July 2026.</a:t>
            </a:r>
          </a:p>
        </p:txBody>
      </p:sp>
      <p:sp>
        <p:nvSpPr>
          <p:cNvPr id="17" name="TextBox 16"/>
          <p:cNvSpPr txBox="1"/>
          <p:nvPr/>
        </p:nvSpPr>
        <p:spPr>
          <a:xfrm>
            <a:off x="6400800" y="3169666"/>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Key references: corporate vision and mission;</a:t>
            </a:r>
          </a:p>
          <a:p>
            <a:pPr>
              <a:lnSpc>
                <a:spcPts val="2196"/>
              </a:lnSpc>
              <a:spcBef>
                <a:spcPts val="0"/>
              </a:spcBef>
              <a:spcAft>
                <a:spcPts val="0"/>
              </a:spcAft>
            </a:pPr>
            <a:r>
              <a:rPr sz="1800" b="0" i="0">
                <a:solidFill>
                  <a:srgbClr val="183A32"/>
                </a:solidFill>
                <a:latin typeface="Times New Roman"/>
              </a:rPr>
              <a:t>development milestones; company structure; five</a:t>
            </a:r>
          </a:p>
          <a:p>
            <a:pPr>
              <a:lnSpc>
                <a:spcPts val="2196"/>
              </a:lnSpc>
              <a:spcBef>
                <a:spcPts val="0"/>
              </a:spcBef>
              <a:spcAft>
                <a:spcPts val="0"/>
              </a:spcAft>
            </a:pPr>
            <a:r>
              <a:rPr sz="1800" b="0" i="0">
                <a:solidFill>
                  <a:srgbClr val="183A32"/>
                </a:solidFill>
                <a:latin typeface="Times New Roman"/>
              </a:rPr>
              <a:t>business pillars; project portfolio; existing assets;</a:t>
            </a:r>
          </a:p>
          <a:p>
            <a:pPr>
              <a:lnSpc>
                <a:spcPts val="2196"/>
              </a:lnSpc>
              <a:spcBef>
                <a:spcPts val="0"/>
              </a:spcBef>
              <a:spcAft>
                <a:spcPts val="0"/>
              </a:spcAft>
            </a:pPr>
            <a:r>
              <a:rPr sz="1800" b="0" i="0">
                <a:solidFill>
                  <a:srgbClr val="183A32"/>
                </a:solidFill>
                <a:latin typeface="Times New Roman"/>
              </a:rPr>
              <a:t>ongoing and upcoming developments.</a:t>
            </a:r>
          </a:p>
        </p:txBody>
      </p:sp>
      <p:sp>
        <p:nvSpPr>
          <p:cNvPr id="18" name="TextBox 17"/>
          <p:cNvSpPr txBox="1"/>
          <p:nvPr/>
        </p:nvSpPr>
        <p:spPr>
          <a:xfrm>
            <a:off x="6400800" y="4463542"/>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Client Source 2 Tanrise Brand Portfolio Strategy 2026.</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APPENDICES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APP F.4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59–61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 And Source Guidance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Key references: product categories; proposed residential naming; Jumana-to-Sunrise transition; location-based Grand</a:t>
            </a:r>
          </a:p>
          <a:p>
            <a:pPr>
              <a:lnSpc>
                <a:spcPts val="2196"/>
              </a:lnSpc>
              <a:spcBef>
                <a:spcPts val="0"/>
              </a:spcBef>
              <a:spcAft>
                <a:spcPts val="0"/>
              </a:spcAft>
            </a:pPr>
            <a:r>
              <a:rPr sz="1800" b="0" i="0">
                <a:solidFill>
                  <a:srgbClr val="183A32"/>
                </a:solidFill>
                <a:latin typeface="Times New Roman"/>
              </a:rPr>
              <a:t>Sunrise and TRITAN naming; industrial-park identities; commercial portfolio references.</a:t>
            </a:r>
          </a:p>
        </p:txBody>
      </p:sp>
      <p:sp>
        <p:nvSpPr>
          <p:cNvPr id="12" name="TextBox 11"/>
          <p:cNvSpPr txBox="1"/>
          <p:nvPr/>
        </p:nvSpPr>
        <p:spPr>
          <a:xfrm>
            <a:off x="685800" y="284835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CENTRAL LEADERSHIP MESSAGE</a:t>
            </a:r>
          </a:p>
        </p:txBody>
      </p:sp>
      <p:sp>
        <p:nvSpPr>
          <p:cNvPr id="13" name="TextBox 12"/>
          <p:cNvSpPr txBox="1"/>
          <p:nvPr/>
        </p:nvSpPr>
        <p:spPr>
          <a:xfrm>
            <a:off x="685800" y="316966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already has a diversified asset base and a substantial development pipeline.</a:t>
            </a:r>
          </a:p>
        </p:txBody>
      </p:sp>
      <p:sp>
        <p:nvSpPr>
          <p:cNvPr id="14" name="TextBox 13"/>
          <p:cNvSpPr txBox="1"/>
          <p:nvPr/>
        </p:nvSpPr>
        <p:spPr>
          <a:xfrm>
            <a:off x="685800" y="362686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next chapter should connect these strengths through clearer portfolio governance, purposeful development,</a:t>
            </a:r>
          </a:p>
          <a:p>
            <a:pPr>
              <a:lnSpc>
                <a:spcPts val="2196"/>
              </a:lnSpc>
              <a:spcBef>
                <a:spcPts val="0"/>
              </a:spcBef>
              <a:spcAft>
                <a:spcPts val="0"/>
              </a:spcAft>
            </a:pPr>
            <a:r>
              <a:rPr sz="1800" b="0" i="0">
                <a:solidFill>
                  <a:srgbClr val="183A32"/>
                </a:solidFill>
                <a:latin typeface="Times New Roman"/>
              </a:rPr>
              <a:t>dependable delivery, effective operating partnerships, and disciplined investment.</a:t>
            </a:r>
          </a:p>
        </p:txBody>
      </p:sp>
      <p:sp>
        <p:nvSpPr>
          <p:cNvPr id="15" name="TextBox 14"/>
          <p:cNvSpPr txBox="1"/>
          <p:nvPr/>
        </p:nvSpPr>
        <p:spPr>
          <a:xfrm>
            <a:off x="685800" y="436295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 Elevating Life.</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SUPPLEMENTARY 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RESEARCH</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152</a:t>
            </a:r>
          </a:p>
        </p:txBody>
      </p:sp>
      <p:sp>
        <p:nvSpPr>
          <p:cNvPr id="10" name="TextBox 9"/>
          <p:cNvSpPr txBox="1"/>
          <p:nvPr/>
        </p:nvSpPr>
        <p:spPr>
          <a:xfrm>
            <a:off x="685800" y="1353312"/>
            <a:ext cx="10789920" cy="643636"/>
          </a:xfrm>
          <a:prstGeom prst="rect">
            <a:avLst/>
          </a:prstGeom>
          <a:noFill/>
        </p:spPr>
        <p:txBody>
          <a:bodyPr wrap="none" lIns="0" rIns="0" tIns="0" bIns="0">
            <a:spAutoFit/>
          </a:bodyPr>
          <a:lstStyle/>
          <a:p>
            <a:pPr>
              <a:lnSpc>
                <a:spcPts val="4600"/>
              </a:lnSpc>
              <a:spcBef>
                <a:spcPts val="0"/>
              </a:spcBef>
              <a:spcAft>
                <a:spcPts val="0"/>
              </a:spcAft>
            </a:pPr>
            <a:r>
              <a:rPr sz="4600" b="0" i="0">
                <a:solidFill>
                  <a:srgbClr val="AD843F"/>
                </a:solidFill>
                <a:latin typeface="Times New Roman"/>
              </a:rPr>
              <a:t>RESEARCH</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TANRISE Competitive Advantages Research</a:t>
            </a:r>
          </a:p>
        </p:txBody>
      </p:sp>
      <p:sp>
        <p:nvSpPr>
          <p:cNvPr id="12" name="TextBox 11"/>
          <p:cNvSpPr txBox="1"/>
          <p:nvPr/>
        </p:nvSpPr>
        <p:spPr>
          <a:xfrm>
            <a:off x="6400800" y="5230368"/>
            <a:ext cx="4572000" cy="586232"/>
          </a:xfrm>
          <a:prstGeom prst="rect">
            <a:avLst/>
          </a:prstGeom>
          <a:noFill/>
        </p:spPr>
        <p:txBody>
          <a:bodyPr wrap="none" lIns="0" rIns="0" tIns="0" bIns="0">
            <a:spAutoFit/>
          </a:bodyPr>
          <a:lstStyle/>
          <a:p>
            <a:pPr>
              <a:lnSpc>
                <a:spcPts val="2074"/>
              </a:lnSpc>
              <a:spcBef>
                <a:spcPts val="0"/>
              </a:spcBef>
              <a:spcAft>
                <a:spcPts val="0"/>
              </a:spcAft>
            </a:pPr>
            <a:r>
              <a:rPr sz="1700" b="0" i="1">
                <a:solidFill>
                  <a:srgbClr val="F6F2E9"/>
                </a:solidFill>
                <a:latin typeface="Times New Roman"/>
              </a:rPr>
              <a:t>Ten Indonesian Developer Case Studies and Lessons</a:t>
            </a:r>
          </a:p>
          <a:p>
            <a:pPr>
              <a:lnSpc>
                <a:spcPts val="2074"/>
              </a:lnSpc>
              <a:spcBef>
                <a:spcPts val="0"/>
              </a:spcBef>
              <a:spcAft>
                <a:spcPts val="0"/>
              </a:spcAft>
            </a:pPr>
            <a:r>
              <a:rPr sz="1700" b="0" i="1">
                <a:solidFill>
                  <a:srgbClr val="F6F2E9"/>
                </a:solidFill>
                <a:latin typeface="Times New Roman"/>
              </a:rPr>
              <a:t>for the 2035 Ambition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Research title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 Learning from Indonesia’s Major Property Developers</a:t>
            </a:r>
          </a:p>
        </p:txBody>
      </p:sp>
      <p:sp>
        <p:nvSpPr>
          <p:cNvPr id="12" name="TextBox 11"/>
          <p:cNvSpPr txBox="1"/>
          <p:nvPr/>
        </p:nvSpPr>
        <p:spPr>
          <a:xfrm>
            <a:off x="685800" y="254203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Subtitle: Company origins, growth models, competitive advantages, financial scale, and implications for TANRISE’s</a:t>
            </a:r>
          </a:p>
          <a:p>
            <a:pPr>
              <a:lnSpc>
                <a:spcPts val="2196"/>
              </a:lnSpc>
              <a:spcBef>
                <a:spcPts val="0"/>
              </a:spcBef>
              <a:spcAft>
                <a:spcPts val="0"/>
              </a:spcAft>
            </a:pPr>
            <a:r>
              <a:rPr sz="1800" b="0" i="0">
                <a:solidFill>
                  <a:srgbClr val="183A32"/>
                </a:solidFill>
                <a:latin typeface="Times New Roman"/>
              </a:rPr>
              <a:t>Top Five ambition in 2035.</a:t>
            </a:r>
          </a:p>
        </p:txBody>
      </p:sp>
      <p:sp>
        <p:nvSpPr>
          <p:cNvPr id="13" name="TextBox 12"/>
          <p:cNvSpPr txBox="1"/>
          <p:nvPr/>
        </p:nvSpPr>
        <p:spPr>
          <a:xfrm>
            <a:off x="685800" y="32781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scope: Ten selected listed developers and their relevant group backgrounds.</a:t>
            </a:r>
          </a:p>
        </p:txBody>
      </p:sp>
      <p:sp>
        <p:nvSpPr>
          <p:cNvPr id="14" name="TextBox 13"/>
          <p:cNvSpPr txBox="1"/>
          <p:nvPr/>
        </p:nvSpPr>
        <p:spPr>
          <a:xfrm>
            <a:off x="685800" y="37353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Financial comparison: FY2025 full-year results.</a:t>
            </a:r>
          </a:p>
        </p:txBody>
      </p:sp>
      <p:sp>
        <p:nvSpPr>
          <p:cNvPr id="15" name="TextBox 14"/>
          <p:cNvSpPr txBox="1"/>
          <p:nvPr/>
        </p:nvSpPr>
        <p:spPr>
          <a:xfrm>
            <a:off x="685800" y="419252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reference date: 29 October 2026.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ten companies being studied</a:t>
            </a:r>
          </a:p>
        </p:txBody>
      </p:sp>
      <p:graphicFrame>
        <p:nvGraphicFramePr>
          <p:cNvPr id="11" name="Table 10"/>
          <p:cNvGraphicFramePr>
            <a:graphicFrameLocks noGrp="1"/>
          </p:cNvGraphicFramePr>
          <p:nvPr/>
        </p:nvGraphicFramePr>
        <p:xfrm>
          <a:off x="685800" y="2084831"/>
          <a:ext cx="10789920" cy="3597275"/>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Case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Correct company name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Ticker</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Important distinction</a:t>
                      </a:r>
                    </a:p>
                  </a:txBody>
                  <a:tcPr marL="109728" marR="109728" marT="82296" marB="0" anchor="t">
                    <a:solidFill>
                      <a:srgbClr val="153F35"/>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1</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Bumi Serpong Damai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BSDE</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 listed company within Sinar</a:t>
                      </a:r>
                    </a:p>
                    <a:p>
                      <a:pPr>
                        <a:lnSpc>
                          <a:spcPts val="1711"/>
                        </a:lnSpc>
                        <a:spcBef>
                          <a:spcPts val="0"/>
                        </a:spcBef>
                        <a:spcAft>
                          <a:spcPts val="0"/>
                        </a:spcAft>
                      </a:pPr>
                      <a:r>
                        <a:rPr sz="1450" b="0">
                          <a:solidFill>
                            <a:srgbClr val="183A32"/>
                          </a:solidFill>
                          <a:latin typeface="Arial"/>
                        </a:rPr>
                        <a:t>Mas Land</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2</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Lippo Karawaci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LPKR</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One listed platform within the</a:t>
                      </a:r>
                    </a:p>
                    <a:p>
                      <a:pPr>
                        <a:lnSpc>
                          <a:spcPts val="1711"/>
                        </a:lnSpc>
                        <a:spcBef>
                          <a:spcPts val="0"/>
                        </a:spcBef>
                        <a:spcAft>
                          <a:spcPts val="0"/>
                        </a:spcAft>
                      </a:pPr>
                      <a:r>
                        <a:rPr sz="1450" b="0">
                          <a:solidFill>
                            <a:srgbClr val="183A32"/>
                          </a:solidFill>
                          <a:latin typeface="Arial"/>
                        </a:rPr>
                        <a:t>broader Lippo Group</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3</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Ciputra Development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CTRA</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The consolidated listed</a:t>
                      </a:r>
                    </a:p>
                    <a:p>
                      <a:pPr>
                        <a:lnSpc>
                          <a:spcPts val="1711"/>
                        </a:lnSpc>
                        <a:spcBef>
                          <a:spcPts val="0"/>
                        </a:spcBef>
                        <a:spcAft>
                          <a:spcPts val="0"/>
                        </a:spcAft>
                      </a:pPr>
                      <a:r>
                        <a:rPr sz="1450" b="0">
                          <a:solidFill>
                            <a:srgbClr val="183A32"/>
                          </a:solidFill>
                          <a:latin typeface="Arial"/>
                        </a:rPr>
                        <a:t>Ciputra development platform</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4</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Summarecon Agung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SMRA</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The company intended by</a:t>
                      </a:r>
                    </a:p>
                    <a:p>
                      <a:pPr>
                        <a:lnSpc>
                          <a:spcPts val="1711"/>
                        </a:lnSpc>
                        <a:spcBef>
                          <a:spcPts val="0"/>
                        </a:spcBef>
                        <a:spcAft>
                          <a:spcPts val="0"/>
                        </a:spcAft>
                      </a:pPr>
                      <a:r>
                        <a:rPr sz="1450" b="0">
                          <a:solidFill>
                            <a:srgbClr val="183A32"/>
                          </a:solidFill>
                          <a:latin typeface="Arial"/>
                        </a:rPr>
                        <a:t>“Sinar Mas Agung”</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5</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Pakuwon Jati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PWON</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The company intended by</a:t>
                      </a:r>
                    </a:p>
                    <a:p>
                      <a:pPr>
                        <a:lnSpc>
                          <a:spcPts val="1711"/>
                        </a:lnSpc>
                        <a:spcBef>
                          <a:spcPts val="0"/>
                        </a:spcBef>
                        <a:spcAft>
                          <a:spcPts val="0"/>
                        </a:spcAft>
                      </a:pPr>
                      <a:r>
                        <a:rPr sz="1450" b="0">
                          <a:solidFill>
                            <a:srgbClr val="183A32"/>
                          </a:solidFill>
                          <a:latin typeface="Arial"/>
                        </a:rPr>
                        <a:t>“Bakri Jati”</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ten companies being studied</a:t>
            </a:r>
          </a:p>
        </p:txBody>
      </p:sp>
      <p:graphicFrame>
        <p:nvGraphicFramePr>
          <p:cNvPr id="11" name="Table 10"/>
          <p:cNvGraphicFramePr>
            <a:graphicFrameLocks noGrp="1"/>
          </p:cNvGraphicFramePr>
          <p:nvPr/>
        </p:nvGraphicFramePr>
        <p:xfrm>
          <a:off x="685800" y="2084831"/>
          <a:ext cx="10789920" cy="3178810"/>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Case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Correct company name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Ticker</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Important distinction</a:t>
                      </a:r>
                    </a:p>
                  </a:txBody>
                  <a:tcPr marL="109728" marR="109728" marT="82296" marB="0" anchor="t">
                    <a:solidFill>
                      <a:srgbClr val="153F35"/>
                    </a:solidFill>
                    <a:lnL>
                      <a:noFill/>
                    </a:lnL>
                    <a:lnR>
                      <a:noFill/>
                    </a:lnR>
                    <a:lnT>
                      <a:noFill/>
                    </a:lnT>
                    <a:lnB>
                      <a:noFill/>
                    </a:lnB>
                  </a:tcPr>
                </a:tc>
              </a:tr>
              <a:tr h="853059">
                <a:tc>
                  <a:txBody>
                    <a:bodyPr wrap="none"/>
                    <a:lstStyle/>
                    <a:p>
                      <a:pPr>
                        <a:lnSpc>
                          <a:spcPts val="1711"/>
                        </a:lnSpc>
                        <a:spcBef>
                          <a:spcPts val="0"/>
                        </a:spcBef>
                        <a:spcAft>
                          <a:spcPts val="0"/>
                        </a:spcAft>
                      </a:pPr>
                      <a:r>
                        <a:rPr sz="1450" b="0">
                          <a:solidFill>
                            <a:srgbClr val="183A32"/>
                          </a:solidFill>
                          <a:latin typeface="Arial"/>
                        </a:rPr>
                        <a:t>6</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Agung Podomoro Land</a:t>
                      </a:r>
                    </a:p>
                    <a:p>
                      <a:pPr>
                        <a:lnSpc>
                          <a:spcPts val="1711"/>
                        </a:lnSpc>
                        <a:spcBef>
                          <a:spcPts val="0"/>
                        </a:spcBef>
                        <a:spcAft>
                          <a:spcPts val="0"/>
                        </a:spcAft>
                      </a:pPr>
                      <a:r>
                        <a:rPr sz="1450" b="0">
                          <a:solidFill>
                            <a:srgbClr val="183A32"/>
                          </a:solidFill>
                          <a:latin typeface="Arial"/>
                        </a:rPr>
                        <a:t>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APLN</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Distinguish the listed issuer</a:t>
                      </a:r>
                    </a:p>
                    <a:p>
                      <a:pPr>
                        <a:lnSpc>
                          <a:spcPts val="1711"/>
                        </a:lnSpc>
                        <a:spcBef>
                          <a:spcPts val="0"/>
                        </a:spcBef>
                        <a:spcAft>
                          <a:spcPts val="0"/>
                        </a:spcAft>
                      </a:pPr>
                      <a:r>
                        <a:rPr sz="1450" b="0">
                          <a:solidFill>
                            <a:srgbClr val="183A32"/>
                          </a:solidFill>
                          <a:latin typeface="Arial"/>
                        </a:rPr>
                        <a:t>from the longer-established</a:t>
                      </a:r>
                    </a:p>
                    <a:p>
                      <a:pPr>
                        <a:lnSpc>
                          <a:spcPts val="1711"/>
                        </a:lnSpc>
                        <a:spcBef>
                          <a:spcPts val="0"/>
                        </a:spcBef>
                        <a:spcAft>
                          <a:spcPts val="0"/>
                        </a:spcAft>
                      </a:pPr>
                      <a:r>
                        <a:rPr sz="1450" b="0">
                          <a:solidFill>
                            <a:srgbClr val="183A32"/>
                          </a:solidFill>
                          <a:latin typeface="Arial"/>
                        </a:rPr>
                        <a:t>group</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7</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Duta Pertiwi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DUTI</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 listed subsidiary</a:t>
                      </a:r>
                    </a:p>
                    <a:p>
                      <a:pPr>
                        <a:lnSpc>
                          <a:spcPts val="1711"/>
                        </a:lnSpc>
                        <a:spcBef>
                          <a:spcPts val="0"/>
                        </a:spcBef>
                        <a:spcAft>
                          <a:spcPts val="0"/>
                        </a:spcAft>
                      </a:pPr>
                      <a:r>
                        <a:rPr sz="1450" b="0">
                          <a:solidFill>
                            <a:srgbClr val="183A32"/>
                          </a:solidFill>
                          <a:latin typeface="Arial"/>
                        </a:rPr>
                        <a:t>consolidated within BSDE</a:t>
                      </a:r>
                    </a:p>
                  </a:txBody>
                  <a:tcPr marL="109728" marR="109728" marT="82296" marB="0" anchor="t">
                    <a:solidFill>
                      <a:srgbClr val="E9E8DC"/>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8</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Alam Sutera Realty 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ASRI</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Integrated township and</a:t>
                      </a:r>
                    </a:p>
                    <a:p>
                      <a:pPr>
                        <a:lnSpc>
                          <a:spcPts val="1711"/>
                        </a:lnSpc>
                        <a:spcBef>
                          <a:spcPts val="0"/>
                        </a:spcBef>
                        <a:spcAft>
                          <a:spcPts val="0"/>
                        </a:spcAft>
                      </a:pPr>
                      <a:r>
                        <a:rPr sz="1450" b="0">
                          <a:solidFill>
                            <a:srgbClr val="183A32"/>
                          </a:solidFill>
                          <a:latin typeface="Arial"/>
                        </a:rPr>
                        <a:t>property developer</a:t>
                      </a:r>
                    </a:p>
                  </a:txBody>
                  <a:tcPr marL="109728" marR="109728" marT="82296" marB="0" anchor="t">
                    <a:solidFill>
                      <a:srgbClr val="F6F2E9"/>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9</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Jaya Real Property Tbk</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JRPT</a:t>
                      </a:r>
                    </a:p>
                  </a:txBody>
                  <a:tcPr marL="109728" marR="109728" marT="82296" marB="0" anchor="t">
                    <a:solidFill>
                      <a:srgbClr val="E9E8DC"/>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Part of Pembangunan Jaya</a:t>
                      </a:r>
                    </a:p>
                    <a:p>
                      <a:pPr>
                        <a:lnSpc>
                          <a:spcPts val="1711"/>
                        </a:lnSpc>
                        <a:spcBef>
                          <a:spcPts val="0"/>
                        </a:spcBef>
                        <a:spcAft>
                          <a:spcPts val="0"/>
                        </a:spcAft>
                      </a:pPr>
                      <a:r>
                        <a:rPr sz="1450" b="0">
                          <a:solidFill>
                            <a:srgbClr val="183A32"/>
                          </a:solidFill>
                          <a:latin typeface="Arial"/>
                        </a:rPr>
                        <a:t>Group</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62–63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ten companies being studied</a:t>
            </a:r>
          </a:p>
        </p:txBody>
      </p:sp>
      <p:graphicFrame>
        <p:nvGraphicFramePr>
          <p:cNvPr id="11" name="Table 10"/>
          <p:cNvGraphicFramePr>
            <a:graphicFrameLocks noGrp="1"/>
          </p:cNvGraphicFramePr>
          <p:nvPr/>
        </p:nvGraphicFramePr>
        <p:xfrm>
          <a:off x="685800" y="2084831"/>
          <a:ext cx="10789920" cy="1054227"/>
        </p:xfrm>
        <a:graphic>
          <a:graphicData uri="http://schemas.openxmlformats.org/drawingml/2006/table">
            <a:tbl>
              <a:tblPr firstRow="1" bandRow="1">
                <a:tableStyleId>{5C22544A-7EE6-4342-B048-85BDC9FD1C3A}</a:tableStyleId>
              </a:tblPr>
              <a:tblGrid>
                <a:gridCol w="2697480"/>
                <a:gridCol w="2697480"/>
                <a:gridCol w="2697480"/>
                <a:gridCol w="2697480"/>
              </a:tblGrid>
              <a:tr h="418465">
                <a:tc>
                  <a:txBody>
                    <a:bodyPr wrap="none"/>
                    <a:lstStyle/>
                    <a:p>
                      <a:pPr>
                        <a:lnSpc>
                          <a:spcPts val="1711"/>
                        </a:lnSpc>
                        <a:spcBef>
                          <a:spcPts val="0"/>
                        </a:spcBef>
                        <a:spcAft>
                          <a:spcPts val="0"/>
                        </a:spcAft>
                      </a:pPr>
                      <a:r>
                        <a:rPr sz="1450" b="1">
                          <a:solidFill>
                            <a:srgbClr val="F6F2E9"/>
                          </a:solidFill>
                          <a:latin typeface="Arial"/>
                        </a:rPr>
                        <a:t>Case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Correct company name</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Ticker</a:t>
                      </a:r>
                    </a:p>
                  </a:txBody>
                  <a:tcPr marL="109728" marR="109728" marT="82296" marB="0" anchor="t">
                    <a:solidFill>
                      <a:srgbClr val="153F35"/>
                    </a:solidFill>
                    <a:lnL>
                      <a:noFill/>
                    </a:lnL>
                    <a:lnR>
                      <a:noFill/>
                    </a:lnR>
                    <a:lnT>
                      <a:noFill/>
                    </a:lnT>
                    <a:lnB>
                      <a:noFill/>
                    </a:lnB>
                  </a:tcPr>
                </a:tc>
                <a:tc>
                  <a:txBody>
                    <a:bodyPr wrap="none"/>
                    <a:lstStyle/>
                    <a:p>
                      <a:pPr>
                        <a:lnSpc>
                          <a:spcPts val="1711"/>
                        </a:lnSpc>
                        <a:spcBef>
                          <a:spcPts val="0"/>
                        </a:spcBef>
                        <a:spcAft>
                          <a:spcPts val="0"/>
                        </a:spcAft>
                      </a:pPr>
                      <a:r>
                        <a:rPr sz="1450" b="1">
                          <a:solidFill>
                            <a:srgbClr val="F6F2E9"/>
                          </a:solidFill>
                          <a:latin typeface="Arial"/>
                        </a:rPr>
                        <a:t>Important distinction</a:t>
                      </a:r>
                    </a:p>
                  </a:txBody>
                  <a:tcPr marL="109728" marR="109728" marT="82296" marB="0" anchor="t">
                    <a:solidFill>
                      <a:srgbClr val="153F35"/>
                    </a:solidFill>
                    <a:lnL>
                      <a:noFill/>
                    </a:lnL>
                    <a:lnR>
                      <a:noFill/>
                    </a:lnR>
                    <a:lnT>
                      <a:noFill/>
                    </a:lnT>
                    <a:lnB>
                      <a:noFill/>
                    </a:lnB>
                  </a:tcPr>
                </a:tc>
              </a:tr>
              <a:tr h="635762">
                <a:tc>
                  <a:txBody>
                    <a:bodyPr wrap="none"/>
                    <a:lstStyle/>
                    <a:p>
                      <a:pPr>
                        <a:lnSpc>
                          <a:spcPts val="1711"/>
                        </a:lnSpc>
                        <a:spcBef>
                          <a:spcPts val="0"/>
                        </a:spcBef>
                        <a:spcAft>
                          <a:spcPts val="0"/>
                        </a:spcAft>
                      </a:pPr>
                      <a:r>
                        <a:rPr sz="1450" b="0">
                          <a:solidFill>
                            <a:srgbClr val="183A32"/>
                          </a:solidFill>
                          <a:latin typeface="Arial"/>
                        </a:rPr>
                        <a:t>10</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PT Pantai Indah Kapuk Dua</a:t>
                      </a:r>
                    </a:p>
                    <a:p>
                      <a:pPr>
                        <a:lnSpc>
                          <a:spcPts val="1711"/>
                        </a:lnSpc>
                        <a:spcBef>
                          <a:spcPts val="0"/>
                        </a:spcBef>
                        <a:spcAft>
                          <a:spcPts val="0"/>
                        </a:spcAft>
                      </a:pPr>
                      <a:r>
                        <a:rPr sz="1450" b="0">
                          <a:solidFill>
                            <a:srgbClr val="183A32"/>
                          </a:solidFill>
                          <a:latin typeface="Arial"/>
                        </a:rPr>
                        <a:t>Tbk</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711"/>
                        </a:lnSpc>
                        <a:spcBef>
                          <a:spcPts val="0"/>
                        </a:spcBef>
                        <a:spcAft>
                          <a:spcPts val="0"/>
                        </a:spcAft>
                      </a:pPr>
                      <a:r>
                        <a:rPr sz="1450" b="0">
                          <a:solidFill>
                            <a:srgbClr val="183A32"/>
                          </a:solidFill>
                          <a:latin typeface="Arial"/>
                        </a:rPr>
                        <a:t>A listed platform developing</a:t>
                      </a:r>
                    </a:p>
                    <a:p>
                      <a:pPr>
                        <a:lnSpc>
                          <a:spcPts val="1711"/>
                        </a:lnSpc>
                        <a:spcBef>
                          <a:spcPts val="0"/>
                        </a:spcBef>
                        <a:spcAft>
                          <a:spcPts val="0"/>
                        </a:spcAft>
                      </a:pPr>
                      <a:r>
                        <a:rPr sz="1450" b="0">
                          <a:solidFill>
                            <a:srgbClr val="183A32"/>
                          </a:solidFill>
                          <a:latin typeface="Arial"/>
                        </a:rPr>
                        <a:t>assets in the PIK2 area</a:t>
                      </a:r>
                    </a:p>
                  </a:txBody>
                  <a:tcPr marL="109728" marR="109728" marT="82296" marB="0" anchor="t">
                    <a:solidFill>
                      <a:srgbClr val="F6F2E9"/>
                    </a:solidFill>
                    <a:lnL>
                      <a:noFill/>
                    </a:lnL>
                    <a:lnR>
                      <a:noFill/>
                    </a:lnR>
                    <a:lnT>
                      <a:noFill/>
                    </a:lnT>
                    <a:lnB>
                      <a:noFill/>
                    </a:lnB>
                  </a:tcPr>
                </a:tc>
              </a:tr>
            </a:tbl>
          </a:graphicData>
        </a:graphic>
      </p:graphicFrame>
      <p:sp>
        <p:nvSpPr>
          <p:cNvPr id="12" name="Rectangle 11"/>
          <p:cNvSpPr/>
          <p:nvPr/>
        </p:nvSpPr>
        <p:spPr>
          <a:xfrm>
            <a:off x="685800" y="3321939"/>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321939"/>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3404235"/>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Case numbers are identifiers, not current market ranks.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63–64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How to interpret this research</a:t>
            </a:r>
          </a:p>
        </p:txBody>
      </p:sp>
      <p:cxnSp>
        <p:nvCxnSpPr>
          <p:cNvPr id="11" name="Connector 10"/>
          <p:cNvCxnSpPr/>
          <p:nvPr/>
        </p:nvCxnSpPr>
        <p:spPr>
          <a:xfrm>
            <a:off x="6062472" y="2084831"/>
            <a:ext cx="0" cy="2976373"/>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THREE EVIDENCE CATEGORIES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fact: Information disclosed in company</a:t>
            </a:r>
          </a:p>
          <a:p>
            <a:pPr>
              <a:lnSpc>
                <a:spcPts val="2135"/>
              </a:lnSpc>
              <a:spcBef>
                <a:spcPts val="0"/>
              </a:spcBef>
              <a:spcAft>
                <a:spcPts val="0"/>
              </a:spcAft>
            </a:pPr>
            <a:r>
              <a:rPr sz="1750" b="0" i="0">
                <a:solidFill>
                  <a:srgbClr val="183A32"/>
                </a:solidFill>
                <a:latin typeface="Arial"/>
              </a:rPr>
              <a:t>reports, financial statements, or official histories.</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Analyst assessment: An interpretation of how a</a:t>
            </a:r>
          </a:p>
          <a:p>
            <a:pPr>
              <a:lnSpc>
                <a:spcPts val="2135"/>
              </a:lnSpc>
              <a:spcBef>
                <a:spcPts val="0"/>
              </a:spcBef>
              <a:spcAft>
                <a:spcPts val="0"/>
              </a:spcAft>
            </a:pPr>
            <a:r>
              <a:rPr sz="1750" b="0" i="0">
                <a:solidFill>
                  <a:srgbClr val="183A32"/>
                </a:solidFill>
                <a:latin typeface="Arial"/>
              </a:rPr>
              <a:t>business model creates advantages or exposes</a:t>
            </a:r>
          </a:p>
          <a:p>
            <a:pPr>
              <a:lnSpc>
                <a:spcPts val="2135"/>
              </a:lnSpc>
              <a:spcBef>
                <a:spcPts val="0"/>
              </a:spcBef>
              <a:spcAft>
                <a:spcPts val="0"/>
              </a:spcAft>
            </a:pPr>
            <a:r>
              <a:rPr sz="1750" b="0" i="0">
                <a:solidFill>
                  <a:srgbClr val="183A32"/>
                </a:solidFill>
                <a:latin typeface="Arial"/>
              </a:rPr>
              <a:t>the company to risk.</a:t>
            </a:r>
          </a:p>
        </p:txBody>
      </p:sp>
      <p:sp>
        <p:nvSpPr>
          <p:cNvPr id="17" name="Rectangle 16"/>
          <p:cNvSpPr/>
          <p:nvPr/>
        </p:nvSpPr>
        <p:spPr>
          <a:xfrm>
            <a:off x="685800" y="423735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14591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Proposed application: A recommendation for</a:t>
            </a:r>
          </a:p>
          <a:p>
            <a:pPr>
              <a:lnSpc>
                <a:spcPts val="2135"/>
              </a:lnSpc>
              <a:spcBef>
                <a:spcPts val="0"/>
              </a:spcBef>
              <a:spcAft>
                <a:spcPts val="0"/>
              </a:spcAft>
            </a:pPr>
            <a:r>
              <a:rPr sz="1750" b="0" i="0">
                <a:solidFill>
                  <a:srgbClr val="183A32"/>
                </a:solidFill>
                <a:latin typeface="Arial"/>
              </a:rPr>
              <a:t>TANRISE that requires feasibility testing and</a:t>
            </a:r>
          </a:p>
          <a:p>
            <a:pPr>
              <a:lnSpc>
                <a:spcPts val="2135"/>
              </a:lnSpc>
              <a:spcBef>
                <a:spcPts val="0"/>
              </a:spcBef>
              <a:spcAft>
                <a:spcPts val="0"/>
              </a:spcAft>
            </a:pPr>
            <a:r>
              <a:rPr sz="1750" b="0" i="0">
                <a:solidFill>
                  <a:srgbClr val="183A32"/>
                </a:solidFill>
                <a:latin typeface="Arial"/>
              </a:rPr>
              <a:t>management approval.</a:t>
            </a:r>
          </a:p>
        </p:txBody>
      </p:sp>
      <p:sp>
        <p:nvSpPr>
          <p:cNvPr id="19" name="TextBox 18"/>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COMPARISON RULES</a:t>
            </a:r>
          </a:p>
        </p:txBody>
      </p:sp>
      <p:sp>
        <p:nvSpPr>
          <p:cNvPr id="20" name="Rectangle 19"/>
          <p:cNvSpPr/>
          <p:nvPr/>
        </p:nvSpPr>
        <p:spPr>
          <a:xfrm>
            <a:off x="6400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marketing sales, profit, and market</a:t>
            </a:r>
          </a:p>
          <a:p>
            <a:pPr>
              <a:lnSpc>
                <a:spcPts val="2135"/>
              </a:lnSpc>
              <a:spcBef>
                <a:spcPts val="0"/>
              </a:spcBef>
              <a:spcAft>
                <a:spcPts val="0"/>
              </a:spcAft>
            </a:pPr>
            <a:r>
              <a:rPr sz="1750" b="0" i="0">
                <a:solidFill>
                  <a:srgbClr val="183A32"/>
                </a:solidFill>
                <a:latin typeface="Arial"/>
              </a:rPr>
              <a:t>capitalisation measure different things.</a:t>
            </a:r>
          </a:p>
        </p:txBody>
      </p:sp>
      <p:sp>
        <p:nvSpPr>
          <p:cNvPr id="22" name="Rectangle 21"/>
          <p:cNvSpPr/>
          <p:nvPr/>
        </p:nvSpPr>
        <p:spPr>
          <a:xfrm>
            <a:off x="6400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Consolidated group results must not be added to</a:t>
            </a:r>
          </a:p>
          <a:p>
            <a:pPr>
              <a:lnSpc>
                <a:spcPts val="2135"/>
              </a:lnSpc>
              <a:spcBef>
                <a:spcPts val="0"/>
              </a:spcBef>
              <a:spcAft>
                <a:spcPts val="0"/>
              </a:spcAft>
            </a:pPr>
            <a:r>
              <a:rPr sz="1750" b="0" i="0">
                <a:solidFill>
                  <a:srgbClr val="183A32"/>
                </a:solidFill>
                <a:latin typeface="Arial"/>
              </a:rPr>
              <a:t>subsidiary results.</a:t>
            </a:r>
          </a:p>
        </p:txBody>
      </p:sp>
      <p:sp>
        <p:nvSpPr>
          <p:cNvPr id="24" name="Rectangle 23"/>
          <p:cNvSpPr/>
          <p:nvPr/>
        </p:nvSpPr>
        <p:spPr>
          <a:xfrm>
            <a:off x="6400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differs from profit attributable to the</a:t>
            </a:r>
          </a:p>
          <a:p>
            <a:pPr>
              <a:lnSpc>
                <a:spcPts val="2135"/>
              </a:lnSpc>
              <a:spcBef>
                <a:spcPts val="0"/>
              </a:spcBef>
              <a:spcAft>
                <a:spcPts val="0"/>
              </a:spcAft>
            </a:pPr>
            <a:r>
              <a:rPr sz="1750" b="0" i="0">
                <a:solidFill>
                  <a:srgbClr val="183A32"/>
                </a:solidFill>
                <a:latin typeface="Arial"/>
              </a:rPr>
              <a:t>parent.</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63–64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How to interpret this research</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Acquisitions, divestments, and handover timing can change apparent performance.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FY2025 provides a common full-year baseline; it is not a substitute for all subsequent 2026 disclosures.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64–65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159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FY2025 revenue comparison within the selected cohort</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REPORTED CONSOLIDATED REVENUE, APPROXIMATELY RP TRILLION</a:t>
            </a:r>
          </a:p>
        </p:txBody>
      </p:sp>
      <p:sp>
        <p:nvSpPr>
          <p:cNvPr id="12" name="Rectangle 11"/>
          <p:cNvSpPr/>
          <p:nvPr/>
        </p:nvSpPr>
        <p:spPr>
          <a:xfrm>
            <a:off x="685800" y="2433574"/>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433574"/>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2515870"/>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DUTI is included within BSDE consolidation. Do not sum the bars into a market total.</a:t>
            </a:r>
          </a:p>
        </p:txBody>
      </p:sp>
      <p:sp>
        <p:nvSpPr>
          <p:cNvPr id="15" name="TextBox 14"/>
          <p:cNvSpPr txBox="1"/>
          <p:nvPr/>
        </p:nvSpPr>
        <p:spPr>
          <a:xfrm>
            <a:off x="685800" y="6144768"/>
            <a:ext cx="10789920" cy="319278"/>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BSDE annual report, Ciputra reporting, LPKR results announcement, Summarecon presentation, Pakuwon annual report, PANI results, APLN annual report, JRPT results, ASRI annual report, DUTI</a:t>
            </a:r>
          </a:p>
          <a:p>
            <a:pPr>
              <a:lnSpc>
                <a:spcPts val="1023"/>
              </a:lnSpc>
              <a:spcBef>
                <a:spcPts val="0"/>
              </a:spcBef>
              <a:spcAft>
                <a:spcPts val="0"/>
              </a:spcAft>
            </a:pPr>
            <a:r>
              <a:rPr sz="930" b="0" i="0">
                <a:solidFill>
                  <a:srgbClr val="68766B"/>
                </a:solidFill>
                <a:latin typeface="Arial"/>
              </a:rPr>
              <a:t>annual report.</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64–65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FY2025 revenue comparison within the selected cohort</a:t>
            </a:r>
          </a:p>
        </p:txBody>
      </p:sp>
      <p:graphicFrame>
        <p:nvGraphicFramePr>
          <p:cNvPr id="11" name="Chart 10"/>
          <p:cNvGraphicFramePr>
            <a:graphicFrameLocks noGrp="1"/>
          </p:cNvGraphicFramePr>
          <p:nvPr/>
        </p:nvGraphicFramePr>
        <p:xfrm>
          <a:off x="685800" y="2084831"/>
          <a:ext cx="10789920" cy="3547872"/>
        </p:xfrm>
        <a:graphic>
          <a:graphicData uri="http://schemas.openxmlformats.org/drawingml/2006/chart">
            <c:chart xmlns:c="http://schemas.openxmlformats.org/drawingml/2006/chart" r:id="rId2"/>
          </a:graphicData>
        </a:graphic>
      </p:graphicFrame>
      <p:sp>
        <p:nvSpPr>
          <p:cNvPr id="12" name="TextBox 11"/>
          <p:cNvSpPr txBox="1"/>
          <p:nvPr/>
        </p:nvSpPr>
        <p:spPr>
          <a:xfrm>
            <a:off x="685800" y="5513831"/>
            <a:ext cx="10789920" cy="214375"/>
          </a:xfrm>
          <a:prstGeom prst="rect">
            <a:avLst/>
          </a:prstGeom>
          <a:noFill/>
        </p:spPr>
        <p:txBody>
          <a:bodyPr wrap="none" lIns="0" rIns="0" tIns="0" bIns="0">
            <a:spAutoFit/>
          </a:bodyPr>
          <a:lstStyle/>
          <a:p>
            <a:pPr>
              <a:lnSpc>
                <a:spcPts val="1220"/>
              </a:lnSpc>
              <a:spcBef>
                <a:spcPts val="0"/>
              </a:spcBef>
              <a:spcAft>
                <a:spcPts val="0"/>
              </a:spcAft>
            </a:pPr>
            <a:r>
              <a:rPr sz="1000" b="0" i="0">
                <a:solidFill>
                  <a:srgbClr val="68766B"/>
                </a:solidFill>
                <a:latin typeface="Arial"/>
              </a:rPr>
              <a:t>DUTI is included within BSDE consolidation. Do not sum the bars into a market total.</a:t>
            </a:r>
          </a:p>
        </p:txBody>
      </p:sp>
      <p:sp>
        <p:nvSpPr>
          <p:cNvPr id="13" name="TextBox 12"/>
          <p:cNvSpPr txBox="1"/>
          <p:nvPr/>
        </p:nvSpPr>
        <p:spPr>
          <a:xfrm>
            <a:off x="685800" y="1883663"/>
            <a:ext cx="10789920" cy="214375"/>
          </a:xfrm>
          <a:prstGeom prst="rect">
            <a:avLst/>
          </a:prstGeom>
          <a:noFill/>
        </p:spPr>
        <p:txBody>
          <a:bodyPr wrap="none" lIns="0" rIns="0" tIns="0" bIns="0">
            <a:spAutoFit/>
          </a:bodyPr>
          <a:lstStyle/>
          <a:p>
            <a:pPr>
              <a:lnSpc>
                <a:spcPts val="1220"/>
              </a:lnSpc>
              <a:spcBef>
                <a:spcPts val="0"/>
              </a:spcBef>
              <a:spcAft>
                <a:spcPts val="0"/>
              </a:spcAft>
            </a:pPr>
            <a:r>
              <a:rPr sz="1000" b="0" i="0">
                <a:solidFill>
                  <a:srgbClr val="68766B"/>
                </a:solidFill>
                <a:latin typeface="Arial"/>
              </a:rPr>
              <a:t>FY2025 · Consolidated revenue, approximately Rp trillion · Selected cohort</a:t>
            </a:r>
          </a:p>
        </p:txBody>
      </p:sp>
      <p:sp>
        <p:nvSpPr>
          <p:cNvPr id="14" name="TextBox 13"/>
          <p:cNvSpPr txBox="1"/>
          <p:nvPr/>
        </p:nvSpPr>
        <p:spPr>
          <a:xfrm>
            <a:off x="685800" y="2084831"/>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BSDE</a:t>
            </a:r>
          </a:p>
        </p:txBody>
      </p:sp>
      <p:sp>
        <p:nvSpPr>
          <p:cNvPr id="15" name="Rectangle 14"/>
          <p:cNvSpPr/>
          <p:nvPr/>
        </p:nvSpPr>
        <p:spPr>
          <a:xfrm>
            <a:off x="3840480" y="2112263"/>
            <a:ext cx="6949440"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81360" y="2084831"/>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12.79</a:t>
            </a:r>
          </a:p>
        </p:txBody>
      </p:sp>
      <p:sp>
        <p:nvSpPr>
          <p:cNvPr id="17" name="TextBox 16"/>
          <p:cNvSpPr txBox="1"/>
          <p:nvPr/>
        </p:nvSpPr>
        <p:spPr>
          <a:xfrm>
            <a:off x="685800" y="2418587"/>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CTRA</a:t>
            </a:r>
          </a:p>
        </p:txBody>
      </p:sp>
      <p:sp>
        <p:nvSpPr>
          <p:cNvPr id="18" name="Rectangle 17"/>
          <p:cNvSpPr/>
          <p:nvPr/>
        </p:nvSpPr>
        <p:spPr>
          <a:xfrm>
            <a:off x="3840480" y="2446019"/>
            <a:ext cx="6857070"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8990" y="2418587"/>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12.62</a:t>
            </a:r>
          </a:p>
        </p:txBody>
      </p:sp>
      <p:sp>
        <p:nvSpPr>
          <p:cNvPr id="20" name="TextBox 19"/>
          <p:cNvSpPr txBox="1"/>
          <p:nvPr/>
        </p:nvSpPr>
        <p:spPr>
          <a:xfrm>
            <a:off x="685800" y="2752344"/>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LPKR</a:t>
            </a:r>
          </a:p>
        </p:txBody>
      </p:sp>
      <p:sp>
        <p:nvSpPr>
          <p:cNvPr id="21" name="Rectangle 20"/>
          <p:cNvSpPr/>
          <p:nvPr/>
        </p:nvSpPr>
        <p:spPr>
          <a:xfrm>
            <a:off x="3840480" y="2779775"/>
            <a:ext cx="4906445"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8365" y="2752344"/>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9.03</a:t>
            </a:r>
          </a:p>
        </p:txBody>
      </p:sp>
      <p:sp>
        <p:nvSpPr>
          <p:cNvPr id="23" name="TextBox 22"/>
          <p:cNvSpPr txBox="1"/>
          <p:nvPr/>
        </p:nvSpPr>
        <p:spPr>
          <a:xfrm>
            <a:off x="685800" y="3086100"/>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SMRA</a:t>
            </a:r>
          </a:p>
        </p:txBody>
      </p:sp>
      <p:sp>
        <p:nvSpPr>
          <p:cNvPr id="24" name="Rectangle 23"/>
          <p:cNvSpPr/>
          <p:nvPr/>
        </p:nvSpPr>
        <p:spPr>
          <a:xfrm>
            <a:off x="3840480" y="3113532"/>
            <a:ext cx="4765175"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97095" y="3086100"/>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8.77</a:t>
            </a:r>
          </a:p>
        </p:txBody>
      </p:sp>
      <p:sp>
        <p:nvSpPr>
          <p:cNvPr id="26" name="TextBox 25"/>
          <p:cNvSpPr txBox="1"/>
          <p:nvPr/>
        </p:nvSpPr>
        <p:spPr>
          <a:xfrm>
            <a:off x="685800" y="3419856"/>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PWON</a:t>
            </a:r>
          </a:p>
        </p:txBody>
      </p:sp>
      <p:sp>
        <p:nvSpPr>
          <p:cNvPr id="27" name="Rectangle 26"/>
          <p:cNvSpPr/>
          <p:nvPr/>
        </p:nvSpPr>
        <p:spPr>
          <a:xfrm>
            <a:off x="3840480" y="3447287"/>
            <a:ext cx="3863214"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95134" y="3419856"/>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7.11</a:t>
            </a:r>
          </a:p>
        </p:txBody>
      </p:sp>
      <p:sp>
        <p:nvSpPr>
          <p:cNvPr id="29" name="TextBox 28"/>
          <p:cNvSpPr txBox="1"/>
          <p:nvPr/>
        </p:nvSpPr>
        <p:spPr>
          <a:xfrm>
            <a:off x="685800" y="3753611"/>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PANI</a:t>
            </a:r>
          </a:p>
        </p:txBody>
      </p:sp>
      <p:sp>
        <p:nvSpPr>
          <p:cNvPr id="30" name="Rectangle 29"/>
          <p:cNvSpPr/>
          <p:nvPr/>
        </p:nvSpPr>
        <p:spPr>
          <a:xfrm>
            <a:off x="3840480" y="3781044"/>
            <a:ext cx="2336402"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8322" y="3753611"/>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4.3</a:t>
            </a:r>
          </a:p>
        </p:txBody>
      </p:sp>
      <p:sp>
        <p:nvSpPr>
          <p:cNvPr id="32" name="TextBox 31"/>
          <p:cNvSpPr txBox="1"/>
          <p:nvPr/>
        </p:nvSpPr>
        <p:spPr>
          <a:xfrm>
            <a:off x="685800" y="4087368"/>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APLN</a:t>
            </a:r>
          </a:p>
        </p:txBody>
      </p:sp>
      <p:sp>
        <p:nvSpPr>
          <p:cNvPr id="33" name="Rectangle 32"/>
          <p:cNvSpPr/>
          <p:nvPr/>
        </p:nvSpPr>
        <p:spPr>
          <a:xfrm>
            <a:off x="3840480" y="4114800"/>
            <a:ext cx="1939757"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71677" y="4087368"/>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3.57</a:t>
            </a:r>
          </a:p>
        </p:txBody>
      </p:sp>
      <p:sp>
        <p:nvSpPr>
          <p:cNvPr id="35" name="TextBox 34"/>
          <p:cNvSpPr txBox="1"/>
          <p:nvPr/>
        </p:nvSpPr>
        <p:spPr>
          <a:xfrm>
            <a:off x="685800" y="4421123"/>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JRPT</a:t>
            </a:r>
          </a:p>
        </p:txBody>
      </p:sp>
      <p:sp>
        <p:nvSpPr>
          <p:cNvPr id="36" name="Rectangle 35"/>
          <p:cNvSpPr/>
          <p:nvPr/>
        </p:nvSpPr>
        <p:spPr>
          <a:xfrm>
            <a:off x="3840480" y="4448555"/>
            <a:ext cx="1776752"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8672" y="4421123"/>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3.27</a:t>
            </a:r>
          </a:p>
        </p:txBody>
      </p:sp>
      <p:sp>
        <p:nvSpPr>
          <p:cNvPr id="38" name="TextBox 37"/>
          <p:cNvSpPr txBox="1"/>
          <p:nvPr/>
        </p:nvSpPr>
        <p:spPr>
          <a:xfrm>
            <a:off x="685800" y="4754879"/>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ASRI</a:t>
            </a:r>
          </a:p>
        </p:txBody>
      </p:sp>
      <p:sp>
        <p:nvSpPr>
          <p:cNvPr id="39" name="Rectangle 38"/>
          <p:cNvSpPr/>
          <p:nvPr/>
        </p:nvSpPr>
        <p:spPr>
          <a:xfrm>
            <a:off x="3840480" y="4782312"/>
            <a:ext cx="1592014" cy="201168"/>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23934" y="4754879"/>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2.93</a:t>
            </a:r>
          </a:p>
        </p:txBody>
      </p:sp>
      <p:sp>
        <p:nvSpPr>
          <p:cNvPr id="41" name="TextBox 40"/>
          <p:cNvSpPr txBox="1"/>
          <p:nvPr/>
        </p:nvSpPr>
        <p:spPr>
          <a:xfrm>
            <a:off x="685800" y="5088636"/>
            <a:ext cx="2971800" cy="253110"/>
          </a:xfrm>
          <a:prstGeom prst="rect">
            <a:avLst/>
          </a:prstGeom>
          <a:noFill/>
        </p:spPr>
        <p:txBody>
          <a:bodyPr wrap="none" lIns="0" rIns="0" tIns="0" bIns="0">
            <a:spAutoFit/>
          </a:bodyPr>
          <a:lstStyle/>
          <a:p>
            <a:pPr>
              <a:lnSpc>
                <a:spcPts val="1525"/>
              </a:lnSpc>
              <a:spcBef>
                <a:spcPts val="0"/>
              </a:spcBef>
              <a:spcAft>
                <a:spcPts val="0"/>
              </a:spcAft>
            </a:pPr>
            <a:r>
              <a:rPr sz="1250" b="0" i="0">
                <a:solidFill>
                  <a:srgbClr val="183A32"/>
                </a:solidFill>
                <a:latin typeface="Arial"/>
              </a:rPr>
              <a:t>DUTI</a:t>
            </a:r>
          </a:p>
        </p:txBody>
      </p:sp>
      <p:sp>
        <p:nvSpPr>
          <p:cNvPr id="42" name="Rectangle 41"/>
          <p:cNvSpPr/>
          <p:nvPr/>
        </p:nvSpPr>
        <p:spPr>
          <a:xfrm>
            <a:off x="3840480" y="5116068"/>
            <a:ext cx="1483344" cy="20116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15264" y="5088636"/>
            <a:ext cx="685800" cy="245363"/>
          </a:xfrm>
          <a:prstGeom prst="rect">
            <a:avLst/>
          </a:prstGeom>
          <a:noFill/>
        </p:spPr>
        <p:txBody>
          <a:bodyPr wrap="none" lIns="0" rIns="0" tIns="0" bIns="0">
            <a:spAutoFit/>
          </a:bodyPr>
          <a:lstStyle/>
          <a:p>
            <a:pPr>
              <a:lnSpc>
                <a:spcPts val="1464"/>
              </a:lnSpc>
              <a:spcBef>
                <a:spcPts val="0"/>
              </a:spcBef>
              <a:spcAft>
                <a:spcPts val="0"/>
              </a:spcAft>
            </a:pPr>
            <a:r>
              <a:rPr sz="1200" b="0" i="0">
                <a:solidFill>
                  <a:srgbClr val="183A32"/>
                </a:solidFill>
                <a:latin typeface="Arial"/>
              </a:rPr>
              <a:t>2.73</a:t>
            </a:r>
          </a:p>
        </p:txBody>
      </p:sp>
      <p:sp>
        <p:nvSpPr>
          <p:cNvPr id="44" name="TextBox 43"/>
          <p:cNvSpPr txBox="1"/>
          <p:nvPr/>
        </p:nvSpPr>
        <p:spPr>
          <a:xfrm>
            <a:off x="685800" y="6144768"/>
            <a:ext cx="10789920" cy="319278"/>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BSDE annual report, Ciputra reporting, LPKR results announcement, Summarecon presentation, Pakuwon annual report, PANI results, APLN annual report, JRPT results, ASRI annual report, DUTI</a:t>
            </a:r>
          </a:p>
          <a:p>
            <a:pPr>
              <a:lnSpc>
                <a:spcPts val="1023"/>
              </a:lnSpc>
              <a:spcBef>
                <a:spcPts val="0"/>
              </a:spcBef>
              <a:spcAft>
                <a:spcPts val="0"/>
              </a:spcAft>
            </a:pPr>
            <a:r>
              <a:rPr sz="930" b="0" i="0">
                <a:solidFill>
                  <a:srgbClr val="68766B"/>
                </a:solidFill>
                <a:latin typeface="Arial"/>
              </a:rPr>
              <a:t>annual report.</a:t>
            </a:r>
          </a:p>
        </p:txBody>
      </p:sp>
      <p:sp>
        <p:nvSpPr>
          <p:cNvPr id="45" name="TextBox 4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64–65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Interpretation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This table describes the selected issuers. It does not establish Indonesia’s complete Top Ten.</a:t>
            </a:r>
          </a:p>
        </p:txBody>
      </p:sp>
      <p:sp>
        <p:nvSpPr>
          <p:cNvPr id="12" name="TextBox 11"/>
          <p:cNvSpPr txBox="1"/>
          <p:nvPr/>
        </p:nvSpPr>
        <p:spPr>
          <a:xfrm>
            <a:off x="685800" y="254203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LPKR also reports revenue after final tax of approximately Rp8.84 trillion; the table uses its headline revenue line.</a:t>
            </a:r>
          </a:p>
          <a:p>
            <a:pPr>
              <a:lnSpc>
                <a:spcPts val="2196"/>
              </a:lnSpc>
              <a:spcBef>
                <a:spcPts val="0"/>
              </a:spcBef>
              <a:spcAft>
                <a:spcPts val="0"/>
              </a:spcAft>
            </a:pPr>
            <a:r>
              <a:rPr sz="1800" b="0" i="0">
                <a:solidFill>
                  <a:srgbClr val="183A32"/>
                </a:solidFill>
                <a:latin typeface="Times New Roman"/>
              </a:rPr>
              <a:t>PANI is shown at the precision of its financial-results release.</a:t>
            </a:r>
          </a:p>
        </p:txBody>
      </p:sp>
      <p:sp>
        <p:nvSpPr>
          <p:cNvPr id="13" name="TextBox 12"/>
          <p:cNvSpPr txBox="1"/>
          <p:nvPr/>
        </p:nvSpPr>
        <p:spPr>
          <a:xfrm>
            <a:off x="685800" y="6144768"/>
            <a:ext cx="10789920" cy="319278"/>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BSDE annual report, Ciputra reporting, LPKR results announcement, Summarecon presentation, Pakuwon annual report, PANI results, APLN annual report, JRPT results, ASRI annual report, DUTI</a:t>
            </a:r>
          </a:p>
          <a:p>
            <a:pPr>
              <a:lnSpc>
                <a:spcPts val="1023"/>
              </a:lnSpc>
              <a:spcBef>
                <a:spcPts val="0"/>
              </a:spcBef>
              <a:spcAft>
                <a:spcPts val="0"/>
              </a:spcAft>
            </a:pPr>
            <a:r>
              <a:rPr sz="930" b="0" i="0">
                <a:solidFill>
                  <a:srgbClr val="68766B"/>
                </a:solidFill>
                <a:latin typeface="Arial"/>
              </a:rPr>
              <a:t>annual report.</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65–66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Company background and 5W1H</a:t>
            </a:r>
          </a:p>
        </p:txBody>
      </p:sp>
      <p:cxnSp>
        <p:nvCxnSpPr>
          <p:cNvPr id="11" name="Connector 10"/>
          <p:cNvCxnSpPr/>
          <p:nvPr/>
        </p:nvCxnSpPr>
        <p:spPr>
          <a:xfrm>
            <a:off x="6062472" y="2084831"/>
            <a:ext cx="0" cy="320002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Bumi Serpong Damai Tbk, a listed</a:t>
            </a:r>
          </a:p>
          <a:p>
            <a:pPr>
              <a:lnSpc>
                <a:spcPts val="2135"/>
              </a:lnSpc>
              <a:spcBef>
                <a:spcPts val="0"/>
              </a:spcBef>
              <a:spcAft>
                <a:spcPts val="0"/>
              </a:spcAft>
            </a:pPr>
            <a:r>
              <a:rPr sz="1750" b="0" i="0">
                <a:solidFill>
                  <a:srgbClr val="183A32"/>
                </a:solidFill>
                <a:latin typeface="Arial"/>
              </a:rPr>
              <a:t>township developer within Sinar Mas</a:t>
            </a:r>
          </a:p>
        </p:txBody>
      </p:sp>
      <p:sp>
        <p:nvSpPr>
          <p:cNvPr id="14" name="TextBox 13"/>
          <p:cNvSpPr txBox="1"/>
          <p:nvPr/>
        </p:nvSpPr>
        <p:spPr>
          <a:xfrm>
            <a:off x="685800" y="2805430"/>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Land.</a:t>
            </a:r>
          </a:p>
        </p:txBody>
      </p:sp>
      <p:sp>
        <p:nvSpPr>
          <p:cNvPr id="15" name="Rectangle 14"/>
          <p:cNvSpPr/>
          <p:nvPr/>
        </p:nvSpPr>
        <p:spPr>
          <a:xfrm>
            <a:off x="685800" y="33540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2626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Residential, commercial, and supporting</a:t>
            </a:r>
          </a:p>
          <a:p>
            <a:pPr>
              <a:lnSpc>
                <a:spcPts val="2135"/>
              </a:lnSpc>
              <a:spcBef>
                <a:spcPts val="0"/>
              </a:spcBef>
              <a:spcAft>
                <a:spcPts val="0"/>
              </a:spcAft>
            </a:pPr>
            <a:r>
              <a:rPr sz="1750" b="0" i="0">
                <a:solidFill>
                  <a:srgbClr val="183A32"/>
                </a:solidFill>
                <a:latin typeface="Arial"/>
              </a:rPr>
              <a:t>urban development, with BSD City as its flagship.</a:t>
            </a:r>
          </a:p>
        </p:txBody>
      </p:sp>
      <p:sp>
        <p:nvSpPr>
          <p:cNvPr id="17" name="Rectangle 16"/>
          <p:cNvSpPr/>
          <p:nvPr/>
        </p:nvSpPr>
        <p:spPr>
          <a:xfrm>
            <a:off x="685800" y="4074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983227"/>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Its principal development identity is</a:t>
            </a:r>
          </a:p>
          <a:p>
            <a:pPr>
              <a:lnSpc>
                <a:spcPts val="2135"/>
              </a:lnSpc>
              <a:spcBef>
                <a:spcPts val="0"/>
              </a:spcBef>
              <a:spcAft>
                <a:spcPts val="0"/>
              </a:spcAft>
            </a:pPr>
            <a:r>
              <a:rPr sz="1750" b="0" i="0">
                <a:solidFill>
                  <a:srgbClr val="183A32"/>
                </a:solidFill>
                <a:latin typeface="Arial"/>
              </a:rPr>
              <a:t>centred on the Serpong–Tangerang area,</a:t>
            </a:r>
          </a:p>
          <a:p>
            <a:pPr>
              <a:lnSpc>
                <a:spcPts val="2135"/>
              </a:lnSpc>
              <a:spcBef>
                <a:spcPts val="0"/>
              </a:spcBef>
              <a:spcAft>
                <a:spcPts val="0"/>
              </a:spcAft>
            </a:pPr>
            <a:r>
              <a:rPr sz="1750" b="0" i="0">
                <a:solidFill>
                  <a:srgbClr val="183A32"/>
                </a:solidFill>
                <a:latin typeface="Arial"/>
              </a:rPr>
              <a:t>alongside a wider portfolio.</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1984; listed in 2008.</a:t>
            </a:r>
          </a:p>
        </p:txBody>
      </p:sp>
      <p:sp>
        <p:nvSpPr>
          <p:cNvPr id="21" name="Rectangle 20"/>
          <p:cNvSpPr/>
          <p:nvPr/>
        </p:nvSpPr>
        <p:spPr>
          <a:xfrm>
            <a:off x="6400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534285"/>
            <a:ext cx="4910328" cy="141516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The Sinar Mas Land platform</a:t>
            </a:r>
          </a:p>
          <a:p>
            <a:pPr>
              <a:lnSpc>
                <a:spcPts val="2135"/>
              </a:lnSpc>
              <a:spcBef>
                <a:spcPts val="0"/>
              </a:spcBef>
              <a:spcAft>
                <a:spcPts val="0"/>
              </a:spcAft>
            </a:pPr>
            <a:r>
              <a:rPr sz="1750" b="0" i="0">
                <a:solidFill>
                  <a:srgbClr val="183A32"/>
                </a:solidFill>
                <a:latin typeface="Arial"/>
              </a:rPr>
              <a:t>and the Widjaja business-family legacy. This</a:t>
            </a:r>
          </a:p>
          <a:p>
            <a:pPr>
              <a:lnSpc>
                <a:spcPts val="2135"/>
              </a:lnSpc>
              <a:spcBef>
                <a:spcPts val="0"/>
              </a:spcBef>
              <a:spcAft>
                <a:spcPts val="0"/>
              </a:spcAft>
            </a:pPr>
            <a:r>
              <a:rPr sz="1750" b="0" i="0">
                <a:solidFill>
                  <a:srgbClr val="183A32"/>
                </a:solidFill>
                <a:latin typeface="Arial"/>
              </a:rPr>
              <a:t>group association should not be mistaken for a</a:t>
            </a:r>
          </a:p>
          <a:p>
            <a:pPr>
              <a:lnSpc>
                <a:spcPts val="2135"/>
              </a:lnSpc>
              <a:spcBef>
                <a:spcPts val="0"/>
              </a:spcBef>
              <a:spcAft>
                <a:spcPts val="0"/>
              </a:spcAft>
            </a:pPr>
            <a:r>
              <a:rPr sz="1750" b="0" i="0">
                <a:solidFill>
                  <a:srgbClr val="183A32"/>
                </a:solidFill>
                <a:latin typeface="Arial"/>
              </a:rPr>
              <a:t>claim that one individual alone founded the</a:t>
            </a:r>
          </a:p>
          <a:p>
            <a:pPr>
              <a:lnSpc>
                <a:spcPts val="2135"/>
              </a:lnSpc>
              <a:spcBef>
                <a:spcPts val="0"/>
              </a:spcBef>
              <a:spcAft>
                <a:spcPts val="0"/>
              </a:spcAft>
            </a:pPr>
            <a:r>
              <a:rPr sz="1750" b="0" i="0">
                <a:solidFill>
                  <a:srgbClr val="183A32"/>
                </a:solidFill>
                <a:latin typeface="Arial"/>
              </a:rPr>
              <a:t>original BSD venture.</a:t>
            </a:r>
          </a:p>
        </p:txBody>
      </p:sp>
      <p:sp>
        <p:nvSpPr>
          <p:cNvPr id="23" name="Rectangle 22"/>
          <p:cNvSpPr/>
          <p:nvPr/>
        </p:nvSpPr>
        <p:spPr>
          <a:xfrm>
            <a:off x="6400800" y="4159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4068318"/>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Long-term</a:t>
            </a:r>
          </a:p>
          <a:p>
            <a:pPr>
              <a:lnSpc>
                <a:spcPts val="2135"/>
              </a:lnSpc>
              <a:spcBef>
                <a:spcPts val="0"/>
              </a:spcBef>
              <a:spcAft>
                <a:spcPts val="0"/>
              </a:spcAft>
            </a:pPr>
            <a:r>
              <a:rPr sz="1750" b="0" i="0">
                <a:solidFill>
                  <a:srgbClr val="183A32"/>
                </a:solidFill>
                <a:latin typeface="Arial"/>
              </a:rPr>
              <a:t>control of development land enables</a:t>
            </a:r>
          </a:p>
          <a:p>
            <a:pPr>
              <a:lnSpc>
                <a:spcPts val="2135"/>
              </a:lnSpc>
              <a:spcBef>
                <a:spcPts val="0"/>
              </a:spcBef>
              <a:spcAft>
                <a:spcPts val="0"/>
              </a:spcAft>
            </a:pPr>
            <a:r>
              <a:rPr sz="1750" b="0" i="0">
                <a:solidFill>
                  <a:srgbClr val="183A32"/>
                </a:solidFill>
                <a:latin typeface="Arial"/>
              </a:rPr>
              <a:t>infrastructure and amenities to increase the</a:t>
            </a:r>
          </a:p>
          <a:p>
            <a:pPr>
              <a:lnSpc>
                <a:spcPts val="2135"/>
              </a:lnSpc>
              <a:spcBef>
                <a:spcPts val="0"/>
              </a:spcBef>
              <a:spcAft>
                <a:spcPts val="0"/>
              </a:spcAft>
            </a:pPr>
            <a:r>
              <a:rPr sz="1750" b="0" i="0">
                <a:solidFill>
                  <a:srgbClr val="183A32"/>
                </a:solidFill>
                <a:latin typeface="Arial"/>
              </a:rPr>
              <a:t>attractiveness of successive property releases.</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Official BSDE history.</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66–67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Milestones and strategic inflection points</a:t>
            </a:r>
          </a:p>
        </p:txBody>
      </p:sp>
      <p:graphicFrame>
        <p:nvGraphicFramePr>
          <p:cNvPr id="11" name="Table 10"/>
          <p:cNvGraphicFramePr>
            <a:graphicFrameLocks noGrp="1"/>
          </p:cNvGraphicFramePr>
          <p:nvPr/>
        </p:nvGraphicFramePr>
        <p:xfrm>
          <a:off x="685800" y="2084831"/>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significance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1984</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Company established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Beginning of the development platform</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1990s–20 00s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Residential development and</a:t>
                      </a:r>
                    </a:p>
                    <a:p>
                      <a:pPr>
                        <a:lnSpc>
                          <a:spcPts val="1829"/>
                        </a:lnSpc>
                        <a:spcBef>
                          <a:spcPts val="0"/>
                        </a:spcBef>
                        <a:spcAft>
                          <a:spcPts val="0"/>
                        </a:spcAft>
                      </a:pPr>
                      <a:r>
                        <a:rPr sz="1550" b="0">
                          <a:solidFill>
                            <a:srgbClr val="183A32"/>
                          </a:solidFill>
                          <a:latin typeface="Arial"/>
                        </a:rPr>
                        <a:t>supporting amenities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Building a functioning township over successive phases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2008</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Stock-market listing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Access to public equity capital</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2010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Acquisition of Duta Pertiwi and</a:t>
                      </a:r>
                    </a:p>
                    <a:p>
                      <a:pPr>
                        <a:lnSpc>
                          <a:spcPts val="1829"/>
                        </a:lnSpc>
                        <a:spcBef>
                          <a:spcPts val="0"/>
                        </a:spcBef>
                        <a:spcAft>
                          <a:spcPts val="0"/>
                        </a:spcAft>
                      </a:pPr>
                      <a:r>
                        <a:rPr sz="1550" b="0">
                          <a:solidFill>
                            <a:srgbClr val="183A32"/>
                          </a:solidFill>
                          <a:latin typeface="Arial"/>
                        </a:rPr>
                        <a:t>other property entities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Expansion through corporate consolidation</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2010s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Additional retail and commercial</a:t>
                      </a:r>
                    </a:p>
                    <a:p>
                      <a:pPr>
                        <a:lnSpc>
                          <a:spcPts val="1829"/>
                        </a:lnSpc>
                        <a:spcBef>
                          <a:spcPts val="0"/>
                        </a:spcBef>
                        <a:spcAft>
                          <a:spcPts val="0"/>
                        </a:spcAft>
                      </a:pPr>
                      <a:r>
                        <a:rPr sz="1550" b="0">
                          <a:solidFill>
                            <a:srgbClr val="183A32"/>
                          </a:solidFill>
                          <a:latin typeface="Arial"/>
                        </a:rPr>
                        <a:t>anchors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More reasons to live, work, and visit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2025 annual report.</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66–67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Milestones and strategic inflection points</a:t>
            </a:r>
          </a:p>
        </p:txBody>
      </p:sp>
      <p:graphicFrame>
        <p:nvGraphicFramePr>
          <p:cNvPr id="11" name="Table 10"/>
          <p:cNvGraphicFramePr>
            <a:graphicFrameLocks noGrp="1"/>
          </p:cNvGraphicFramePr>
          <p:nvPr/>
        </p:nvGraphicFramePr>
        <p:xfrm>
          <a:off x="685800" y="2084831"/>
          <a:ext cx="10789919" cy="1099183"/>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significance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FY2025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Revenue approximately Rp12.79</a:t>
                      </a:r>
                    </a:p>
                    <a:p>
                      <a:pPr>
                        <a:lnSpc>
                          <a:spcPts val="1829"/>
                        </a:lnSpc>
                        <a:spcBef>
                          <a:spcPts val="0"/>
                        </a:spcBef>
                        <a:spcAft>
                          <a:spcPts val="0"/>
                        </a:spcAft>
                      </a:pPr>
                      <a:r>
                        <a:rPr sz="1550" b="0">
                          <a:solidFill>
                            <a:srgbClr val="183A32"/>
                          </a:solidFill>
                          <a:latin typeface="Arial"/>
                        </a:rPr>
                        <a:t>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Evidence of the scale reached by the consolidated</a:t>
                      </a:r>
                    </a:p>
                    <a:p>
                      <a:pPr>
                        <a:lnSpc>
                          <a:spcPts val="1829"/>
                        </a:lnSpc>
                        <a:spcBef>
                          <a:spcPts val="0"/>
                        </a:spcBef>
                        <a:spcAft>
                          <a:spcPts val="0"/>
                        </a:spcAft>
                      </a:pPr>
                      <a:r>
                        <a:rPr sz="1550" b="0">
                          <a:solidFill>
                            <a:srgbClr val="183A32"/>
                          </a:solidFill>
                          <a:latin typeface="Arial"/>
                        </a:rPr>
                        <a:t>platform</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36689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Growth combined development over time with acquisitions; it was not solely organic sales</a:t>
            </a:r>
          </a:p>
          <a:p>
            <a:pPr>
              <a:lnSpc>
                <a:spcPts val="2196"/>
              </a:lnSpc>
              <a:spcBef>
                <a:spcPts val="0"/>
              </a:spcBef>
              <a:spcAft>
                <a:spcPts val="0"/>
              </a:spcAft>
            </a:pPr>
            <a:r>
              <a:rPr sz="1800" b="0" i="0">
                <a:solidFill>
                  <a:srgbClr val="183A32"/>
                </a:solidFill>
                <a:latin typeface="Times New Roman"/>
              </a:rPr>
              <a:t>growth inside one township.</a:t>
            </a:r>
          </a:p>
        </p:txBody>
      </p:sp>
      <p:sp>
        <p:nvSpPr>
          <p:cNvPr id="13" name="TextBox 1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2025 annual report.</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Secure a substantial development pipeline.</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Provide infrastructure and credible delivery.</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Introduce residential products for different buyer segments.</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Attract commercial and institutional activity.</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Use an increasingly functional location to support subsequent releases.</a:t>
            </a:r>
          </a:p>
        </p:txBody>
      </p:sp>
      <p:sp>
        <p:nvSpPr>
          <p:cNvPr id="22" name="Rectangle 21"/>
          <p:cNvSpPr/>
          <p:nvPr/>
        </p:nvSpPr>
        <p:spPr>
          <a:xfrm>
            <a:off x="685800" y="47722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68083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6. Reinvest proceeds into development capacity and future inventory.</a:t>
            </a:r>
          </a:p>
        </p:txBody>
      </p:sp>
      <p:sp>
        <p:nvSpPr>
          <p:cNvPr id="24" name="TextBox 23"/>
          <p:cNvSpPr txBox="1"/>
          <p:nvPr/>
        </p:nvSpPr>
        <p:spPr>
          <a:xfrm>
            <a:off x="685800" y="513029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The business can capture value across multiple development phases rather than relying on</a:t>
            </a:r>
          </a:p>
          <a:p>
            <a:pPr>
              <a:lnSpc>
                <a:spcPts val="2196"/>
              </a:lnSpc>
              <a:spcBef>
                <a:spcPts val="0"/>
              </a:spcBef>
              <a:spcAft>
                <a:spcPts val="0"/>
              </a:spcAft>
            </a:pPr>
            <a:r>
              <a:rPr sz="1800" b="0" i="0">
                <a:solidFill>
                  <a:srgbClr val="183A32"/>
                </a:solidFill>
                <a:latin typeface="Times New Roman"/>
              </a:rPr>
              <a:t>one completed building.</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How the growth model works</a:t>
            </a:r>
          </a:p>
        </p:txBody>
      </p:sp>
      <p:sp>
        <p:nvSpPr>
          <p:cNvPr id="11" name="Rectangle 10"/>
          <p:cNvSpPr/>
          <p:nvPr/>
        </p:nvSpPr>
        <p:spPr>
          <a:xfrm>
            <a:off x="685800" y="2084831"/>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8483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2167127"/>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qualification: Amenities consume capital before their benefits are fully realised. Land holdings alone do not create</a:t>
            </a:r>
          </a:p>
          <a:p>
            <a:pPr>
              <a:lnSpc>
                <a:spcPts val="2013"/>
              </a:lnSpc>
              <a:spcBef>
                <a:spcPts val="0"/>
              </a:spcBef>
              <a:spcAft>
                <a:spcPts val="0"/>
              </a:spcAft>
            </a:pPr>
            <a:r>
              <a:rPr sz="1650" b="0" i="0">
                <a:solidFill>
                  <a:srgbClr val="183A32"/>
                </a:solidFill>
                <a:latin typeface="Times New Roman"/>
              </a:rPr>
              <a:t>cash flow.</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Financial scale and its interpretation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RESULTS,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Rp12.79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Rp2.55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approximately Rp13.80 trillion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attributable profit: approximately Rp4.36 trillion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WHAT THIS TELLS US</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BSDE has substantial revenue and earnings capacity, but scale does not remove volatility. FY2025 revenue and</a:t>
            </a:r>
          </a:p>
          <a:p>
            <a:pPr>
              <a:lnSpc>
                <a:spcPts val="2196"/>
              </a:lnSpc>
              <a:spcBef>
                <a:spcPts val="0"/>
              </a:spcBef>
              <a:spcAft>
                <a:spcPts val="0"/>
              </a:spcAft>
            </a:pPr>
            <a:r>
              <a:rPr sz="1800" b="0" i="0">
                <a:solidFill>
                  <a:srgbClr val="183A32"/>
                </a:solidFill>
                <a:latin typeface="Times New Roman"/>
              </a:rPr>
              <a:t>attributable profit were lower than FY2024.</a:t>
            </a:r>
          </a:p>
        </p:txBody>
      </p:sp>
      <p:sp>
        <p:nvSpPr>
          <p:cNvPr id="22" name="TextBox 2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BSDE 2025 annual report — financial highlights.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67–68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this does not prove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figures do not establish that every project is equally profitable or that reported profit converts immediately into</a:t>
            </a:r>
          </a:p>
          <a:p>
            <a:pPr>
              <a:lnSpc>
                <a:spcPts val="2196"/>
              </a:lnSpc>
              <a:spcBef>
                <a:spcPts val="0"/>
              </a:spcBef>
              <a:spcAft>
                <a:spcPts val="0"/>
              </a:spcAft>
            </a:pPr>
            <a:r>
              <a:rPr sz="1800" b="0" i="0">
                <a:solidFill>
                  <a:srgbClr val="183A32"/>
                </a:solidFill>
                <a:latin typeface="Times New Roman"/>
              </a:rPr>
              <a:t>unrestricted cash.</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BSDE 2025 annual report — financial highlights.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R09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68–69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169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 platform and group capabilities</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Multiple property products and development phases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Ability to coordinate land use and amenities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Substantial infrastructure and land capital requirements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Handover and transaction timing affect annual results</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Large developments require sustained organisational</a:t>
            </a:r>
          </a:p>
          <a:p>
            <a:pPr>
              <a:lnSpc>
                <a:spcPts val="1769"/>
              </a:lnSpc>
              <a:spcBef>
                <a:spcPts val="0"/>
              </a:spcBef>
              <a:spcAft>
                <a:spcPts val="0"/>
              </a:spcAft>
            </a:pPr>
            <a:r>
              <a:rPr sz="1450" b="0" i="0">
                <a:solidFill>
                  <a:srgbClr val="183A32"/>
                </a:solidFill>
                <a:latin typeface="Arial"/>
              </a:rPr>
              <a:t>coordination</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employment, education, and commercial activity</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productive use of existing infrastructure</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Partnerships that broaden destination functions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Mortgage affordability and weaker purchasing power</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Competing township supply</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Construction-cost, infrastructure, and environmental risks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69–69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Lessons for TANRISE</a:t>
            </a:r>
          </a:p>
        </p:txBody>
      </p:sp>
      <p:cxnSp>
        <p:nvCxnSpPr>
          <p:cNvPr id="11" name="Connector 10"/>
          <p:cNvCxnSpPr/>
          <p:nvPr/>
        </p:nvCxnSpPr>
        <p:spPr>
          <a:xfrm>
            <a:off x="6062472" y="2084831"/>
            <a:ext cx="0" cy="278377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Give each integrated development a phased</a:t>
            </a:r>
          </a:p>
          <a:p>
            <a:pPr>
              <a:lnSpc>
                <a:spcPts val="2135"/>
              </a:lnSpc>
              <a:spcBef>
                <a:spcPts val="0"/>
              </a:spcBef>
              <a:spcAft>
                <a:spcPts val="0"/>
              </a:spcAft>
            </a:pPr>
            <a:r>
              <a:rPr sz="1750" b="0" i="0">
                <a:solidFill>
                  <a:srgbClr val="183A32"/>
                </a:solidFill>
                <a:latin typeface="Arial"/>
              </a:rPr>
              <a:t>economic plan, not only a masterplan image.</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Connect residential releases to credible access,</a:t>
            </a:r>
          </a:p>
          <a:p>
            <a:pPr>
              <a:lnSpc>
                <a:spcPts val="2135"/>
              </a:lnSpc>
              <a:spcBef>
                <a:spcPts val="0"/>
              </a:spcBef>
              <a:spcAft>
                <a:spcPts val="0"/>
              </a:spcAft>
            </a:pPr>
            <a:r>
              <a:rPr sz="1750" b="0" i="0">
                <a:solidFill>
                  <a:srgbClr val="183A32"/>
                </a:solidFill>
                <a:latin typeface="Arial"/>
              </a:rPr>
              <a:t>services, and employment demand.</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Assess anchors by their contribution to</a:t>
            </a:r>
          </a:p>
          <a:p>
            <a:pPr>
              <a:lnSpc>
                <a:spcPts val="2135"/>
              </a:lnSpc>
              <a:spcBef>
                <a:spcPts val="0"/>
              </a:spcBef>
              <a:spcAft>
                <a:spcPts val="0"/>
              </a:spcAft>
            </a:pPr>
            <a:r>
              <a:rPr sz="1750" b="0" i="0">
                <a:solidFill>
                  <a:srgbClr val="183A32"/>
                </a:solidFill>
                <a:latin typeface="Arial"/>
              </a:rPr>
              <a:t>occupancy and sales, alongside their standalone</a:t>
            </a:r>
          </a:p>
          <a:p>
            <a:pPr>
              <a:lnSpc>
                <a:spcPts val="2135"/>
              </a:lnSpc>
              <a:spcBef>
                <a:spcPts val="0"/>
              </a:spcBef>
              <a:spcAft>
                <a:spcPts val="0"/>
              </a:spcAft>
            </a:pPr>
            <a:r>
              <a:rPr sz="1750" b="0" i="0">
                <a:solidFill>
                  <a:srgbClr val="183A32"/>
                </a:solidFill>
                <a:latin typeface="Arial"/>
              </a:rPr>
              <a:t>economics.</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Maintain a rolling land and launch pipeline.</a:t>
            </a:r>
          </a:p>
        </p:txBody>
      </p:sp>
      <p:sp>
        <p:nvSpPr>
          <p:cNvPr id="21" name="Rectangle 20"/>
          <p:cNvSpPr/>
          <p:nvPr/>
        </p:nvSpPr>
        <p:spPr>
          <a:xfrm>
            <a:off x="6400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acquisitions separately from organic</a:t>
            </a:r>
          </a:p>
          <a:p>
            <a:pPr>
              <a:lnSpc>
                <a:spcPts val="2135"/>
              </a:lnSpc>
              <a:spcBef>
                <a:spcPts val="0"/>
              </a:spcBef>
              <a:spcAft>
                <a:spcPts val="0"/>
              </a:spcAft>
            </a:pPr>
            <a:r>
              <a:rPr sz="1750" b="0" i="0">
                <a:solidFill>
                  <a:srgbClr val="183A32"/>
                </a:solidFill>
                <a:latin typeface="Arial"/>
              </a:rPr>
              <a:t>operating performance.</a:t>
            </a:r>
          </a:p>
        </p:txBody>
      </p:sp>
      <p:sp>
        <p:nvSpPr>
          <p:cNvPr id="23" name="Rectangle 22"/>
          <p:cNvSpPr/>
          <p:nvPr/>
        </p:nvSpPr>
        <p:spPr>
          <a:xfrm>
            <a:off x="6400800" y="3254883"/>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3254883"/>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3337179"/>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The scale of BSD’s</a:t>
            </a:r>
          </a:p>
          <a:p>
            <a:pPr>
              <a:lnSpc>
                <a:spcPts val="2013"/>
              </a:lnSpc>
              <a:spcBef>
                <a:spcPts val="0"/>
              </a:spcBef>
              <a:spcAft>
                <a:spcPts val="0"/>
              </a:spcAft>
            </a:pPr>
            <a:r>
              <a:rPr sz="1650" b="0" i="0">
                <a:solidFill>
                  <a:srgbClr val="183A32"/>
                </a:solidFill>
                <a:latin typeface="Times New Roman"/>
              </a:rPr>
              <a:t>infrastructure expenditure or the breadth of its portfolio.</a:t>
            </a:r>
          </a:p>
        </p:txBody>
      </p:sp>
      <p:sp>
        <p:nvSpPr>
          <p:cNvPr id="26" name="Rectangle 25"/>
          <p:cNvSpPr/>
          <p:nvPr/>
        </p:nvSpPr>
        <p:spPr>
          <a:xfrm>
            <a:off x="6400800" y="4081271"/>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408127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4163567"/>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Prepare one TANRISE project’s ten-year land,</a:t>
            </a:r>
          </a:p>
          <a:p>
            <a:pPr>
              <a:lnSpc>
                <a:spcPts val="2013"/>
              </a:lnSpc>
              <a:spcBef>
                <a:spcPts val="0"/>
              </a:spcBef>
              <a:spcAft>
                <a:spcPts val="0"/>
              </a:spcAft>
            </a:pPr>
            <a:r>
              <a:rPr sz="1650" b="0" i="0">
                <a:solidFill>
                  <a:srgbClr val="183A32"/>
                </a:solidFill>
                <a:latin typeface="Times New Roman"/>
              </a:rPr>
              <a:t>infrastructure, launch, collection, and funding schedule.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70–70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Company background and 5W1H</a:t>
            </a:r>
          </a:p>
        </p:txBody>
      </p:sp>
      <p:cxnSp>
        <p:nvCxnSpPr>
          <p:cNvPr id="11" name="Connector 10"/>
          <p:cNvCxnSpPr/>
          <p:nvPr/>
        </p:nvCxnSpPr>
        <p:spPr>
          <a:xfrm>
            <a:off x="6062472" y="2084831"/>
            <a:ext cx="0" cy="320002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Lippo Karawaci Tbk, a listed property</a:t>
            </a:r>
          </a:p>
          <a:p>
            <a:pPr>
              <a:lnSpc>
                <a:spcPts val="2135"/>
              </a:lnSpc>
              <a:spcBef>
                <a:spcPts val="0"/>
              </a:spcBef>
              <a:spcAft>
                <a:spcPts val="0"/>
              </a:spcAft>
            </a:pPr>
            <a:r>
              <a:rPr sz="1750" b="0" i="0">
                <a:solidFill>
                  <a:srgbClr val="183A32"/>
                </a:solidFill>
                <a:latin typeface="Arial"/>
              </a:rPr>
              <a:t>platform associated with the broader Lippo</a:t>
            </a:r>
          </a:p>
          <a:p>
            <a:pPr>
              <a:lnSpc>
                <a:spcPts val="2135"/>
              </a:lnSpc>
              <a:spcBef>
                <a:spcPts val="0"/>
              </a:spcBef>
              <a:spcAft>
                <a:spcPts val="0"/>
              </a:spcAft>
            </a:pPr>
            <a:r>
              <a:rPr sz="1750" b="0" i="0">
                <a:solidFill>
                  <a:srgbClr val="183A32"/>
                </a:solidFill>
                <a:latin typeface="Arial"/>
              </a:rPr>
              <a:t>Group.</a:t>
            </a:r>
          </a:p>
        </p:txBody>
      </p:sp>
      <p:sp>
        <p:nvSpPr>
          <p:cNvPr id="14" name="Rectangle 13"/>
          <p:cNvSpPr/>
          <p:nvPr/>
        </p:nvSpPr>
        <p:spPr>
          <a:xfrm>
            <a:off x="685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076574"/>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Property development and asset-related</a:t>
            </a:r>
          </a:p>
          <a:p>
            <a:pPr>
              <a:lnSpc>
                <a:spcPts val="2135"/>
              </a:lnSpc>
              <a:spcBef>
                <a:spcPts val="0"/>
              </a:spcBef>
              <a:spcAft>
                <a:spcPts val="0"/>
              </a:spcAft>
            </a:pPr>
            <a:r>
              <a:rPr sz="1750" b="0" i="0">
                <a:solidFill>
                  <a:srgbClr val="183A32"/>
                </a:solidFill>
                <a:latin typeface="Arial"/>
              </a:rPr>
              <a:t>businesses, with a portfolio shaped by major</a:t>
            </a:r>
          </a:p>
          <a:p>
            <a:pPr>
              <a:lnSpc>
                <a:spcPts val="2135"/>
              </a:lnSpc>
              <a:spcBef>
                <a:spcPts val="0"/>
              </a:spcBef>
              <a:spcAft>
                <a:spcPts val="0"/>
              </a:spcAft>
            </a:pPr>
            <a:r>
              <a:rPr sz="1750" b="0" i="0">
                <a:solidFill>
                  <a:srgbClr val="183A32"/>
                </a:solidFill>
                <a:latin typeface="Arial"/>
              </a:rPr>
              <a:t>corporate transactions.</a:t>
            </a:r>
          </a:p>
        </p:txBody>
      </p:sp>
      <p:sp>
        <p:nvSpPr>
          <p:cNvPr id="16" name="Rectangle 15"/>
          <p:cNvSpPr/>
          <p:nvPr/>
        </p:nvSpPr>
        <p:spPr>
          <a:xfrm>
            <a:off x="685800" y="4159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068318"/>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Established township markets include</a:t>
            </a:r>
          </a:p>
          <a:p>
            <a:pPr>
              <a:lnSpc>
                <a:spcPts val="2135"/>
              </a:lnSpc>
              <a:spcBef>
                <a:spcPts val="0"/>
              </a:spcBef>
              <a:spcAft>
                <a:spcPts val="0"/>
              </a:spcAft>
            </a:pPr>
            <a:r>
              <a:rPr sz="1750" b="0" i="0">
                <a:solidFill>
                  <a:srgbClr val="183A32"/>
                </a:solidFill>
                <a:latin typeface="Arial"/>
              </a:rPr>
              <a:t>Lippo Village and Lippo Cikarang, alongside other</a:t>
            </a:r>
          </a:p>
          <a:p>
            <a:pPr>
              <a:lnSpc>
                <a:spcPts val="2135"/>
              </a:lnSpc>
              <a:spcBef>
                <a:spcPts val="0"/>
              </a:spcBef>
              <a:spcAft>
                <a:spcPts val="0"/>
              </a:spcAft>
            </a:pPr>
            <a:r>
              <a:rPr sz="1750" b="0" i="0">
                <a:solidFill>
                  <a:srgbClr val="183A32"/>
                </a:solidFill>
                <a:latin typeface="Arial"/>
              </a:rPr>
              <a:t>locations.</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Incorporated in 1990 under its original</a:t>
            </a:r>
          </a:p>
          <a:p>
            <a:pPr>
              <a:lnSpc>
                <a:spcPts val="2135"/>
              </a:lnSpc>
              <a:spcBef>
                <a:spcPts val="0"/>
              </a:spcBef>
              <a:spcAft>
                <a:spcPts val="0"/>
              </a:spcAft>
            </a:pPr>
            <a:r>
              <a:rPr sz="1750" b="0" i="0">
                <a:solidFill>
                  <a:srgbClr val="183A32"/>
                </a:solidFill>
                <a:latin typeface="Arial"/>
              </a:rPr>
              <a:t>corporate name.</a:t>
            </a:r>
          </a:p>
        </p:txBody>
      </p:sp>
      <p:sp>
        <p:nvSpPr>
          <p:cNvPr id="20" name="Rectangle 19"/>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805430"/>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The Lippo business-group</a:t>
            </a:r>
          </a:p>
          <a:p>
            <a:pPr>
              <a:lnSpc>
                <a:spcPts val="2135"/>
              </a:lnSpc>
              <a:spcBef>
                <a:spcPts val="0"/>
              </a:spcBef>
              <a:spcAft>
                <a:spcPts val="0"/>
              </a:spcAft>
            </a:pPr>
            <a:r>
              <a:rPr sz="1750" b="0" i="0">
                <a:solidFill>
                  <a:srgbClr val="183A32"/>
                </a:solidFill>
                <a:latin typeface="Arial"/>
              </a:rPr>
              <a:t>legacy associated with Mochtar Riady; issuer</a:t>
            </a:r>
          </a:p>
          <a:p>
            <a:pPr>
              <a:lnSpc>
                <a:spcPts val="2135"/>
              </a:lnSpc>
              <a:spcBef>
                <a:spcPts val="0"/>
              </a:spcBef>
              <a:spcAft>
                <a:spcPts val="0"/>
              </a:spcAft>
            </a:pPr>
            <a:r>
              <a:rPr sz="1750" b="0" i="0">
                <a:solidFill>
                  <a:srgbClr val="183A32"/>
                </a:solidFill>
                <a:latin typeface="Arial"/>
              </a:rPr>
              <a:t>management and ownership must be</a:t>
            </a:r>
          </a:p>
          <a:p>
            <a:pPr>
              <a:lnSpc>
                <a:spcPts val="2135"/>
              </a:lnSpc>
              <a:spcBef>
                <a:spcPts val="0"/>
              </a:spcBef>
              <a:spcAft>
                <a:spcPts val="0"/>
              </a:spcAft>
            </a:pPr>
            <a:r>
              <a:rPr sz="1750" b="0" i="0">
                <a:solidFill>
                  <a:srgbClr val="183A32"/>
                </a:solidFill>
                <a:latin typeface="Arial"/>
              </a:rPr>
              <a:t>distinguished from the broader family group.</a:t>
            </a:r>
          </a:p>
        </p:txBody>
      </p:sp>
      <p:sp>
        <p:nvSpPr>
          <p:cNvPr id="22" name="Rectangle 21"/>
          <p:cNvSpPr/>
          <p:nvPr/>
        </p:nvSpPr>
        <p:spPr>
          <a:xfrm>
            <a:off x="6400800" y="4159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4068318"/>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Build</a:t>
            </a:r>
          </a:p>
          <a:p>
            <a:pPr>
              <a:lnSpc>
                <a:spcPts val="2135"/>
              </a:lnSpc>
              <a:spcBef>
                <a:spcPts val="0"/>
              </a:spcBef>
              <a:spcAft>
                <a:spcPts val="0"/>
              </a:spcAft>
            </a:pPr>
            <a:r>
              <a:rPr sz="1750" b="0" i="0">
                <a:solidFill>
                  <a:srgbClr val="183A32"/>
                </a:solidFill>
                <a:latin typeface="Arial"/>
              </a:rPr>
              <a:t>residential demand through integrated urban</a:t>
            </a:r>
          </a:p>
          <a:p>
            <a:pPr>
              <a:lnSpc>
                <a:spcPts val="2135"/>
              </a:lnSpc>
              <a:spcBef>
                <a:spcPts val="0"/>
              </a:spcBef>
              <a:spcAft>
                <a:spcPts val="0"/>
              </a:spcAft>
            </a:pPr>
            <a:r>
              <a:rPr sz="1750" b="0" i="0">
                <a:solidFill>
                  <a:srgbClr val="183A32"/>
                </a:solidFill>
                <a:latin typeface="Arial"/>
              </a:rPr>
              <a:t>services, then adapt product and capital</a:t>
            </a:r>
          </a:p>
          <a:p>
            <a:pPr>
              <a:lnSpc>
                <a:spcPts val="2135"/>
              </a:lnSpc>
              <a:spcBef>
                <a:spcPts val="0"/>
              </a:spcBef>
              <a:spcAft>
                <a:spcPts val="0"/>
              </a:spcAft>
            </a:pPr>
            <a:r>
              <a:rPr sz="1750" b="0" i="0">
                <a:solidFill>
                  <a:srgbClr val="183A32"/>
                </a:solidFill>
                <a:latin typeface="Arial"/>
              </a:rPr>
              <a:t>allocation as market conditions change.</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corporate disclosure, annual reports.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70–70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Growth and portfolio reset</a:t>
            </a:r>
          </a:p>
        </p:txBody>
      </p:sp>
      <p:cxnSp>
        <p:nvCxnSpPr>
          <p:cNvPr id="11" name="Connector 10"/>
          <p:cNvCxnSpPr/>
          <p:nvPr/>
        </p:nvCxnSpPr>
        <p:spPr>
          <a:xfrm>
            <a:off x="6062472" y="2084831"/>
            <a:ext cx="0" cy="340518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MILESTONE SEQUENCE</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1990: Incorporation of the issuer’s predecessor.</a:t>
            </a:r>
          </a:p>
        </p:txBody>
      </p:sp>
      <p:sp>
        <p:nvSpPr>
          <p:cNvPr id="15" name="Rectangle 14"/>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883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decades: Expansion of township and</a:t>
            </a:r>
          </a:p>
          <a:p>
            <a:pPr>
              <a:lnSpc>
                <a:spcPts val="2135"/>
              </a:lnSpc>
              <a:spcBef>
                <a:spcPts val="0"/>
              </a:spcBef>
              <a:spcAft>
                <a:spcPts val="0"/>
              </a:spcAft>
            </a:pPr>
            <a:r>
              <a:rPr sz="1750" b="0" i="0">
                <a:solidFill>
                  <a:srgbClr val="183A32"/>
                </a:solidFill>
                <a:latin typeface="Arial"/>
              </a:rPr>
              <a:t>associated urban-service businesses.</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Diversification period: Healthcare became an</a:t>
            </a:r>
          </a:p>
          <a:p>
            <a:pPr>
              <a:lnSpc>
                <a:spcPts val="2135"/>
              </a:lnSpc>
              <a:spcBef>
                <a:spcPts val="0"/>
              </a:spcBef>
              <a:spcAft>
                <a:spcPts val="0"/>
              </a:spcAft>
            </a:pPr>
            <a:r>
              <a:rPr sz="1750" b="0" i="0">
                <a:solidFill>
                  <a:srgbClr val="183A32"/>
                </a:solidFill>
                <a:latin typeface="Arial"/>
              </a:rPr>
              <a:t>important part of the historical consolidated</a:t>
            </a:r>
          </a:p>
          <a:p>
            <a:pPr>
              <a:lnSpc>
                <a:spcPts val="2135"/>
              </a:lnSpc>
              <a:spcBef>
                <a:spcPts val="0"/>
              </a:spcBef>
              <a:spcAft>
                <a:spcPts val="0"/>
              </a:spcAft>
            </a:pPr>
            <a:r>
              <a:rPr sz="1750" b="0" i="0">
                <a:solidFill>
                  <a:srgbClr val="183A32"/>
                </a:solidFill>
                <a:latin typeface="Arial"/>
              </a:rPr>
              <a:t>portfolio.</a:t>
            </a:r>
          </a:p>
        </p:txBody>
      </p:sp>
      <p:sp>
        <p:nvSpPr>
          <p:cNvPr id="19" name="Rectangle 18"/>
          <p:cNvSpPr/>
          <p:nvPr/>
        </p:nvSpPr>
        <p:spPr>
          <a:xfrm>
            <a:off x="685800" y="468680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2024: Siloam-related divestment and</a:t>
            </a:r>
          </a:p>
          <a:p>
            <a:pPr>
              <a:lnSpc>
                <a:spcPts val="2135"/>
              </a:lnSpc>
              <a:spcBef>
                <a:spcPts val="0"/>
              </a:spcBef>
              <a:spcAft>
                <a:spcPts val="0"/>
              </a:spcAft>
            </a:pPr>
            <a:r>
              <a:rPr sz="1750" b="0" i="0">
                <a:solidFill>
                  <a:srgbClr val="183A32"/>
                </a:solidFill>
                <a:latin typeface="Arial"/>
              </a:rPr>
              <a:t>deconsolidation changed the earnings and</a:t>
            </a:r>
          </a:p>
          <a:p>
            <a:pPr>
              <a:lnSpc>
                <a:spcPts val="2135"/>
              </a:lnSpc>
              <a:spcBef>
                <a:spcPts val="0"/>
              </a:spcBef>
              <a:spcAft>
                <a:spcPts val="0"/>
              </a:spcAft>
            </a:pPr>
            <a:r>
              <a:rPr sz="1750" b="0" i="0">
                <a:solidFill>
                  <a:srgbClr val="183A32"/>
                </a:solidFill>
                <a:latin typeface="Arial"/>
              </a:rPr>
              <a:t>revenue comparison.</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2025–2026: Greater emphasis on property</a:t>
            </a:r>
          </a:p>
          <a:p>
            <a:pPr>
              <a:lnSpc>
                <a:spcPts val="2135"/>
              </a:lnSpc>
              <a:spcBef>
                <a:spcPts val="0"/>
              </a:spcBef>
              <a:spcAft>
                <a:spcPts val="0"/>
              </a:spcAft>
            </a:pPr>
            <a:r>
              <a:rPr sz="1750" b="0" i="0">
                <a:solidFill>
                  <a:srgbClr val="183A32"/>
                </a:solidFill>
                <a:latin typeface="Arial"/>
              </a:rPr>
              <a:t>execution, capital discipline, and portfolio</a:t>
            </a:r>
          </a:p>
          <a:p>
            <a:pPr>
              <a:lnSpc>
                <a:spcPts val="2135"/>
              </a:lnSpc>
              <a:spcBef>
                <a:spcPts val="0"/>
              </a:spcBef>
              <a:spcAft>
                <a:spcPts val="0"/>
              </a:spcAft>
            </a:pPr>
            <a:r>
              <a:rPr sz="1750" b="0" i="0">
                <a:solidFill>
                  <a:srgbClr val="183A32"/>
                </a:solidFill>
                <a:latin typeface="Arial"/>
              </a:rPr>
              <a:t>optimisation.</a:t>
            </a:r>
          </a:p>
        </p:txBody>
      </p:sp>
      <p:sp>
        <p:nvSpPr>
          <p:cNvPr id="23" name="Rectangle 22"/>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May 2026: Indra Yuwana appointed President</a:t>
            </a:r>
          </a:p>
          <a:p>
            <a:pPr>
              <a:lnSpc>
                <a:spcPts val="2135"/>
              </a:lnSpc>
              <a:spcBef>
                <a:spcPts val="0"/>
              </a:spcBef>
              <a:spcAft>
                <a:spcPts val="0"/>
              </a:spcAft>
            </a:pPr>
            <a:r>
              <a:rPr sz="1750" b="0" i="0">
                <a:solidFill>
                  <a:srgbClr val="183A32"/>
                </a:solidFill>
                <a:latin typeface="Arial"/>
              </a:rPr>
              <a:t>Director.</a:t>
            </a:r>
          </a:p>
        </p:txBody>
      </p:sp>
      <p:sp>
        <p:nvSpPr>
          <p:cNvPr id="25" name="TextBox 24"/>
          <p:cNvSpPr txBox="1"/>
          <p:nvPr/>
        </p:nvSpPr>
        <p:spPr>
          <a:xfrm>
            <a:off x="6400800" y="379717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Lippo is a case study in both</a:t>
            </a:r>
          </a:p>
          <a:p>
            <a:pPr>
              <a:lnSpc>
                <a:spcPts val="2196"/>
              </a:lnSpc>
              <a:spcBef>
                <a:spcPts val="0"/>
              </a:spcBef>
              <a:spcAft>
                <a:spcPts val="0"/>
              </a:spcAft>
            </a:pPr>
            <a:r>
              <a:rPr sz="1800" b="0" i="0">
                <a:solidFill>
                  <a:srgbClr val="183A32"/>
                </a:solidFill>
                <a:latin typeface="Times New Roman"/>
              </a:rPr>
              <a:t>ecosystem development and the need to simplify or</a:t>
            </a:r>
          </a:p>
          <a:p>
            <a:pPr>
              <a:lnSpc>
                <a:spcPts val="2196"/>
              </a:lnSpc>
              <a:spcBef>
                <a:spcPts val="0"/>
              </a:spcBef>
              <a:spcAft>
                <a:spcPts val="0"/>
              </a:spcAft>
            </a:pPr>
            <a:r>
              <a:rPr sz="1800" b="0" i="0">
                <a:solidFill>
                  <a:srgbClr val="183A32"/>
                </a:solidFill>
                <a:latin typeface="Times New Roman"/>
              </a:rPr>
              <a:t>reset a complex portfolio.</a:t>
            </a:r>
          </a:p>
        </p:txBody>
      </p:sp>
      <p:sp>
        <p:nvSpPr>
          <p:cNvPr id="26" name="TextBox 25"/>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Siloam transaction disclosure, 2026 AGM announcement.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historical model sought to make large residential locations more attractive by combining housing with supporting</a:t>
            </a:r>
          </a:p>
          <a:p>
            <a:pPr>
              <a:lnSpc>
                <a:spcPts val="2196"/>
              </a:lnSpc>
              <a:spcBef>
                <a:spcPts val="0"/>
              </a:spcBef>
              <a:spcAft>
                <a:spcPts val="0"/>
              </a:spcAft>
            </a:pPr>
            <a:r>
              <a:rPr sz="1800" b="0" i="0">
                <a:solidFill>
                  <a:srgbClr val="183A32"/>
                </a:solidFill>
                <a:latin typeface="Times New Roman"/>
              </a:rPr>
              <a:t>urban functions.</a:t>
            </a:r>
          </a:p>
        </p:txBody>
      </p:sp>
      <p:sp>
        <p:nvSpPr>
          <p:cNvPr id="13" name="TextBox 12"/>
          <p:cNvSpPr txBox="1"/>
          <p:nvPr/>
        </p:nvSpPr>
        <p:spPr>
          <a:xfrm>
            <a:off x="685800" y="316966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operating challenge is to match three things:</a:t>
            </a:r>
          </a:p>
        </p:txBody>
      </p:sp>
      <p:sp>
        <p:nvSpPr>
          <p:cNvPr id="14" name="Rectangle 13"/>
          <p:cNvSpPr/>
          <p:nvPr/>
        </p:nvSpPr>
        <p:spPr>
          <a:xfrm>
            <a:off x="685800" y="37183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62686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Products that households can afford.</a:t>
            </a:r>
          </a:p>
        </p:txBody>
      </p:sp>
      <p:sp>
        <p:nvSpPr>
          <p:cNvPr id="16" name="Rectangle 15"/>
          <p:cNvSpPr/>
          <p:nvPr/>
        </p:nvSpPr>
        <p:spPr>
          <a:xfrm>
            <a:off x="685800" y="416775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07631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Construction and handover capacity.</a:t>
            </a:r>
          </a:p>
        </p:txBody>
      </p:sp>
      <p:sp>
        <p:nvSpPr>
          <p:cNvPr id="18" name="Rectangle 17"/>
          <p:cNvSpPr/>
          <p:nvPr/>
        </p:nvSpPr>
        <p:spPr>
          <a:xfrm>
            <a:off x="685800" y="46172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52577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Funding that remains available throughout development.</a:t>
            </a:r>
          </a:p>
        </p:txBody>
      </p:sp>
      <p:sp>
        <p:nvSpPr>
          <p:cNvPr id="20" name="TextBox 19"/>
          <p:cNvSpPr txBox="1"/>
          <p:nvPr/>
        </p:nvSpPr>
        <p:spPr>
          <a:xfrm>
            <a:off x="685800" y="497522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Existing township infrastructure and customer recognition can support repeat launches.</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tension: A broad ecosystem can increase demand, but owning too many different businesses can also</a:t>
            </a:r>
          </a:p>
          <a:p>
            <a:pPr>
              <a:lnSpc>
                <a:spcPts val="2196"/>
              </a:lnSpc>
              <a:spcBef>
                <a:spcPts val="0"/>
              </a:spcBef>
              <a:spcAft>
                <a:spcPts val="0"/>
              </a:spcAft>
            </a:pPr>
            <a:r>
              <a:rPr sz="1800" b="0" i="0">
                <a:solidFill>
                  <a:srgbClr val="183A32"/>
                </a:solidFill>
                <a:latin typeface="Times New Roman"/>
              </a:rPr>
              <a:t>increase capital requirements and management complexity.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Financial comparison requires adjustment</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Headline revenue: Rp9.03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after final tax: Rp8.84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Rp470 billion</a:t>
            </a:r>
          </a:p>
        </p:txBody>
      </p:sp>
      <p:sp>
        <p:nvSpPr>
          <p:cNvPr id="18" name="Rectangle 17"/>
          <p:cNvSpPr/>
          <p:nvPr/>
        </p:nvSpPr>
        <p:spPr>
          <a:xfrm>
            <a:off x="685800" y="3781932"/>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781932"/>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3864228"/>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interpretation</a:t>
            </a:r>
          </a:p>
        </p:txBody>
      </p:sp>
      <p:sp>
        <p:nvSpPr>
          <p:cNvPr id="21" name="TextBox 20"/>
          <p:cNvSpPr txBox="1"/>
          <p:nvPr/>
        </p:nvSpPr>
        <p:spPr>
          <a:xfrm>
            <a:off x="685800" y="4350575"/>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FY2024 contained significant effects associated with the Siloam transaction. A simple profit-growth comparison</a:t>
            </a:r>
          </a:p>
          <a:p>
            <a:pPr>
              <a:lnSpc>
                <a:spcPts val="2196"/>
              </a:lnSpc>
              <a:spcBef>
                <a:spcPts val="0"/>
              </a:spcBef>
              <a:spcAft>
                <a:spcPts val="0"/>
              </a:spcAft>
            </a:pPr>
            <a:r>
              <a:rPr sz="1800" b="0" i="0">
                <a:solidFill>
                  <a:srgbClr val="183A32"/>
                </a:solidFill>
                <a:latin typeface="Times New Roman"/>
              </a:rPr>
              <a:t>would give a misleading picture of recurring property performance.</a:t>
            </a:r>
          </a:p>
        </p:txBody>
      </p:sp>
      <p:sp>
        <p:nvSpPr>
          <p:cNvPr id="22" name="TextBox 21"/>
          <p:cNvSpPr txBox="1"/>
          <p:nvPr/>
        </p:nvSpPr>
        <p:spPr>
          <a:xfrm>
            <a:off x="685800" y="5114099"/>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QUESTIONS TO EXAMINE SEPARATELY</a:t>
            </a:r>
          </a:p>
        </p:txBody>
      </p:sp>
      <p:sp>
        <p:nvSpPr>
          <p:cNvPr id="23" name="Rectangle 22"/>
          <p:cNvSpPr/>
          <p:nvPr/>
        </p:nvSpPr>
        <p:spPr>
          <a:xfrm>
            <a:off x="685800" y="552684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43540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Continuing property revenue and margins.</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results announcement, financial-report repository.</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71–72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Financial comparison requires adjustment</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Cash collections and construction obligations.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Financing expense and debt maturity.</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Disposal proceeds versus repeatable operating cash flow.</a:t>
            </a:r>
          </a:p>
        </p:txBody>
      </p:sp>
      <p:sp>
        <p:nvSpPr>
          <p:cNvPr id="17" name="TextBox 16"/>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results announcement, financial-report repository.</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72–73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 locations and market recognition</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serving multiple residential segments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Existing development infrastructure</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Legacy portfolio complexity</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costs can constrain operating flexibility</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Corporate transactions complicate performance</a:t>
            </a:r>
          </a:p>
          <a:p>
            <a:pPr>
              <a:lnSpc>
                <a:spcPts val="1769"/>
              </a:lnSpc>
              <a:spcBef>
                <a:spcPts val="0"/>
              </a:spcBef>
              <a:spcAft>
                <a:spcPts val="0"/>
              </a:spcAft>
            </a:pPr>
            <a:r>
              <a:rPr sz="1450" b="0" i="0">
                <a:solidFill>
                  <a:srgbClr val="183A32"/>
                </a:solidFill>
                <a:latin typeface="Arial"/>
              </a:rPr>
              <a:t>assessment</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affordable, clearly segmented residential products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Monetisation of underproductive assets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Simpler portfolio and stronger cash discipline</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Mortgage rejection, cancellations, and affordability pressure</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Competition from other suburban developers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Refinancing, construction-cost, and execution risks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73–73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Karawaci: Lessons for TANRISE</a:t>
            </a:r>
          </a:p>
        </p:txBody>
      </p:sp>
      <p:cxnSp>
        <p:nvCxnSpPr>
          <p:cNvPr id="11" name="Connector 10"/>
          <p:cNvCxnSpPr/>
          <p:nvPr/>
        </p:nvCxnSpPr>
        <p:spPr>
          <a:xfrm>
            <a:off x="6062472" y="2084831"/>
            <a:ext cx="0" cy="340518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Treat affordability as a complete</a:t>
            </a:r>
          </a:p>
          <a:p>
            <a:pPr>
              <a:lnSpc>
                <a:spcPts val="2135"/>
              </a:lnSpc>
              <a:spcBef>
                <a:spcPts val="0"/>
              </a:spcBef>
              <a:spcAft>
                <a:spcPts val="0"/>
              </a:spcAft>
            </a:pPr>
            <a:r>
              <a:rPr sz="1750" b="0" i="0">
                <a:solidFill>
                  <a:srgbClr val="183A32"/>
                </a:solidFill>
                <a:latin typeface="Arial"/>
              </a:rPr>
              <a:t>household-payment equation.</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Track bookings, mortgage approvals,</a:t>
            </a:r>
          </a:p>
          <a:p>
            <a:pPr>
              <a:lnSpc>
                <a:spcPts val="2135"/>
              </a:lnSpc>
              <a:spcBef>
                <a:spcPts val="0"/>
              </a:spcBef>
              <a:spcAft>
                <a:spcPts val="0"/>
              </a:spcAft>
            </a:pPr>
            <a:r>
              <a:rPr sz="1750" b="0" i="0">
                <a:solidFill>
                  <a:srgbClr val="183A32"/>
                </a:solidFill>
                <a:latin typeface="Arial"/>
              </a:rPr>
              <a:t>cancellations, collections, and handovers</a:t>
            </a:r>
          </a:p>
          <a:p>
            <a:pPr>
              <a:lnSpc>
                <a:spcPts val="2135"/>
              </a:lnSpc>
              <a:spcBef>
                <a:spcPts val="0"/>
              </a:spcBef>
              <a:spcAft>
                <a:spcPts val="0"/>
              </a:spcAft>
            </a:pPr>
            <a:r>
              <a:rPr sz="1750" b="0" i="0">
                <a:solidFill>
                  <a:srgbClr val="183A32"/>
                </a:solidFill>
                <a:latin typeface="Arial"/>
              </a:rPr>
              <a:t>separately.</a:t>
            </a:r>
          </a:p>
        </p:txBody>
      </p:sp>
      <p:sp>
        <p:nvSpPr>
          <p:cNvPr id="17" name="Rectangle 16"/>
          <p:cNvSpPr/>
          <p:nvPr/>
        </p:nvSpPr>
        <p:spPr>
          <a:xfrm>
            <a:off x="685800" y="423735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14591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Measure the capital and management burden of</a:t>
            </a:r>
          </a:p>
          <a:p>
            <a:pPr>
              <a:lnSpc>
                <a:spcPts val="2135"/>
              </a:lnSpc>
              <a:spcBef>
                <a:spcPts val="0"/>
              </a:spcBef>
              <a:spcAft>
                <a:spcPts val="0"/>
              </a:spcAft>
            </a:pPr>
            <a:r>
              <a:rPr sz="1750" b="0" i="0">
                <a:solidFill>
                  <a:srgbClr val="183A32"/>
                </a:solidFill>
                <a:latin typeface="Arial"/>
              </a:rPr>
              <a:t>each additional business line.</a:t>
            </a:r>
          </a:p>
        </p:txBody>
      </p:sp>
      <p:sp>
        <p:nvSpPr>
          <p:cNvPr id="19" name="Rectangle 18"/>
          <p:cNvSpPr/>
          <p:nvPr/>
        </p:nvSpPr>
        <p:spPr>
          <a:xfrm>
            <a:off x="685800" y="495795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86651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Distinguish asset-sale gains from repeatable</a:t>
            </a:r>
          </a:p>
          <a:p>
            <a:pPr>
              <a:lnSpc>
                <a:spcPts val="2135"/>
              </a:lnSpc>
              <a:spcBef>
                <a:spcPts val="0"/>
              </a:spcBef>
              <a:spcAft>
                <a:spcPts val="0"/>
              </a:spcAft>
            </a:pPr>
            <a:r>
              <a:rPr sz="1750" b="0" i="0">
                <a:solidFill>
                  <a:srgbClr val="183A32"/>
                </a:solidFill>
                <a:latin typeface="Arial"/>
              </a:rPr>
              <a:t>development earnings.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portfolio simplification when it releases</a:t>
            </a:r>
          </a:p>
          <a:p>
            <a:pPr>
              <a:lnSpc>
                <a:spcPts val="2135"/>
              </a:lnSpc>
              <a:spcBef>
                <a:spcPts val="0"/>
              </a:spcBef>
              <a:spcAft>
                <a:spcPts val="0"/>
              </a:spcAft>
            </a:pPr>
            <a:r>
              <a:rPr sz="1750" b="0" i="0">
                <a:solidFill>
                  <a:srgbClr val="183A32"/>
                </a:solidFill>
                <a:latin typeface="Arial"/>
              </a:rPr>
              <a:t>capital for stronger growth engines.</a:t>
            </a:r>
          </a:p>
        </p:txBody>
      </p:sp>
      <p:sp>
        <p:nvSpPr>
          <p:cNvPr id="23" name="Rectangle 22"/>
          <p:cNvSpPr/>
          <p:nvPr/>
        </p:nvSpPr>
        <p:spPr>
          <a:xfrm>
            <a:off x="6400800" y="2805430"/>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Broad diversification</a:t>
            </a:r>
          </a:p>
          <a:p>
            <a:pPr>
              <a:lnSpc>
                <a:spcPts val="2013"/>
              </a:lnSpc>
              <a:spcBef>
                <a:spcPts val="0"/>
              </a:spcBef>
              <a:spcAft>
                <a:spcPts val="0"/>
              </a:spcAft>
            </a:pPr>
            <a:r>
              <a:rPr sz="1650" b="0" i="0">
                <a:solidFill>
                  <a:srgbClr val="183A32"/>
                </a:solidFill>
                <a:latin typeface="Times New Roman"/>
              </a:rPr>
              <a:t>justified only by the appeal of an “integrated ecosystem.”</a:t>
            </a:r>
          </a:p>
        </p:txBody>
      </p:sp>
      <p:sp>
        <p:nvSpPr>
          <p:cNvPr id="26" name="Rectangle 25"/>
          <p:cNvSpPr/>
          <p:nvPr/>
        </p:nvSpPr>
        <p:spPr>
          <a:xfrm>
            <a:off x="6400800" y="3631819"/>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631819"/>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714115"/>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Compare TANRISE’s planned residential</a:t>
            </a:r>
          </a:p>
          <a:p>
            <a:pPr>
              <a:lnSpc>
                <a:spcPts val="2013"/>
              </a:lnSpc>
              <a:spcBef>
                <a:spcPts val="0"/>
              </a:spcBef>
              <a:spcAft>
                <a:spcPts val="0"/>
              </a:spcAft>
            </a:pPr>
            <a:r>
              <a:rPr sz="1650" b="0" i="0">
                <a:solidFill>
                  <a:srgbClr val="183A32"/>
                </a:solidFill>
                <a:latin typeface="Times New Roman"/>
              </a:rPr>
              <a:t>products against household income, deposit capacity,</a:t>
            </a:r>
          </a:p>
          <a:p>
            <a:pPr>
              <a:lnSpc>
                <a:spcPts val="2013"/>
              </a:lnSpc>
              <a:spcBef>
                <a:spcPts val="0"/>
              </a:spcBef>
              <a:spcAft>
                <a:spcPts val="0"/>
              </a:spcAft>
            </a:pPr>
            <a:r>
              <a:rPr sz="1650" b="0" i="0">
                <a:solidFill>
                  <a:srgbClr val="183A32"/>
                </a:solidFill>
                <a:latin typeface="Times New Roman"/>
              </a:rPr>
              <a:t>bank approval, and monthly payments.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73–74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179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Company background and 5W1H</a:t>
            </a:r>
          </a:p>
        </p:txBody>
      </p:sp>
      <p:cxnSp>
        <p:nvCxnSpPr>
          <p:cNvPr id="11" name="Connector 10"/>
          <p:cNvCxnSpPr/>
          <p:nvPr/>
        </p:nvCxnSpPr>
        <p:spPr>
          <a:xfrm>
            <a:off x="6062472" y="2084831"/>
            <a:ext cx="0" cy="253536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Ciputra Development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A development platform combining</a:t>
            </a:r>
          </a:p>
          <a:p>
            <a:pPr>
              <a:lnSpc>
                <a:spcPts val="2135"/>
              </a:lnSpc>
              <a:spcBef>
                <a:spcPts val="0"/>
              </a:spcBef>
              <a:spcAft>
                <a:spcPts val="0"/>
              </a:spcAft>
            </a:pPr>
            <a:r>
              <a:rPr sz="1750" b="0" i="0">
                <a:solidFill>
                  <a:srgbClr val="183A32"/>
                </a:solidFill>
                <a:latin typeface="Arial"/>
              </a:rPr>
              <a:t>residential projects with selected commercial and</a:t>
            </a:r>
          </a:p>
          <a:p>
            <a:pPr>
              <a:lnSpc>
                <a:spcPts val="2135"/>
              </a:lnSpc>
              <a:spcBef>
                <a:spcPts val="0"/>
              </a:spcBef>
              <a:spcAft>
                <a:spcPts val="0"/>
              </a:spcAft>
            </a:pPr>
            <a:r>
              <a:rPr sz="1750" b="0" i="0">
                <a:solidFill>
                  <a:srgbClr val="183A32"/>
                </a:solidFill>
                <a:latin typeface="Arial"/>
              </a:rPr>
              <a:t>recurring-income assets.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A geographically distributed Indonesian</a:t>
            </a:r>
          </a:p>
          <a:p>
            <a:pPr>
              <a:lnSpc>
                <a:spcPts val="2135"/>
              </a:lnSpc>
              <a:spcBef>
                <a:spcPts val="0"/>
              </a:spcBef>
              <a:spcAft>
                <a:spcPts val="0"/>
              </a:spcAft>
            </a:pPr>
            <a:r>
              <a:rPr sz="1750" b="0" i="0">
                <a:solidFill>
                  <a:srgbClr val="183A32"/>
                </a:solidFill>
                <a:latin typeface="Arial"/>
              </a:rPr>
              <a:t>portfolio.</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1981; listed in 1994.</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Founder Ir. Ciputra and the</a:t>
            </a:r>
          </a:p>
          <a:p>
            <a:pPr>
              <a:lnSpc>
                <a:spcPts val="2135"/>
              </a:lnSpc>
              <a:spcBef>
                <a:spcPts val="0"/>
              </a:spcBef>
              <a:spcAft>
                <a:spcPts val="0"/>
              </a:spcAft>
            </a:pPr>
            <a:r>
              <a:rPr sz="1750" b="0" i="0">
                <a:solidFill>
                  <a:srgbClr val="183A32"/>
                </a:solidFill>
                <a:latin typeface="Arial"/>
              </a:rPr>
              <a:t>Ciputra business-family legacy; the listed</a:t>
            </a:r>
          </a:p>
          <a:p>
            <a:pPr>
              <a:lnSpc>
                <a:spcPts val="2135"/>
              </a:lnSpc>
              <a:spcBef>
                <a:spcPts val="0"/>
              </a:spcBef>
              <a:spcAft>
                <a:spcPts val="0"/>
              </a:spcAft>
            </a:pPr>
            <a:r>
              <a:rPr sz="1750" b="0" i="0">
                <a:solidFill>
                  <a:srgbClr val="183A32"/>
                </a:solidFill>
                <a:latin typeface="Arial"/>
              </a:rPr>
              <a:t>company institutionalised the founder’s</a:t>
            </a:r>
          </a:p>
          <a:p>
            <a:pPr>
              <a:lnSpc>
                <a:spcPts val="2135"/>
              </a:lnSpc>
              <a:spcBef>
                <a:spcPts val="0"/>
              </a:spcBef>
              <a:spcAft>
                <a:spcPts val="0"/>
              </a:spcAft>
            </a:pPr>
            <a:r>
              <a:rPr sz="1750" b="0" i="0">
                <a:solidFill>
                  <a:srgbClr val="183A32"/>
                </a:solidFill>
                <a:latin typeface="Arial"/>
              </a:rPr>
              <a:t>development approach.</a:t>
            </a:r>
          </a:p>
        </p:txBody>
      </p:sp>
      <p:sp>
        <p:nvSpPr>
          <p:cNvPr id="22" name="Rectangle 21"/>
          <p:cNvSpPr/>
          <p:nvPr/>
        </p:nvSpPr>
        <p:spPr>
          <a:xfrm>
            <a:off x="6400800" y="343915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347719"/>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Replicate</a:t>
            </a:r>
          </a:p>
          <a:p>
            <a:pPr>
              <a:lnSpc>
                <a:spcPts val="2135"/>
              </a:lnSpc>
              <a:spcBef>
                <a:spcPts val="0"/>
              </a:spcBef>
              <a:spcAft>
                <a:spcPts val="0"/>
              </a:spcAft>
            </a:pPr>
            <a:r>
              <a:rPr sz="1750" b="0" i="0">
                <a:solidFill>
                  <a:srgbClr val="183A32"/>
                </a:solidFill>
                <a:latin typeface="Arial"/>
              </a:rPr>
              <a:t>a recognisable development capability across</a:t>
            </a:r>
          </a:p>
          <a:p>
            <a:pPr>
              <a:lnSpc>
                <a:spcPts val="2135"/>
              </a:lnSpc>
              <a:spcBef>
                <a:spcPts val="0"/>
              </a:spcBef>
              <a:spcAft>
                <a:spcPts val="0"/>
              </a:spcAft>
            </a:pPr>
            <a:r>
              <a:rPr sz="1750" b="0" i="0">
                <a:solidFill>
                  <a:srgbClr val="183A32"/>
                </a:solidFill>
                <a:latin typeface="Arial"/>
              </a:rPr>
              <a:t>locations while adapting projects to local markets</a:t>
            </a:r>
          </a:p>
          <a:p>
            <a:pPr>
              <a:lnSpc>
                <a:spcPts val="2135"/>
              </a:lnSpc>
              <a:spcBef>
                <a:spcPts val="0"/>
              </a:spcBef>
              <a:spcAft>
                <a:spcPts val="0"/>
              </a:spcAft>
            </a:pPr>
            <a:r>
              <a:rPr sz="1750" b="0" i="0">
                <a:solidFill>
                  <a:srgbClr val="183A32"/>
                </a:solidFill>
                <a:latin typeface="Arial"/>
              </a:rPr>
              <a:t>and partnerships.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Ciputra annual report — company history and business model.</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73–74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Company background and 5W1H</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Core research question: How can a developer expand without purchasing and independently funding every land</a:t>
            </a:r>
          </a:p>
          <a:p>
            <a:pPr>
              <a:lnSpc>
                <a:spcPts val="2196"/>
              </a:lnSpc>
              <a:spcBef>
                <a:spcPts val="0"/>
              </a:spcBef>
              <a:spcAft>
                <a:spcPts val="0"/>
              </a:spcAft>
            </a:pPr>
            <a:r>
              <a:rPr sz="1800" b="0" i="0">
                <a:solidFill>
                  <a:srgbClr val="183A32"/>
                </a:solidFill>
                <a:latin typeface="Times New Roman"/>
              </a:rPr>
              <a:t>parcel?</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Ciputra annual report — company history and business model.</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74–75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Milestones in building a repeatable platform</a:t>
            </a:r>
          </a:p>
        </p:txBody>
      </p:sp>
      <p:graphicFrame>
        <p:nvGraphicFramePr>
          <p:cNvPr id="11" name="Table 10"/>
          <p:cNvGraphicFramePr>
            <a:graphicFrameLocks noGrp="1"/>
          </p:cNvGraphicFramePr>
          <p:nvPr/>
        </p:nvGraphicFramePr>
        <p:xfrm>
          <a:off x="685800" y="2084831"/>
          <a:ext cx="10789919" cy="34676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1981</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Establishment of the original development company</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Early CitraGarden City development</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1990s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Expansion of major residential and commercial projects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1997–1998 and aftermath</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Crisis management and restructuring period</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2017</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Merger of Ciputra Surya and Ciputra Property into CTRA</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FY2025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Reported revenue approximately Rp12.62 trillion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Historical results presentation, merger disclosure.</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74–75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Milestones in building a repeatable platform</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important transition was from founder-led projects to a repeatable, consolidated operating</a:t>
            </a:r>
          </a:p>
          <a:p>
            <a:pPr>
              <a:lnSpc>
                <a:spcPts val="2196"/>
              </a:lnSpc>
              <a:spcBef>
                <a:spcPts val="0"/>
              </a:spcBef>
              <a:spcAft>
                <a:spcPts val="0"/>
              </a:spcAft>
            </a:pPr>
            <a:r>
              <a:rPr sz="1800" b="0" i="0">
                <a:solidFill>
                  <a:srgbClr val="183A32"/>
                </a:solidFill>
                <a:latin typeface="Times New Roman"/>
              </a:rPr>
              <a:t>platform.</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Historical results presentation, merger disclosure.</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75–75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Ciputra’s partnership approach is especially relevant to developers whose expansion is constrained by land</a:t>
            </a:r>
          </a:p>
          <a:p>
            <a:pPr>
              <a:lnSpc>
                <a:spcPts val="2196"/>
              </a:lnSpc>
              <a:spcBef>
                <a:spcPts val="0"/>
              </a:spcBef>
              <a:spcAft>
                <a:spcPts val="0"/>
              </a:spcAft>
            </a:pPr>
            <a:r>
              <a:rPr sz="1800" b="0" i="0">
                <a:solidFill>
                  <a:srgbClr val="183A32"/>
                </a:solidFill>
                <a:latin typeface="Times New Roman"/>
              </a:rPr>
              <a:t>acquisition and capital.</a:t>
            </a:r>
          </a:p>
        </p:txBody>
      </p:sp>
      <p:sp>
        <p:nvSpPr>
          <p:cNvPr id="13" name="TextBox 12"/>
          <p:cNvSpPr txBox="1"/>
          <p:nvPr/>
        </p:nvSpPr>
        <p:spPr>
          <a:xfrm>
            <a:off x="685800" y="319709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OPERATING LOGIC</a:t>
            </a:r>
          </a:p>
        </p:txBody>
      </p:sp>
      <p:sp>
        <p:nvSpPr>
          <p:cNvPr id="14" name="Rectangle 13"/>
          <p:cNvSpPr/>
          <p:nvPr/>
        </p:nvSpPr>
        <p:spPr>
          <a:xfrm>
            <a:off x="685800" y="360984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51840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Combine development, branding, planning, and sales capabilities with access to local land.</a:t>
            </a:r>
          </a:p>
        </p:txBody>
      </p:sp>
      <p:sp>
        <p:nvSpPr>
          <p:cNvPr id="16" name="Rectangle 15"/>
          <p:cNvSpPr/>
          <p:nvPr/>
        </p:nvSpPr>
        <p:spPr>
          <a:xfrm>
            <a:off x="685800" y="405930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96786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Adapt products and pricing to each city.</a:t>
            </a:r>
          </a:p>
        </p:txBody>
      </p:sp>
      <p:sp>
        <p:nvSpPr>
          <p:cNvPr id="18" name="Rectangle 17"/>
          <p:cNvSpPr/>
          <p:nvPr/>
        </p:nvSpPr>
        <p:spPr>
          <a:xfrm>
            <a:off x="685800" y="450875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41731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Reuse operating knowledge across projects.</a:t>
            </a:r>
          </a:p>
        </p:txBody>
      </p:sp>
      <p:sp>
        <p:nvSpPr>
          <p:cNvPr id="20" name="Rectangle 19"/>
          <p:cNvSpPr/>
          <p:nvPr/>
        </p:nvSpPr>
        <p:spPr>
          <a:xfrm>
            <a:off x="685800" y="49582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86676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Maintain central standards while allowing local commercial decisions.</a:t>
            </a:r>
          </a:p>
        </p:txBody>
      </p:sp>
      <p:sp>
        <p:nvSpPr>
          <p:cNvPr id="22" name="TextBox 21"/>
          <p:cNvSpPr txBox="1"/>
          <p:nvPr/>
        </p:nvSpPr>
        <p:spPr>
          <a:xfrm>
            <a:off x="685800" y="5316220"/>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Replication of capabilities across multiple markets.</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Ciputra annual report.</a:t>
            </a:r>
          </a:p>
        </p:txBody>
      </p:sp>
      <p:sp>
        <p:nvSpPr>
          <p:cNvPr id="24" name="TextBox 2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R19.2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75–75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Trade-off: Partnerships reduce some upfront burdens but create profit-sharing, governance, approval, and execution</a:t>
            </a:r>
          </a:p>
          <a:p>
            <a:pPr>
              <a:lnSpc>
                <a:spcPts val="2196"/>
              </a:lnSpc>
              <a:spcBef>
                <a:spcPts val="0"/>
              </a:spcBef>
              <a:spcAft>
                <a:spcPts val="0"/>
              </a:spcAft>
            </a:pPr>
            <a:r>
              <a:rPr sz="1800" b="0" i="0">
                <a:solidFill>
                  <a:srgbClr val="183A32"/>
                </a:solidFill>
                <a:latin typeface="Times New Roman"/>
              </a:rPr>
              <a:t>dependencies.</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Ciputra annual report.</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75–76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Financial scale and operating momentum</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Rp12.62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net profit: Rp2.66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Marketing sales: approximately Rp9.46 trillion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Rp11.19 trillion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Revenue and marketing sales describe different stages of the business. FY2025 revenue can include handovers from</a:t>
            </a:r>
          </a:p>
          <a:p>
            <a:pPr>
              <a:lnSpc>
                <a:spcPts val="2196"/>
              </a:lnSpc>
              <a:spcBef>
                <a:spcPts val="0"/>
              </a:spcBef>
              <a:spcAft>
                <a:spcPts val="0"/>
              </a:spcAft>
            </a:pPr>
            <a:r>
              <a:rPr sz="1800" b="0" i="0">
                <a:solidFill>
                  <a:srgbClr val="183A32"/>
                </a:solidFill>
                <a:latin typeface="Times New Roman"/>
              </a:rPr>
              <a:t>sales made in earlier periods.</a:t>
            </a:r>
          </a:p>
        </p:txBody>
      </p:sp>
      <p:sp>
        <p:nvSpPr>
          <p:cNvPr id="22" name="TextBox 21"/>
          <p:cNvSpPr txBox="1"/>
          <p:nvPr/>
        </p:nvSpPr>
        <p:spPr>
          <a:xfrm>
            <a:off x="685800" y="531621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significance: A broad launch and handover pipeline supports scale, but geographical breadth requires</a:t>
            </a:r>
          </a:p>
          <a:p>
            <a:pPr>
              <a:lnSpc>
                <a:spcPts val="2196"/>
              </a:lnSpc>
              <a:spcBef>
                <a:spcPts val="0"/>
              </a:spcBef>
              <a:spcAft>
                <a:spcPts val="0"/>
              </a:spcAft>
            </a:pPr>
            <a:r>
              <a:rPr sz="1800" b="0" i="0">
                <a:solidFill>
                  <a:srgbClr val="183A32"/>
                </a:solidFill>
                <a:latin typeface="Times New Roman"/>
              </a:rPr>
              <a:t>strong controls and local execution.</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Ciputra 2025 sustainability report — financial and operational performance.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76–77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Replicable development capabilities and brand familiarity</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Partnership experience</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Geographic diversification</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Managing many locations increases organisational</a:t>
            </a:r>
          </a:p>
          <a:p>
            <a:pPr>
              <a:lnSpc>
                <a:spcPts val="1769"/>
              </a:lnSpc>
              <a:spcBef>
                <a:spcPts val="0"/>
              </a:spcBef>
              <a:spcAft>
                <a:spcPts val="0"/>
              </a:spcAft>
            </a:pPr>
            <a:r>
              <a:rPr sz="1450" b="0" i="0">
                <a:solidFill>
                  <a:srgbClr val="183A32"/>
                </a:solidFill>
                <a:latin typeface="Arial"/>
              </a:rPr>
              <a:t>complexity</a:t>
            </a:r>
          </a:p>
        </p:txBody>
      </p:sp>
      <p:sp>
        <p:nvSpPr>
          <p:cNvPr id="20" name="TextBox 19"/>
          <p:cNvSpPr txBox="1"/>
          <p:nvPr/>
        </p:nvSpPr>
        <p:spPr>
          <a:xfrm>
            <a:off x="6336792" y="30142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Shared economics and partner dependencies</a:t>
            </a:r>
          </a:p>
        </p:txBody>
      </p:sp>
      <p:sp>
        <p:nvSpPr>
          <p:cNvPr id="21" name="TextBox 20"/>
          <p:cNvSpPr txBox="1"/>
          <p:nvPr/>
        </p:nvSpPr>
        <p:spPr>
          <a:xfrm>
            <a:off x="6336792" y="3325749"/>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Local markets can behave differently</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expansion with suitable land partners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phases within established projects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product adaptation and operating systems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Weak local demand despite national housing need</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Inconsistent execution across locations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Land, approval, financing, and construction risks</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77–77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Build a formal land-partnership offer.</a:t>
            </a:r>
          </a:p>
        </p:txBody>
      </p:sp>
      <p:sp>
        <p:nvSpPr>
          <p:cNvPr id="15" name="Rectangle 14"/>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883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Define what TANRISE contributes beyond its</a:t>
            </a:r>
          </a:p>
          <a:p>
            <a:pPr>
              <a:lnSpc>
                <a:spcPts val="2135"/>
              </a:lnSpc>
              <a:spcBef>
                <a:spcPts val="0"/>
              </a:spcBef>
              <a:spcAft>
                <a:spcPts val="0"/>
              </a:spcAft>
            </a:pPr>
            <a:r>
              <a:rPr sz="1750" b="0" i="0">
                <a:solidFill>
                  <a:srgbClr val="183A32"/>
                </a:solidFill>
                <a:latin typeface="Arial"/>
              </a:rPr>
              <a:t>corporate name.</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Establish clear responsibilities for land readiness,</a:t>
            </a:r>
          </a:p>
          <a:p>
            <a:pPr>
              <a:lnSpc>
                <a:spcPts val="2135"/>
              </a:lnSpc>
              <a:spcBef>
                <a:spcPts val="0"/>
              </a:spcBef>
              <a:spcAft>
                <a:spcPts val="0"/>
              </a:spcAft>
            </a:pPr>
            <a:r>
              <a:rPr sz="1750" b="0" i="0">
                <a:solidFill>
                  <a:srgbClr val="183A32"/>
                </a:solidFill>
                <a:latin typeface="Arial"/>
              </a:rPr>
              <a:t>permits, infrastructure, marketing, construction,</a:t>
            </a:r>
          </a:p>
          <a:p>
            <a:pPr>
              <a:lnSpc>
                <a:spcPts val="2135"/>
              </a:lnSpc>
              <a:spcBef>
                <a:spcPts val="0"/>
              </a:spcBef>
              <a:spcAft>
                <a:spcPts val="0"/>
              </a:spcAft>
            </a:pPr>
            <a:r>
              <a:rPr sz="1750" b="0" i="0">
                <a:solidFill>
                  <a:srgbClr val="183A32"/>
                </a:solidFill>
                <a:latin typeface="Arial"/>
              </a:rPr>
              <a:t>and funding.</a:t>
            </a:r>
          </a:p>
        </p:txBody>
      </p:sp>
      <p:sp>
        <p:nvSpPr>
          <p:cNvPr id="19" name="Rectangle 18"/>
          <p:cNvSpPr/>
          <p:nvPr/>
        </p:nvSpPr>
        <p:spPr>
          <a:xfrm>
            <a:off x="685800" y="468680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 a repeatable residential delivery system</a:t>
            </a:r>
          </a:p>
          <a:p>
            <a:pPr>
              <a:lnSpc>
                <a:spcPts val="2135"/>
              </a:lnSpc>
              <a:spcBef>
                <a:spcPts val="0"/>
              </a:spcBef>
              <a:spcAft>
                <a:spcPts val="0"/>
              </a:spcAft>
            </a:pPr>
            <a:r>
              <a:rPr sz="1750" b="0" i="0">
                <a:solidFill>
                  <a:srgbClr val="183A32"/>
                </a:solidFill>
                <a:latin typeface="Arial"/>
              </a:rPr>
              <a:t>before expanding widely.</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Select partners for governance quality as well as</a:t>
            </a:r>
          </a:p>
          <a:p>
            <a:pPr>
              <a:lnSpc>
                <a:spcPts val="2135"/>
              </a:lnSpc>
              <a:spcBef>
                <a:spcPts val="0"/>
              </a:spcBef>
              <a:spcAft>
                <a:spcPts val="0"/>
              </a:spcAft>
            </a:pPr>
            <a:r>
              <a:rPr sz="1750" b="0" i="0">
                <a:solidFill>
                  <a:srgbClr val="183A32"/>
                </a:solidFill>
                <a:latin typeface="Arial"/>
              </a:rPr>
              <a:t>land location.</a:t>
            </a:r>
          </a:p>
        </p:txBody>
      </p:sp>
      <p:sp>
        <p:nvSpPr>
          <p:cNvPr id="23" name="Rectangle 22"/>
          <p:cNvSpPr/>
          <p:nvPr/>
        </p:nvSpPr>
        <p:spPr>
          <a:xfrm>
            <a:off x="6400800" y="2805430"/>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Entering many cities before</a:t>
            </a:r>
          </a:p>
          <a:p>
            <a:pPr>
              <a:lnSpc>
                <a:spcPts val="2013"/>
              </a:lnSpc>
              <a:spcBef>
                <a:spcPts val="0"/>
              </a:spcBef>
              <a:spcAft>
                <a:spcPts val="0"/>
              </a:spcAft>
            </a:pPr>
            <a:r>
              <a:rPr sz="1650" b="0" i="0">
                <a:solidFill>
                  <a:srgbClr val="183A32"/>
                </a:solidFill>
                <a:latin typeface="Times New Roman"/>
              </a:rPr>
              <a:t>project leadership and control systems are ready.</a:t>
            </a:r>
          </a:p>
        </p:txBody>
      </p:sp>
      <p:sp>
        <p:nvSpPr>
          <p:cNvPr id="26" name="Rectangle 25"/>
          <p:cNvSpPr/>
          <p:nvPr/>
        </p:nvSpPr>
        <p:spPr>
          <a:xfrm>
            <a:off x="6400800" y="3631819"/>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631819"/>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714115"/>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Screen a small number of potential land</a:t>
            </a:r>
          </a:p>
          <a:p>
            <a:pPr>
              <a:lnSpc>
                <a:spcPts val="2013"/>
              </a:lnSpc>
              <a:spcBef>
                <a:spcPts val="0"/>
              </a:spcBef>
              <a:spcAft>
                <a:spcPts val="0"/>
              </a:spcAft>
            </a:pPr>
            <a:r>
              <a:rPr sz="1650" b="0" i="0">
                <a:solidFill>
                  <a:srgbClr val="183A32"/>
                </a:solidFill>
                <a:latin typeface="Times New Roman"/>
              </a:rPr>
              <a:t>partnerships using one investment and governance</a:t>
            </a:r>
          </a:p>
          <a:p>
            <a:pPr>
              <a:lnSpc>
                <a:spcPts val="2013"/>
              </a:lnSpc>
              <a:spcBef>
                <a:spcPts val="0"/>
              </a:spcBef>
              <a:spcAft>
                <a:spcPts val="0"/>
              </a:spcAft>
            </a:pPr>
            <a:r>
              <a:rPr sz="1650" b="0" i="0">
                <a:solidFill>
                  <a:srgbClr val="183A32"/>
                </a:solidFill>
                <a:latin typeface="Times New Roman"/>
              </a:rPr>
              <a:t>template.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77–78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Company background and 5W1H</a:t>
            </a:r>
          </a:p>
        </p:txBody>
      </p:sp>
      <p:cxnSp>
        <p:nvCxnSpPr>
          <p:cNvPr id="11" name="Connector 10"/>
          <p:cNvCxnSpPr/>
          <p:nvPr/>
        </p:nvCxnSpPr>
        <p:spPr>
          <a:xfrm>
            <a:off x="6062472" y="2084831"/>
            <a:ext cx="0" cy="349681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Summarecon Agung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Township development,</a:t>
            </a:r>
          </a:p>
          <a:p>
            <a:pPr>
              <a:lnSpc>
                <a:spcPts val="2135"/>
              </a:lnSpc>
              <a:spcBef>
                <a:spcPts val="0"/>
              </a:spcBef>
              <a:spcAft>
                <a:spcPts val="0"/>
              </a:spcAft>
            </a:pPr>
            <a:r>
              <a:rPr sz="1750" b="0" i="0">
                <a:solidFill>
                  <a:srgbClr val="183A32"/>
                </a:solidFill>
                <a:latin typeface="Arial"/>
              </a:rPr>
              <a:t>investment-property management, and</a:t>
            </a:r>
          </a:p>
          <a:p>
            <a:pPr>
              <a:lnSpc>
                <a:spcPts val="2135"/>
              </a:lnSpc>
              <a:spcBef>
                <a:spcPts val="0"/>
              </a:spcBef>
              <a:spcAft>
                <a:spcPts val="0"/>
              </a:spcAft>
            </a:pPr>
            <a:r>
              <a:rPr sz="1750" b="0" i="0">
                <a:solidFill>
                  <a:srgbClr val="183A32"/>
                </a:solidFill>
                <a:latin typeface="Arial"/>
              </a:rPr>
              <a:t>leisure/hospitality activities.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Originated in Kelapa Gading and</a:t>
            </a:r>
          </a:p>
          <a:p>
            <a:pPr>
              <a:lnSpc>
                <a:spcPts val="2135"/>
              </a:lnSpc>
              <a:spcBef>
                <a:spcPts val="0"/>
              </a:spcBef>
              <a:spcAft>
                <a:spcPts val="0"/>
              </a:spcAft>
            </a:pPr>
            <a:r>
              <a:rPr sz="1750" b="0" i="0">
                <a:solidFill>
                  <a:srgbClr val="183A32"/>
                </a:solidFill>
                <a:latin typeface="Arial"/>
              </a:rPr>
              <a:t>expanded into additional township markets.</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1975; listed in 1990.</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Soetjipto Nagaria and</a:t>
            </a:r>
          </a:p>
          <a:p>
            <a:pPr>
              <a:lnSpc>
                <a:spcPts val="2135"/>
              </a:lnSpc>
              <a:spcBef>
                <a:spcPts val="0"/>
              </a:spcBef>
              <a:spcAft>
                <a:spcPts val="0"/>
              </a:spcAft>
            </a:pPr>
            <a:r>
              <a:rPr sz="1750" b="0" i="0">
                <a:solidFill>
                  <a:srgbClr val="183A32"/>
                </a:solidFill>
                <a:latin typeface="Arial"/>
              </a:rPr>
              <a:t>associates; the Nagaria family remains</a:t>
            </a:r>
          </a:p>
          <a:p>
            <a:pPr>
              <a:lnSpc>
                <a:spcPts val="2135"/>
              </a:lnSpc>
              <a:spcBef>
                <a:spcPts val="0"/>
              </a:spcBef>
              <a:spcAft>
                <a:spcPts val="0"/>
              </a:spcAft>
            </a:pPr>
            <a:r>
              <a:rPr sz="1750" b="0" i="0">
                <a:solidFill>
                  <a:srgbClr val="183A32"/>
                </a:solidFill>
                <a:latin typeface="Arial"/>
              </a:rPr>
              <a:t>associated with the company’s development</a:t>
            </a:r>
          </a:p>
          <a:p>
            <a:pPr>
              <a:lnSpc>
                <a:spcPts val="2135"/>
              </a:lnSpc>
              <a:spcBef>
                <a:spcPts val="0"/>
              </a:spcBef>
              <a:spcAft>
                <a:spcPts val="0"/>
              </a:spcAft>
            </a:pPr>
            <a:r>
              <a:rPr sz="1750" b="0" i="0">
                <a:solidFill>
                  <a:srgbClr val="183A32"/>
                </a:solidFill>
                <a:latin typeface="Arial"/>
              </a:rPr>
              <a:t>legacy.</a:t>
            </a:r>
          </a:p>
        </p:txBody>
      </p:sp>
      <p:sp>
        <p:nvSpPr>
          <p:cNvPr id="22" name="Rectangle 21"/>
          <p:cNvSpPr/>
          <p:nvPr/>
        </p:nvSpPr>
        <p:spPr>
          <a:xfrm>
            <a:off x="6400800" y="343915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347719"/>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Create</a:t>
            </a:r>
          </a:p>
          <a:p>
            <a:pPr>
              <a:lnSpc>
                <a:spcPts val="2135"/>
              </a:lnSpc>
              <a:spcBef>
                <a:spcPts val="0"/>
              </a:spcBef>
              <a:spcAft>
                <a:spcPts val="0"/>
              </a:spcAft>
            </a:pPr>
            <a:r>
              <a:rPr sz="1750" b="0" i="0">
                <a:solidFill>
                  <a:srgbClr val="183A32"/>
                </a:solidFill>
                <a:latin typeface="Arial"/>
              </a:rPr>
              <a:t>neighbourhoods whose commercial and everyday</a:t>
            </a:r>
          </a:p>
          <a:p>
            <a:pPr>
              <a:lnSpc>
                <a:spcPts val="2135"/>
              </a:lnSpc>
              <a:spcBef>
                <a:spcPts val="0"/>
              </a:spcBef>
              <a:spcAft>
                <a:spcPts val="0"/>
              </a:spcAft>
            </a:pPr>
            <a:r>
              <a:rPr sz="1750" b="0" i="0">
                <a:solidFill>
                  <a:srgbClr val="183A32"/>
                </a:solidFill>
                <a:latin typeface="Arial"/>
              </a:rPr>
              <a:t>functions strengthen residential demand over</a:t>
            </a:r>
          </a:p>
          <a:p>
            <a:pPr>
              <a:lnSpc>
                <a:spcPts val="2135"/>
              </a:lnSpc>
              <a:spcBef>
                <a:spcPts val="0"/>
              </a:spcBef>
              <a:spcAft>
                <a:spcPts val="0"/>
              </a:spcAft>
            </a:pPr>
            <a:r>
              <a:rPr sz="1750" b="0" i="0">
                <a:solidFill>
                  <a:srgbClr val="183A32"/>
                </a:solidFill>
                <a:latin typeface="Arial"/>
              </a:rPr>
              <a:t>time.</a:t>
            </a:r>
          </a:p>
        </p:txBody>
      </p:sp>
      <p:sp>
        <p:nvSpPr>
          <p:cNvPr id="24" name="TextBox 23"/>
          <p:cNvSpPr txBox="1"/>
          <p:nvPr/>
        </p:nvSpPr>
        <p:spPr>
          <a:xfrm>
            <a:off x="6400800" y="4610608"/>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Core research question: How does a developer make a</a:t>
            </a:r>
          </a:p>
          <a:p>
            <a:pPr>
              <a:lnSpc>
                <a:spcPts val="2196"/>
              </a:lnSpc>
              <a:spcBef>
                <a:spcPts val="0"/>
              </a:spcBef>
              <a:spcAft>
                <a:spcPts val="0"/>
              </a:spcAft>
            </a:pPr>
            <a:r>
              <a:rPr sz="1800" b="0" i="0">
                <a:solidFill>
                  <a:srgbClr val="183A32"/>
                </a:solidFill>
                <a:latin typeface="Times New Roman"/>
              </a:rPr>
              <a:t>new location commercially credible before it is fully</a:t>
            </a:r>
          </a:p>
          <a:p>
            <a:pPr>
              <a:lnSpc>
                <a:spcPts val="2196"/>
              </a:lnSpc>
              <a:spcBef>
                <a:spcPts val="0"/>
              </a:spcBef>
              <a:spcAft>
                <a:spcPts val="0"/>
              </a:spcAft>
            </a:pPr>
            <a:r>
              <a:rPr sz="1800" b="0" i="0">
                <a:solidFill>
                  <a:srgbClr val="183A32"/>
                </a:solidFill>
                <a:latin typeface="Times New Roman"/>
              </a:rPr>
              <a:t>mature?</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company overview, May 2026 investor presentation.</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78–78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189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Growth through successive townships</a:t>
            </a:r>
          </a:p>
        </p:txBody>
      </p:sp>
      <p:cxnSp>
        <p:nvCxnSpPr>
          <p:cNvPr id="11" name="Connector 10"/>
          <p:cNvCxnSpPr/>
          <p:nvPr/>
        </p:nvCxnSpPr>
        <p:spPr>
          <a:xfrm>
            <a:off x="6062472" y="2084831"/>
            <a:ext cx="0" cy="267671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MILESTONE SEQUENCE</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1975: Establishment and early development in</a:t>
            </a:r>
          </a:p>
          <a:p>
            <a:pPr>
              <a:lnSpc>
                <a:spcPts val="2135"/>
              </a:lnSpc>
              <a:spcBef>
                <a:spcPts val="0"/>
              </a:spcBef>
              <a:spcAft>
                <a:spcPts val="0"/>
              </a:spcAft>
            </a:pPr>
            <a:r>
              <a:rPr sz="1750" b="0" i="0">
                <a:solidFill>
                  <a:srgbClr val="183A32"/>
                </a:solidFill>
                <a:latin typeface="Arial"/>
              </a:rPr>
              <a:t>Kelapa Gading.</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1990: Stock-market listing.</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Later expansion: Application of township</a:t>
            </a:r>
          </a:p>
          <a:p>
            <a:pPr>
              <a:lnSpc>
                <a:spcPts val="2135"/>
              </a:lnSpc>
              <a:spcBef>
                <a:spcPts val="0"/>
              </a:spcBef>
              <a:spcAft>
                <a:spcPts val="0"/>
              </a:spcAft>
            </a:pPr>
            <a:r>
              <a:rPr sz="1750" b="0" i="0">
                <a:solidFill>
                  <a:srgbClr val="183A32"/>
                </a:solidFill>
                <a:latin typeface="Arial"/>
              </a:rPr>
              <a:t>capabilities to Serpong and other markets.</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development: A broader portfolio</a:t>
            </a:r>
          </a:p>
          <a:p>
            <a:pPr>
              <a:lnSpc>
                <a:spcPts val="2135"/>
              </a:lnSpc>
              <a:spcBef>
                <a:spcPts val="0"/>
              </a:spcBef>
              <a:spcAft>
                <a:spcPts val="0"/>
              </a:spcAft>
            </a:pPr>
            <a:r>
              <a:rPr sz="1750" b="0" i="0">
                <a:solidFill>
                  <a:srgbClr val="183A32"/>
                </a:solidFill>
                <a:latin typeface="Arial"/>
              </a:rPr>
              <a:t>including Bekasi, Bandung, Karawang, Makassar,</a:t>
            </a:r>
          </a:p>
          <a:p>
            <a:pPr>
              <a:lnSpc>
                <a:spcPts val="2135"/>
              </a:lnSpc>
              <a:spcBef>
                <a:spcPts val="0"/>
              </a:spcBef>
              <a:spcAft>
                <a:spcPts val="0"/>
              </a:spcAft>
            </a:pPr>
            <a:r>
              <a:rPr sz="1750" b="0" i="0">
                <a:solidFill>
                  <a:srgbClr val="183A32"/>
                </a:solidFill>
                <a:latin typeface="Arial"/>
              </a:rPr>
              <a:t>Bogor, and other locations.</a:t>
            </a:r>
          </a:p>
        </p:txBody>
      </p:sp>
      <p:sp>
        <p:nvSpPr>
          <p:cNvPr id="21" name="Rectangle 20"/>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Current platform: Development sales supported</a:t>
            </a:r>
          </a:p>
          <a:p>
            <a:pPr>
              <a:lnSpc>
                <a:spcPts val="2135"/>
              </a:lnSpc>
              <a:spcBef>
                <a:spcPts val="0"/>
              </a:spcBef>
              <a:spcAft>
                <a:spcPts val="0"/>
              </a:spcAft>
            </a:pPr>
            <a:r>
              <a:rPr sz="1750" b="0" i="0">
                <a:solidFill>
                  <a:srgbClr val="183A32"/>
                </a:solidFill>
                <a:latin typeface="Arial"/>
              </a:rPr>
              <a:t>by retained commercial and supporting assets.</a:t>
            </a:r>
          </a:p>
        </p:txBody>
      </p:sp>
      <p:sp>
        <p:nvSpPr>
          <p:cNvPr id="23" name="TextBox 22"/>
          <p:cNvSpPr txBox="1"/>
          <p:nvPr/>
        </p:nvSpPr>
        <p:spPr>
          <a:xfrm>
            <a:off x="6400800" y="379717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capability being replicated</a:t>
            </a:r>
          </a:p>
          <a:p>
            <a:pPr>
              <a:lnSpc>
                <a:spcPts val="2196"/>
              </a:lnSpc>
              <a:spcBef>
                <a:spcPts val="0"/>
              </a:spcBef>
              <a:spcAft>
                <a:spcPts val="0"/>
              </a:spcAft>
            </a:pPr>
            <a:r>
              <a:rPr sz="1800" b="0" i="0">
                <a:solidFill>
                  <a:srgbClr val="183A32"/>
                </a:solidFill>
                <a:latin typeface="Times New Roman"/>
              </a:rPr>
              <a:t>is the coordination of a township—not simply a cluster</a:t>
            </a:r>
          </a:p>
          <a:p>
            <a:pPr>
              <a:lnSpc>
                <a:spcPts val="2196"/>
              </a:lnSpc>
              <a:spcBef>
                <a:spcPts val="0"/>
              </a:spcBef>
              <a:spcAft>
                <a:spcPts val="0"/>
              </a:spcAft>
            </a:pPr>
            <a:r>
              <a:rPr sz="1800" b="0" i="0">
                <a:solidFill>
                  <a:srgbClr val="183A32"/>
                </a:solidFill>
                <a:latin typeface="Times New Roman"/>
              </a:rPr>
              <a:t>design or a mall.</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company overview, investor presentation and township histories.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78–79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How the growth model works</a:t>
            </a:r>
          </a:p>
        </p:txBody>
      </p:sp>
      <p:cxnSp>
        <p:nvCxnSpPr>
          <p:cNvPr id="11" name="Connector 10"/>
          <p:cNvCxnSpPr/>
          <p:nvPr/>
        </p:nvCxnSpPr>
        <p:spPr>
          <a:xfrm>
            <a:off x="6062472" y="2084831"/>
            <a:ext cx="0" cy="270014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3" name="TextBox 12"/>
          <p:cNvSpPr txBox="1"/>
          <p:nvPr/>
        </p:nvSpPr>
        <p:spPr>
          <a:xfrm>
            <a:off x="685800" y="2433574"/>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model connects three activities:</a:t>
            </a:r>
          </a:p>
        </p:txBody>
      </p:sp>
      <p:sp>
        <p:nvSpPr>
          <p:cNvPr id="14" name="Rectangle 13"/>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907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Residential development generates sales and</a:t>
            </a:r>
          </a:p>
          <a:p>
            <a:pPr>
              <a:lnSpc>
                <a:spcPts val="2135"/>
              </a:lnSpc>
              <a:spcBef>
                <a:spcPts val="0"/>
              </a:spcBef>
              <a:spcAft>
                <a:spcPts val="0"/>
              </a:spcAft>
            </a:pPr>
            <a:r>
              <a:rPr sz="1750" b="0" i="0">
                <a:solidFill>
                  <a:srgbClr val="183A32"/>
                </a:solidFill>
                <a:latin typeface="Arial"/>
              </a:rPr>
              <a:t>an initial population.</a:t>
            </a:r>
          </a:p>
        </p:txBody>
      </p:sp>
      <p:sp>
        <p:nvSpPr>
          <p:cNvPr id="16" name="Rectangle 15"/>
          <p:cNvSpPr/>
          <p:nvPr/>
        </p:nvSpPr>
        <p:spPr>
          <a:xfrm>
            <a:off x="685800" y="370281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6113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Commercial and community functions make</a:t>
            </a:r>
          </a:p>
          <a:p>
            <a:pPr>
              <a:lnSpc>
                <a:spcPts val="2135"/>
              </a:lnSpc>
              <a:spcBef>
                <a:spcPts val="0"/>
              </a:spcBef>
              <a:spcAft>
                <a:spcPts val="0"/>
              </a:spcAft>
            </a:pPr>
            <a:r>
              <a:rPr sz="1750" b="0" i="0">
                <a:solidFill>
                  <a:srgbClr val="183A32"/>
                </a:solidFill>
                <a:latin typeface="Arial"/>
              </a:rPr>
              <a:t>the location more useful.</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Estate and asset management help preserve</a:t>
            </a:r>
          </a:p>
          <a:p>
            <a:pPr>
              <a:lnSpc>
                <a:spcPts val="2135"/>
              </a:lnSpc>
              <a:spcBef>
                <a:spcPts val="0"/>
              </a:spcBef>
              <a:spcAft>
                <a:spcPts val="0"/>
              </a:spcAft>
            </a:pPr>
            <a:r>
              <a:rPr sz="1750" b="0" i="0">
                <a:solidFill>
                  <a:srgbClr val="183A32"/>
                </a:solidFill>
                <a:latin typeface="Arial"/>
              </a:rPr>
              <a:t>the experience after handover.</a:t>
            </a:r>
          </a:p>
        </p:txBody>
      </p:sp>
      <p:sp>
        <p:nvSpPr>
          <p:cNvPr id="20" name="TextBox 19"/>
          <p:cNvSpPr txBox="1"/>
          <p:nvPr/>
        </p:nvSpPr>
        <p:spPr>
          <a:xfrm>
            <a:off x="6400800" y="2805430"/>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Repeated coordination of</a:t>
            </a:r>
          </a:p>
          <a:p>
            <a:pPr>
              <a:lnSpc>
                <a:spcPts val="2196"/>
              </a:lnSpc>
              <a:spcBef>
                <a:spcPts val="0"/>
              </a:spcBef>
              <a:spcAft>
                <a:spcPts val="0"/>
              </a:spcAft>
            </a:pPr>
            <a:r>
              <a:rPr sz="1800" b="0" i="0">
                <a:solidFill>
                  <a:srgbClr val="183A32"/>
                </a:solidFill>
                <a:latin typeface="Times New Roman"/>
              </a:rPr>
              <a:t>physical development, commercial activity, and</a:t>
            </a:r>
          </a:p>
          <a:p>
            <a:pPr>
              <a:lnSpc>
                <a:spcPts val="2196"/>
              </a:lnSpc>
              <a:spcBef>
                <a:spcPts val="0"/>
              </a:spcBef>
              <a:spcAft>
                <a:spcPts val="0"/>
              </a:spcAft>
            </a:pPr>
            <a:r>
              <a:rPr sz="1800" b="0" i="0">
                <a:solidFill>
                  <a:srgbClr val="183A32"/>
                </a:solidFill>
                <a:latin typeface="Times New Roman"/>
              </a:rPr>
              <a:t>ongoing operations.</a:t>
            </a:r>
          </a:p>
        </p:txBody>
      </p:sp>
      <p:sp>
        <p:nvSpPr>
          <p:cNvPr id="21" name="TextBox 20"/>
          <p:cNvSpPr txBox="1"/>
          <p:nvPr/>
        </p:nvSpPr>
        <p:spPr>
          <a:xfrm>
            <a:off x="6400800" y="382041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Economic tension: A facility may help sell surrounding</a:t>
            </a:r>
          </a:p>
          <a:p>
            <a:pPr>
              <a:lnSpc>
                <a:spcPts val="2196"/>
              </a:lnSpc>
              <a:spcBef>
                <a:spcPts val="0"/>
              </a:spcBef>
              <a:spcAft>
                <a:spcPts val="0"/>
              </a:spcAft>
            </a:pPr>
            <a:r>
              <a:rPr sz="1800" b="0" i="0">
                <a:solidFill>
                  <a:srgbClr val="183A32"/>
                </a:solidFill>
                <a:latin typeface="Times New Roman"/>
              </a:rPr>
              <a:t>property while taking years to achieve attractive</a:t>
            </a:r>
          </a:p>
          <a:p>
            <a:pPr>
              <a:lnSpc>
                <a:spcPts val="2196"/>
              </a:lnSpc>
              <a:spcBef>
                <a:spcPts val="0"/>
              </a:spcBef>
              <a:spcAft>
                <a:spcPts val="0"/>
              </a:spcAft>
            </a:pPr>
            <a:r>
              <a:rPr sz="1800" b="0" i="0">
                <a:solidFill>
                  <a:srgbClr val="183A32"/>
                </a:solidFill>
                <a:latin typeface="Times New Roman"/>
              </a:rPr>
              <a:t>standalone returns.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79–79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Financial performance and profit definitions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Rp8.77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Rp1.20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company owners: Rp767 billion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Rp10.62 trillion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difference between total profit and attributable profit is material. The two figures must not be interchanged in a</a:t>
            </a:r>
          </a:p>
          <a:p>
            <a:pPr>
              <a:lnSpc>
                <a:spcPts val="2196"/>
              </a:lnSpc>
              <a:spcBef>
                <a:spcPts val="0"/>
              </a:spcBef>
              <a:spcAft>
                <a:spcPts val="0"/>
              </a:spcAft>
            </a:pPr>
            <a:r>
              <a:rPr sz="1800" b="0" i="0">
                <a:solidFill>
                  <a:srgbClr val="183A32"/>
                </a:solidFill>
                <a:latin typeface="Times New Roman"/>
              </a:rPr>
              <a:t>peer comparison.</a:t>
            </a:r>
          </a:p>
        </p:txBody>
      </p:sp>
      <p:sp>
        <p:nvSpPr>
          <p:cNvPr id="22" name="TextBox 21"/>
          <p:cNvSpPr txBox="1"/>
          <p:nvPr/>
        </p:nvSpPr>
        <p:spPr>
          <a:xfrm>
            <a:off x="685800" y="531621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Lower annual revenue also demonstrates the importance of development recognition and project timing.</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Summarecon May 2026 presentation — consolidated income statements.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79–80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township-development capabilities</a:t>
            </a:r>
          </a:p>
        </p:txBody>
      </p:sp>
      <p:sp>
        <p:nvSpPr>
          <p:cNvPr id="15" name="TextBox 14"/>
          <p:cNvSpPr txBox="1"/>
          <p:nvPr/>
        </p:nvSpPr>
        <p:spPr>
          <a:xfrm>
            <a:off x="832104" y="2789555"/>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coordinating residential and commercial</a:t>
            </a:r>
          </a:p>
          <a:p>
            <a:pPr>
              <a:lnSpc>
                <a:spcPts val="1769"/>
              </a:lnSpc>
              <a:spcBef>
                <a:spcPts val="0"/>
              </a:spcBef>
              <a:spcAft>
                <a:spcPts val="0"/>
              </a:spcAft>
            </a:pPr>
            <a:r>
              <a:rPr sz="1450" b="0" i="0">
                <a:solidFill>
                  <a:srgbClr val="183A32"/>
                </a:solidFill>
                <a:latin typeface="Arial"/>
              </a:rPr>
              <a:t>functions</a:t>
            </a:r>
          </a:p>
        </p:txBody>
      </p:sp>
      <p:sp>
        <p:nvSpPr>
          <p:cNvPr id="16" name="TextBox 15"/>
          <p:cNvSpPr txBox="1"/>
          <p:nvPr/>
        </p:nvSpPr>
        <p:spPr>
          <a:xfrm>
            <a:off x="832104" y="332574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Recognisable development identity</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Significant spending before township maturity</a:t>
            </a:r>
          </a:p>
        </p:txBody>
      </p:sp>
      <p:sp>
        <p:nvSpPr>
          <p:cNvPr id="20" name="TextBox 19"/>
          <p:cNvSpPr txBox="1"/>
          <p:nvPr/>
        </p:nvSpPr>
        <p:spPr>
          <a:xfrm>
            <a:off x="6336792" y="2789555"/>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Simultaneous projects compete for capital and</a:t>
            </a:r>
          </a:p>
          <a:p>
            <a:pPr>
              <a:lnSpc>
                <a:spcPts val="1769"/>
              </a:lnSpc>
              <a:spcBef>
                <a:spcPts val="0"/>
              </a:spcBef>
              <a:spcAft>
                <a:spcPts val="0"/>
              </a:spcAft>
            </a:pPr>
            <a:r>
              <a:rPr sz="1450" b="0" i="0">
                <a:solidFill>
                  <a:srgbClr val="183A32"/>
                </a:solidFill>
                <a:latin typeface="Arial"/>
              </a:rPr>
              <a:t>management</a:t>
            </a:r>
          </a:p>
        </p:txBody>
      </p:sp>
      <p:sp>
        <p:nvSpPr>
          <p:cNvPr id="21" name="TextBox 20"/>
          <p:cNvSpPr txBox="1"/>
          <p:nvPr/>
        </p:nvSpPr>
        <p:spPr>
          <a:xfrm>
            <a:off x="6336792" y="332574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Annual results remain sensitive to handovers</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Further development within established townships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use of existing commercial infrastructure</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replication in suitable markets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Buyers delaying purchases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Oversupply of similar suburban products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costs and delayed infrastructure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80–81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Lessons for TANRISE</a:t>
            </a:r>
          </a:p>
        </p:txBody>
      </p:sp>
      <p:cxnSp>
        <p:nvCxnSpPr>
          <p:cNvPr id="11" name="Connector 10"/>
          <p:cNvCxnSpPr/>
          <p:nvPr/>
        </p:nvCxnSpPr>
        <p:spPr>
          <a:xfrm>
            <a:off x="6062472" y="2084831"/>
            <a:ext cx="0" cy="3330512"/>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Define what makes each TANRISE location</a:t>
            </a:r>
          </a:p>
          <a:p>
            <a:pPr>
              <a:lnSpc>
                <a:spcPts val="2135"/>
              </a:lnSpc>
              <a:spcBef>
                <a:spcPts val="0"/>
              </a:spcBef>
              <a:spcAft>
                <a:spcPts val="0"/>
              </a:spcAft>
            </a:pPr>
            <a:r>
              <a:rPr sz="1750" b="0" i="0">
                <a:solidFill>
                  <a:srgbClr val="183A32"/>
                </a:solidFill>
                <a:latin typeface="Arial"/>
              </a:rPr>
              <a:t>useful on an ordinary weekday.</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Sequence access, basic services, residential</a:t>
            </a:r>
          </a:p>
          <a:p>
            <a:pPr>
              <a:lnSpc>
                <a:spcPts val="2135"/>
              </a:lnSpc>
              <a:spcBef>
                <a:spcPts val="0"/>
              </a:spcBef>
              <a:spcAft>
                <a:spcPts val="0"/>
              </a:spcAft>
            </a:pPr>
            <a:r>
              <a:rPr sz="1750" b="0" i="0">
                <a:solidFill>
                  <a:srgbClr val="183A32"/>
                </a:solidFill>
                <a:latin typeface="Arial"/>
              </a:rPr>
              <a:t>occupancy, and larger anchors.</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Give estate management a role in the</a:t>
            </a:r>
          </a:p>
          <a:p>
            <a:pPr>
              <a:lnSpc>
                <a:spcPts val="2135"/>
              </a:lnSpc>
              <a:spcBef>
                <a:spcPts val="0"/>
              </a:spcBef>
              <a:spcAft>
                <a:spcPts val="0"/>
              </a:spcAft>
            </a:pPr>
            <a:r>
              <a:rPr sz="1750" b="0" i="0">
                <a:solidFill>
                  <a:srgbClr val="183A32"/>
                </a:solidFill>
                <a:latin typeface="Arial"/>
              </a:rPr>
              <a:t>development strategy.</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Set separate objectives for an anchor’s operating</a:t>
            </a:r>
          </a:p>
          <a:p>
            <a:pPr>
              <a:lnSpc>
                <a:spcPts val="2135"/>
              </a:lnSpc>
              <a:spcBef>
                <a:spcPts val="0"/>
              </a:spcBef>
              <a:spcAft>
                <a:spcPts val="0"/>
              </a:spcAft>
            </a:pPr>
            <a:r>
              <a:rPr sz="1750" b="0" i="0">
                <a:solidFill>
                  <a:srgbClr val="183A32"/>
                </a:solidFill>
                <a:latin typeface="Arial"/>
              </a:rPr>
              <a:t>return and its contribution to surrounding</a:t>
            </a:r>
          </a:p>
          <a:p>
            <a:pPr>
              <a:lnSpc>
                <a:spcPts val="2135"/>
              </a:lnSpc>
              <a:spcBef>
                <a:spcPts val="0"/>
              </a:spcBef>
              <a:spcAft>
                <a:spcPts val="0"/>
              </a:spcAft>
            </a:pPr>
            <a:r>
              <a:rPr sz="1750" b="0" i="0">
                <a:solidFill>
                  <a:srgbClr val="183A32"/>
                </a:solidFill>
                <a:latin typeface="Arial"/>
              </a:rPr>
              <a:t>property.</a:t>
            </a:r>
          </a:p>
        </p:txBody>
      </p:sp>
      <p:sp>
        <p:nvSpPr>
          <p:cNvPr id="21" name="Rectangle 20"/>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smaller facilities to test demand before</a:t>
            </a:r>
          </a:p>
          <a:p>
            <a:pPr>
              <a:lnSpc>
                <a:spcPts val="2135"/>
              </a:lnSpc>
              <a:spcBef>
                <a:spcPts val="0"/>
              </a:spcBef>
              <a:spcAft>
                <a:spcPts val="0"/>
              </a:spcAft>
            </a:pPr>
            <a:r>
              <a:rPr sz="1750" b="0" i="0">
                <a:solidFill>
                  <a:srgbClr val="183A32"/>
                </a:solidFill>
                <a:latin typeface="Arial"/>
              </a:rPr>
              <a:t>committing to major capital expenditure.</a:t>
            </a:r>
          </a:p>
        </p:txBody>
      </p:sp>
      <p:sp>
        <p:nvSpPr>
          <p:cNvPr id="23" name="Rectangle 22"/>
          <p:cNvSpPr/>
          <p:nvPr/>
        </p:nvSpPr>
        <p:spPr>
          <a:xfrm>
            <a:off x="6400800" y="3797172"/>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3797172"/>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3879468"/>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Create an activation and anchor plan for</a:t>
            </a:r>
          </a:p>
          <a:p>
            <a:pPr>
              <a:lnSpc>
                <a:spcPts val="2013"/>
              </a:lnSpc>
              <a:spcBef>
                <a:spcPts val="0"/>
              </a:spcBef>
              <a:spcAft>
                <a:spcPts val="0"/>
              </a:spcAft>
            </a:pPr>
            <a:r>
              <a:rPr sz="1650" b="0" i="0">
                <a:solidFill>
                  <a:srgbClr val="183A32"/>
                </a:solidFill>
                <a:latin typeface="Times New Roman"/>
              </a:rPr>
              <a:t>Sidoarjo, with timing tied to realistic occupancy.</a:t>
            </a:r>
          </a:p>
        </p:txBody>
      </p:sp>
      <p:sp>
        <p:nvSpPr>
          <p:cNvPr id="26" name="Rectangle 25"/>
          <p:cNvSpPr/>
          <p:nvPr/>
        </p:nvSpPr>
        <p:spPr>
          <a:xfrm>
            <a:off x="6400800" y="4623561"/>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462356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4705857"/>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Building a major retail</a:t>
            </a:r>
          </a:p>
          <a:p>
            <a:pPr>
              <a:lnSpc>
                <a:spcPts val="2013"/>
              </a:lnSpc>
              <a:spcBef>
                <a:spcPts val="0"/>
              </a:spcBef>
              <a:spcAft>
                <a:spcPts val="0"/>
              </a:spcAft>
            </a:pPr>
            <a:r>
              <a:rPr sz="1650" b="0" i="0">
                <a:solidFill>
                  <a:srgbClr val="183A32"/>
                </a:solidFill>
                <a:latin typeface="Times New Roman"/>
              </a:rPr>
              <a:t>anchor solely because mature competitors own malls.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R29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81–81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Company background and 5W1H</a:t>
            </a:r>
          </a:p>
        </p:txBody>
      </p:sp>
      <p:cxnSp>
        <p:nvCxnSpPr>
          <p:cNvPr id="11" name="Connector 10"/>
          <p:cNvCxnSpPr/>
          <p:nvPr/>
        </p:nvCxnSpPr>
        <p:spPr>
          <a:xfrm>
            <a:off x="6062472" y="2084831"/>
            <a:ext cx="0" cy="239553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Pakuwon Jati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Mixed-use development with a substantial</a:t>
            </a:r>
          </a:p>
          <a:p>
            <a:pPr>
              <a:lnSpc>
                <a:spcPts val="2135"/>
              </a:lnSpc>
              <a:spcBef>
                <a:spcPts val="0"/>
              </a:spcBef>
              <a:spcAft>
                <a:spcPts val="0"/>
              </a:spcAft>
            </a:pPr>
            <a:r>
              <a:rPr sz="1750" b="0" i="0">
                <a:solidFill>
                  <a:srgbClr val="183A32"/>
                </a:solidFill>
                <a:latin typeface="Arial"/>
              </a:rPr>
              <a:t>retained commercial-property platform.</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Originated in Surabaya and subsequently</a:t>
            </a:r>
          </a:p>
          <a:p>
            <a:pPr>
              <a:lnSpc>
                <a:spcPts val="2135"/>
              </a:lnSpc>
              <a:spcBef>
                <a:spcPts val="0"/>
              </a:spcBef>
              <a:spcAft>
                <a:spcPts val="0"/>
              </a:spcAft>
            </a:pPr>
            <a:r>
              <a:rPr sz="1750" b="0" i="0">
                <a:solidFill>
                  <a:srgbClr val="183A32"/>
                </a:solidFill>
                <a:latin typeface="Arial"/>
              </a:rPr>
              <a:t>expanded, including into Jakarta.</a:t>
            </a:r>
          </a:p>
        </p:txBody>
      </p:sp>
      <p:sp>
        <p:nvSpPr>
          <p:cNvPr id="18" name="Rectangle 17"/>
          <p:cNvSpPr/>
          <p:nvPr/>
        </p:nvSpPr>
        <p:spPr>
          <a:xfrm>
            <a:off x="685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7548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1982; listed in 1989.</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Alexander Tedja and the</a:t>
            </a:r>
          </a:p>
          <a:p>
            <a:pPr>
              <a:lnSpc>
                <a:spcPts val="2135"/>
              </a:lnSpc>
              <a:spcBef>
                <a:spcPts val="0"/>
              </a:spcBef>
              <a:spcAft>
                <a:spcPts val="0"/>
              </a:spcAft>
            </a:pPr>
            <a:r>
              <a:rPr sz="1750" b="0" i="0">
                <a:solidFill>
                  <a:srgbClr val="183A32"/>
                </a:solidFill>
                <a:latin typeface="Arial"/>
              </a:rPr>
              <a:t>founding business-family legacy.</a:t>
            </a:r>
          </a:p>
        </p:txBody>
      </p:sp>
      <p:sp>
        <p:nvSpPr>
          <p:cNvPr id="22" name="Rectangle 21"/>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Combine</a:t>
            </a:r>
          </a:p>
          <a:p>
            <a:pPr>
              <a:lnSpc>
                <a:spcPts val="2135"/>
              </a:lnSpc>
              <a:spcBef>
                <a:spcPts val="0"/>
              </a:spcBef>
              <a:spcAft>
                <a:spcPts val="0"/>
              </a:spcAft>
            </a:pPr>
            <a:r>
              <a:rPr sz="1750" b="0" i="0">
                <a:solidFill>
                  <a:srgbClr val="183A32"/>
                </a:solidFill>
                <a:latin typeface="Arial"/>
              </a:rPr>
              <a:t>retained assets that generate recurring income</a:t>
            </a:r>
          </a:p>
          <a:p>
            <a:pPr>
              <a:lnSpc>
                <a:spcPts val="2135"/>
              </a:lnSpc>
              <a:spcBef>
                <a:spcPts val="0"/>
              </a:spcBef>
              <a:spcAft>
                <a:spcPts val="0"/>
              </a:spcAft>
            </a:pPr>
            <a:r>
              <a:rPr sz="1750" b="0" i="0">
                <a:solidFill>
                  <a:srgbClr val="183A32"/>
                </a:solidFill>
                <a:latin typeface="Arial"/>
              </a:rPr>
              <a:t>with property development and sales.</a:t>
            </a:r>
          </a:p>
        </p:txBody>
      </p:sp>
      <p:sp>
        <p:nvSpPr>
          <p:cNvPr id="24" name="TextBox 23"/>
          <p:cNvSpPr txBox="1"/>
          <p:nvPr/>
        </p:nvSpPr>
        <p:spPr>
          <a:xfrm>
            <a:off x="6400800" y="3797173"/>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Relevant projects: Tunjungan City, Pakuwon Mall,</a:t>
            </a:r>
          </a:p>
          <a:p>
            <a:pPr>
              <a:lnSpc>
                <a:spcPts val="2196"/>
              </a:lnSpc>
              <a:spcBef>
                <a:spcPts val="0"/>
              </a:spcBef>
              <a:spcAft>
                <a:spcPts val="0"/>
              </a:spcAft>
            </a:pPr>
            <a:r>
              <a:rPr sz="1800" b="0" i="0">
                <a:solidFill>
                  <a:srgbClr val="183A32"/>
                </a:solidFill>
                <a:latin typeface="Times New Roman"/>
              </a:rPr>
              <a:t>Gandaria City, and Kota Kasablanka.</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and portfolio, 2025 annual report.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Milestones in building recurring income</a:t>
            </a:r>
          </a:p>
        </p:txBody>
      </p:sp>
      <p:graphicFrame>
        <p:nvGraphicFramePr>
          <p:cNvPr id="11" name="Table 10"/>
          <p:cNvGraphicFramePr>
            <a:graphicFrameLocks noGrp="1"/>
          </p:cNvGraphicFramePr>
          <p:nvPr/>
        </p:nvGraphicFramePr>
        <p:xfrm>
          <a:off x="685800" y="2084831"/>
          <a:ext cx="10789919" cy="3034150"/>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Strategic meaning</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1982</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Company established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Beginning of the platform</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1986</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Tunjungan Plaza 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Foundational retained retail asset</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1989</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Broader capital access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2007</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Entry into Jakarta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Geographic expansion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Gandaria City opened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Replication of mixed-use development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2012</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Kota Kasablanka opened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Further expansion of retained commercial income</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532930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REVENUE APPROXIMATELY RP7.11</a:t>
            </a:r>
          </a:p>
        </p:txBody>
      </p:sp>
      <p:sp>
        <p:nvSpPr>
          <p:cNvPr id="13" name="TextBox 1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 company history.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trillion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SCALE SUPPORTED BY RECURRING OPERATIONS</a:t>
            </a:r>
          </a:p>
        </p:txBody>
      </p:sp>
      <p:sp>
        <p:nvSpPr>
          <p:cNvPr id="12" name="TextBox 11"/>
          <p:cNvSpPr txBox="1"/>
          <p:nvPr/>
        </p:nvSpPr>
        <p:spPr>
          <a:xfrm>
            <a:off x="685800" y="2433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Retained assets became a cumulative income base, rather than being replaced each year</a:t>
            </a:r>
          </a:p>
          <a:p>
            <a:pPr>
              <a:lnSpc>
                <a:spcPts val="2196"/>
              </a:lnSpc>
              <a:spcBef>
                <a:spcPts val="0"/>
              </a:spcBef>
              <a:spcAft>
                <a:spcPts val="0"/>
              </a:spcAft>
            </a:pPr>
            <a:r>
              <a:rPr sz="1800" b="0" i="0">
                <a:solidFill>
                  <a:srgbClr val="183A32"/>
                </a:solidFill>
                <a:latin typeface="Times New Roman"/>
              </a:rPr>
              <a:t>through new sales.</a:t>
            </a:r>
          </a:p>
        </p:txBody>
      </p:sp>
      <p:sp>
        <p:nvSpPr>
          <p:cNvPr id="13" name="TextBox 1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 company history.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Retain selected commercial assets.</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 an attractive tenant mix and visitor proposition.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Maintain and improve the operating assets.</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adjacent residential, hotel, and office functions where commercially justified.</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Add further phases or locations when demand and funding support them.</a:t>
            </a:r>
          </a:p>
        </p:txBody>
      </p:sp>
      <p:sp>
        <p:nvSpPr>
          <p:cNvPr id="22" name="TextBox 21"/>
          <p:cNvSpPr txBox="1"/>
          <p:nvPr/>
        </p:nvSpPr>
        <p:spPr>
          <a:xfrm>
            <a:off x="685800" y="468083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An operating asset can generate income repeatedly, reducing reliance on new development</a:t>
            </a:r>
          </a:p>
          <a:p>
            <a:pPr>
              <a:lnSpc>
                <a:spcPts val="2196"/>
              </a:lnSpc>
              <a:spcBef>
                <a:spcPts val="0"/>
              </a:spcBef>
              <a:spcAft>
                <a:spcPts val="0"/>
              </a:spcAft>
            </a:pPr>
            <a:r>
              <a:rPr sz="1800" b="0" i="0">
                <a:solidFill>
                  <a:srgbClr val="183A32"/>
                </a:solidFill>
                <a:latin typeface="Times New Roman"/>
              </a:rPr>
              <a:t>handovers.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82–83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Trade-off: Retention ties up capital and creates continuing leasing, maintenance, refurbishment, and operating</a:t>
            </a:r>
          </a:p>
          <a:p>
            <a:pPr>
              <a:lnSpc>
                <a:spcPts val="2196"/>
              </a:lnSpc>
              <a:spcBef>
                <a:spcPts val="0"/>
              </a:spcBef>
              <a:spcAft>
                <a:spcPts val="0"/>
              </a:spcAft>
            </a:pPr>
            <a:r>
              <a:rPr sz="1800" b="0" i="0">
                <a:solidFill>
                  <a:srgbClr val="183A32"/>
                </a:solidFill>
                <a:latin typeface="Times New Roman"/>
              </a:rPr>
              <a:t>obligations.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83–83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199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Financial evidence of the model</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Rp7.11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Recurring revenue: approximately Rp5.62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Recurring share of revenue: approximately 79%</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Rp2.35 trillion</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approximately Rp2.76 trillion</a:t>
            </a:r>
          </a:p>
        </p:txBody>
      </p:sp>
      <p:sp>
        <p:nvSpPr>
          <p:cNvPr id="22" name="TextBox 21"/>
          <p:cNvSpPr txBox="1"/>
          <p:nvPr/>
        </p:nvSpPr>
        <p:spPr>
          <a:xfrm>
            <a:off x="685800" y="470827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3" name="TextBox 22"/>
          <p:cNvSpPr txBox="1"/>
          <p:nvPr/>
        </p:nvSpPr>
        <p:spPr>
          <a:xfrm>
            <a:off x="685800" y="502958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Pakuwon provides a useful example of a large recurring-income base. This is different from assuming that any hotel</a:t>
            </a:r>
          </a:p>
          <a:p>
            <a:pPr>
              <a:lnSpc>
                <a:spcPts val="2196"/>
              </a:lnSpc>
              <a:spcBef>
                <a:spcPts val="0"/>
              </a:spcBef>
              <a:spcAft>
                <a:spcPts val="0"/>
              </a:spcAft>
            </a:pPr>
            <a:r>
              <a:rPr sz="1800" b="0" i="0">
                <a:solidFill>
                  <a:srgbClr val="183A32"/>
                </a:solidFill>
                <a:latin typeface="Times New Roman"/>
              </a:rPr>
              <a:t>or commercial asset will deliver the same economics.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Pakuwon 2025 annual report — financial highlights and segment discussion.</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83–84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Significant recurring-income platform</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in retail operations and mixed-use development</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destination assets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Large amount of capital retained in physical assets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Continuing refurbishment and operating expenditure</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Exposure to retail and consumer activity</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Improving productivity of existing space</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extensions and redevelopment</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Replication where demand is established</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Weaker tenant trading and household spending</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competing destinations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costs, operating-cost inflation, and execution risk</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84–85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Build recurring income only where there is</a:t>
            </a:r>
          </a:p>
          <a:p>
            <a:pPr>
              <a:lnSpc>
                <a:spcPts val="2135"/>
              </a:lnSpc>
              <a:spcBef>
                <a:spcPts val="0"/>
              </a:spcBef>
              <a:spcAft>
                <a:spcPts val="0"/>
              </a:spcAft>
            </a:pPr>
            <a:r>
              <a:rPr sz="1750" b="0" i="0">
                <a:solidFill>
                  <a:srgbClr val="183A32"/>
                </a:solidFill>
                <a:latin typeface="Arial"/>
              </a:rPr>
              <a:t>demonstrable demand and operating capability.</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Measure cash contribution after maintenance and</a:t>
            </a:r>
          </a:p>
          <a:p>
            <a:pPr>
              <a:lnSpc>
                <a:spcPts val="2135"/>
              </a:lnSpc>
              <a:spcBef>
                <a:spcPts val="0"/>
              </a:spcBef>
              <a:spcAft>
                <a:spcPts val="0"/>
              </a:spcAft>
            </a:pPr>
            <a:r>
              <a:rPr sz="1750" b="0" i="0">
                <a:solidFill>
                  <a:srgbClr val="183A32"/>
                </a:solidFill>
                <a:latin typeface="Arial"/>
              </a:rPr>
              <a:t>necessary reinvestment.</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Separate an attractive building from an attractive</a:t>
            </a:r>
          </a:p>
          <a:p>
            <a:pPr>
              <a:lnSpc>
                <a:spcPts val="2135"/>
              </a:lnSpc>
              <a:spcBef>
                <a:spcPts val="0"/>
              </a:spcBef>
              <a:spcAft>
                <a:spcPts val="0"/>
              </a:spcAft>
            </a:pPr>
            <a:r>
              <a:rPr sz="1750" b="0" i="0">
                <a:solidFill>
                  <a:srgbClr val="183A32"/>
                </a:solidFill>
                <a:latin typeface="Arial"/>
              </a:rPr>
              <a:t>investment.</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the productivity of existing retained</a:t>
            </a:r>
          </a:p>
          <a:p>
            <a:pPr>
              <a:lnSpc>
                <a:spcPts val="2135"/>
              </a:lnSpc>
              <a:spcBef>
                <a:spcPts val="0"/>
              </a:spcBef>
              <a:spcAft>
                <a:spcPts val="0"/>
              </a:spcAft>
            </a:pPr>
            <a:r>
              <a:rPr sz="1750" b="0" i="0">
                <a:solidFill>
                  <a:srgbClr val="183A32"/>
                </a:solidFill>
                <a:latin typeface="Arial"/>
              </a:rPr>
              <a:t>assets before expanding the category.</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specialist operators where they improve</a:t>
            </a:r>
          </a:p>
          <a:p>
            <a:pPr>
              <a:lnSpc>
                <a:spcPts val="2135"/>
              </a:lnSpc>
              <a:spcBef>
                <a:spcPts val="0"/>
              </a:spcBef>
              <a:spcAft>
                <a:spcPts val="0"/>
              </a:spcAft>
            </a:pPr>
            <a:r>
              <a:rPr sz="1750" b="0" i="0">
                <a:solidFill>
                  <a:srgbClr val="183A32"/>
                </a:solidFill>
                <a:latin typeface="Arial"/>
              </a:rPr>
              <a:t>outcomes under clear contracts.</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Review TANRISE’s retained assets by</a:t>
            </a:r>
          </a:p>
          <a:p>
            <a:pPr>
              <a:lnSpc>
                <a:spcPts val="2013"/>
              </a:lnSpc>
              <a:spcBef>
                <a:spcPts val="0"/>
              </a:spcBef>
              <a:spcAft>
                <a:spcPts val="0"/>
              </a:spcAft>
            </a:pPr>
            <a:r>
              <a:rPr sz="1650" b="0" i="0">
                <a:solidFill>
                  <a:srgbClr val="183A32"/>
                </a:solidFill>
                <a:latin typeface="Times New Roman"/>
              </a:rPr>
              <a:t>occupancy, cash contribution, required capital</a:t>
            </a:r>
          </a:p>
          <a:p>
            <a:pPr>
              <a:lnSpc>
                <a:spcPts val="2013"/>
              </a:lnSpc>
              <a:spcBef>
                <a:spcPts val="0"/>
              </a:spcBef>
              <a:spcAft>
                <a:spcPts val="0"/>
              </a:spcAft>
            </a:pPr>
            <a:r>
              <a:rPr sz="1650" b="0" i="0">
                <a:solidFill>
                  <a:srgbClr val="183A32"/>
                </a:solidFill>
                <a:latin typeface="Times New Roman"/>
              </a:rPr>
              <a:t>expenditure, and return on invested capital.</a:t>
            </a:r>
          </a:p>
        </p:txBody>
      </p:sp>
      <p:sp>
        <p:nvSpPr>
          <p:cNvPr id="26" name="Rectangle 25"/>
          <p:cNvSpPr/>
          <p:nvPr/>
        </p:nvSpPr>
        <p:spPr>
          <a:xfrm>
            <a:off x="6400800" y="3889565"/>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Attempting to build a</a:t>
            </a:r>
          </a:p>
          <a:p>
            <a:pPr>
              <a:lnSpc>
                <a:spcPts val="2013"/>
              </a:lnSpc>
              <a:spcBef>
                <a:spcPts val="0"/>
              </a:spcBef>
              <a:spcAft>
                <a:spcPts val="0"/>
              </a:spcAft>
            </a:pPr>
            <a:r>
              <a:rPr sz="1650" b="0" i="0">
                <a:solidFill>
                  <a:srgbClr val="183A32"/>
                </a:solidFill>
                <a:latin typeface="Times New Roman"/>
              </a:rPr>
              <a:t>Pakuwon-sized retail portfolio.</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85–85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Company background and 5W1H</a:t>
            </a:r>
          </a:p>
        </p:txBody>
      </p:sp>
      <p:cxnSp>
        <p:nvCxnSpPr>
          <p:cNvPr id="11" name="Connector 10"/>
          <p:cNvCxnSpPr/>
          <p:nvPr/>
        </p:nvCxnSpPr>
        <p:spPr>
          <a:xfrm>
            <a:off x="6062472" y="2084831"/>
            <a:ext cx="0" cy="308210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Agung Podomoro Land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Residential and mixed-use development,</a:t>
            </a:r>
          </a:p>
          <a:p>
            <a:pPr>
              <a:lnSpc>
                <a:spcPts val="2135"/>
              </a:lnSpc>
              <a:spcBef>
                <a:spcPts val="0"/>
              </a:spcBef>
              <a:spcAft>
                <a:spcPts val="0"/>
              </a:spcAft>
            </a:pPr>
            <a:r>
              <a:rPr sz="1750" b="0" i="0">
                <a:solidFill>
                  <a:srgbClr val="183A32"/>
                </a:solidFill>
                <a:latin typeface="Arial"/>
              </a:rPr>
              <a:t>with development sales and selected recurring</a:t>
            </a:r>
          </a:p>
          <a:p>
            <a:pPr>
              <a:lnSpc>
                <a:spcPts val="2135"/>
              </a:lnSpc>
              <a:spcBef>
                <a:spcPts val="0"/>
              </a:spcBef>
              <a:spcAft>
                <a:spcPts val="0"/>
              </a:spcAft>
            </a:pPr>
            <a:r>
              <a:rPr sz="1750" b="0" i="0">
                <a:solidFill>
                  <a:srgbClr val="183A32"/>
                </a:solidFill>
                <a:latin typeface="Arial"/>
              </a:rPr>
              <a:t>assets.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A portfolio extending beyond its original</a:t>
            </a:r>
          </a:p>
          <a:p>
            <a:pPr>
              <a:lnSpc>
                <a:spcPts val="2135"/>
              </a:lnSpc>
              <a:spcBef>
                <a:spcPts val="0"/>
              </a:spcBef>
              <a:spcAft>
                <a:spcPts val="0"/>
              </a:spcAft>
            </a:pPr>
            <a:r>
              <a:rPr sz="1750" b="0" i="0">
                <a:solidFill>
                  <a:srgbClr val="183A32"/>
                </a:solidFill>
                <a:latin typeface="Arial"/>
              </a:rPr>
              <a:t>Jakarta base.</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The group traces its origins to 1969; the</a:t>
            </a:r>
          </a:p>
          <a:p>
            <a:pPr>
              <a:lnSpc>
                <a:spcPts val="2135"/>
              </a:lnSpc>
              <a:spcBef>
                <a:spcPts val="0"/>
              </a:spcBef>
              <a:spcAft>
                <a:spcPts val="0"/>
              </a:spcAft>
            </a:pPr>
            <a:r>
              <a:rPr sz="1750" b="0" i="0">
                <a:solidFill>
                  <a:srgbClr val="183A32"/>
                </a:solidFill>
                <a:latin typeface="Arial"/>
              </a:rPr>
              <a:t>listed issuer was established in 2004 and listed in</a:t>
            </a:r>
          </a:p>
          <a:p>
            <a:pPr>
              <a:lnSpc>
                <a:spcPts val="2135"/>
              </a:lnSpc>
              <a:spcBef>
                <a:spcPts val="0"/>
              </a:spcBef>
              <a:spcAft>
                <a:spcPts val="0"/>
              </a:spcAft>
            </a:pPr>
            <a:r>
              <a:rPr sz="1750" b="0" i="0">
                <a:solidFill>
                  <a:srgbClr val="183A32"/>
                </a:solidFill>
                <a:latin typeface="Arial"/>
              </a:rPr>
              <a:t>2010.</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Group founder Anton Haliman</a:t>
            </a:r>
          </a:p>
          <a:p>
            <a:pPr>
              <a:lnSpc>
                <a:spcPts val="2135"/>
              </a:lnSpc>
              <a:spcBef>
                <a:spcPts val="0"/>
              </a:spcBef>
              <a:spcAft>
                <a:spcPts val="0"/>
              </a:spcAft>
            </a:pPr>
            <a:r>
              <a:rPr sz="1750" b="0" i="0">
                <a:solidFill>
                  <a:srgbClr val="183A32"/>
                </a:solidFill>
                <a:latin typeface="Arial"/>
              </a:rPr>
              <a:t>and subsequent leadership associated with</a:t>
            </a:r>
          </a:p>
          <a:p>
            <a:pPr>
              <a:lnSpc>
                <a:spcPts val="2135"/>
              </a:lnSpc>
              <a:spcBef>
                <a:spcPts val="0"/>
              </a:spcBef>
              <a:spcAft>
                <a:spcPts val="0"/>
              </a:spcAft>
            </a:pPr>
            <a:r>
              <a:rPr sz="1750" b="0" i="0">
                <a:solidFill>
                  <a:srgbClr val="183A32"/>
                </a:solidFill>
                <a:latin typeface="Arial"/>
              </a:rPr>
              <a:t>Trihatma Kusuma Haliman.</a:t>
            </a:r>
          </a:p>
        </p:txBody>
      </p:sp>
      <p:sp>
        <p:nvSpPr>
          <p:cNvPr id="22" name="Rectangle 21"/>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076574"/>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Combine</a:t>
            </a:r>
          </a:p>
          <a:p>
            <a:pPr>
              <a:lnSpc>
                <a:spcPts val="2135"/>
              </a:lnSpc>
              <a:spcBef>
                <a:spcPts val="0"/>
              </a:spcBef>
              <a:spcAft>
                <a:spcPts val="0"/>
              </a:spcAft>
            </a:pPr>
            <a:r>
              <a:rPr sz="1750" b="0" i="0">
                <a:solidFill>
                  <a:srgbClr val="183A32"/>
                </a:solidFill>
                <a:latin typeface="Arial"/>
              </a:rPr>
              <a:t>multiple uses within developments, supported by</a:t>
            </a:r>
          </a:p>
          <a:p>
            <a:pPr>
              <a:lnSpc>
                <a:spcPts val="2135"/>
              </a:lnSpc>
              <a:spcBef>
                <a:spcPts val="0"/>
              </a:spcBef>
              <a:spcAft>
                <a:spcPts val="0"/>
              </a:spcAft>
            </a:pPr>
            <a:r>
              <a:rPr sz="1750" b="0" i="0">
                <a:solidFill>
                  <a:srgbClr val="183A32"/>
                </a:solidFill>
                <a:latin typeface="Arial"/>
              </a:rPr>
              <a:t>development execution and selective retention of</a:t>
            </a:r>
          </a:p>
          <a:p>
            <a:pPr>
              <a:lnSpc>
                <a:spcPts val="2135"/>
              </a:lnSpc>
              <a:spcBef>
                <a:spcPts val="0"/>
              </a:spcBef>
              <a:spcAft>
                <a:spcPts val="0"/>
              </a:spcAft>
            </a:pPr>
            <a:r>
              <a:rPr sz="1750" b="0" i="0">
                <a:solidFill>
                  <a:srgbClr val="183A32"/>
                </a:solidFill>
                <a:latin typeface="Arial"/>
              </a:rPr>
              <a:t>operating assets.</a:t>
            </a:r>
          </a:p>
        </p:txBody>
      </p:sp>
      <p:sp>
        <p:nvSpPr>
          <p:cNvPr id="24" name="TextBox 23"/>
          <p:cNvSpPr txBox="1"/>
          <p:nvPr/>
        </p:nvSpPr>
        <p:spPr>
          <a:xfrm>
            <a:off x="6400800" y="4339463"/>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Key distinction: Group heritage is older than the listed</a:t>
            </a:r>
          </a:p>
          <a:p>
            <a:pPr>
              <a:lnSpc>
                <a:spcPts val="2196"/>
              </a:lnSpc>
              <a:spcBef>
                <a:spcPts val="0"/>
              </a:spcBef>
              <a:spcAft>
                <a:spcPts val="0"/>
              </a:spcAft>
            </a:pPr>
            <a:r>
              <a:rPr sz="1800" b="0" i="0">
                <a:solidFill>
                  <a:srgbClr val="183A32"/>
                </a:solidFill>
                <a:latin typeface="Times New Roman"/>
              </a:rPr>
              <a:t>company.</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Group history, issuer overview.</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85–86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Milestones and changing emphasis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1969: Agung Podomoro Group established.</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1973: Early Simprug completion and Sunter development.</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1986: Leadership transition to Trihatma Kusuma Haliman.</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2004: Establishment of the entity that became APLN.</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2010: Asset consolidation and stock-market listing.</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period: Expansion through urban mixed-use and residential projects.</a:t>
            </a:r>
          </a:p>
        </p:txBody>
      </p:sp>
      <p:sp>
        <p:nvSpPr>
          <p:cNvPr id="23" name="Rectangle 22"/>
          <p:cNvSpPr/>
          <p:nvPr/>
        </p:nvSpPr>
        <p:spPr>
          <a:xfrm>
            <a:off x="685800" y="48729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7815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Recent period: Greater importance of asset monetisation, funding discipline, and selective development.</a:t>
            </a:r>
          </a:p>
        </p:txBody>
      </p:sp>
      <p:sp>
        <p:nvSpPr>
          <p:cNvPr id="25" name="TextBox 24"/>
          <p:cNvSpPr txBox="1"/>
          <p:nvPr/>
        </p:nvSpPr>
        <p:spPr>
          <a:xfrm>
            <a:off x="685800" y="523100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Large accumulated portfolios create both opportunities and capital-management obligations.</a:t>
            </a:r>
          </a:p>
        </p:txBody>
      </p:sp>
      <p:sp>
        <p:nvSpPr>
          <p:cNvPr id="26" name="TextBox 25"/>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history, 2025 annual report.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How the model creates value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mixed-use project can combine:</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Units sold to customers.</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Retained space that produces operating income.</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Shared access, infrastructure, and public areas.</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activity that supports surrounding property.</a:t>
            </a:r>
          </a:p>
        </p:txBody>
      </p:sp>
      <p:sp>
        <p:nvSpPr>
          <p:cNvPr id="21" name="TextBox 20"/>
          <p:cNvSpPr txBox="1"/>
          <p:nvPr/>
        </p:nvSpPr>
        <p:spPr>
          <a:xfrm>
            <a:off x="685800" y="468858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Potential advantage: Several uses can reinforce one another within a relatively concentrated site.</a:t>
            </a:r>
          </a:p>
        </p:txBody>
      </p:sp>
      <p:sp>
        <p:nvSpPr>
          <p:cNvPr id="22" name="TextBox 21"/>
          <p:cNvSpPr txBox="1"/>
          <p:nvPr/>
        </p:nvSpPr>
        <p:spPr>
          <a:xfrm>
            <a:off x="685800" y="514578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Potential weakness: Complex projects increase construction, leasing, phasing, financing, and governance</a:t>
            </a:r>
          </a:p>
          <a:p>
            <a:pPr>
              <a:lnSpc>
                <a:spcPts val="2196"/>
              </a:lnSpc>
              <a:spcBef>
                <a:spcPts val="0"/>
              </a:spcBef>
              <a:spcAft>
                <a:spcPts val="0"/>
              </a:spcAft>
            </a:pPr>
            <a:r>
              <a:rPr sz="1800" b="0" i="0">
                <a:solidFill>
                  <a:srgbClr val="183A32"/>
                </a:solidFill>
                <a:latin typeface="Times New Roman"/>
              </a:rPr>
              <a:t>requirements.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How the model creates value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distinction: Selling a completed operating asset can release capital, but it may also reduce future recurring</a:t>
            </a:r>
          </a:p>
          <a:p>
            <a:pPr>
              <a:lnSpc>
                <a:spcPts val="2196"/>
              </a:lnSpc>
              <a:spcBef>
                <a:spcPts val="0"/>
              </a:spcBef>
              <a:spcAft>
                <a:spcPts val="0"/>
              </a:spcAft>
            </a:pPr>
            <a:r>
              <a:rPr sz="1800" b="0" i="0">
                <a:solidFill>
                  <a:srgbClr val="183A32"/>
                </a:solidFill>
                <a:latin typeface="Times New Roman"/>
              </a:rPr>
              <a:t>income.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Financial scale and variability</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Rp3.57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Rp5.58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Recurring revenue: approximately Rp1.36 trillion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 Rp113 billion</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approximately Rp239 billion</a:t>
            </a:r>
          </a:p>
        </p:txBody>
      </p:sp>
      <p:sp>
        <p:nvSpPr>
          <p:cNvPr id="22" name="TextBox 21"/>
          <p:cNvSpPr txBox="1"/>
          <p:nvPr/>
        </p:nvSpPr>
        <p:spPr>
          <a:xfrm>
            <a:off x="685800" y="470827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3" name="TextBox 22"/>
          <p:cNvSpPr txBox="1"/>
          <p:nvPr/>
        </p:nvSpPr>
        <p:spPr>
          <a:xfrm>
            <a:off x="685800" y="502958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sizeable physical portfolio does not automatically produce high attributable earnings.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APLN 2025 annual report — financial highlights and operating review.</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86–87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Financial scale and variability</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year-to-year decline requires examination of handovers, asset disposals, financing, and operating mix—not a</a:t>
            </a:r>
          </a:p>
          <a:p>
            <a:pPr>
              <a:lnSpc>
                <a:spcPts val="2196"/>
              </a:lnSpc>
              <a:spcBef>
                <a:spcPts val="0"/>
              </a:spcBef>
              <a:spcAft>
                <a:spcPts val="0"/>
              </a:spcAft>
            </a:pPr>
            <a:r>
              <a:rPr sz="1800" b="0" i="0">
                <a:solidFill>
                  <a:srgbClr val="183A32"/>
                </a:solidFill>
                <a:latin typeface="Times New Roman"/>
              </a:rPr>
              <a:t>conclusion that the brand alone weakened.</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APLN 2025 annual report — financial highlights and operating review.</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R39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87–88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Mixed-use development experience</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Recognisable projects and accumulated assets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Ability to combine sale and retained components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Complex development and financing requirements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Asset monetisation may reduce future operating income</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Portfolio size can exceed available capital or management</a:t>
            </a:r>
          </a:p>
          <a:p>
            <a:pPr>
              <a:lnSpc>
                <a:spcPts val="1769"/>
              </a:lnSpc>
              <a:spcBef>
                <a:spcPts val="0"/>
              </a:spcBef>
              <a:spcAft>
                <a:spcPts val="0"/>
              </a:spcAft>
            </a:pPr>
            <a:r>
              <a:rPr sz="1450" b="0" i="0">
                <a:solidFill>
                  <a:srgbClr val="183A32"/>
                </a:solidFill>
                <a:latin typeface="Arial"/>
              </a:rPr>
              <a:t>capacity</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focused allocation of capital</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Partnerships and asset recycling</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growth in suitable residential locations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Slow absorption of high-rise inventory</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Refinancing and construction-cost pressures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Retail, office, or residential oversupply in individual markets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88–88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209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Land: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Give every major development a complete</a:t>
            </a:r>
          </a:p>
          <a:p>
            <a:pPr>
              <a:lnSpc>
                <a:spcPts val="2135"/>
              </a:lnSpc>
              <a:spcBef>
                <a:spcPts val="0"/>
              </a:spcBef>
              <a:spcAft>
                <a:spcPts val="0"/>
              </a:spcAft>
            </a:pPr>
            <a:r>
              <a:rPr sz="1750" b="0" i="0">
                <a:solidFill>
                  <a:srgbClr val="183A32"/>
                </a:solidFill>
                <a:latin typeface="Arial"/>
              </a:rPr>
              <a:t>funding plan.</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retained components separately from</a:t>
            </a:r>
          </a:p>
          <a:p>
            <a:pPr>
              <a:lnSpc>
                <a:spcPts val="2135"/>
              </a:lnSpc>
              <a:spcBef>
                <a:spcPts val="0"/>
              </a:spcBef>
              <a:spcAft>
                <a:spcPts val="0"/>
              </a:spcAft>
            </a:pPr>
            <a:r>
              <a:rPr sz="1750" b="0" i="0">
                <a:solidFill>
                  <a:srgbClr val="183A32"/>
                </a:solidFill>
                <a:latin typeface="Arial"/>
              </a:rPr>
              <a:t>saleable inventory.</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Track capital tied up in completed but</a:t>
            </a:r>
          </a:p>
          <a:p>
            <a:pPr>
              <a:lnSpc>
                <a:spcPts val="2135"/>
              </a:lnSpc>
              <a:spcBef>
                <a:spcPts val="0"/>
              </a:spcBef>
              <a:spcAft>
                <a:spcPts val="0"/>
              </a:spcAft>
            </a:pPr>
            <a:r>
              <a:rPr sz="1750" b="0" i="0">
                <a:solidFill>
                  <a:srgbClr val="183A32"/>
                </a:solidFill>
                <a:latin typeface="Arial"/>
              </a:rPr>
              <a:t>unproductive assets.</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Use partnerships or asset recycling where they</a:t>
            </a:r>
          </a:p>
          <a:p>
            <a:pPr>
              <a:lnSpc>
                <a:spcPts val="2135"/>
              </a:lnSpc>
              <a:spcBef>
                <a:spcPts val="0"/>
              </a:spcBef>
              <a:spcAft>
                <a:spcPts val="0"/>
              </a:spcAft>
            </a:pPr>
            <a:r>
              <a:rPr sz="1750" b="0" i="0">
                <a:solidFill>
                  <a:srgbClr val="183A32"/>
                </a:solidFill>
                <a:latin typeface="Arial"/>
              </a:rPr>
              <a:t>improve returns.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Match portfolio complexity to management</a:t>
            </a:r>
          </a:p>
          <a:p>
            <a:pPr>
              <a:lnSpc>
                <a:spcPts val="2135"/>
              </a:lnSpc>
              <a:spcBef>
                <a:spcPts val="0"/>
              </a:spcBef>
              <a:spcAft>
                <a:spcPts val="0"/>
              </a:spcAft>
            </a:pPr>
            <a:r>
              <a:rPr sz="1750" b="0" i="0">
                <a:solidFill>
                  <a:srgbClr val="183A32"/>
                </a:solidFill>
                <a:latin typeface="Arial"/>
              </a:rPr>
              <a:t>capacity.</a:t>
            </a:r>
          </a:p>
        </p:txBody>
      </p:sp>
      <p:sp>
        <p:nvSpPr>
          <p:cNvPr id="23" name="Rectangle 22"/>
          <p:cNvSpPr/>
          <p:nvPr/>
        </p:nvSpPr>
        <p:spPr>
          <a:xfrm>
            <a:off x="6400800" y="2805430"/>
            <a:ext cx="5074920" cy="1250441"/>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1250441"/>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108203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Establish a capital-productivity review for</a:t>
            </a:r>
          </a:p>
          <a:p>
            <a:pPr>
              <a:lnSpc>
                <a:spcPts val="2013"/>
              </a:lnSpc>
              <a:spcBef>
                <a:spcPts val="0"/>
              </a:spcBef>
              <a:spcAft>
                <a:spcPts val="0"/>
              </a:spcAft>
            </a:pPr>
            <a:r>
              <a:rPr sz="1650" b="0" i="0">
                <a:solidFill>
                  <a:srgbClr val="183A32"/>
                </a:solidFill>
                <a:latin typeface="Times New Roman"/>
              </a:rPr>
              <a:t>Voza Tower and other material inventory or retained</a:t>
            </a:r>
          </a:p>
          <a:p>
            <a:pPr>
              <a:lnSpc>
                <a:spcPts val="2013"/>
              </a:lnSpc>
              <a:spcBef>
                <a:spcPts val="0"/>
              </a:spcBef>
              <a:spcAft>
                <a:spcPts val="0"/>
              </a:spcAft>
            </a:pPr>
            <a:r>
              <a:rPr sz="1650" b="0" i="0">
                <a:solidFill>
                  <a:srgbClr val="183A32"/>
                </a:solidFill>
                <a:latin typeface="Times New Roman"/>
              </a:rPr>
              <a:t>assets, using client-confirmed ownership and operating</a:t>
            </a:r>
          </a:p>
          <a:p>
            <a:pPr>
              <a:lnSpc>
                <a:spcPts val="2013"/>
              </a:lnSpc>
              <a:spcBef>
                <a:spcPts val="0"/>
              </a:spcBef>
              <a:spcAft>
                <a:spcPts val="0"/>
              </a:spcAft>
            </a:pPr>
            <a:r>
              <a:rPr sz="1650" b="0" i="0">
                <a:solidFill>
                  <a:srgbClr val="183A32"/>
                </a:solidFill>
                <a:latin typeface="Times New Roman"/>
              </a:rPr>
              <a:t>data.</a:t>
            </a:r>
          </a:p>
        </p:txBody>
      </p:sp>
      <p:sp>
        <p:nvSpPr>
          <p:cNvPr id="26" name="Rectangle 25"/>
          <p:cNvSpPr/>
          <p:nvPr/>
        </p:nvSpPr>
        <p:spPr>
          <a:xfrm>
            <a:off x="6400800" y="4147312"/>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4147312"/>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4229608"/>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Complex mixed-use</a:t>
            </a:r>
          </a:p>
          <a:p>
            <a:pPr>
              <a:lnSpc>
                <a:spcPts val="2013"/>
              </a:lnSpc>
              <a:spcBef>
                <a:spcPts val="0"/>
              </a:spcBef>
              <a:spcAft>
                <a:spcPts val="0"/>
              </a:spcAft>
            </a:pPr>
            <a:r>
              <a:rPr sz="1650" b="0" i="0">
                <a:solidFill>
                  <a:srgbClr val="183A32"/>
                </a:solidFill>
                <a:latin typeface="Times New Roman"/>
              </a:rPr>
              <a:t>development without a clear sequence of demand,</a:t>
            </a:r>
          </a:p>
          <a:p>
            <a:pPr>
              <a:lnSpc>
                <a:spcPts val="2013"/>
              </a:lnSpc>
              <a:spcBef>
                <a:spcPts val="0"/>
              </a:spcBef>
              <a:spcAft>
                <a:spcPts val="0"/>
              </a:spcAft>
            </a:pPr>
            <a:r>
              <a:rPr sz="1650" b="0" i="0">
                <a:solidFill>
                  <a:srgbClr val="183A32"/>
                </a:solidFill>
                <a:latin typeface="Times New Roman"/>
              </a:rPr>
              <a:t>delivery, and financing.</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88–89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Company background and 5W1H</a:t>
            </a:r>
          </a:p>
        </p:txBody>
      </p:sp>
      <p:cxnSp>
        <p:nvCxnSpPr>
          <p:cNvPr id="11" name="Connector 10"/>
          <p:cNvCxnSpPr/>
          <p:nvPr/>
        </p:nvCxnSpPr>
        <p:spPr>
          <a:xfrm>
            <a:off x="6062472" y="2084831"/>
            <a:ext cx="0" cy="332422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Duta Pertiwi Tbk, a listed company</a:t>
            </a:r>
          </a:p>
          <a:p>
            <a:pPr>
              <a:lnSpc>
                <a:spcPts val="2135"/>
              </a:lnSpc>
              <a:spcBef>
                <a:spcPts val="0"/>
              </a:spcBef>
              <a:spcAft>
                <a:spcPts val="0"/>
              </a:spcAft>
            </a:pPr>
            <a:r>
              <a:rPr sz="1750" b="0" i="0">
                <a:solidFill>
                  <a:srgbClr val="183A32"/>
                </a:solidFill>
                <a:latin typeface="Arial"/>
              </a:rPr>
              <a:t>within the BSDE/Sinar Mas Land structure.</a:t>
            </a:r>
          </a:p>
        </p:txBody>
      </p:sp>
      <p:sp>
        <p:nvSpPr>
          <p:cNvPr id="14" name="Rectangle 13"/>
          <p:cNvSpPr/>
          <p:nvPr/>
        </p:nvSpPr>
        <p:spPr>
          <a:xfrm>
            <a:off x="685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054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Township, residential, commercial, and</a:t>
            </a:r>
          </a:p>
          <a:p>
            <a:pPr>
              <a:lnSpc>
                <a:spcPts val="2135"/>
              </a:lnSpc>
              <a:spcBef>
                <a:spcPts val="0"/>
              </a:spcBef>
              <a:spcAft>
                <a:spcPts val="0"/>
              </a:spcAft>
            </a:pPr>
            <a:r>
              <a:rPr sz="1750" b="0" i="0">
                <a:solidFill>
                  <a:srgbClr val="183A32"/>
                </a:solidFill>
                <a:latin typeface="Arial"/>
              </a:rPr>
              <a:t>managed-property activities.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Greater Jakarta and selected other</a:t>
            </a:r>
          </a:p>
          <a:p>
            <a:pPr>
              <a:lnSpc>
                <a:spcPts val="2135"/>
              </a:lnSpc>
              <a:spcBef>
                <a:spcPts val="0"/>
              </a:spcBef>
              <a:spcAft>
                <a:spcPts val="0"/>
              </a:spcAft>
            </a:pPr>
            <a:r>
              <a:rPr sz="1750" b="0" i="0">
                <a:solidFill>
                  <a:srgbClr val="183A32"/>
                </a:solidFill>
                <a:latin typeface="Arial"/>
              </a:rPr>
              <a:t>Indonesian locations.</a:t>
            </a:r>
          </a:p>
        </p:txBody>
      </p:sp>
      <p:sp>
        <p:nvSpPr>
          <p:cNvPr id="18" name="Rectangle 17"/>
          <p:cNvSpPr/>
          <p:nvPr/>
        </p:nvSpPr>
        <p:spPr>
          <a:xfrm>
            <a:off x="685800" y="433806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4662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in 1972; listed in 1994.</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Its present group context is</a:t>
            </a:r>
          </a:p>
          <a:p>
            <a:pPr>
              <a:lnSpc>
                <a:spcPts val="2135"/>
              </a:lnSpc>
              <a:spcBef>
                <a:spcPts val="0"/>
              </a:spcBef>
              <a:spcAft>
                <a:spcPts val="0"/>
              </a:spcAft>
            </a:pPr>
            <a:r>
              <a:rPr sz="1750" b="0" i="0">
                <a:solidFill>
                  <a:srgbClr val="183A32"/>
                </a:solidFill>
                <a:latin typeface="Arial"/>
              </a:rPr>
              <a:t>Sinar Mas Land through BSDE. Do not invent an</a:t>
            </a:r>
          </a:p>
          <a:p>
            <a:pPr>
              <a:lnSpc>
                <a:spcPts val="2135"/>
              </a:lnSpc>
              <a:spcBef>
                <a:spcPts val="0"/>
              </a:spcBef>
              <a:spcAft>
                <a:spcPts val="0"/>
              </a:spcAft>
            </a:pPr>
            <a:r>
              <a:rPr sz="1750" b="0" i="0">
                <a:solidFill>
                  <a:srgbClr val="183A32"/>
                </a:solidFill>
                <a:latin typeface="Arial"/>
              </a:rPr>
              <a:t>individual founder where the reviewed evidence</a:t>
            </a:r>
          </a:p>
          <a:p>
            <a:pPr>
              <a:lnSpc>
                <a:spcPts val="2135"/>
              </a:lnSpc>
              <a:spcBef>
                <a:spcPts val="0"/>
              </a:spcBef>
              <a:spcAft>
                <a:spcPts val="0"/>
              </a:spcAft>
            </a:pPr>
            <a:r>
              <a:rPr sz="1750" b="0" i="0">
                <a:solidFill>
                  <a:srgbClr val="183A32"/>
                </a:solidFill>
                <a:latin typeface="Arial"/>
              </a:rPr>
              <a:t>does not establish one.</a:t>
            </a:r>
          </a:p>
        </p:txBody>
      </p:sp>
      <p:sp>
        <p:nvSpPr>
          <p:cNvPr id="22" name="Rectangle 21"/>
          <p:cNvSpPr/>
          <p:nvPr/>
        </p:nvSpPr>
        <p:spPr>
          <a:xfrm>
            <a:off x="6400800" y="343915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347719"/>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Build on</a:t>
            </a:r>
          </a:p>
          <a:p>
            <a:pPr>
              <a:lnSpc>
                <a:spcPts val="2135"/>
              </a:lnSpc>
              <a:spcBef>
                <a:spcPts val="0"/>
              </a:spcBef>
              <a:spcAft>
                <a:spcPts val="0"/>
              </a:spcAft>
            </a:pPr>
            <a:r>
              <a:rPr sz="1750" b="0" i="0">
                <a:solidFill>
                  <a:srgbClr val="183A32"/>
                </a:solidFill>
                <a:latin typeface="Arial"/>
              </a:rPr>
              <a:t>commercial-development experience while</a:t>
            </a:r>
          </a:p>
          <a:p>
            <a:pPr>
              <a:lnSpc>
                <a:spcPts val="2135"/>
              </a:lnSpc>
              <a:spcBef>
                <a:spcPts val="0"/>
              </a:spcBef>
              <a:spcAft>
                <a:spcPts val="0"/>
              </a:spcAft>
            </a:pPr>
            <a:r>
              <a:rPr sz="1750" b="0" i="0">
                <a:solidFill>
                  <a:srgbClr val="183A32"/>
                </a:solidFill>
                <a:latin typeface="Arial"/>
              </a:rPr>
              <a:t>expanding into residential and township activities.</a:t>
            </a:r>
          </a:p>
        </p:txBody>
      </p:sp>
      <p:sp>
        <p:nvSpPr>
          <p:cNvPr id="24" name="Rectangle 23"/>
          <p:cNvSpPr/>
          <p:nvPr/>
        </p:nvSpPr>
        <p:spPr>
          <a:xfrm>
            <a:off x="6400800" y="4339463"/>
            <a:ext cx="5074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4339463"/>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28816" y="4421759"/>
            <a:ext cx="4818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distinction: DUTI’s financial results are</a:t>
            </a:r>
          </a:p>
          <a:p>
            <a:pPr>
              <a:lnSpc>
                <a:spcPts val="2013"/>
              </a:lnSpc>
              <a:spcBef>
                <a:spcPts val="0"/>
              </a:spcBef>
              <a:spcAft>
                <a:spcPts val="0"/>
              </a:spcAft>
            </a:pPr>
            <a:r>
              <a:rPr sz="1650" b="0" i="0">
                <a:solidFill>
                  <a:srgbClr val="183A32"/>
                </a:solidFill>
                <a:latin typeface="Times New Roman"/>
              </a:rPr>
              <a:t>consolidated within BSDE.</a:t>
            </a:r>
          </a:p>
        </p:txBody>
      </p:sp>
      <p:sp>
        <p:nvSpPr>
          <p:cNvPr id="27" name="TextBox 26"/>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DUTI 2025 annual report — company profile and ownership.</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89–90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Milestones</a:t>
            </a:r>
          </a:p>
        </p:txBody>
      </p:sp>
      <p:graphicFrame>
        <p:nvGraphicFramePr>
          <p:cNvPr id="11" name="Table 10"/>
          <p:cNvGraphicFramePr>
            <a:graphicFrameLocks noGrp="1"/>
          </p:cNvGraphicFramePr>
          <p:nvPr/>
        </p:nvGraphicFramePr>
        <p:xfrm>
          <a:off x="685800" y="2084831"/>
          <a:ext cx="10789919" cy="34676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1972</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Company established</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1987</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Early commercial and residential development</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1989</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Development of the Mangga Dua commercial concept</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1996–1997</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Kota Wisata and Legenda Wisata development milestones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2010</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Acquisition into BSDE’s consolidated platform</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Subsequent period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Further township and commercial-asset development</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DUTI history, BSDE history.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89–90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Milestones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Research caution: An official group webpage compresses the establishment and later ownership chronology. The</a:t>
            </a:r>
          </a:p>
          <a:p>
            <a:pPr>
              <a:lnSpc>
                <a:spcPts val="2196"/>
              </a:lnSpc>
              <a:spcBef>
                <a:spcPts val="0"/>
              </a:spcBef>
              <a:spcAft>
                <a:spcPts val="0"/>
              </a:spcAft>
            </a:pPr>
            <a:r>
              <a:rPr sz="1800" b="0" i="0">
                <a:solidFill>
                  <a:srgbClr val="183A32"/>
                </a:solidFill>
                <a:latin typeface="Times New Roman"/>
              </a:rPr>
              <a:t>presentation should not imply that DUTI was founded in 1972 as a subsidiary of BSDE, which was established later.</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DUTI history, BSDE history.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90–90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How the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DUTI illustrates the interaction between:</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Property developed for sale.</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properties and related activities.</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Township expansion.</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Capabilities and resources available within a larger group.</a:t>
            </a:r>
          </a:p>
        </p:txBody>
      </p:sp>
      <p:sp>
        <p:nvSpPr>
          <p:cNvPr id="21" name="TextBox 20"/>
          <p:cNvSpPr txBox="1"/>
          <p:nvPr/>
        </p:nvSpPr>
        <p:spPr>
          <a:xfrm>
            <a:off x="685800" y="468858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Experience accumulated across different property formats can support new development</a:t>
            </a:r>
          </a:p>
          <a:p>
            <a:pPr>
              <a:lnSpc>
                <a:spcPts val="2196"/>
              </a:lnSpc>
              <a:spcBef>
                <a:spcPts val="0"/>
              </a:spcBef>
              <a:spcAft>
                <a:spcPts val="0"/>
              </a:spcAft>
            </a:pPr>
            <a:r>
              <a:rPr sz="1800" b="0" i="0">
                <a:solidFill>
                  <a:srgbClr val="183A32"/>
                </a:solidFill>
                <a:latin typeface="Times New Roman"/>
              </a:rPr>
              <a:t>phases.</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90–90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How the model works</a:t>
            </a:r>
          </a:p>
        </p:txBody>
      </p:sp>
      <p:sp>
        <p:nvSpPr>
          <p:cNvPr id="11" name="Rectangle 10"/>
          <p:cNvSpPr/>
          <p:nvPr/>
        </p:nvSpPr>
        <p:spPr>
          <a:xfrm>
            <a:off x="685800" y="2084831"/>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8483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2167127"/>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qualification: Affiliation does not make capital free, eliminate minority-shareholder interests, or guarantee equal</a:t>
            </a:r>
          </a:p>
          <a:p>
            <a:pPr>
              <a:lnSpc>
                <a:spcPts val="2013"/>
              </a:lnSpc>
              <a:spcBef>
                <a:spcPts val="0"/>
              </a:spcBef>
              <a:spcAft>
                <a:spcPts val="0"/>
              </a:spcAft>
            </a:pPr>
            <a:r>
              <a:rPr sz="1650" b="0" i="0">
                <a:solidFill>
                  <a:srgbClr val="183A32"/>
                </a:solidFill>
                <a:latin typeface="Times New Roman"/>
              </a:rPr>
              <a:t>profitability across projects.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90–91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Financial scale and consolidation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Rp2.73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Rp4.42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 Rp422 billion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Total profit for the year: approximately Rp624 billion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DUTI is a useful operating case, but counting it independently alongside BSDE creates an overlap when assessing</a:t>
            </a:r>
          </a:p>
          <a:p>
            <a:pPr>
              <a:lnSpc>
                <a:spcPts val="2196"/>
              </a:lnSpc>
              <a:spcBef>
                <a:spcPts val="0"/>
              </a:spcBef>
              <a:spcAft>
                <a:spcPts val="0"/>
              </a:spcAft>
            </a:pPr>
            <a:r>
              <a:rPr sz="1800" b="0" i="0">
                <a:solidFill>
                  <a:srgbClr val="183A32"/>
                </a:solidFill>
                <a:latin typeface="Times New Roman"/>
              </a:rPr>
              <a:t>developer groups.</a:t>
            </a:r>
          </a:p>
        </p:txBody>
      </p:sp>
      <p:sp>
        <p:nvSpPr>
          <p:cNvPr id="22" name="TextBox 21"/>
          <p:cNvSpPr txBox="1"/>
          <p:nvPr/>
        </p:nvSpPr>
        <p:spPr>
          <a:xfrm>
            <a:off x="685800" y="531621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Comparison rule: Choose either an issuer-based comparison or a group-based comparison, then apply the rule</a:t>
            </a:r>
          </a:p>
          <a:p>
            <a:pPr>
              <a:lnSpc>
                <a:spcPts val="2196"/>
              </a:lnSpc>
              <a:spcBef>
                <a:spcPts val="0"/>
              </a:spcBef>
              <a:spcAft>
                <a:spcPts val="0"/>
              </a:spcAft>
            </a:pPr>
            <a:r>
              <a:rPr sz="1800" b="0" i="0">
                <a:solidFill>
                  <a:srgbClr val="183A32"/>
                </a:solidFill>
                <a:latin typeface="Times New Roman"/>
              </a:rPr>
              <a:t>consistently.</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DUTI 2025 annual report — financial highlights.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91–92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development experience</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Mix of development and managed assets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Access to a broader group platform</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Complex group and subsidiary comparisons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Development revenue remains sensitive to timing</a:t>
            </a:r>
          </a:p>
        </p:txBody>
      </p:sp>
      <p:sp>
        <p:nvSpPr>
          <p:cNvPr id="21" name="TextBox 20"/>
          <p:cNvSpPr txBox="1"/>
          <p:nvPr/>
        </p:nvSpPr>
        <p:spPr>
          <a:xfrm>
            <a:off x="6336792" y="3101086"/>
            <a:ext cx="4992624" cy="508762"/>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Different asset formats require different operating</a:t>
            </a:r>
          </a:p>
          <a:p>
            <a:pPr>
              <a:lnSpc>
                <a:spcPts val="1769"/>
              </a:lnSpc>
              <a:spcBef>
                <a:spcPts val="0"/>
              </a:spcBef>
              <a:spcAft>
                <a:spcPts val="0"/>
              </a:spcAft>
            </a:pPr>
            <a:r>
              <a:rPr sz="1450" b="0" i="0">
                <a:solidFill>
                  <a:srgbClr val="183A32"/>
                </a:solidFill>
                <a:latin typeface="Arial"/>
              </a:rPr>
              <a:t>capabilities</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phases within established locations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productivity of existing assets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reuse or repositioning of mature properties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Changes in retail and commercial demand</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Competition from newer destinations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Affordability, construction, and financing pressures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92–92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ownership, operation, and brand</a:t>
            </a:r>
          </a:p>
          <a:p>
            <a:pPr>
              <a:lnSpc>
                <a:spcPts val="2135"/>
              </a:lnSpc>
              <a:spcBef>
                <a:spcPts val="0"/>
              </a:spcBef>
              <a:spcAft>
                <a:spcPts val="0"/>
              </a:spcAft>
            </a:pPr>
            <a:r>
              <a:rPr sz="1750" b="0" i="0">
                <a:solidFill>
                  <a:srgbClr val="183A32"/>
                </a:solidFill>
                <a:latin typeface="Arial"/>
              </a:rPr>
              <a:t>endorsement explicit.</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Establish a single project register across the</a:t>
            </a:r>
          </a:p>
          <a:p>
            <a:pPr>
              <a:lnSpc>
                <a:spcPts val="2135"/>
              </a:lnSpc>
              <a:spcBef>
                <a:spcPts val="0"/>
              </a:spcBef>
              <a:spcAft>
                <a:spcPts val="0"/>
              </a:spcAft>
            </a:pPr>
            <a:r>
              <a:rPr sz="1750" b="0" i="0">
                <a:solidFill>
                  <a:srgbClr val="183A32"/>
                </a:solidFill>
                <a:latin typeface="Arial"/>
              </a:rPr>
              <a:t>relevant TANRISE reporting perimeter.</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Separate management arrangements from asset</a:t>
            </a:r>
          </a:p>
          <a:p>
            <a:pPr>
              <a:lnSpc>
                <a:spcPts val="2135"/>
              </a:lnSpc>
              <a:spcBef>
                <a:spcPts val="0"/>
              </a:spcBef>
              <a:spcAft>
                <a:spcPts val="0"/>
              </a:spcAft>
            </a:pPr>
            <a:r>
              <a:rPr sz="1750" b="0" i="0">
                <a:solidFill>
                  <a:srgbClr val="183A32"/>
                </a:solidFill>
                <a:latin typeface="Arial"/>
              </a:rPr>
              <a:t>ownership.</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 project economics before and after</a:t>
            </a:r>
          </a:p>
          <a:p>
            <a:pPr>
              <a:lnSpc>
                <a:spcPts val="2135"/>
              </a:lnSpc>
              <a:spcBef>
                <a:spcPts val="0"/>
              </a:spcBef>
              <a:spcAft>
                <a:spcPts val="0"/>
              </a:spcAft>
            </a:pPr>
            <a:r>
              <a:rPr sz="1750" b="0" i="0">
                <a:solidFill>
                  <a:srgbClr val="183A32"/>
                </a:solidFill>
                <a:latin typeface="Arial"/>
              </a:rPr>
              <a:t>minority interests.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Avoid double counting projects, revenue, or</a:t>
            </a:r>
          </a:p>
          <a:p>
            <a:pPr>
              <a:lnSpc>
                <a:spcPts val="2135"/>
              </a:lnSpc>
              <a:spcBef>
                <a:spcPts val="0"/>
              </a:spcBef>
              <a:spcAft>
                <a:spcPts val="0"/>
              </a:spcAft>
            </a:pPr>
            <a:r>
              <a:rPr sz="1750" b="0" i="0">
                <a:solidFill>
                  <a:srgbClr val="183A32"/>
                </a:solidFill>
                <a:latin typeface="Arial"/>
              </a:rPr>
              <a:t>earnings across related platforms.</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Produce a verified map of TANRISE entities,</a:t>
            </a:r>
          </a:p>
          <a:p>
            <a:pPr>
              <a:lnSpc>
                <a:spcPts val="2013"/>
              </a:lnSpc>
              <a:spcBef>
                <a:spcPts val="0"/>
              </a:spcBef>
              <a:spcAft>
                <a:spcPts val="0"/>
              </a:spcAft>
            </a:pPr>
            <a:r>
              <a:rPr sz="1650" b="0" i="0">
                <a:solidFill>
                  <a:srgbClr val="183A32"/>
                </a:solidFill>
                <a:latin typeface="Times New Roman"/>
              </a:rPr>
              <a:t>project companies, assets, operators, and reporting</a:t>
            </a:r>
          </a:p>
          <a:p>
            <a:pPr>
              <a:lnSpc>
                <a:spcPts val="2013"/>
              </a:lnSpc>
              <a:spcBef>
                <a:spcPts val="0"/>
              </a:spcBef>
              <a:spcAft>
                <a:spcPts val="0"/>
              </a:spcAft>
            </a:pPr>
            <a:r>
              <a:rPr sz="1650" b="0" i="0">
                <a:solidFill>
                  <a:srgbClr val="183A32"/>
                </a:solidFill>
                <a:latin typeface="Times New Roman"/>
              </a:rPr>
              <a:t>treatment.</a:t>
            </a:r>
          </a:p>
        </p:txBody>
      </p:sp>
      <p:sp>
        <p:nvSpPr>
          <p:cNvPr id="26" name="Rectangle 25"/>
          <p:cNvSpPr/>
          <p:nvPr/>
        </p:nvSpPr>
        <p:spPr>
          <a:xfrm>
            <a:off x="6400800" y="3889565"/>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 complicated corporate</a:t>
            </a:r>
          </a:p>
          <a:p>
            <a:pPr>
              <a:lnSpc>
                <a:spcPts val="2013"/>
              </a:lnSpc>
              <a:spcBef>
                <a:spcPts val="0"/>
              </a:spcBef>
              <a:spcAft>
                <a:spcPts val="0"/>
              </a:spcAft>
            </a:pPr>
            <a:r>
              <a:rPr sz="1650" b="0" i="0">
                <a:solidFill>
                  <a:srgbClr val="183A32"/>
                </a:solidFill>
                <a:latin typeface="Times New Roman"/>
              </a:rPr>
              <a:t>architecture without a clear commercial or financing</a:t>
            </a:r>
          </a:p>
          <a:p>
            <a:pPr>
              <a:lnSpc>
                <a:spcPts val="2013"/>
              </a:lnSpc>
              <a:spcBef>
                <a:spcPts val="0"/>
              </a:spcBef>
              <a:spcAft>
                <a:spcPts val="0"/>
              </a:spcAft>
            </a:pPr>
            <a:r>
              <a:rPr sz="1650" b="0" i="0">
                <a:solidFill>
                  <a:srgbClr val="183A32"/>
                </a:solidFill>
                <a:latin typeface="Times New Roman"/>
              </a:rPr>
              <a:t>purpose.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92–93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Company background and 5W1H</a:t>
            </a:r>
          </a:p>
        </p:txBody>
      </p:sp>
      <p:cxnSp>
        <p:nvCxnSpPr>
          <p:cNvPr id="11" name="Connector 10"/>
          <p:cNvCxnSpPr/>
          <p:nvPr/>
        </p:nvCxnSpPr>
        <p:spPr>
          <a:xfrm>
            <a:off x="6062472" y="2084831"/>
            <a:ext cx="0" cy="2926652"/>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Alam Sutera Realty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Integrated residential and commercial</a:t>
            </a:r>
          </a:p>
          <a:p>
            <a:pPr>
              <a:lnSpc>
                <a:spcPts val="2135"/>
              </a:lnSpc>
              <a:spcBef>
                <a:spcPts val="0"/>
              </a:spcBef>
              <a:spcAft>
                <a:spcPts val="0"/>
              </a:spcAft>
            </a:pPr>
            <a:r>
              <a:rPr sz="1750" b="0" i="0">
                <a:solidFill>
                  <a:srgbClr val="183A32"/>
                </a:solidFill>
                <a:latin typeface="Arial"/>
              </a:rPr>
              <a:t>development with selected operating assets.</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Principal township identities include Alam</a:t>
            </a:r>
          </a:p>
          <a:p>
            <a:pPr>
              <a:lnSpc>
                <a:spcPts val="2135"/>
              </a:lnSpc>
              <a:spcBef>
                <a:spcPts val="0"/>
              </a:spcBef>
              <a:spcAft>
                <a:spcPts val="0"/>
              </a:spcAft>
            </a:pPr>
            <a:r>
              <a:rPr sz="1750" b="0" i="0">
                <a:solidFill>
                  <a:srgbClr val="183A32"/>
                </a:solidFill>
                <a:latin typeface="Arial"/>
              </a:rPr>
              <a:t>Sutera and Suvarna Sutera; the portfolio also</a:t>
            </a:r>
          </a:p>
          <a:p>
            <a:pPr>
              <a:lnSpc>
                <a:spcPts val="2135"/>
              </a:lnSpc>
              <a:spcBef>
                <a:spcPts val="0"/>
              </a:spcBef>
              <a:spcAft>
                <a:spcPts val="0"/>
              </a:spcAft>
            </a:pPr>
            <a:r>
              <a:rPr sz="1750" b="0" i="0">
                <a:solidFill>
                  <a:srgbClr val="183A32"/>
                </a:solidFill>
                <a:latin typeface="Arial"/>
              </a:rPr>
              <a:t>includes GWK Cultural Park in Bali.</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The corporate entity predates the Alam</a:t>
            </a:r>
          </a:p>
          <a:p>
            <a:pPr>
              <a:lnSpc>
                <a:spcPts val="2135"/>
              </a:lnSpc>
              <a:spcBef>
                <a:spcPts val="0"/>
              </a:spcBef>
              <a:spcAft>
                <a:spcPts val="0"/>
              </a:spcAft>
            </a:pPr>
            <a:r>
              <a:rPr sz="1750" b="0" i="0">
                <a:solidFill>
                  <a:srgbClr val="183A32"/>
                </a:solidFill>
                <a:latin typeface="Arial"/>
              </a:rPr>
              <a:t>Sutera development, which began in 1994; public</a:t>
            </a:r>
          </a:p>
          <a:p>
            <a:pPr>
              <a:lnSpc>
                <a:spcPts val="2135"/>
              </a:lnSpc>
              <a:spcBef>
                <a:spcPts val="0"/>
              </a:spcBef>
              <a:spcAft>
                <a:spcPts val="0"/>
              </a:spcAft>
            </a:pPr>
            <a:r>
              <a:rPr sz="1750" b="0" i="0">
                <a:solidFill>
                  <a:srgbClr val="183A32"/>
                </a:solidFill>
                <a:latin typeface="Arial"/>
              </a:rPr>
              <a:t>listing followed in 2007.</a:t>
            </a:r>
          </a:p>
        </p:txBody>
      </p:sp>
      <p:sp>
        <p:nvSpPr>
          <p:cNvPr id="20" name="Rectangle 19"/>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Haryanto Tirtohadiguno and the</a:t>
            </a:r>
          </a:p>
          <a:p>
            <a:pPr>
              <a:lnSpc>
                <a:spcPts val="2135"/>
              </a:lnSpc>
              <a:spcBef>
                <a:spcPts val="0"/>
              </a:spcBef>
              <a:spcAft>
                <a:spcPts val="0"/>
              </a:spcAft>
            </a:pPr>
            <a:r>
              <a:rPr sz="1750" b="0" i="0">
                <a:solidFill>
                  <a:srgbClr val="183A32"/>
                </a:solidFill>
                <a:latin typeface="Arial"/>
              </a:rPr>
              <a:t>founding business-family legacy.</a:t>
            </a:r>
          </a:p>
        </p:txBody>
      </p:sp>
      <p:sp>
        <p:nvSpPr>
          <p:cNvPr id="22" name="Rectangle 21"/>
          <p:cNvSpPr/>
          <p:nvPr/>
        </p:nvSpPr>
        <p:spPr>
          <a:xfrm>
            <a:off x="6400800" y="3888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797172"/>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Build</a:t>
            </a:r>
          </a:p>
          <a:p>
            <a:pPr>
              <a:lnSpc>
                <a:spcPts val="2135"/>
              </a:lnSpc>
              <a:spcBef>
                <a:spcPts val="0"/>
              </a:spcBef>
              <a:spcAft>
                <a:spcPts val="0"/>
              </a:spcAft>
            </a:pPr>
            <a:r>
              <a:rPr sz="1750" b="0" i="0">
                <a:solidFill>
                  <a:srgbClr val="183A32"/>
                </a:solidFill>
                <a:latin typeface="Arial"/>
              </a:rPr>
              <a:t>residential appeal through a coordinated</a:t>
            </a:r>
          </a:p>
          <a:p>
            <a:pPr>
              <a:lnSpc>
                <a:spcPts val="2135"/>
              </a:lnSpc>
              <a:spcBef>
                <a:spcPts val="0"/>
              </a:spcBef>
              <a:spcAft>
                <a:spcPts val="0"/>
              </a:spcAft>
            </a:pPr>
            <a:r>
              <a:rPr sz="1750" b="0" i="0">
                <a:solidFill>
                  <a:srgbClr val="183A32"/>
                </a:solidFill>
                <a:latin typeface="Arial"/>
              </a:rPr>
              <a:t>environment and supporting commercial</a:t>
            </a:r>
          </a:p>
          <a:p>
            <a:pPr>
              <a:lnSpc>
                <a:spcPts val="2135"/>
              </a:lnSpc>
              <a:spcBef>
                <a:spcPts val="0"/>
              </a:spcBef>
              <a:spcAft>
                <a:spcPts val="0"/>
              </a:spcAft>
            </a:pPr>
            <a:r>
              <a:rPr sz="1750" b="0" i="0">
                <a:solidFill>
                  <a:srgbClr val="183A32"/>
                </a:solidFill>
                <a:latin typeface="Arial"/>
              </a:rPr>
              <a:t>functions.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portfolio overview, 2025 annual report.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93–93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219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Development milestones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MILESTONE SEQUENCE</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1994: Alam Sutera township development began.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2007: Public listing.</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2010s: Additional commercial and office functions developed.</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2012: Mall @ Alam Sutera.</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period: Further development of Suvarna Sutera and operating assets.</a:t>
            </a:r>
          </a:p>
        </p:txBody>
      </p:sp>
      <p:sp>
        <p:nvSpPr>
          <p:cNvPr id="22" name="Rectangle 21"/>
          <p:cNvSpPr/>
          <p:nvPr/>
        </p:nvSpPr>
        <p:spPr>
          <a:xfrm>
            <a:off x="685800" y="47722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68083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Current portfolio: Township development combined with commercial and tourism-related activities.</a:t>
            </a:r>
          </a:p>
        </p:txBody>
      </p:sp>
      <p:sp>
        <p:nvSpPr>
          <p:cNvPr id="24" name="TextBox 23"/>
          <p:cNvSpPr txBox="1"/>
          <p:nvPr/>
        </p:nvSpPr>
        <p:spPr>
          <a:xfrm>
            <a:off x="685800" y="513029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company demonstrates both the value of a coherent township identity and the additional</a:t>
            </a:r>
          </a:p>
          <a:p>
            <a:pPr>
              <a:lnSpc>
                <a:spcPts val="2196"/>
              </a:lnSpc>
              <a:spcBef>
                <a:spcPts val="0"/>
              </a:spcBef>
              <a:spcAft>
                <a:spcPts val="0"/>
              </a:spcAft>
            </a:pPr>
            <a:r>
              <a:rPr sz="1800" b="0" i="0">
                <a:solidFill>
                  <a:srgbClr val="183A32"/>
                </a:solidFill>
                <a:latin typeface="Times New Roman"/>
              </a:rPr>
              <a:t>complexity created by diversification.</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Official Alam Sutera overview and portfolio.</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93–94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township model depends on creating confidence in a location through:</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 and infrastructure.</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Residential delivery.</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Supporting facilities.</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activity.</a:t>
            </a:r>
          </a:p>
        </p:txBody>
      </p:sp>
      <p:sp>
        <p:nvSpPr>
          <p:cNvPr id="21" name="Rectangle 20"/>
          <p:cNvSpPr/>
          <p:nvPr/>
        </p:nvSpPr>
        <p:spPr>
          <a:xfrm>
            <a:off x="685800" y="47800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6885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Continuing estate quality.</a:t>
            </a:r>
          </a:p>
        </p:txBody>
      </p:sp>
      <p:sp>
        <p:nvSpPr>
          <p:cNvPr id="23" name="TextBox 22"/>
          <p:cNvSpPr txBox="1"/>
          <p:nvPr/>
        </p:nvSpPr>
        <p:spPr>
          <a:xfrm>
            <a:off x="685800" y="513803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A recognisable environment can support customer preference across development phases.</a:t>
            </a:r>
          </a:p>
        </p:txBody>
      </p:sp>
      <p:sp>
        <p:nvSpPr>
          <p:cNvPr id="24" name="TextBox 2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R49.2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93–94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tension: Diversification can introduce different demand cycles and operating requirements. Tourism assets,</a:t>
            </a:r>
          </a:p>
          <a:p>
            <a:pPr>
              <a:lnSpc>
                <a:spcPts val="2196"/>
              </a:lnSpc>
              <a:spcBef>
                <a:spcPts val="0"/>
              </a:spcBef>
              <a:spcAft>
                <a:spcPts val="0"/>
              </a:spcAft>
            </a:pPr>
            <a:r>
              <a:rPr sz="1800" b="0" i="0">
                <a:solidFill>
                  <a:srgbClr val="183A32"/>
                </a:solidFill>
                <a:latin typeface="Times New Roman"/>
              </a:rPr>
              <a:t>offices, retail, and residential projects should not be assessed using the same performance measures.</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94–94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Financial results and earnings quality</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Rp2.93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revenue: Rp3.43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 Rp313 billion</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FY2024 attributable profit: approximately Rp55 billion</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Attributable profit increased despite lower revenue. This requires examination of margins, financing, and other</a:t>
            </a:r>
          </a:p>
          <a:p>
            <a:pPr>
              <a:lnSpc>
                <a:spcPts val="2196"/>
              </a:lnSpc>
              <a:spcBef>
                <a:spcPts val="0"/>
              </a:spcBef>
              <a:spcAft>
                <a:spcPts val="0"/>
              </a:spcAft>
            </a:pPr>
            <a:r>
              <a:rPr sz="1800" b="0" i="0">
                <a:solidFill>
                  <a:srgbClr val="183A32"/>
                </a:solidFill>
                <a:latin typeface="Times New Roman"/>
              </a:rPr>
              <a:t>income or expenses before attributing the improvement to sales growth.</a:t>
            </a:r>
          </a:p>
        </p:txBody>
      </p:sp>
      <p:sp>
        <p:nvSpPr>
          <p:cNvPr id="22" name="TextBox 21"/>
          <p:cNvSpPr txBox="1"/>
          <p:nvPr/>
        </p:nvSpPr>
        <p:spPr>
          <a:xfrm>
            <a:off x="685800" y="531621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Data rule: Do not substitute comprehensive income for net profit.</a:t>
            </a:r>
          </a:p>
        </p:txBody>
      </p:sp>
      <p:sp>
        <p:nvSpPr>
          <p:cNvPr id="23" name="TextBox 22"/>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ASRI 2025 annual report — audited financial statements.</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94–95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township identity</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Integrated residential and commercial environment</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Experience in long-term area development</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Capital committed across different business formats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Financing can reduce flexibility</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Mature areas require future pipeline replenishment</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phases in suitable locations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Greater productivity of existing assets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alignment of product and local demand</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Competing residential products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Interest-rate and refinancing pressures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Tourism volatility and environmental risks</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95–96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Lessons for TANRISE</a:t>
            </a:r>
          </a:p>
        </p:txBody>
      </p:sp>
      <p:cxnSp>
        <p:nvCxnSpPr>
          <p:cNvPr id="11" name="Connector 10"/>
          <p:cNvCxnSpPr/>
          <p:nvPr/>
        </p:nvCxnSpPr>
        <p:spPr>
          <a:xfrm>
            <a:off x="6062472" y="2084831"/>
            <a:ext cx="0" cy="287045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each development’s promise visible in its</a:t>
            </a:r>
          </a:p>
          <a:p>
            <a:pPr>
              <a:lnSpc>
                <a:spcPts val="2135"/>
              </a:lnSpc>
              <a:spcBef>
                <a:spcPts val="0"/>
              </a:spcBef>
              <a:spcAft>
                <a:spcPts val="0"/>
              </a:spcAft>
            </a:pPr>
            <a:r>
              <a:rPr sz="1750" b="0" i="0">
                <a:solidFill>
                  <a:srgbClr val="183A32"/>
                </a:solidFill>
                <a:latin typeface="Arial"/>
              </a:rPr>
              <a:t>physical environment.</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Protect basic delivery and estate standards.</a:t>
            </a:r>
          </a:p>
        </p:txBody>
      </p:sp>
      <p:sp>
        <p:nvSpPr>
          <p:cNvPr id="17" name="Rectangle 16"/>
          <p:cNvSpPr/>
          <p:nvPr/>
        </p:nvSpPr>
        <p:spPr>
          <a:xfrm>
            <a:off x="685800" y="36950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0362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Replenish the pipeline before mature projects run</a:t>
            </a:r>
          </a:p>
          <a:p>
            <a:pPr>
              <a:lnSpc>
                <a:spcPts val="2135"/>
              </a:lnSpc>
              <a:spcBef>
                <a:spcPts val="0"/>
              </a:spcBef>
              <a:spcAft>
                <a:spcPts val="0"/>
              </a:spcAft>
            </a:pPr>
            <a:r>
              <a:rPr sz="1750" b="0" i="0">
                <a:solidFill>
                  <a:srgbClr val="183A32"/>
                </a:solidFill>
                <a:latin typeface="Arial"/>
              </a:rPr>
              <a:t>short of suitable inventory.</a:t>
            </a:r>
          </a:p>
        </p:txBody>
      </p:sp>
      <p:sp>
        <p:nvSpPr>
          <p:cNvPr id="19" name="Rectangle 18"/>
          <p:cNvSpPr/>
          <p:nvPr/>
        </p:nvSpPr>
        <p:spPr>
          <a:xfrm>
            <a:off x="685800" y="44156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32422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diversification against capital availability</a:t>
            </a:r>
          </a:p>
          <a:p>
            <a:pPr>
              <a:lnSpc>
                <a:spcPts val="2135"/>
              </a:lnSpc>
              <a:spcBef>
                <a:spcPts val="0"/>
              </a:spcBef>
              <a:spcAft>
                <a:spcPts val="0"/>
              </a:spcAft>
            </a:pPr>
            <a:r>
              <a:rPr sz="1750" b="0" i="0">
                <a:solidFill>
                  <a:srgbClr val="183A32"/>
                </a:solidFill>
                <a:latin typeface="Arial"/>
              </a:rPr>
              <a:t>and operating capability.</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Test whether a destination attracts repeat use</a:t>
            </a:r>
          </a:p>
          <a:p>
            <a:pPr>
              <a:lnSpc>
                <a:spcPts val="2135"/>
              </a:lnSpc>
              <a:spcBef>
                <a:spcPts val="0"/>
              </a:spcBef>
              <a:spcAft>
                <a:spcPts val="0"/>
              </a:spcAft>
            </a:pPr>
            <a:r>
              <a:rPr sz="1750" b="0" i="0">
                <a:solidFill>
                  <a:srgbClr val="183A32"/>
                </a:solidFill>
                <a:latin typeface="Arial"/>
              </a:rPr>
              <a:t>rather than occasional visits.</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For Taman Dayu, distinguish permanent</a:t>
            </a:r>
          </a:p>
          <a:p>
            <a:pPr>
              <a:lnSpc>
                <a:spcPts val="2013"/>
              </a:lnSpc>
              <a:spcBef>
                <a:spcPts val="0"/>
              </a:spcBef>
              <a:spcAft>
                <a:spcPts val="0"/>
              </a:spcAft>
            </a:pPr>
            <a:r>
              <a:rPr sz="1650" b="0" i="0">
                <a:solidFill>
                  <a:srgbClr val="183A32"/>
                </a:solidFill>
                <a:latin typeface="Times New Roman"/>
              </a:rPr>
              <a:t>residents, weekday users, weekend visitors, and</a:t>
            </a:r>
          </a:p>
          <a:p>
            <a:pPr>
              <a:lnSpc>
                <a:spcPts val="2013"/>
              </a:lnSpc>
              <a:spcBef>
                <a:spcPts val="0"/>
              </a:spcBef>
              <a:spcAft>
                <a:spcPts val="0"/>
              </a:spcAft>
            </a:pPr>
            <a:r>
              <a:rPr sz="1650" b="0" i="0">
                <a:solidFill>
                  <a:srgbClr val="183A32"/>
                </a:solidFill>
                <a:latin typeface="Times New Roman"/>
              </a:rPr>
              <a:t>event-driven demand.</a:t>
            </a:r>
          </a:p>
        </p:txBody>
      </p:sp>
      <p:sp>
        <p:nvSpPr>
          <p:cNvPr id="26" name="Rectangle 25"/>
          <p:cNvSpPr/>
          <p:nvPr/>
        </p:nvSpPr>
        <p:spPr>
          <a:xfrm>
            <a:off x="6400800" y="3889565"/>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Diversification justified by</a:t>
            </a:r>
          </a:p>
          <a:p>
            <a:pPr>
              <a:lnSpc>
                <a:spcPts val="2013"/>
              </a:lnSpc>
              <a:spcBef>
                <a:spcPts val="0"/>
              </a:spcBef>
              <a:spcAft>
                <a:spcPts val="0"/>
              </a:spcAft>
            </a:pPr>
            <a:r>
              <a:rPr sz="1650" b="0" i="0">
                <a:solidFill>
                  <a:srgbClr val="183A32"/>
                </a:solidFill>
                <a:latin typeface="Times New Roman"/>
              </a:rPr>
              <a:t>the appeal of a destination concept without validated</a:t>
            </a:r>
          </a:p>
          <a:p>
            <a:pPr>
              <a:lnSpc>
                <a:spcPts val="2013"/>
              </a:lnSpc>
              <a:spcBef>
                <a:spcPts val="0"/>
              </a:spcBef>
              <a:spcAft>
                <a:spcPts val="0"/>
              </a:spcAft>
            </a:pPr>
            <a:r>
              <a:rPr sz="1650" b="0" i="0">
                <a:solidFill>
                  <a:srgbClr val="183A32"/>
                </a:solidFill>
                <a:latin typeface="Times New Roman"/>
              </a:rPr>
              <a:t>economics.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96–96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Company background and 5W1H</a:t>
            </a:r>
          </a:p>
        </p:txBody>
      </p:sp>
      <p:cxnSp>
        <p:nvCxnSpPr>
          <p:cNvPr id="11" name="Connector 10"/>
          <p:cNvCxnSpPr/>
          <p:nvPr/>
        </p:nvCxnSpPr>
        <p:spPr>
          <a:xfrm>
            <a:off x="6062472" y="2084831"/>
            <a:ext cx="0" cy="265328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Jaya Real Property Tbk, part of</a:t>
            </a:r>
          </a:p>
          <a:p>
            <a:pPr>
              <a:lnSpc>
                <a:spcPts val="2135"/>
              </a:lnSpc>
              <a:spcBef>
                <a:spcPts val="0"/>
              </a:spcBef>
              <a:spcAft>
                <a:spcPts val="0"/>
              </a:spcAft>
            </a:pPr>
            <a:r>
              <a:rPr sz="1750" b="0" i="0">
                <a:solidFill>
                  <a:srgbClr val="183A32"/>
                </a:solidFill>
                <a:latin typeface="Arial"/>
              </a:rPr>
              <a:t>Pembangunan Jaya Group.</a:t>
            </a:r>
          </a:p>
        </p:txBody>
      </p:sp>
      <p:sp>
        <p:nvSpPr>
          <p:cNvPr id="14" name="Rectangle 13"/>
          <p:cNvSpPr/>
          <p:nvPr/>
        </p:nvSpPr>
        <p:spPr>
          <a:xfrm>
            <a:off x="685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054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Residential development, commercial</a:t>
            </a:r>
          </a:p>
          <a:p>
            <a:pPr>
              <a:lnSpc>
                <a:spcPts val="2135"/>
              </a:lnSpc>
              <a:spcBef>
                <a:spcPts val="0"/>
              </a:spcBef>
              <a:spcAft>
                <a:spcPts val="0"/>
              </a:spcAft>
            </a:pPr>
            <a:r>
              <a:rPr sz="1750" b="0" i="0">
                <a:solidFill>
                  <a:srgbClr val="183A32"/>
                </a:solidFill>
                <a:latin typeface="Arial"/>
              </a:rPr>
              <a:t>property, and supporting urban businesses.</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Primarily South Jakarta and Tangerang,</a:t>
            </a:r>
          </a:p>
          <a:p>
            <a:pPr>
              <a:lnSpc>
                <a:spcPts val="2135"/>
              </a:lnSpc>
              <a:spcBef>
                <a:spcPts val="0"/>
              </a:spcBef>
              <a:spcAft>
                <a:spcPts val="0"/>
              </a:spcAft>
            </a:pPr>
            <a:r>
              <a:rPr sz="1750" b="0" i="0">
                <a:solidFill>
                  <a:srgbClr val="183A32"/>
                </a:solidFill>
                <a:latin typeface="Arial"/>
              </a:rPr>
              <a:t>with Bintaro Jaya as its foundational</a:t>
            </a:r>
          </a:p>
          <a:p>
            <a:pPr>
              <a:lnSpc>
                <a:spcPts val="2135"/>
              </a:lnSpc>
              <a:spcBef>
                <a:spcPts val="0"/>
              </a:spcBef>
              <a:spcAft>
                <a:spcPts val="0"/>
              </a:spcAft>
            </a:pPr>
            <a:r>
              <a:rPr sz="1750" b="0" i="0">
                <a:solidFill>
                  <a:srgbClr val="183A32"/>
                </a:solidFill>
                <a:latin typeface="Arial"/>
              </a:rPr>
              <a:t>development.</a:t>
            </a:r>
          </a:p>
        </p:txBody>
      </p:sp>
      <p:sp>
        <p:nvSpPr>
          <p:cNvPr id="18" name="Rectangle 17"/>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Established as PT Bintaro Raya in 1979;</a:t>
            </a:r>
          </a:p>
          <a:p>
            <a:pPr>
              <a:lnSpc>
                <a:spcPts val="2135"/>
              </a:lnSpc>
              <a:spcBef>
                <a:spcPts val="0"/>
              </a:spcBef>
              <a:spcAft>
                <a:spcPts val="0"/>
              </a:spcAft>
            </a:pPr>
            <a:r>
              <a:rPr sz="1750" b="0" i="0">
                <a:solidFill>
                  <a:srgbClr val="183A32"/>
                </a:solidFill>
                <a:latin typeface="Arial"/>
              </a:rPr>
              <a:t>listed in 1994.</a:t>
            </a:r>
          </a:p>
        </p:txBody>
      </p:sp>
      <p:sp>
        <p:nvSpPr>
          <p:cNvPr id="20" name="Rectangle 19"/>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Pembangunan Jaya Group. Its</a:t>
            </a:r>
          </a:p>
          <a:p>
            <a:pPr>
              <a:lnSpc>
                <a:spcPts val="2135"/>
              </a:lnSpc>
              <a:spcBef>
                <a:spcPts val="0"/>
              </a:spcBef>
              <a:spcAft>
                <a:spcPts val="0"/>
              </a:spcAft>
            </a:pPr>
            <a:r>
              <a:rPr sz="1750" b="0" i="0">
                <a:solidFill>
                  <a:srgbClr val="183A32"/>
                </a:solidFill>
                <a:latin typeface="Arial"/>
              </a:rPr>
              <a:t>broader group history must not be substituted for</a:t>
            </a:r>
          </a:p>
          <a:p>
            <a:pPr>
              <a:lnSpc>
                <a:spcPts val="2135"/>
              </a:lnSpc>
              <a:spcBef>
                <a:spcPts val="0"/>
              </a:spcBef>
              <a:spcAft>
                <a:spcPts val="0"/>
              </a:spcAft>
            </a:pPr>
            <a:r>
              <a:rPr sz="1750" b="0" i="0">
                <a:solidFill>
                  <a:srgbClr val="183A32"/>
                </a:solidFill>
                <a:latin typeface="Arial"/>
              </a:rPr>
              <a:t>the issuer’s own establishment story.</a:t>
            </a:r>
          </a:p>
        </p:txBody>
      </p:sp>
      <p:sp>
        <p:nvSpPr>
          <p:cNvPr id="22" name="Rectangle 21"/>
          <p:cNvSpPr/>
          <p:nvPr/>
        </p:nvSpPr>
        <p:spPr>
          <a:xfrm>
            <a:off x="6400800" y="388861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797173"/>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Serve</a:t>
            </a:r>
          </a:p>
          <a:p>
            <a:pPr>
              <a:lnSpc>
                <a:spcPts val="2135"/>
              </a:lnSpc>
              <a:spcBef>
                <a:spcPts val="0"/>
              </a:spcBef>
              <a:spcAft>
                <a:spcPts val="0"/>
              </a:spcAft>
            </a:pPr>
            <a:r>
              <a:rPr sz="1750" b="0" i="0">
                <a:solidFill>
                  <a:srgbClr val="183A32"/>
                </a:solidFill>
                <a:latin typeface="Arial"/>
              </a:rPr>
              <a:t>residential demand through livable communities,</a:t>
            </a:r>
          </a:p>
          <a:p>
            <a:pPr>
              <a:lnSpc>
                <a:spcPts val="2135"/>
              </a:lnSpc>
              <a:spcBef>
                <a:spcPts val="0"/>
              </a:spcBef>
              <a:spcAft>
                <a:spcPts val="0"/>
              </a:spcAft>
            </a:pPr>
            <a:r>
              <a:rPr sz="1750" b="0" i="0">
                <a:solidFill>
                  <a:srgbClr val="183A32"/>
                </a:solidFill>
                <a:latin typeface="Arial"/>
              </a:rPr>
              <a:t>useful amenities, and connectivity.</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Official corporate profile, historical annual report.</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96–97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Milestones in community development</a:t>
            </a:r>
          </a:p>
        </p:txBody>
      </p:sp>
      <p:cxnSp>
        <p:nvCxnSpPr>
          <p:cNvPr id="11" name="Connector 10"/>
          <p:cNvCxnSpPr/>
          <p:nvPr/>
        </p:nvCxnSpPr>
        <p:spPr>
          <a:xfrm>
            <a:off x="6062472" y="2084831"/>
            <a:ext cx="0" cy="2690813"/>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1979: Establishment as PT Bintaro Raya.</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Subsequent development: Progressive expansion</a:t>
            </a:r>
          </a:p>
          <a:p>
            <a:pPr>
              <a:lnSpc>
                <a:spcPts val="2135"/>
              </a:lnSpc>
              <a:spcBef>
                <a:spcPts val="0"/>
              </a:spcBef>
              <a:spcAft>
                <a:spcPts val="0"/>
              </a:spcAft>
            </a:pPr>
            <a:r>
              <a:rPr sz="1750" b="0" i="0">
                <a:solidFill>
                  <a:srgbClr val="183A32"/>
                </a:solidFill>
                <a:latin typeface="Arial"/>
              </a:rPr>
              <a:t>of Bintaro Jaya.</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1992: Change to the Jaya Real Property name.</a:t>
            </a:r>
          </a:p>
        </p:txBody>
      </p:sp>
      <p:sp>
        <p:nvSpPr>
          <p:cNvPr id="18" name="Rectangle 17"/>
          <p:cNvSpPr/>
          <p:nvPr/>
        </p:nvSpPr>
        <p:spPr>
          <a:xfrm>
            <a:off x="685800" y="379577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0433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1994: Public listing.</a:t>
            </a:r>
          </a:p>
        </p:txBody>
      </p:sp>
      <p:sp>
        <p:nvSpPr>
          <p:cNvPr id="20" name="Rectangle 19"/>
          <p:cNvSpPr/>
          <p:nvPr/>
        </p:nvSpPr>
        <p:spPr>
          <a:xfrm>
            <a:off x="685800" y="424522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153789"/>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Later phases: Additional commercial, leisure, and</a:t>
            </a:r>
          </a:p>
          <a:p>
            <a:pPr>
              <a:lnSpc>
                <a:spcPts val="2135"/>
              </a:lnSpc>
              <a:spcBef>
                <a:spcPts val="0"/>
              </a:spcBef>
              <a:spcAft>
                <a:spcPts val="0"/>
              </a:spcAft>
            </a:pPr>
            <a:r>
              <a:rPr sz="1750" b="0" i="0">
                <a:solidFill>
                  <a:srgbClr val="183A32"/>
                </a:solidFill>
                <a:latin typeface="Arial"/>
              </a:rPr>
              <a:t>supporting urban functions.</a:t>
            </a:r>
          </a:p>
        </p:txBody>
      </p:sp>
      <p:sp>
        <p:nvSpPr>
          <p:cNvPr id="22" name="Rectangle 21"/>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2024: DoubleTree by Hilton Jakarta Bintaro Jaya</a:t>
            </a:r>
          </a:p>
          <a:p>
            <a:pPr>
              <a:lnSpc>
                <a:spcPts val="2135"/>
              </a:lnSpc>
              <a:spcBef>
                <a:spcPts val="0"/>
              </a:spcBef>
              <a:spcAft>
                <a:spcPts val="0"/>
              </a:spcAft>
            </a:pPr>
            <a:r>
              <a:rPr sz="1750" b="0" i="0">
                <a:solidFill>
                  <a:srgbClr val="183A32"/>
                </a:solidFill>
                <a:latin typeface="Arial"/>
              </a:rPr>
              <a:t>opening and Jurangmangu station service</a:t>
            </a:r>
          </a:p>
          <a:p>
            <a:pPr>
              <a:lnSpc>
                <a:spcPts val="2135"/>
              </a:lnSpc>
              <a:spcBef>
                <a:spcPts val="0"/>
              </a:spcBef>
              <a:spcAft>
                <a:spcPts val="0"/>
              </a:spcAft>
            </a:pPr>
            <a:r>
              <a:rPr sz="1750" b="0" i="0">
                <a:solidFill>
                  <a:srgbClr val="183A32"/>
                </a:solidFill>
                <a:latin typeface="Arial"/>
              </a:rPr>
              <a:t>improvements.</a:t>
            </a:r>
          </a:p>
        </p:txBody>
      </p:sp>
      <p:sp>
        <p:nvSpPr>
          <p:cNvPr id="24" name="Rectangle 23"/>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FY2025: Reported revenue approximately Rp3.27</a:t>
            </a:r>
          </a:p>
          <a:p>
            <a:pPr>
              <a:lnSpc>
                <a:spcPts val="2135"/>
              </a:lnSpc>
              <a:spcBef>
                <a:spcPts val="0"/>
              </a:spcBef>
              <a:spcAft>
                <a:spcPts val="0"/>
              </a:spcAft>
            </a:pPr>
            <a:r>
              <a:rPr sz="1750" b="0" i="0">
                <a:solidFill>
                  <a:srgbClr val="183A32"/>
                </a:solidFill>
                <a:latin typeface="Arial"/>
              </a:rPr>
              <a:t>trillion.</a:t>
            </a:r>
          </a:p>
        </p:txBody>
      </p:sp>
      <p:sp>
        <p:nvSpPr>
          <p:cNvPr id="26" name="TextBox 25"/>
          <p:cNvSpPr txBox="1"/>
          <p:nvPr/>
        </p:nvSpPr>
        <p:spPr>
          <a:xfrm>
            <a:off x="6400800" y="379717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The case illustrates the</a:t>
            </a:r>
          </a:p>
          <a:p>
            <a:pPr>
              <a:lnSpc>
                <a:spcPts val="2196"/>
              </a:lnSpc>
              <a:spcBef>
                <a:spcPts val="0"/>
              </a:spcBef>
              <a:spcAft>
                <a:spcPts val="0"/>
              </a:spcAft>
            </a:pPr>
            <a:r>
              <a:rPr sz="1800" b="0" i="0">
                <a:solidFill>
                  <a:srgbClr val="183A32"/>
                </a:solidFill>
                <a:latin typeface="Times New Roman"/>
              </a:rPr>
              <a:t>cumulative value of a location becoming more</a:t>
            </a:r>
          </a:p>
          <a:p>
            <a:pPr>
              <a:lnSpc>
                <a:spcPts val="2196"/>
              </a:lnSpc>
              <a:spcBef>
                <a:spcPts val="0"/>
              </a:spcBef>
              <a:spcAft>
                <a:spcPts val="0"/>
              </a:spcAft>
            </a:pPr>
            <a:r>
              <a:rPr sz="1800" b="0" i="0">
                <a:solidFill>
                  <a:srgbClr val="183A32"/>
                </a:solidFill>
                <a:latin typeface="Times New Roman"/>
              </a:rPr>
              <a:t>convenient and useful over decades.</a:t>
            </a:r>
          </a:p>
        </p:txBody>
      </p:sp>
      <p:sp>
        <p:nvSpPr>
          <p:cNvPr id="27" name="TextBox 26"/>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Historical annual report, official results and announcements.</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97–97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How the growth model works</a:t>
            </a:r>
          </a:p>
        </p:txBody>
      </p:sp>
      <p:cxnSp>
        <p:nvCxnSpPr>
          <p:cNvPr id="11" name="Connector 10"/>
          <p:cNvCxnSpPr/>
          <p:nvPr/>
        </p:nvCxnSpPr>
        <p:spPr>
          <a:xfrm>
            <a:off x="6062472" y="2084831"/>
            <a:ext cx="0" cy="2574418"/>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 residential communities in successive</a:t>
            </a:r>
          </a:p>
          <a:p>
            <a:pPr>
              <a:lnSpc>
                <a:spcPts val="2135"/>
              </a:lnSpc>
              <a:spcBef>
                <a:spcPts val="0"/>
              </a:spcBef>
              <a:spcAft>
                <a:spcPts val="0"/>
              </a:spcAft>
            </a:pPr>
            <a:r>
              <a:rPr sz="1750" b="0" i="0">
                <a:solidFill>
                  <a:srgbClr val="183A32"/>
                </a:solidFill>
                <a:latin typeface="Arial"/>
              </a:rPr>
              <a:t>phases.</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the practical experience of living in the</a:t>
            </a:r>
          </a:p>
          <a:p>
            <a:pPr>
              <a:lnSpc>
                <a:spcPts val="2135"/>
              </a:lnSpc>
              <a:spcBef>
                <a:spcPts val="0"/>
              </a:spcBef>
              <a:spcAft>
                <a:spcPts val="0"/>
              </a:spcAft>
            </a:pPr>
            <a:r>
              <a:rPr sz="1750" b="0" i="0">
                <a:solidFill>
                  <a:srgbClr val="183A32"/>
                </a:solidFill>
                <a:latin typeface="Arial"/>
              </a:rPr>
              <a:t>area.</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Add commercial functions as the population and</a:t>
            </a:r>
          </a:p>
          <a:p>
            <a:pPr>
              <a:lnSpc>
                <a:spcPts val="2135"/>
              </a:lnSpc>
              <a:spcBef>
                <a:spcPts val="0"/>
              </a:spcBef>
              <a:spcAft>
                <a:spcPts val="0"/>
              </a:spcAft>
            </a:pPr>
            <a:r>
              <a:rPr sz="1750" b="0" i="0">
                <a:solidFill>
                  <a:srgbClr val="183A32"/>
                </a:solidFill>
                <a:latin typeface="Arial"/>
              </a:rPr>
              <a:t>catchment support them.</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Strengthen access and connectivity.</a:t>
            </a:r>
          </a:p>
        </p:txBody>
      </p:sp>
      <p:sp>
        <p:nvSpPr>
          <p:cNvPr id="21" name="Rectangle 20"/>
          <p:cNvSpPr/>
          <p:nvPr/>
        </p:nvSpPr>
        <p:spPr>
          <a:xfrm>
            <a:off x="6400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534285"/>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Manage the area to preserve its appeal.</a:t>
            </a:r>
          </a:p>
        </p:txBody>
      </p:sp>
      <p:sp>
        <p:nvSpPr>
          <p:cNvPr id="23" name="TextBox 22"/>
          <p:cNvSpPr txBox="1"/>
          <p:nvPr/>
        </p:nvSpPr>
        <p:spPr>
          <a:xfrm>
            <a:off x="6400800" y="2983738"/>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Everyday usefulness can be</a:t>
            </a:r>
          </a:p>
          <a:p>
            <a:pPr>
              <a:lnSpc>
                <a:spcPts val="2196"/>
              </a:lnSpc>
              <a:spcBef>
                <a:spcPts val="0"/>
              </a:spcBef>
              <a:spcAft>
                <a:spcPts val="0"/>
              </a:spcAft>
            </a:pPr>
            <a:r>
              <a:rPr sz="1800" b="0" i="0">
                <a:solidFill>
                  <a:srgbClr val="183A32"/>
                </a:solidFill>
                <a:latin typeface="Times New Roman"/>
              </a:rPr>
              <a:t>more durable than a launch campaign.</a:t>
            </a:r>
          </a:p>
        </p:txBody>
      </p:sp>
      <p:sp>
        <p:nvSpPr>
          <p:cNvPr id="24" name="TextBox 23"/>
          <p:cNvSpPr txBox="1"/>
          <p:nvPr/>
        </p:nvSpPr>
        <p:spPr>
          <a:xfrm>
            <a:off x="6400800" y="3719830"/>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Strategic qualification: A successful mature township</a:t>
            </a:r>
          </a:p>
          <a:p>
            <a:pPr>
              <a:lnSpc>
                <a:spcPts val="2196"/>
              </a:lnSpc>
              <a:spcBef>
                <a:spcPts val="0"/>
              </a:spcBef>
              <a:spcAft>
                <a:spcPts val="0"/>
              </a:spcAft>
            </a:pPr>
            <a:r>
              <a:rPr sz="1800" b="0" i="0">
                <a:solidFill>
                  <a:srgbClr val="183A32"/>
                </a:solidFill>
                <a:latin typeface="Times New Roman"/>
              </a:rPr>
              <a:t>does not mean every supporting facility should be built</a:t>
            </a:r>
          </a:p>
          <a:p>
            <a:pPr>
              <a:lnSpc>
                <a:spcPts val="2196"/>
              </a:lnSpc>
              <a:spcBef>
                <a:spcPts val="0"/>
              </a:spcBef>
              <a:spcAft>
                <a:spcPts val="0"/>
              </a:spcAft>
            </a:pPr>
            <a:r>
              <a:rPr sz="1800" b="0" i="0">
                <a:solidFill>
                  <a:srgbClr val="183A32"/>
                </a:solidFill>
                <a:latin typeface="Times New Roman"/>
              </a:rPr>
              <a:t>immediately in a new location.</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97–98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Financial scale and disclosure caution</a:t>
            </a:r>
          </a:p>
        </p:txBody>
      </p:sp>
      <p:cxnSp>
        <p:nvCxnSpPr>
          <p:cNvPr id="11" name="Connector 10"/>
          <p:cNvCxnSpPr/>
          <p:nvPr/>
        </p:nvCxnSpPr>
        <p:spPr>
          <a:xfrm>
            <a:off x="6062472" y="2084831"/>
            <a:ext cx="0" cy="2279142"/>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FIGURES DISPLAYED BY THE COMPANY</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approximately Rp3.27 trillion</a:t>
            </a:r>
          </a:p>
        </p:txBody>
      </p:sp>
      <p:sp>
        <p:nvSpPr>
          <p:cNvPr id="15" name="Rectangle 14"/>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883027"/>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Income for the year: approximately Rp1.32 trillion</a:t>
            </a:r>
          </a:p>
        </p:txBody>
      </p:sp>
      <p:sp>
        <p:nvSpPr>
          <p:cNvPr id="17" name="Rectangle 16"/>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33248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Marketing sales: approximately Rp2.47 trillion</a:t>
            </a:r>
          </a:p>
        </p:txBody>
      </p:sp>
      <p:sp>
        <p:nvSpPr>
          <p:cNvPr id="19" name="Rectangle 18"/>
          <p:cNvSpPr/>
          <p:nvPr/>
        </p:nvSpPr>
        <p:spPr>
          <a:xfrm>
            <a:off x="685800" y="3781932"/>
            <a:ext cx="5074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3781932"/>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 y="3864228"/>
            <a:ext cx="4818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distinction</a:t>
            </a:r>
          </a:p>
        </p:txBody>
      </p:sp>
      <p:sp>
        <p:nvSpPr>
          <p:cNvPr id="22" name="TextBox 21"/>
          <p:cNvSpPr txBox="1"/>
          <p:nvPr/>
        </p:nvSpPr>
        <p:spPr>
          <a:xfrm>
            <a:off x="6400800" y="20848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headline income figure should not automatically</a:t>
            </a:r>
          </a:p>
          <a:p>
            <a:pPr>
              <a:lnSpc>
                <a:spcPts val="2196"/>
              </a:lnSpc>
              <a:spcBef>
                <a:spcPts val="0"/>
              </a:spcBef>
              <a:spcAft>
                <a:spcPts val="0"/>
              </a:spcAft>
            </a:pPr>
            <a:r>
              <a:rPr sz="1800" b="0" i="0">
                <a:solidFill>
                  <a:srgbClr val="183A32"/>
                </a:solidFill>
                <a:latin typeface="Times New Roman"/>
              </a:rPr>
              <a:t>be treated as profit attributable to owners. The audited</a:t>
            </a:r>
          </a:p>
          <a:p>
            <a:pPr>
              <a:lnSpc>
                <a:spcPts val="2196"/>
              </a:lnSpc>
              <a:spcBef>
                <a:spcPts val="0"/>
              </a:spcBef>
              <a:spcAft>
                <a:spcPts val="0"/>
              </a:spcAft>
            </a:pPr>
            <a:r>
              <a:rPr sz="1800" b="0" i="0">
                <a:solidFill>
                  <a:srgbClr val="183A32"/>
                </a:solidFill>
                <a:latin typeface="Times New Roman"/>
              </a:rPr>
              <a:t>attributable-profit line must be used before building a</a:t>
            </a:r>
          </a:p>
          <a:p>
            <a:pPr>
              <a:lnSpc>
                <a:spcPts val="2196"/>
              </a:lnSpc>
              <a:spcBef>
                <a:spcPts val="0"/>
              </a:spcBef>
              <a:spcAft>
                <a:spcPts val="0"/>
              </a:spcAft>
            </a:pPr>
            <a:r>
              <a:rPr sz="1800" b="0" i="0">
                <a:solidFill>
                  <a:srgbClr val="183A32"/>
                </a:solidFill>
                <a:latin typeface="Times New Roman"/>
              </a:rPr>
              <a:t>uniform profit-ranking chart.</a:t>
            </a:r>
          </a:p>
        </p:txBody>
      </p:sp>
      <p:sp>
        <p:nvSpPr>
          <p:cNvPr id="23" name="TextBox 22"/>
          <p:cNvSpPr txBox="1"/>
          <p:nvPr/>
        </p:nvSpPr>
        <p:spPr>
          <a:xfrm>
            <a:off x="6400800" y="3378707"/>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This case is useful for studying</a:t>
            </a:r>
          </a:p>
          <a:p>
            <a:pPr>
              <a:lnSpc>
                <a:spcPts val="2196"/>
              </a:lnSpc>
              <a:spcBef>
                <a:spcPts val="0"/>
              </a:spcBef>
              <a:spcAft>
                <a:spcPts val="0"/>
              </a:spcAft>
            </a:pPr>
            <a:r>
              <a:rPr sz="1800" b="0" i="0">
                <a:solidFill>
                  <a:srgbClr val="183A32"/>
                </a:solidFill>
                <a:latin typeface="Times New Roman"/>
              </a:rPr>
              <a:t>disciplined community development, rather than</a:t>
            </a:r>
          </a:p>
          <a:p>
            <a:pPr>
              <a:lnSpc>
                <a:spcPts val="2196"/>
              </a:lnSpc>
              <a:spcBef>
                <a:spcPts val="0"/>
              </a:spcBef>
              <a:spcAft>
                <a:spcPts val="0"/>
              </a:spcAft>
            </a:pPr>
            <a:r>
              <a:rPr sz="1800" b="0" i="0">
                <a:solidFill>
                  <a:srgbClr val="183A32"/>
                </a:solidFill>
                <a:latin typeface="Times New Roman"/>
              </a:rPr>
              <a:t>simply pursuing maximum reported revenue.</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Jaya Real Property — official latest results.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98–99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229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Established community and location identity</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Integrated residential and commercial functions</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Connectivity and accumulated amenities</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Concentration in a limited number of geographic markets</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Mature areas require careful pipeline planning</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Long development periods tie up capital</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Better use of established catchments</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services supported by resident demand</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Selective development and asset improvements</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New competing townships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Infrastructure congestion</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Affordability and mortgage constraints</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99–99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Lessons for TANRISE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Sell a credible daily-life proposition.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Translate “best concept” into local needs, access, services, and price.</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Sequence commercial development around actual resident demand.</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connectivity a measurable part of product selection.</a:t>
            </a:r>
          </a:p>
        </p:txBody>
      </p:sp>
      <p:sp>
        <p:nvSpPr>
          <p:cNvPr id="20" name="Rectangle 19"/>
          <p:cNvSpPr/>
          <p:nvPr/>
        </p:nvSpPr>
        <p:spPr>
          <a:xfrm>
            <a:off x="685800" y="43228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2313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Treat estate management as part of long-term value creation.</a:t>
            </a:r>
          </a:p>
        </p:txBody>
      </p:sp>
      <p:sp>
        <p:nvSpPr>
          <p:cNvPr id="22" name="Rectangle 21"/>
          <p:cNvSpPr/>
          <p:nvPr/>
        </p:nvSpPr>
        <p:spPr>
          <a:xfrm>
            <a:off x="685800" y="4680839"/>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680839"/>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 y="4763134"/>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Develop a customer journey for a Sidoarjo household covering work, school, shopping, healthcare, travel time, and</a:t>
            </a:r>
          </a:p>
          <a:p>
            <a:pPr>
              <a:lnSpc>
                <a:spcPts val="2013"/>
              </a:lnSpc>
              <a:spcBef>
                <a:spcPts val="0"/>
              </a:spcBef>
              <a:spcAft>
                <a:spcPts val="0"/>
              </a:spcAft>
            </a:pPr>
            <a:r>
              <a:rPr sz="1650" b="0" i="0">
                <a:solidFill>
                  <a:srgbClr val="183A32"/>
                </a:solidFill>
                <a:latin typeface="Times New Roman"/>
              </a:rPr>
              <a:t>monthly housing cost.</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99–99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Lessons for TANRISE</a:t>
            </a:r>
          </a:p>
        </p:txBody>
      </p:sp>
      <p:sp>
        <p:nvSpPr>
          <p:cNvPr id="11" name="Rectangle 10"/>
          <p:cNvSpPr/>
          <p:nvPr/>
        </p:nvSpPr>
        <p:spPr>
          <a:xfrm>
            <a:off x="685800" y="2084831"/>
            <a:ext cx="10789920" cy="734949"/>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84831"/>
            <a:ext cx="32004" cy="734949"/>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2167127"/>
            <a:ext cx="10533888" cy="570738"/>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Assuming that a new township can immediately reproduce the amenity depth of a mature</a:t>
            </a:r>
          </a:p>
          <a:p>
            <a:pPr>
              <a:lnSpc>
                <a:spcPts val="2013"/>
              </a:lnSpc>
              <a:spcBef>
                <a:spcPts val="0"/>
              </a:spcBef>
              <a:spcAft>
                <a:spcPts val="0"/>
              </a:spcAft>
            </a:pPr>
            <a:r>
              <a:rPr sz="1650" b="0" i="0">
                <a:solidFill>
                  <a:srgbClr val="183A32"/>
                </a:solidFill>
                <a:latin typeface="Times New Roman"/>
              </a:rPr>
              <a:t>community.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R59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99–99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Company background and 5W1H</a:t>
            </a:r>
          </a:p>
        </p:txBody>
      </p:sp>
      <p:cxnSp>
        <p:nvCxnSpPr>
          <p:cNvPr id="11" name="Connector 10"/>
          <p:cNvCxnSpPr/>
          <p:nvPr/>
        </p:nvCxnSpPr>
        <p:spPr>
          <a:xfrm>
            <a:off x="6062472" y="2084831"/>
            <a:ext cx="0" cy="308210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PT Pantai Indah Kapuk Dua Tbk.</a:t>
            </a:r>
          </a:p>
        </p:txBody>
      </p:sp>
      <p:sp>
        <p:nvSpPr>
          <p:cNvPr id="14" name="Rectangle 13"/>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3428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A listed property-development platform</a:t>
            </a:r>
          </a:p>
          <a:p>
            <a:pPr>
              <a:lnSpc>
                <a:spcPts val="2135"/>
              </a:lnSpc>
              <a:spcBef>
                <a:spcPts val="0"/>
              </a:spcBef>
              <a:spcAft>
                <a:spcPts val="0"/>
              </a:spcAft>
            </a:pPr>
            <a:r>
              <a:rPr sz="1750" b="0" i="0">
                <a:solidFill>
                  <a:srgbClr val="183A32"/>
                </a:solidFill>
                <a:latin typeface="Arial"/>
              </a:rPr>
              <a:t>associated with the PIK2 area.</a:t>
            </a:r>
          </a:p>
        </p:txBody>
      </p:sp>
      <p:sp>
        <p:nvSpPr>
          <p:cNvPr id="16" name="Rectangle 15"/>
          <p:cNvSpPr/>
          <p:nvPr/>
        </p:nvSpPr>
        <p:spPr>
          <a:xfrm>
            <a:off x="685800" y="334632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25488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Where: The northern Jakarta–Tangerang/Banten</a:t>
            </a:r>
          </a:p>
          <a:p>
            <a:pPr>
              <a:lnSpc>
                <a:spcPts val="2135"/>
              </a:lnSpc>
              <a:spcBef>
                <a:spcPts val="0"/>
              </a:spcBef>
              <a:spcAft>
                <a:spcPts val="0"/>
              </a:spcAft>
            </a:pPr>
            <a:r>
              <a:rPr sz="1750" b="0" i="0">
                <a:solidFill>
                  <a:srgbClr val="183A32"/>
                </a:solidFill>
                <a:latin typeface="Arial"/>
              </a:rPr>
              <a:t>coastal development corridor.</a:t>
            </a:r>
          </a:p>
        </p:txBody>
      </p:sp>
      <p:sp>
        <p:nvSpPr>
          <p:cNvPr id="18" name="Rectangle 17"/>
          <p:cNvSpPr/>
          <p:nvPr/>
        </p:nvSpPr>
        <p:spPr>
          <a:xfrm>
            <a:off x="685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75480"/>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When: The issuer originated in another industry</a:t>
            </a:r>
          </a:p>
          <a:p>
            <a:pPr>
              <a:lnSpc>
                <a:spcPts val="2135"/>
              </a:lnSpc>
              <a:spcBef>
                <a:spcPts val="0"/>
              </a:spcBef>
              <a:spcAft>
                <a:spcPts val="0"/>
              </a:spcAft>
            </a:pPr>
            <a:r>
              <a:rPr sz="1750" b="0" i="0">
                <a:solidFill>
                  <a:srgbClr val="183A32"/>
                </a:solidFill>
                <a:latin typeface="Arial"/>
              </a:rPr>
              <a:t>and listed in 2018; its property transformation</a:t>
            </a:r>
          </a:p>
          <a:p>
            <a:pPr>
              <a:lnSpc>
                <a:spcPts val="2135"/>
              </a:lnSpc>
              <a:spcBef>
                <a:spcPts val="0"/>
              </a:spcBef>
              <a:spcAft>
                <a:spcPts val="0"/>
              </a:spcAft>
            </a:pPr>
            <a:r>
              <a:rPr sz="1750" b="0" i="0">
                <a:solidFill>
                  <a:srgbClr val="183A32"/>
                </a:solidFill>
                <a:latin typeface="Arial"/>
              </a:rPr>
              <a:t>followed a controlling-shareholder change in</a:t>
            </a:r>
          </a:p>
          <a:p>
            <a:pPr>
              <a:lnSpc>
                <a:spcPts val="2135"/>
              </a:lnSpc>
              <a:spcBef>
                <a:spcPts val="0"/>
              </a:spcBef>
              <a:spcAft>
                <a:spcPts val="0"/>
              </a:spcAft>
            </a:pPr>
            <a:r>
              <a:rPr sz="1750" b="0" i="0">
                <a:solidFill>
                  <a:srgbClr val="183A32"/>
                </a:solidFill>
                <a:latin typeface="Arial"/>
              </a:rPr>
              <a:t>2021.</a:t>
            </a:r>
          </a:p>
        </p:txBody>
      </p:sp>
      <p:sp>
        <p:nvSpPr>
          <p:cNvPr id="20" name="Rectangle 19"/>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08483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Who is behind it: PT Multi Artha Pratama, with</a:t>
            </a:r>
          </a:p>
          <a:p>
            <a:pPr>
              <a:lnSpc>
                <a:spcPts val="2135"/>
              </a:lnSpc>
              <a:spcBef>
                <a:spcPts val="0"/>
              </a:spcBef>
              <a:spcAft>
                <a:spcPts val="0"/>
              </a:spcAft>
            </a:pPr>
            <a:r>
              <a:rPr sz="1750" b="0" i="0">
                <a:solidFill>
                  <a:srgbClr val="183A32"/>
                </a:solidFill>
                <a:latin typeface="Arial"/>
              </a:rPr>
              <a:t>sponsorship associated with Agung Sedayu</a:t>
            </a:r>
          </a:p>
          <a:p>
            <a:pPr>
              <a:lnSpc>
                <a:spcPts val="2135"/>
              </a:lnSpc>
              <a:spcBef>
                <a:spcPts val="0"/>
              </a:spcBef>
              <a:spcAft>
                <a:spcPts val="0"/>
              </a:spcAft>
            </a:pPr>
            <a:r>
              <a:rPr sz="1750" b="0" i="0">
                <a:solidFill>
                  <a:srgbClr val="183A32"/>
                </a:solidFill>
                <a:latin typeface="Arial"/>
              </a:rPr>
              <a:t>Group and Salim Group.</a:t>
            </a:r>
          </a:p>
        </p:txBody>
      </p:sp>
      <p:sp>
        <p:nvSpPr>
          <p:cNvPr id="22" name="Rectangle 21"/>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076574"/>
            <a:ext cx="4910328" cy="1144015"/>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Why and how — analyst interpretation: Combine</a:t>
            </a:r>
          </a:p>
          <a:p>
            <a:pPr>
              <a:lnSpc>
                <a:spcPts val="2135"/>
              </a:lnSpc>
              <a:spcBef>
                <a:spcPts val="0"/>
              </a:spcBef>
              <a:spcAft>
                <a:spcPts val="0"/>
              </a:spcAft>
            </a:pPr>
            <a:r>
              <a:rPr sz="1750" b="0" i="0">
                <a:solidFill>
                  <a:srgbClr val="183A32"/>
                </a:solidFill>
                <a:latin typeface="Arial"/>
              </a:rPr>
              <a:t>a large development pipeline, sponsor</a:t>
            </a:r>
          </a:p>
          <a:p>
            <a:pPr>
              <a:lnSpc>
                <a:spcPts val="2135"/>
              </a:lnSpc>
              <a:spcBef>
                <a:spcPts val="0"/>
              </a:spcBef>
              <a:spcAft>
                <a:spcPts val="0"/>
              </a:spcAft>
            </a:pPr>
            <a:r>
              <a:rPr sz="1750" b="0" i="0">
                <a:solidFill>
                  <a:srgbClr val="183A32"/>
                </a:solidFill>
                <a:latin typeface="Arial"/>
              </a:rPr>
              <a:t>capabilities, corporate transactions, and</a:t>
            </a:r>
          </a:p>
          <a:p>
            <a:pPr>
              <a:lnSpc>
                <a:spcPts val="2135"/>
              </a:lnSpc>
              <a:spcBef>
                <a:spcPts val="0"/>
              </a:spcBef>
              <a:spcAft>
                <a:spcPts val="0"/>
              </a:spcAft>
            </a:pPr>
            <a:r>
              <a:rPr sz="1750" b="0" i="0">
                <a:solidFill>
                  <a:srgbClr val="183A32"/>
                </a:solidFill>
                <a:latin typeface="Arial"/>
              </a:rPr>
              <a:t>capital-market funding.</a:t>
            </a:r>
          </a:p>
        </p:txBody>
      </p:sp>
      <p:sp>
        <p:nvSpPr>
          <p:cNvPr id="24" name="TextBox 23"/>
          <p:cNvSpPr txBox="1"/>
          <p:nvPr/>
        </p:nvSpPr>
        <p:spPr>
          <a:xfrm>
            <a:off x="6400800" y="4339463"/>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Key distinction: PANI is not the entirety of either</a:t>
            </a:r>
          </a:p>
          <a:p>
            <a:pPr>
              <a:lnSpc>
                <a:spcPts val="2196"/>
              </a:lnSpc>
              <a:spcBef>
                <a:spcPts val="0"/>
              </a:spcBef>
              <a:spcAft>
                <a:spcPts val="0"/>
              </a:spcAft>
            </a:pPr>
            <a:r>
              <a:rPr sz="1800" b="0" i="0">
                <a:solidFill>
                  <a:srgbClr val="183A32"/>
                </a:solidFill>
                <a:latin typeface="Times New Roman"/>
              </a:rPr>
              <a:t>sponsor group or every asset carrying the PIK identity.</a:t>
            </a:r>
          </a:p>
        </p:txBody>
      </p:sp>
      <p:sp>
        <p:nvSpPr>
          <p:cNvPr id="25" name="TextBox 2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Official company history.</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100–100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233</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The transformation was accelerated by corporate</a:t>
            </a:r>
          </a:p>
          <a:p>
            <a:pPr>
              <a:lnSpc>
                <a:spcPts val="3502"/>
              </a:lnSpc>
              <a:spcBef>
                <a:spcPts val="0"/>
              </a:spcBef>
              <a:spcAft>
                <a:spcPts val="0"/>
              </a:spcAft>
            </a:pPr>
            <a:r>
              <a:rPr sz="3100" b="0" i="0">
                <a:solidFill>
                  <a:srgbClr val="153F35"/>
                </a:solidFill>
                <a:latin typeface="Arial"/>
              </a:rPr>
              <a:t>actions</a:t>
            </a:r>
          </a:p>
        </p:txBody>
      </p:sp>
      <p:graphicFrame>
        <p:nvGraphicFramePr>
          <p:cNvPr id="11" name="Table 10"/>
          <p:cNvGraphicFramePr>
            <a:graphicFrameLocks noGrp="1"/>
          </p:cNvGraphicFramePr>
          <p:nvPr/>
        </p:nvGraphicFramePr>
        <p:xfrm>
          <a:off x="685800" y="2169921"/>
          <a:ext cx="10789919" cy="34676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Period</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Milestone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2001</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Commercial operations in can packaging</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2018</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Public listing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2021</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Change in controlling shareholder</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2022</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Rights issue and property-platform expansion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2023</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Further rights issue of approximately Rp10.5 trillion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2024</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Private placements raising approximately Rp6.5 trillion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2025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CBDK subsidiary listing and further development of the operating platform</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PANI official history and corporate-action chronology.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100–100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234</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The transformation was accelerated by corporate</a:t>
            </a:r>
          </a:p>
          <a:p>
            <a:pPr>
              <a:lnSpc>
                <a:spcPts val="3502"/>
              </a:lnSpc>
              <a:spcBef>
                <a:spcPts val="0"/>
              </a:spcBef>
              <a:spcAft>
                <a:spcPts val="0"/>
              </a:spcAft>
            </a:pPr>
            <a:r>
              <a:rPr sz="3100" b="0" i="0">
                <a:solidFill>
                  <a:srgbClr val="153F35"/>
                </a:solidFill>
                <a:latin typeface="Arial"/>
              </a:rPr>
              <a:t>actions</a:t>
            </a:r>
          </a:p>
        </p:txBody>
      </p:sp>
      <p:sp>
        <p:nvSpPr>
          <p:cNvPr id="11" name="TextBox 10"/>
          <p:cNvSpPr txBox="1"/>
          <p:nvPr/>
        </p:nvSpPr>
        <p:spPr>
          <a:xfrm>
            <a:off x="685800" y="216992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Analyst interpretation: This is not a simple story of a small developer growing exclusively through retained profits.</a:t>
            </a:r>
          </a:p>
          <a:p>
            <a:pPr>
              <a:lnSpc>
                <a:spcPts val="2196"/>
              </a:lnSpc>
              <a:spcBef>
                <a:spcPts val="0"/>
              </a:spcBef>
              <a:spcAft>
                <a:spcPts val="0"/>
              </a:spcAft>
            </a:pPr>
            <a:r>
              <a:rPr sz="1800" b="0" i="0">
                <a:solidFill>
                  <a:srgbClr val="183A32"/>
                </a:solidFill>
                <a:latin typeface="Times New Roman"/>
              </a:rPr>
              <a:t>Capital raising and asset acquisition are central to the case.</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PANI official history and corporate-action chronology.</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101–101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How the growth model works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ASSESSMENT</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model connects:</a:t>
            </a:r>
          </a:p>
        </p:txBody>
      </p:sp>
      <p:sp>
        <p:nvSpPr>
          <p:cNvPr id="13" name="Rectangle 12"/>
          <p:cNvSpPr/>
          <p:nvPr/>
        </p:nvSpPr>
        <p:spPr>
          <a:xfrm>
            <a:off x="685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907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Sponsor development experience.</a:t>
            </a:r>
          </a:p>
        </p:txBody>
      </p:sp>
      <p:sp>
        <p:nvSpPr>
          <p:cNvPr id="15" name="Rectangle 14"/>
          <p:cNvSpPr/>
          <p:nvPr/>
        </p:nvSpPr>
        <p:spPr>
          <a:xfrm>
            <a:off x="685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3402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 to a substantial project pipeline.</a:t>
            </a:r>
          </a:p>
        </p:txBody>
      </p:sp>
      <p:sp>
        <p:nvSpPr>
          <p:cNvPr id="17" name="Rectangle 16"/>
          <p:cNvSpPr/>
          <p:nvPr/>
        </p:nvSpPr>
        <p:spPr>
          <a:xfrm>
            <a:off x="685800" y="388111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8967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Capital raised through listed entities.</a:t>
            </a:r>
          </a:p>
        </p:txBody>
      </p:sp>
      <p:sp>
        <p:nvSpPr>
          <p:cNvPr id="19" name="Rectangle 18"/>
          <p:cNvSpPr/>
          <p:nvPr/>
        </p:nvSpPr>
        <p:spPr>
          <a:xfrm>
            <a:off x="685800" y="43305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23913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Residential and commercial handovers.</a:t>
            </a:r>
          </a:p>
        </p:txBody>
      </p:sp>
      <p:sp>
        <p:nvSpPr>
          <p:cNvPr id="21" name="Rectangle 20"/>
          <p:cNvSpPr/>
          <p:nvPr/>
        </p:nvSpPr>
        <p:spPr>
          <a:xfrm>
            <a:off x="685800" y="47800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68858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Destination and connectivity investments intended to strengthen area demand.</a:t>
            </a:r>
          </a:p>
        </p:txBody>
      </p:sp>
      <p:sp>
        <p:nvSpPr>
          <p:cNvPr id="23" name="TextBox 22"/>
          <p:cNvSpPr txBox="1"/>
          <p:nvPr/>
        </p:nvSpPr>
        <p:spPr>
          <a:xfrm>
            <a:off x="685800" y="513803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Competitive advantage: Funding capacity and coordinated development can accelerate the scale of a platform.</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PANI financial-results release.</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101–101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How the growth model works</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Trade-offs: Dilution, transaction governance, land readiness, infrastructure delivery, and concentration all require</a:t>
            </a:r>
          </a:p>
          <a:p>
            <a:pPr>
              <a:lnSpc>
                <a:spcPts val="2196"/>
              </a:lnSpc>
              <a:spcBef>
                <a:spcPts val="0"/>
              </a:spcBef>
              <a:spcAft>
                <a:spcPts val="0"/>
              </a:spcAft>
            </a:pPr>
            <a:r>
              <a:rPr sz="1800" b="0" i="0">
                <a:solidFill>
                  <a:srgbClr val="183A32"/>
                </a:solidFill>
                <a:latin typeface="Times New Roman"/>
              </a:rPr>
              <a:t>close attention.</a:t>
            </a:r>
          </a:p>
        </p:txBody>
      </p:sp>
      <p:sp>
        <p:nvSpPr>
          <p:cNvPr id="12" name="TextBox 1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Evidence reference: PANI financial-results release.</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101–101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Financial scale and the limits of headline growth</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REPORTED FIGURES, ROUNDED</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Revenue: approximately Rp4.3 trillion</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the parent: approximately Rp1.1 trillion</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revenue growth: approximately 52%</a:t>
            </a:r>
          </a:p>
        </p:txBody>
      </p:sp>
      <p:sp>
        <p:nvSpPr>
          <p:cNvPr id="18" name="Rectangle 17"/>
          <p:cNvSpPr/>
          <p:nvPr/>
        </p:nvSpPr>
        <p:spPr>
          <a:xfrm>
            <a:off x="685800" y="38733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7819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Reported attributable-profit growth: approximately 83%</a:t>
            </a:r>
          </a:p>
        </p:txBody>
      </p:sp>
      <p:sp>
        <p:nvSpPr>
          <p:cNvPr id="20" name="TextBox 19"/>
          <p:cNvSpPr txBox="1"/>
          <p:nvPr/>
        </p:nvSpPr>
        <p:spPr>
          <a:xfrm>
            <a:off x="685800" y="425881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21" name="TextBox 20"/>
          <p:cNvSpPr txBox="1"/>
          <p:nvPr/>
        </p:nvSpPr>
        <p:spPr>
          <a:xfrm>
            <a:off x="685800" y="45801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results demonstrate expansion of the listed platform. They do not, by themselves, separate organic</a:t>
            </a:r>
          </a:p>
          <a:p>
            <a:pPr>
              <a:lnSpc>
                <a:spcPts val="2196"/>
              </a:lnSpc>
              <a:spcBef>
                <a:spcPts val="0"/>
              </a:spcBef>
              <a:spcAft>
                <a:spcPts val="0"/>
              </a:spcAft>
            </a:pPr>
            <a:r>
              <a:rPr sz="1800" b="0" i="0">
                <a:solidFill>
                  <a:srgbClr val="183A32"/>
                </a:solidFill>
                <a:latin typeface="Times New Roman"/>
              </a:rPr>
              <a:t>development growth from the effects of acquired assets, funding, or changes in the reporting perimeter.</a:t>
            </a:r>
          </a:p>
        </p:txBody>
      </p:sp>
      <p:sp>
        <p:nvSpPr>
          <p:cNvPr id="22" name="TextBox 21"/>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PANI FY2025 financial-results release.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102–102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SWOT</a:t>
            </a:r>
          </a:p>
        </p:txBody>
      </p:sp>
      <p:sp>
        <p:nvSpPr>
          <p:cNvPr id="11" name="TextBox 10"/>
          <p:cNvSpPr txBox="1"/>
          <p:nvPr/>
        </p:nvSpPr>
        <p:spPr>
          <a:xfrm>
            <a:off x="685800" y="1874519"/>
            <a:ext cx="10789920" cy="198882"/>
          </a:xfrm>
          <a:prstGeom prst="rect">
            <a:avLst/>
          </a:prstGeom>
          <a:noFill/>
        </p:spPr>
        <p:txBody>
          <a:bodyPr wrap="none" lIns="0" rIns="0" tIns="0" bIns="0">
            <a:spAutoFit/>
          </a:bodyPr>
          <a:lstStyle/>
          <a:p>
            <a:pPr>
              <a:lnSpc>
                <a:spcPts val="1098"/>
              </a:lnSpc>
              <a:spcBef>
                <a:spcPts val="0"/>
              </a:spcBef>
              <a:spcAft>
                <a:spcPts val="0"/>
              </a:spcAft>
            </a:pPr>
            <a:r>
              <a:rPr sz="900" b="1" i="0">
                <a:solidFill>
                  <a:srgbClr val="AD843F"/>
                </a:solidFill>
                <a:latin typeface="Arial"/>
              </a:rPr>
              <a:t>ANALYST ASSESSMENT</a:t>
            </a:r>
          </a:p>
        </p:txBody>
      </p:sp>
      <p:sp>
        <p:nvSpPr>
          <p:cNvPr id="12" name="Rectangle 11"/>
          <p:cNvSpPr/>
          <p:nvPr/>
        </p:nvSpPr>
        <p:spPr>
          <a:xfrm>
            <a:off x="685800"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STRENGTHS</a:t>
            </a:r>
          </a:p>
        </p:txBody>
      </p:sp>
      <p:sp>
        <p:nvSpPr>
          <p:cNvPr id="14" name="TextBox 13"/>
          <p:cNvSpPr txBox="1"/>
          <p:nvPr/>
        </p:nvSpPr>
        <p:spPr>
          <a:xfrm>
            <a:off x="832104"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Sponsor capabilities and capital-market access</a:t>
            </a:r>
          </a:p>
        </p:txBody>
      </p:sp>
      <p:sp>
        <p:nvSpPr>
          <p:cNvPr id="15" name="TextBox 14"/>
          <p:cNvSpPr txBox="1"/>
          <p:nvPr/>
        </p:nvSpPr>
        <p:spPr>
          <a:xfrm>
            <a:off x="832104"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Large coordinated development opportunity</a:t>
            </a:r>
          </a:p>
        </p:txBody>
      </p:sp>
      <p:sp>
        <p:nvSpPr>
          <p:cNvPr id="16" name="TextBox 15"/>
          <p:cNvSpPr txBox="1"/>
          <p:nvPr/>
        </p:nvSpPr>
        <p:spPr>
          <a:xfrm>
            <a:off x="832104"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Ability to combine residential and commercial activity</a:t>
            </a:r>
          </a:p>
        </p:txBody>
      </p:sp>
      <p:sp>
        <p:nvSpPr>
          <p:cNvPr id="17" name="Rectangle 16"/>
          <p:cNvSpPr/>
          <p:nvPr/>
        </p:nvSpPr>
        <p:spPr>
          <a:xfrm>
            <a:off x="6190488" y="2084831"/>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194560"/>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WEAKNESSES / STRUCTURAL CONSTRAINTS</a:t>
            </a:r>
          </a:p>
        </p:txBody>
      </p:sp>
      <p:sp>
        <p:nvSpPr>
          <p:cNvPr id="19" name="TextBox 18"/>
          <p:cNvSpPr txBox="1"/>
          <p:nvPr/>
        </p:nvSpPr>
        <p:spPr>
          <a:xfrm>
            <a:off x="6336792" y="2478024"/>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Geographic concentration</a:t>
            </a:r>
          </a:p>
        </p:txBody>
      </p:sp>
      <p:sp>
        <p:nvSpPr>
          <p:cNvPr id="20" name="TextBox 19"/>
          <p:cNvSpPr txBox="1"/>
          <p:nvPr/>
        </p:nvSpPr>
        <p:spPr>
          <a:xfrm>
            <a:off x="6336792" y="27895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Dependence on infrastructure and staged delivery</a:t>
            </a:r>
          </a:p>
        </p:txBody>
      </p:sp>
      <p:sp>
        <p:nvSpPr>
          <p:cNvPr id="21" name="TextBox 20"/>
          <p:cNvSpPr txBox="1"/>
          <p:nvPr/>
        </p:nvSpPr>
        <p:spPr>
          <a:xfrm>
            <a:off x="6336792" y="3101086"/>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Corporate actions complicate organic-growth assessment</a:t>
            </a:r>
          </a:p>
        </p:txBody>
      </p:sp>
      <p:sp>
        <p:nvSpPr>
          <p:cNvPr id="22" name="Rectangle 21"/>
          <p:cNvSpPr/>
          <p:nvPr/>
        </p:nvSpPr>
        <p:spPr>
          <a:xfrm>
            <a:off x="685800"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OPPORTUNITIES</a:t>
            </a:r>
          </a:p>
        </p:txBody>
      </p:sp>
      <p:sp>
        <p:nvSpPr>
          <p:cNvPr id="24" name="TextBox 23"/>
          <p:cNvSpPr txBox="1"/>
          <p:nvPr/>
        </p:nvSpPr>
        <p:spPr>
          <a:xfrm>
            <a:off x="832104"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More activity within the development corridor</a:t>
            </a:r>
          </a:p>
        </p:txBody>
      </p:sp>
      <p:sp>
        <p:nvSpPr>
          <p:cNvPr id="25" name="TextBox 24"/>
          <p:cNvSpPr txBox="1"/>
          <p:nvPr/>
        </p:nvSpPr>
        <p:spPr>
          <a:xfrm>
            <a:off x="832104"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Additional employment and destination functions</a:t>
            </a:r>
          </a:p>
        </p:txBody>
      </p:sp>
      <p:sp>
        <p:nvSpPr>
          <p:cNvPr id="26" name="TextBox 25"/>
          <p:cNvSpPr txBox="1"/>
          <p:nvPr/>
        </p:nvSpPr>
        <p:spPr>
          <a:xfrm>
            <a:off x="832104"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Development of selected operating income</a:t>
            </a:r>
          </a:p>
        </p:txBody>
      </p:sp>
      <p:sp>
        <p:nvSpPr>
          <p:cNvPr id="27" name="Rectangle 26"/>
          <p:cNvSpPr/>
          <p:nvPr/>
        </p:nvSpPr>
        <p:spPr>
          <a:xfrm>
            <a:off x="6190488" y="3941063"/>
            <a:ext cx="5285232" cy="171907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050791"/>
            <a:ext cx="4992624" cy="214375"/>
          </a:xfrm>
          <a:prstGeom prst="rect">
            <a:avLst/>
          </a:prstGeom>
          <a:noFill/>
        </p:spPr>
        <p:txBody>
          <a:bodyPr wrap="none" lIns="0" rIns="0" tIns="0" bIns="0">
            <a:spAutoFit/>
          </a:bodyPr>
          <a:lstStyle/>
          <a:p>
            <a:pPr>
              <a:lnSpc>
                <a:spcPts val="1220"/>
              </a:lnSpc>
              <a:spcBef>
                <a:spcPts val="0"/>
              </a:spcBef>
              <a:spcAft>
                <a:spcPts val="0"/>
              </a:spcAft>
            </a:pPr>
            <a:r>
              <a:rPr sz="1000" b="1" i="0">
                <a:solidFill>
                  <a:srgbClr val="AD843F"/>
                </a:solidFill>
                <a:latin typeface="Arial"/>
              </a:rPr>
              <a:t>THREATS</a:t>
            </a:r>
          </a:p>
        </p:txBody>
      </p:sp>
      <p:sp>
        <p:nvSpPr>
          <p:cNvPr id="29" name="TextBox 28"/>
          <p:cNvSpPr txBox="1"/>
          <p:nvPr/>
        </p:nvSpPr>
        <p:spPr>
          <a:xfrm>
            <a:off x="6336792" y="4334255"/>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Affordability and speculative-demand cycles</a:t>
            </a:r>
          </a:p>
        </p:txBody>
      </p:sp>
      <p:sp>
        <p:nvSpPr>
          <p:cNvPr id="30" name="TextBox 29"/>
          <p:cNvSpPr txBox="1"/>
          <p:nvPr/>
        </p:nvSpPr>
        <p:spPr>
          <a:xfrm>
            <a:off x="6336792" y="4645787"/>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Land, permitting, and infrastructure execution risks</a:t>
            </a:r>
          </a:p>
        </p:txBody>
      </p:sp>
      <p:sp>
        <p:nvSpPr>
          <p:cNvPr id="31" name="TextBox 30"/>
          <p:cNvSpPr txBox="1"/>
          <p:nvPr/>
        </p:nvSpPr>
        <p:spPr>
          <a:xfrm>
            <a:off x="6336792" y="4957318"/>
            <a:ext cx="4992624" cy="284099"/>
          </a:xfrm>
          <a:prstGeom prst="rect">
            <a:avLst/>
          </a:prstGeom>
          <a:noFill/>
        </p:spPr>
        <p:txBody>
          <a:bodyPr wrap="none" lIns="0" rIns="0" tIns="0" bIns="0">
            <a:spAutoFit/>
          </a:bodyPr>
          <a:lstStyle/>
          <a:p>
            <a:pPr>
              <a:lnSpc>
                <a:spcPts val="1769"/>
              </a:lnSpc>
              <a:spcBef>
                <a:spcPts val="0"/>
              </a:spcBef>
              <a:spcAft>
                <a:spcPts val="0"/>
              </a:spcAft>
            </a:pPr>
            <a:r>
              <a:rPr sz="1450" b="0" i="0">
                <a:solidFill>
                  <a:srgbClr val="183A32"/>
                </a:solidFill>
                <a:latin typeface="Arial"/>
              </a:rPr>
              <a:t>• Coastal physical risks and environmental obligations</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103–103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239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Lessons for TANRISE</a:t>
            </a:r>
          </a:p>
        </p:txBody>
      </p:sp>
      <p:cxnSp>
        <p:nvCxnSpPr>
          <p:cNvPr id="11" name="Connector 10"/>
          <p:cNvCxnSpPr/>
          <p:nvPr/>
        </p:nvCxnSpPr>
        <p:spPr>
          <a:xfrm>
            <a:off x="6062472" y="2084831"/>
            <a:ext cx="0" cy="31318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Consider strategic investors, partnerships, and</a:t>
            </a:r>
          </a:p>
          <a:p>
            <a:pPr>
              <a:lnSpc>
                <a:spcPts val="2135"/>
              </a:lnSpc>
              <a:spcBef>
                <a:spcPts val="0"/>
              </a:spcBef>
              <a:spcAft>
                <a:spcPts val="0"/>
              </a:spcAft>
            </a:pPr>
            <a:r>
              <a:rPr sz="1750" b="0" i="0">
                <a:solidFill>
                  <a:srgbClr val="183A32"/>
                </a:solidFill>
                <a:latin typeface="Arial"/>
              </a:rPr>
              <a:t>capital raising as possible tools.</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Match funding commitments to a verified</a:t>
            </a:r>
          </a:p>
          <a:p>
            <a:pPr>
              <a:lnSpc>
                <a:spcPts val="2135"/>
              </a:lnSpc>
              <a:spcBef>
                <a:spcPts val="0"/>
              </a:spcBef>
              <a:spcAft>
                <a:spcPts val="0"/>
              </a:spcAft>
            </a:pPr>
            <a:r>
              <a:rPr sz="1750" b="0" i="0">
                <a:solidFill>
                  <a:srgbClr val="183A32"/>
                </a:solidFill>
                <a:latin typeface="Arial"/>
              </a:rPr>
              <a:t>development pipeline.</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Evaluate acquisitions using cash flow, legal</a:t>
            </a:r>
          </a:p>
          <a:p>
            <a:pPr>
              <a:lnSpc>
                <a:spcPts val="2135"/>
              </a:lnSpc>
              <a:spcBef>
                <a:spcPts val="0"/>
              </a:spcBef>
              <a:spcAft>
                <a:spcPts val="0"/>
              </a:spcAft>
            </a:pPr>
            <a:r>
              <a:rPr sz="1750" b="0" i="0">
                <a:solidFill>
                  <a:srgbClr val="183A32"/>
                </a:solidFill>
                <a:latin typeface="Arial"/>
              </a:rPr>
              <a:t>readiness, and management capacity.</a:t>
            </a:r>
          </a:p>
        </p:txBody>
      </p:sp>
      <p:sp>
        <p:nvSpPr>
          <p:cNvPr id="19" name="Rectangle 18"/>
          <p:cNvSpPr/>
          <p:nvPr/>
        </p:nvSpPr>
        <p:spPr>
          <a:xfrm>
            <a:off x="685800" y="468680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595368"/>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Distinguish growth created through operations</a:t>
            </a:r>
          </a:p>
          <a:p>
            <a:pPr>
              <a:lnSpc>
                <a:spcPts val="2135"/>
              </a:lnSpc>
              <a:spcBef>
                <a:spcPts val="0"/>
              </a:spcBef>
              <a:spcAft>
                <a:spcPts val="0"/>
              </a:spcAft>
            </a:pPr>
            <a:r>
              <a:rPr sz="1750" b="0" i="0">
                <a:solidFill>
                  <a:srgbClr val="183A32"/>
                </a:solidFill>
                <a:latin typeface="Arial"/>
              </a:rPr>
              <a:t>from growth created through transactions.</a:t>
            </a:r>
          </a:p>
        </p:txBody>
      </p:sp>
      <p:sp>
        <p:nvSpPr>
          <p:cNvPr id="21" name="Rectangle 20"/>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Preserve shareholder economics when seeking</a:t>
            </a:r>
          </a:p>
          <a:p>
            <a:pPr>
              <a:lnSpc>
                <a:spcPts val="2135"/>
              </a:lnSpc>
              <a:spcBef>
                <a:spcPts val="0"/>
              </a:spcBef>
              <a:spcAft>
                <a:spcPts val="0"/>
              </a:spcAft>
            </a:pPr>
            <a:r>
              <a:rPr sz="1750" b="0" i="0">
                <a:solidFill>
                  <a:srgbClr val="183A32"/>
                </a:solidFill>
                <a:latin typeface="Arial"/>
              </a:rPr>
              <a:t>scale.</a:t>
            </a:r>
          </a:p>
        </p:txBody>
      </p:sp>
      <p:sp>
        <p:nvSpPr>
          <p:cNvPr id="23" name="Rectangle 22"/>
          <p:cNvSpPr/>
          <p:nvPr/>
        </p:nvSpPr>
        <p:spPr>
          <a:xfrm>
            <a:off x="6400800" y="2805430"/>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05430"/>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2887726"/>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First test: Compare organic growth, land partnerships,</a:t>
            </a:r>
          </a:p>
          <a:p>
            <a:pPr>
              <a:lnSpc>
                <a:spcPts val="2013"/>
              </a:lnSpc>
              <a:spcBef>
                <a:spcPts val="0"/>
              </a:spcBef>
              <a:spcAft>
                <a:spcPts val="0"/>
              </a:spcAft>
            </a:pPr>
            <a:r>
              <a:rPr sz="1650" b="0" i="0">
                <a:solidFill>
                  <a:srgbClr val="183A32"/>
                </a:solidFill>
                <a:latin typeface="Times New Roman"/>
              </a:rPr>
              <a:t>and acquisition-led growth under one funding and return</a:t>
            </a:r>
          </a:p>
          <a:p>
            <a:pPr>
              <a:lnSpc>
                <a:spcPts val="2013"/>
              </a:lnSpc>
              <a:spcBef>
                <a:spcPts val="0"/>
              </a:spcBef>
              <a:spcAft>
                <a:spcPts val="0"/>
              </a:spcAft>
            </a:pPr>
            <a:r>
              <a:rPr sz="1650" b="0" i="0">
                <a:solidFill>
                  <a:srgbClr val="183A32"/>
                </a:solidFill>
                <a:latin typeface="Times New Roman"/>
              </a:rPr>
              <a:t>framework.</a:t>
            </a:r>
          </a:p>
        </p:txBody>
      </p:sp>
      <p:sp>
        <p:nvSpPr>
          <p:cNvPr id="26" name="Rectangle 25"/>
          <p:cNvSpPr/>
          <p:nvPr/>
        </p:nvSpPr>
        <p:spPr>
          <a:xfrm>
            <a:off x="6400800" y="3889565"/>
            <a:ext cx="5074920" cy="992695"/>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889565"/>
            <a:ext cx="32004" cy="992695"/>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3971861"/>
            <a:ext cx="4818888" cy="826389"/>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Avoid copying prematurely: Assuming that</a:t>
            </a:r>
          </a:p>
          <a:p>
            <a:pPr>
              <a:lnSpc>
                <a:spcPts val="2013"/>
              </a:lnSpc>
              <a:spcBef>
                <a:spcPts val="0"/>
              </a:spcBef>
              <a:spcAft>
                <a:spcPts val="0"/>
              </a:spcAft>
            </a:pPr>
            <a:r>
              <a:rPr sz="1650" b="0" i="0">
                <a:solidFill>
                  <a:srgbClr val="183A32"/>
                </a:solidFill>
                <a:latin typeface="Times New Roman"/>
              </a:rPr>
              <a:t>public-market capital will be available on favourable</a:t>
            </a:r>
          </a:p>
          <a:p>
            <a:pPr>
              <a:lnSpc>
                <a:spcPts val="2013"/>
              </a:lnSpc>
              <a:spcBef>
                <a:spcPts val="0"/>
              </a:spcBef>
              <a:spcAft>
                <a:spcPts val="0"/>
              </a:spcAft>
            </a:pPr>
            <a:r>
              <a:rPr sz="1650" b="0" i="0">
                <a:solidFill>
                  <a:srgbClr val="183A32"/>
                </a:solidFill>
                <a:latin typeface="Times New Roman"/>
              </a:rPr>
              <a:t>terms whenever needed.</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103–104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Ten companies, different sources of competitive advantage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SYNTHESIS</a:t>
            </a:r>
          </a:p>
        </p:txBody>
      </p:sp>
      <p:graphicFrame>
        <p:nvGraphicFramePr>
          <p:cNvPr id="12" name="Table 11"/>
          <p:cNvGraphicFramePr>
            <a:graphicFrameLocks noGrp="1"/>
          </p:cNvGraphicFramePr>
          <p:nvPr/>
        </p:nvGraphicFramePr>
        <p:xfrm>
          <a:off x="685800" y="2433574"/>
          <a:ext cx="10789919" cy="30341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capability to study</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BSDE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Long-term township development and pipeline coordination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LPKR</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Affordability, portfolio complexity, and strategic refocusing</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Partnership-based replication across markets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SMRA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sequencing and activation</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PWON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Retained-asset operations and recurring income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APLN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Mixed-use economics and capital allocation</a:t>
                      </a:r>
                    </a:p>
                  </a:txBody>
                  <a:tcPr marL="109728" marR="109728" marT="82296" marB="0" anchor="t">
                    <a:solidFill>
                      <a:srgbClr val="E9E8DC"/>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103–104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Ten companies, different sources of competitive advantage</a:t>
            </a:r>
          </a:p>
        </p:txBody>
      </p:sp>
      <p:graphicFrame>
        <p:nvGraphicFramePr>
          <p:cNvPr id="11" name="Table 10"/>
          <p:cNvGraphicFramePr>
            <a:graphicFrameLocks noGrp="1"/>
          </p:cNvGraphicFramePr>
          <p:nvPr/>
        </p:nvGraphicFramePr>
        <p:xfrm>
          <a:off x="685800" y="2084831"/>
          <a:ext cx="10789919" cy="21672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capability to study</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DUTI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platforms within a consolidated group</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ASRI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identity, diversification, and funding discipline</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JRPT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Community usefulness and connectivity</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Sponsor-backed expansion and capital-market transactions</a:t>
                      </a:r>
                    </a:p>
                  </a:txBody>
                  <a:tcPr marL="109728" marR="109728" marT="82296" marB="0" anchor="t">
                    <a:solidFill>
                      <a:srgbClr val="E9E8DC"/>
                    </a:solidFill>
                    <a:lnL>
                      <a:noFill/>
                    </a:lnL>
                    <a:lnR>
                      <a:noFill/>
                    </a:lnR>
                    <a:lnT>
                      <a:noFill/>
                    </a:lnT>
                    <a:lnB>
                      <a:noFill/>
                    </a:lnB>
                  </a:tcPr>
                </a:tc>
              </a:tr>
            </a:tbl>
          </a:graphicData>
        </a:graphic>
      </p:graphicFrame>
      <p:sp>
        <p:nvSpPr>
          <p:cNvPr id="12" name="Rectangle 11"/>
          <p:cNvSpPr/>
          <p:nvPr/>
        </p:nvSpPr>
        <p:spPr>
          <a:xfrm>
            <a:off x="685800" y="4434967"/>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434967"/>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4517263"/>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conclusion: No single competitor provides a complete model for TANRISE.</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104–105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TANRISE can adopt, adapt, or defer</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APPLICATION</a:t>
            </a:r>
          </a:p>
        </p:txBody>
      </p:sp>
      <p:graphicFrame>
        <p:nvGraphicFramePr>
          <p:cNvPr id="12" name="Table 11"/>
          <p:cNvGraphicFramePr>
            <a:graphicFrameLocks noGrp="1"/>
          </p:cNvGraphicFramePr>
          <p:nvPr/>
        </p:nvGraphicFramePr>
        <p:xfrm>
          <a:off x="685800" y="2433574"/>
          <a:ext cx="10789919" cy="2662932"/>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Adopt as operating</a:t>
                      </a:r>
                    </a:p>
                    <a:p>
                      <a:pPr>
                        <a:lnSpc>
                          <a:spcPts val="1829"/>
                        </a:lnSpc>
                        <a:spcBef>
                          <a:spcPts val="0"/>
                        </a:spcBef>
                        <a:spcAft>
                          <a:spcPts val="0"/>
                        </a:spcAft>
                      </a:pPr>
                      <a:r>
                        <a:rPr sz="1550" b="1">
                          <a:solidFill>
                            <a:srgbClr val="F6F2E9"/>
                          </a:solidFill>
                          <a:latin typeface="Arial"/>
                        </a:rPr>
                        <a:t>discipline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Adapt through pilots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Defer until prerequisites exist</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Verified project and land</a:t>
                      </a:r>
                    </a:p>
                    <a:p>
                      <a:pPr>
                        <a:lnSpc>
                          <a:spcPts val="1829"/>
                        </a:lnSpc>
                        <a:spcBef>
                          <a:spcPts val="0"/>
                        </a:spcBef>
                        <a:spcAft>
                          <a:spcPts val="0"/>
                        </a:spcAft>
                      </a:pPr>
                      <a:r>
                        <a:rPr sz="1550" b="0">
                          <a:solidFill>
                            <a:srgbClr val="183A32"/>
                          </a:solidFill>
                          <a:latin typeface="Arial"/>
                        </a:rPr>
                        <a:t>register</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Landowner partnerships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Very large speculative anchors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Affordability and</a:t>
                      </a:r>
                    </a:p>
                    <a:p>
                      <a:pPr>
                        <a:lnSpc>
                          <a:spcPts val="1829"/>
                        </a:lnSpc>
                        <a:spcBef>
                          <a:spcPts val="0"/>
                        </a:spcBef>
                        <a:spcAft>
                          <a:spcPts val="0"/>
                        </a:spcAft>
                      </a:pPr>
                      <a:r>
                        <a:rPr sz="1550" b="0">
                          <a:solidFill>
                            <a:srgbClr val="183A32"/>
                          </a:solidFill>
                          <a:latin typeface="Arial"/>
                        </a:rPr>
                        <a:t>customer research</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Employer-linked residential</a:t>
                      </a:r>
                    </a:p>
                    <a:p>
                      <a:pPr>
                        <a:lnSpc>
                          <a:spcPts val="1829"/>
                        </a:lnSpc>
                        <a:spcBef>
                          <a:spcPts val="0"/>
                        </a:spcBef>
                        <a:spcAft>
                          <a:spcPts val="0"/>
                        </a:spcAft>
                      </a:pPr>
                      <a:r>
                        <a:rPr sz="1550" b="0">
                          <a:solidFill>
                            <a:srgbClr val="183A32"/>
                          </a:solidFill>
                          <a:latin typeface="Arial"/>
                        </a:rPr>
                        <a:t>demand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Broad geographic expansion</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Phased development</a:t>
                      </a:r>
                    </a:p>
                    <a:p>
                      <a:pPr>
                        <a:lnSpc>
                          <a:spcPts val="1829"/>
                        </a:lnSpc>
                        <a:spcBef>
                          <a:spcPts val="0"/>
                        </a:spcBef>
                        <a:spcAft>
                          <a:spcPts val="0"/>
                        </a:spcAft>
                      </a:pPr>
                      <a:r>
                        <a:rPr sz="1550" b="0">
                          <a:solidFill>
                            <a:srgbClr val="183A32"/>
                          </a:solidFill>
                          <a:latin typeface="Arial"/>
                        </a:rPr>
                        <a:t>and cash planning</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Smaller community and</a:t>
                      </a:r>
                    </a:p>
                    <a:p>
                      <a:pPr>
                        <a:lnSpc>
                          <a:spcPts val="1829"/>
                        </a:lnSpc>
                        <a:spcBef>
                          <a:spcPts val="0"/>
                        </a:spcBef>
                        <a:spcAft>
                          <a:spcPts val="0"/>
                        </a:spcAft>
                      </a:pPr>
                      <a:r>
                        <a:rPr sz="1550" b="0">
                          <a:solidFill>
                            <a:srgbClr val="183A32"/>
                          </a:solidFill>
                          <a:latin typeface="Arial"/>
                        </a:rPr>
                        <a:t>commercial facilities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Major acquisitions without integration capacity</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104–105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TANRISE can adopt, adapt, or defer</a:t>
            </a:r>
          </a:p>
        </p:txBody>
      </p:sp>
      <p:graphicFrame>
        <p:nvGraphicFramePr>
          <p:cNvPr id="11" name="Table 10"/>
          <p:cNvGraphicFramePr>
            <a:graphicFrameLocks noGrp="1"/>
          </p:cNvGraphicFramePr>
          <p:nvPr/>
        </p:nvGraphicFramePr>
        <p:xfrm>
          <a:off x="685800" y="2084831"/>
          <a:ext cx="10789919" cy="2229483"/>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Adopt as operating</a:t>
                      </a:r>
                    </a:p>
                    <a:p>
                      <a:pPr>
                        <a:lnSpc>
                          <a:spcPts val="1829"/>
                        </a:lnSpc>
                        <a:spcBef>
                          <a:spcPts val="0"/>
                        </a:spcBef>
                        <a:spcAft>
                          <a:spcPts val="0"/>
                        </a:spcAft>
                      </a:pPr>
                      <a:r>
                        <a:rPr sz="1550" b="1">
                          <a:solidFill>
                            <a:srgbClr val="F6F2E9"/>
                          </a:solidFill>
                          <a:latin typeface="Arial"/>
                        </a:rPr>
                        <a:t>discipline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Adapt through pilots</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Defer until prerequisites exist</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Inventory and</a:t>
                      </a:r>
                    </a:p>
                    <a:p>
                      <a:pPr>
                        <a:lnSpc>
                          <a:spcPts val="1829"/>
                        </a:lnSpc>
                        <a:spcBef>
                          <a:spcPts val="0"/>
                        </a:spcBef>
                        <a:spcAft>
                          <a:spcPts val="0"/>
                        </a:spcAft>
                      </a:pPr>
                      <a:r>
                        <a:rPr sz="1550" b="0">
                          <a:solidFill>
                            <a:srgbClr val="183A32"/>
                          </a:solidFill>
                          <a:latin typeface="Arial"/>
                        </a:rPr>
                        <a:t>asset-productivity</a:t>
                      </a:r>
                    </a:p>
                    <a:p>
                      <a:pPr>
                        <a:lnSpc>
                          <a:spcPts val="1829"/>
                        </a:lnSpc>
                        <a:spcBef>
                          <a:spcPts val="0"/>
                        </a:spcBef>
                        <a:spcAft>
                          <a:spcPts val="0"/>
                        </a:spcAft>
                      </a:pPr>
                      <a:r>
                        <a:rPr sz="1550" b="0">
                          <a:solidFill>
                            <a:srgbClr val="183A32"/>
                          </a:solidFill>
                          <a:latin typeface="Arial"/>
                        </a:rPr>
                        <a:t>reviews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Selective recurring-income</a:t>
                      </a:r>
                    </a:p>
                    <a:p>
                      <a:pPr>
                        <a:lnSpc>
                          <a:spcPts val="1829"/>
                        </a:lnSpc>
                        <a:spcBef>
                          <a:spcPts val="0"/>
                        </a:spcBef>
                        <a:spcAft>
                          <a:spcPts val="0"/>
                        </a:spcAft>
                      </a:pPr>
                      <a:r>
                        <a:rPr sz="1550" b="0">
                          <a:solidFill>
                            <a:srgbClr val="183A32"/>
                          </a:solidFill>
                          <a:latin typeface="Arial"/>
                        </a:rPr>
                        <a:t>investments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Complex mixed-use development without funding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Clear owner/operator</a:t>
                      </a:r>
                    </a:p>
                    <a:p>
                      <a:pPr>
                        <a:lnSpc>
                          <a:spcPts val="1829"/>
                        </a:lnSpc>
                        <a:spcBef>
                          <a:spcPts val="0"/>
                        </a:spcBef>
                        <a:spcAft>
                          <a:spcPts val="0"/>
                        </a:spcAft>
                      </a:pPr>
                      <a:r>
                        <a:rPr sz="1550" b="0">
                          <a:solidFill>
                            <a:srgbClr val="183A32"/>
                          </a:solidFill>
                          <a:latin typeface="Arial"/>
                        </a:rPr>
                        <a:t>responsibilities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New locations after repeatable</a:t>
                      </a:r>
                    </a:p>
                    <a:p>
                      <a:pPr>
                        <a:lnSpc>
                          <a:spcPts val="1829"/>
                        </a:lnSpc>
                        <a:spcBef>
                          <a:spcPts val="0"/>
                        </a:spcBef>
                        <a:spcAft>
                          <a:spcPts val="0"/>
                        </a:spcAft>
                      </a:pPr>
                      <a:r>
                        <a:rPr sz="1550" b="0">
                          <a:solidFill>
                            <a:srgbClr val="183A32"/>
                          </a:solidFill>
                          <a:latin typeface="Arial"/>
                        </a:rPr>
                        <a:t>delivery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Diversification driven mainly by image</a:t>
                      </a:r>
                    </a:p>
                  </a:txBody>
                  <a:tcPr marL="109728" marR="109728" marT="82296" marB="0" anchor="t">
                    <a:solidFill>
                      <a:srgbClr val="E9E8DC"/>
                    </a:solidFill>
                    <a:lnL>
                      <a:noFill/>
                    </a:lnL>
                    <a:lnR>
                      <a:noFill/>
                    </a:lnR>
                    <a:lnT>
                      <a:noFill/>
                    </a:lnT>
                    <a:lnB>
                      <a:noFill/>
                    </a:lnB>
                  </a:tcPr>
                </a:tc>
              </a:tr>
            </a:tbl>
          </a:graphicData>
        </a:graphic>
      </p:graphicFrame>
      <p:sp>
        <p:nvSpPr>
          <p:cNvPr id="12" name="Rectangle 11"/>
          <p:cNvSpPr/>
          <p:nvPr/>
        </p:nvSpPr>
        <p:spPr>
          <a:xfrm>
            <a:off x="685800" y="449719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49719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457949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TANRISE should copy decision quality before copying portfolio breadth.</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105–106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TANRISE’s current economics should shape the growth plan</a:t>
            </a:r>
          </a:p>
        </p:txBody>
      </p:sp>
      <p:cxnSp>
        <p:nvCxnSpPr>
          <p:cNvPr id="11" name="Connector 10"/>
          <p:cNvCxnSpPr/>
          <p:nvPr/>
        </p:nvCxnSpPr>
        <p:spPr>
          <a:xfrm>
            <a:off x="6062472" y="2084831"/>
            <a:ext cx="0" cy="260223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FY2025 AUDITED BASELINE</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Consolidated revenue: approximately Rp410.7</a:t>
            </a:r>
          </a:p>
          <a:p>
            <a:pPr>
              <a:lnSpc>
                <a:spcPts val="2135"/>
              </a:lnSpc>
              <a:spcBef>
                <a:spcPts val="0"/>
              </a:spcBef>
              <a:spcAft>
                <a:spcPts val="0"/>
              </a:spcAft>
            </a:pPr>
            <a:r>
              <a:rPr sz="1750" b="0" i="0">
                <a:solidFill>
                  <a:srgbClr val="183A32"/>
                </a:solidFill>
                <a:latin typeface="Arial"/>
              </a:rPr>
              <a:t>billion</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Profit attributable to owners: approximately</a:t>
            </a:r>
          </a:p>
          <a:p>
            <a:pPr>
              <a:lnSpc>
                <a:spcPts val="2135"/>
              </a:lnSpc>
              <a:spcBef>
                <a:spcPts val="0"/>
              </a:spcBef>
              <a:spcAft>
                <a:spcPts val="0"/>
              </a:spcAft>
            </a:pPr>
            <a:r>
              <a:rPr sz="1750" b="0" i="0">
                <a:solidFill>
                  <a:srgbClr val="183A32"/>
                </a:solidFill>
                <a:latin typeface="Arial"/>
              </a:rPr>
              <a:t>Rp87.2 billion</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revenue: approximately Rp180.5 billion</a:t>
            </a:r>
          </a:p>
        </p:txBody>
      </p:sp>
      <p:sp>
        <p:nvSpPr>
          <p:cNvPr id="19" name="Rectangle 18"/>
          <p:cNvSpPr/>
          <p:nvPr/>
        </p:nvSpPr>
        <p:spPr>
          <a:xfrm>
            <a:off x="685800" y="44156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324223"/>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Apartment sales: approximately Rp151.4 billion</a:t>
            </a:r>
          </a:p>
        </p:txBody>
      </p:sp>
      <p:sp>
        <p:nvSpPr>
          <p:cNvPr id="21" name="TextBox 20"/>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ANALYST INTERPRETATION</a:t>
            </a:r>
          </a:p>
        </p:txBody>
      </p:sp>
      <p:sp>
        <p:nvSpPr>
          <p:cNvPr id="22" name="TextBox 21"/>
          <p:cNvSpPr txBox="1"/>
          <p:nvPr/>
        </p:nvSpPr>
        <p:spPr>
          <a:xfrm>
            <a:off x="6400800" y="243357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existing revenue mix differs from the leadership</a:t>
            </a:r>
          </a:p>
          <a:p>
            <a:pPr>
              <a:lnSpc>
                <a:spcPts val="2196"/>
              </a:lnSpc>
              <a:spcBef>
                <a:spcPts val="0"/>
              </a:spcBef>
              <a:spcAft>
                <a:spcPts val="0"/>
              </a:spcAft>
            </a:pPr>
            <a:r>
              <a:rPr sz="1800" b="0" i="0">
                <a:solidFill>
                  <a:srgbClr val="183A32"/>
                </a:solidFill>
                <a:latin typeface="Times New Roman"/>
              </a:rPr>
              <a:t>ambition to make residential and</a:t>
            </a:r>
          </a:p>
          <a:p>
            <a:pPr>
              <a:lnSpc>
                <a:spcPts val="2196"/>
              </a:lnSpc>
              <a:spcBef>
                <a:spcPts val="0"/>
              </a:spcBef>
              <a:spcAft>
                <a:spcPts val="0"/>
              </a:spcAft>
            </a:pPr>
            <a:r>
              <a:rPr sz="1800" b="0" i="0">
                <a:solidFill>
                  <a:srgbClr val="183A32"/>
                </a:solidFill>
                <a:latin typeface="Times New Roman"/>
              </a:rPr>
              <a:t>industrial/warehousing the main growth engines.</a:t>
            </a:r>
          </a:p>
        </p:txBody>
      </p:sp>
      <p:sp>
        <p:nvSpPr>
          <p:cNvPr id="23" name="TextBox 22"/>
          <p:cNvSpPr txBox="1"/>
          <p:nvPr/>
        </p:nvSpPr>
        <p:spPr>
          <a:xfrm>
            <a:off x="6400800" y="3448558"/>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That creates a practical transition question: how will</a:t>
            </a:r>
          </a:p>
          <a:p>
            <a:pPr>
              <a:lnSpc>
                <a:spcPts val="2196"/>
              </a:lnSpc>
              <a:spcBef>
                <a:spcPts val="0"/>
              </a:spcBef>
              <a:spcAft>
                <a:spcPts val="0"/>
              </a:spcAft>
            </a:pPr>
            <a:r>
              <a:rPr sz="1800" b="0" i="0">
                <a:solidFill>
                  <a:srgbClr val="183A32"/>
                </a:solidFill>
                <a:latin typeface="Times New Roman"/>
              </a:rPr>
              <a:t>TANRISE fund and execute new growth while</a:t>
            </a:r>
          </a:p>
          <a:p>
            <a:pPr>
              <a:lnSpc>
                <a:spcPts val="2196"/>
              </a:lnSpc>
              <a:spcBef>
                <a:spcPts val="0"/>
              </a:spcBef>
              <a:spcAft>
                <a:spcPts val="0"/>
              </a:spcAft>
            </a:pPr>
            <a:r>
              <a:rPr sz="1800" b="0" i="0">
                <a:solidFill>
                  <a:srgbClr val="183A32"/>
                </a:solidFill>
                <a:latin typeface="Times New Roman"/>
              </a:rPr>
              <a:t>maintaining or improving the productivity of existing</a:t>
            </a:r>
          </a:p>
          <a:p>
            <a:pPr>
              <a:lnSpc>
                <a:spcPts val="2196"/>
              </a:lnSpc>
              <a:spcBef>
                <a:spcPts val="0"/>
              </a:spcBef>
              <a:spcAft>
                <a:spcPts val="0"/>
              </a:spcAft>
            </a:pPr>
            <a:r>
              <a:rPr sz="1800" b="0" i="0">
                <a:solidFill>
                  <a:srgbClr val="183A32"/>
                </a:solidFill>
                <a:latin typeface="Times New Roman"/>
              </a:rPr>
              <a:t>assets?</a:t>
            </a:r>
          </a:p>
        </p:txBody>
      </p:sp>
      <p:sp>
        <p:nvSpPr>
          <p:cNvPr id="24" name="TextBox 23"/>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 TANRISE FY2025 audited statements — revenue note 27 and profit-attribution statement.</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106–107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2035 ambition requires a moving-target calculation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ILLUSTRATIVE REVENUE SCENARIOS, NOT FORECASTS</a:t>
            </a:r>
          </a:p>
        </p:txBody>
      </p:sp>
      <p:sp>
        <p:nvSpPr>
          <p:cNvPr id="12" name="TextBox 11"/>
          <p:cNvSpPr txBox="1"/>
          <p:nvPr/>
        </p:nvSpPr>
        <p:spPr>
          <a:xfrm>
            <a:off x="685800" y="24335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PWON’s FY2025 revenue of approximately Rp7.11 trillion is the fifth-highest within this selected cohort.</a:t>
            </a:r>
          </a:p>
        </p:txBody>
      </p:sp>
      <p:sp>
        <p:nvSpPr>
          <p:cNvPr id="13" name="TextBox 12"/>
          <p:cNvSpPr txBox="1"/>
          <p:nvPr/>
        </p:nvSpPr>
        <p:spPr>
          <a:xfrm>
            <a:off x="685800" y="28907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Starting from TANRISE’s FY2025 revenue of approximately Rp0.411 trillion:</a:t>
            </a:r>
          </a:p>
        </p:txBody>
      </p:sp>
      <p:graphicFrame>
        <p:nvGraphicFramePr>
          <p:cNvPr id="14" name="Table 13"/>
          <p:cNvGraphicFramePr>
            <a:graphicFrameLocks noGrp="1"/>
          </p:cNvGraphicFramePr>
          <p:nvPr/>
        </p:nvGraphicFramePr>
        <p:xfrm>
          <a:off x="685800" y="3347974"/>
          <a:ext cx="10789919" cy="2198367"/>
        </p:xfrm>
        <a:graphic>
          <a:graphicData uri="http://schemas.openxmlformats.org/drawingml/2006/table">
            <a:tbl>
              <a:tblPr firstRow="1" bandRow="1">
                <a:tableStyleId>{5C22544A-7EE6-4342-B048-85BDC9FD1C3A}</a:tableStyleId>
              </a:tblPr>
              <a:tblGrid>
                <a:gridCol w="2373782"/>
                <a:gridCol w="3236976"/>
                <a:gridCol w="5179161"/>
              </a:tblGrid>
              <a:tr h="898017">
                <a:tc>
                  <a:txBody>
                    <a:bodyPr wrap="none"/>
                    <a:lstStyle/>
                    <a:p>
                      <a:pPr>
                        <a:lnSpc>
                          <a:spcPts val="1829"/>
                        </a:lnSpc>
                        <a:spcBef>
                          <a:spcPts val="0"/>
                        </a:spcBef>
                        <a:spcAft>
                          <a:spcPts val="0"/>
                        </a:spcAft>
                      </a:pPr>
                      <a:r>
                        <a:rPr sz="1550" b="1">
                          <a:solidFill>
                            <a:srgbClr val="F6F2E9"/>
                          </a:solidFill>
                          <a:latin typeface="Arial"/>
                        </a:rPr>
                        <a:t>Assumed annual</a:t>
                      </a:r>
                    </a:p>
                    <a:p>
                      <a:pPr>
                        <a:lnSpc>
                          <a:spcPts val="1829"/>
                        </a:lnSpc>
                        <a:spcBef>
                          <a:spcPts val="0"/>
                        </a:spcBef>
                        <a:spcAft>
                          <a:spcPts val="0"/>
                        </a:spcAft>
                      </a:pPr>
                      <a:r>
                        <a:rPr sz="1550" b="1">
                          <a:solidFill>
                            <a:srgbClr val="F6F2E9"/>
                          </a:solidFill>
                          <a:latin typeface="Arial"/>
                        </a:rPr>
                        <a:t>growth of that</a:t>
                      </a:r>
                    </a:p>
                    <a:p>
                      <a:pPr>
                        <a:lnSpc>
                          <a:spcPts val="1829"/>
                        </a:lnSpc>
                        <a:spcBef>
                          <a:spcPts val="0"/>
                        </a:spcBef>
                        <a:spcAft>
                          <a:spcPts val="0"/>
                        </a:spcAft>
                      </a:pPr>
                      <a:r>
                        <a:rPr sz="1550" b="1">
                          <a:solidFill>
                            <a:srgbClr val="F6F2E9"/>
                          </a:solidFill>
                          <a:latin typeface="Arial"/>
                        </a:rPr>
                        <a:t>benchmark</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Illustrative benchmark in 2035</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revenue CAGR required, 2025–2035</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0%</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Rp7.11 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33.0%</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3%</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Rp9.56 trillion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37.0%</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5%</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Rp11.58 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39.6%</a:t>
                      </a:r>
                    </a:p>
                  </a:txBody>
                  <a:tcPr marL="109728" marR="109728" marT="82296" marB="0" anchor="t">
                    <a:solidFill>
                      <a:srgbClr val="F6F2E9"/>
                    </a:solidFill>
                    <a:lnL>
                      <a:noFill/>
                    </a:lnL>
                    <a:lnR>
                      <a:noFill/>
                    </a:lnR>
                    <a:lnT>
                      <a:noFill/>
                    </a:lnT>
                    <a:lnB>
                      <a:noFill/>
                    </a:lnB>
                  </a:tcPr>
                </a:tc>
              </a:tr>
            </a:tbl>
          </a:graphicData>
        </a:graphic>
      </p:graphicFrame>
      <p:sp>
        <p:nvSpPr>
          <p:cNvPr id="15" name="TextBox 14"/>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PWON audited baseline, TANRISE audited baseline. Calculations are analyst-derived.</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106–107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2035 ambition requires a moving-target calculation</a:t>
            </a:r>
          </a:p>
        </p:txBody>
      </p:sp>
      <p:graphicFrame>
        <p:nvGraphicFramePr>
          <p:cNvPr id="11" name="Table 10"/>
          <p:cNvGraphicFramePr>
            <a:graphicFrameLocks noGrp="1"/>
          </p:cNvGraphicFramePr>
          <p:nvPr/>
        </p:nvGraphicFramePr>
        <p:xfrm>
          <a:off x="685800" y="2084831"/>
          <a:ext cx="10789919" cy="1331467"/>
        </p:xfrm>
        <a:graphic>
          <a:graphicData uri="http://schemas.openxmlformats.org/drawingml/2006/table">
            <a:tbl>
              <a:tblPr firstRow="1" bandRow="1">
                <a:tableStyleId>{5C22544A-7EE6-4342-B048-85BDC9FD1C3A}</a:tableStyleId>
              </a:tblPr>
              <a:tblGrid>
                <a:gridCol w="2373782"/>
                <a:gridCol w="3236976"/>
                <a:gridCol w="5179161"/>
              </a:tblGrid>
              <a:tr h="898017">
                <a:tc>
                  <a:txBody>
                    <a:bodyPr wrap="none"/>
                    <a:lstStyle/>
                    <a:p>
                      <a:pPr>
                        <a:lnSpc>
                          <a:spcPts val="1829"/>
                        </a:lnSpc>
                        <a:spcBef>
                          <a:spcPts val="0"/>
                        </a:spcBef>
                        <a:spcAft>
                          <a:spcPts val="0"/>
                        </a:spcAft>
                      </a:pPr>
                      <a:r>
                        <a:rPr sz="1550" b="1">
                          <a:solidFill>
                            <a:srgbClr val="F6F2E9"/>
                          </a:solidFill>
                          <a:latin typeface="Arial"/>
                        </a:rPr>
                        <a:t>Assumed annual</a:t>
                      </a:r>
                    </a:p>
                    <a:p>
                      <a:pPr>
                        <a:lnSpc>
                          <a:spcPts val="1829"/>
                        </a:lnSpc>
                        <a:spcBef>
                          <a:spcPts val="0"/>
                        </a:spcBef>
                        <a:spcAft>
                          <a:spcPts val="0"/>
                        </a:spcAft>
                      </a:pPr>
                      <a:r>
                        <a:rPr sz="1550" b="1">
                          <a:solidFill>
                            <a:srgbClr val="F6F2E9"/>
                          </a:solidFill>
                          <a:latin typeface="Arial"/>
                        </a:rPr>
                        <a:t>growth of that</a:t>
                      </a:r>
                    </a:p>
                    <a:p>
                      <a:pPr>
                        <a:lnSpc>
                          <a:spcPts val="1829"/>
                        </a:lnSpc>
                        <a:spcBef>
                          <a:spcPts val="0"/>
                        </a:spcBef>
                        <a:spcAft>
                          <a:spcPts val="0"/>
                        </a:spcAft>
                      </a:pPr>
                      <a:r>
                        <a:rPr sz="1550" b="1">
                          <a:solidFill>
                            <a:srgbClr val="F6F2E9"/>
                          </a:solidFill>
                          <a:latin typeface="Arial"/>
                        </a:rPr>
                        <a:t>benchmark</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Illustrative benchmark in 2035</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revenue CAGR required, 2025–2035</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8%</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Rp15.35 trillion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43.6%</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362661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INTERPRETATION</a:t>
            </a:r>
          </a:p>
        </p:txBody>
      </p:sp>
      <p:sp>
        <p:nvSpPr>
          <p:cNvPr id="13" name="TextBox 12"/>
          <p:cNvSpPr txBox="1"/>
          <p:nvPr/>
        </p:nvSpPr>
        <p:spPr>
          <a:xfrm>
            <a:off x="685800" y="394792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Reaching the current benchmark requires approximately 17.3 times TANRISE’s FY2025 revenue. Competitors may</a:t>
            </a:r>
          </a:p>
          <a:p>
            <a:pPr>
              <a:lnSpc>
                <a:spcPts val="2196"/>
              </a:lnSpc>
              <a:spcBef>
                <a:spcPts val="0"/>
              </a:spcBef>
              <a:spcAft>
                <a:spcPts val="0"/>
              </a:spcAft>
            </a:pPr>
            <a:r>
              <a:rPr sz="1800" b="0" i="0">
                <a:solidFill>
                  <a:srgbClr val="183A32"/>
                </a:solidFill>
                <a:latin typeface="Times New Roman"/>
              </a:rPr>
              <a:t>grow, decline, merge, or change their portfolios.</a:t>
            </a:r>
          </a:p>
        </p:txBody>
      </p:sp>
      <p:sp>
        <p:nvSpPr>
          <p:cNvPr id="14" name="TextBox 13"/>
          <p:cNvSpPr txBox="1"/>
          <p:nvPr/>
        </p:nvSpPr>
        <p:spPr>
          <a:xfrm>
            <a:off x="685800" y="46840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This calculation does not prove national Top Five status or address the separate profit ambition.</a:t>
            </a:r>
          </a:p>
        </p:txBody>
      </p:sp>
      <p:sp>
        <p:nvSpPr>
          <p:cNvPr id="15" name="TextBox 14"/>
          <p:cNvSpPr txBox="1"/>
          <p:nvPr/>
        </p:nvSpPr>
        <p:spPr>
          <a:xfrm>
            <a:off x="685800" y="514121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Calculation: Benchmark × (1 + assumed growth)¹⁰; required CAGR = (2035 benchmark ÷ TANRISE baseline)¹⁄¹⁰ −</a:t>
            </a:r>
          </a:p>
          <a:p>
            <a:pPr>
              <a:lnSpc>
                <a:spcPts val="2196"/>
              </a:lnSpc>
              <a:spcBef>
                <a:spcPts val="0"/>
              </a:spcBef>
              <a:spcAft>
                <a:spcPts val="0"/>
              </a:spcAft>
            </a:pPr>
            <a:r>
              <a:rPr sz="1800" b="0" i="0">
                <a:solidFill>
                  <a:srgbClr val="183A32"/>
                </a:solidFill>
                <a:latin typeface="Times New Roman"/>
              </a:rPr>
              <a:t>1.</a:t>
            </a:r>
          </a:p>
        </p:txBody>
      </p:sp>
      <p:sp>
        <p:nvSpPr>
          <p:cNvPr id="16" name="TextBox 15"/>
          <p:cNvSpPr txBox="1"/>
          <p:nvPr/>
        </p:nvSpPr>
        <p:spPr>
          <a:xfrm>
            <a:off x="685800" y="6144768"/>
            <a:ext cx="10789920" cy="189357"/>
          </a:xfrm>
          <a:prstGeom prst="rect">
            <a:avLst/>
          </a:prstGeom>
          <a:noFill/>
        </p:spPr>
        <p:txBody>
          <a:bodyPr wrap="none" lIns="0" rIns="0" tIns="0" bIns="0">
            <a:spAutoFit/>
          </a:bodyPr>
          <a:lstStyle/>
          <a:p>
            <a:pPr>
              <a:lnSpc>
                <a:spcPts val="1023"/>
              </a:lnSpc>
              <a:spcBef>
                <a:spcPts val="0"/>
              </a:spcBef>
              <a:spcAft>
                <a:spcPts val="0"/>
              </a:spcAft>
            </a:pPr>
            <a:r>
              <a:rPr sz="930" b="0" i="0">
                <a:solidFill>
                  <a:srgbClr val="68766B"/>
                </a:solidFill>
                <a:latin typeface="Arial"/>
              </a:rPr>
              <a:t>Sources: PWON audited baseline, TANRISE audited baseline. Calculations are analyst-derived.</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Proposed TANRISE capability roadmap</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2026–2027: Establish the operating foundation</a:t>
            </a:r>
          </a:p>
        </p:txBody>
      </p:sp>
      <p:sp>
        <p:nvSpPr>
          <p:cNvPr id="12" name="Rectangle 11"/>
          <p:cNvSpPr/>
          <p:nvPr/>
        </p:nvSpPr>
        <p:spPr>
          <a:xfrm>
            <a:off x="685800" y="26334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5420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Verify land, projects, ownership, and pipeline readiness.</a:t>
            </a:r>
          </a:p>
        </p:txBody>
      </p:sp>
      <p:sp>
        <p:nvSpPr>
          <p:cNvPr id="14" name="Rectangle 13"/>
          <p:cNvSpPr/>
          <p:nvPr/>
        </p:nvSpPr>
        <p:spPr>
          <a:xfrm>
            <a:off x="685800" y="30829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914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Validate priority customer segments.</a:t>
            </a:r>
          </a:p>
        </p:txBody>
      </p:sp>
      <p:sp>
        <p:nvSpPr>
          <p:cNvPr id="16" name="Rectangle 15"/>
          <p:cNvSpPr/>
          <p:nvPr/>
        </p:nvSpPr>
        <p:spPr>
          <a:xfrm>
            <a:off x="685800" y="35323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4409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Improve capital productivity in existing assets.</a:t>
            </a:r>
          </a:p>
        </p:txBody>
      </p:sp>
      <p:sp>
        <p:nvSpPr>
          <p:cNvPr id="18" name="Rectangle 17"/>
          <p:cNvSpPr/>
          <p:nvPr/>
        </p:nvSpPr>
        <p:spPr>
          <a:xfrm>
            <a:off x="685800" y="398183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89039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Strengthen project leadership and financial controls.</a:t>
            </a:r>
          </a:p>
        </p:txBody>
      </p:sp>
      <p:sp>
        <p:nvSpPr>
          <p:cNvPr id="20" name="TextBox 19"/>
          <p:cNvSpPr txBox="1"/>
          <p:nvPr/>
        </p:nvSpPr>
        <p:spPr>
          <a:xfrm>
            <a:off x="685800" y="433984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2028–2030: Demonstrate repeatability</a:t>
            </a:r>
          </a:p>
        </p:txBody>
      </p:sp>
      <p:sp>
        <p:nvSpPr>
          <p:cNvPr id="21" name="Rectangle 20"/>
          <p:cNvSpPr/>
          <p:nvPr/>
        </p:nvSpPr>
        <p:spPr>
          <a:xfrm>
            <a:off x="685800" y="48884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7970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Deliver successive residential phases.</a:t>
            </a:r>
          </a:p>
        </p:txBody>
      </p:sp>
      <p:sp>
        <p:nvSpPr>
          <p:cNvPr id="23" name="Rectangle 22"/>
          <p:cNvSpPr/>
          <p:nvPr/>
        </p:nvSpPr>
        <p:spPr>
          <a:xfrm>
            <a:off x="685800" y="53379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2464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Expand industrial/warehousing activity where demand is evidenced.</a:t>
            </a:r>
          </a:p>
        </p:txBody>
      </p:sp>
      <p:sp>
        <p:nvSpPr>
          <p:cNvPr id="25" name="Rectangle 24"/>
          <p:cNvSpPr/>
          <p:nvPr/>
        </p:nvSpPr>
        <p:spPr>
          <a:xfrm>
            <a:off x="685800" y="57873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6959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Prove partnership governance and project economics.</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R69.2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Proposed TANRISE capability roadmap</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Add recurring assets selectively.</a:t>
            </a:r>
          </a:p>
        </p:txBody>
      </p:sp>
      <p:sp>
        <p:nvSpPr>
          <p:cNvPr id="13" name="TextBox 12"/>
          <p:cNvSpPr txBox="1"/>
          <p:nvPr/>
        </p:nvSpPr>
        <p:spPr>
          <a:xfrm>
            <a:off x="685800" y="253428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2031–2033: Scale proven capabilities</a:t>
            </a:r>
          </a:p>
        </p:txBody>
      </p:sp>
      <p:sp>
        <p:nvSpPr>
          <p:cNvPr id="14" name="Rectangle 13"/>
          <p:cNvSpPr/>
          <p:nvPr/>
        </p:nvSpPr>
        <p:spPr>
          <a:xfrm>
            <a:off x="685800" y="30829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914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Replicate successful models in suitable markets.</a:t>
            </a:r>
          </a:p>
        </p:txBody>
      </p:sp>
      <p:sp>
        <p:nvSpPr>
          <p:cNvPr id="16" name="Rectangle 15"/>
          <p:cNvSpPr/>
          <p:nvPr/>
        </p:nvSpPr>
        <p:spPr>
          <a:xfrm>
            <a:off x="685800" y="35323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4409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Consider acquisitions only with funding and integration capacity.</a:t>
            </a:r>
          </a:p>
        </p:txBody>
      </p:sp>
      <p:sp>
        <p:nvSpPr>
          <p:cNvPr id="18" name="Rectangle 17"/>
          <p:cNvSpPr/>
          <p:nvPr/>
        </p:nvSpPr>
        <p:spPr>
          <a:xfrm>
            <a:off x="685800" y="398183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89039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Expand organisational capacity alongside the pipeline.</a:t>
            </a:r>
          </a:p>
        </p:txBody>
      </p:sp>
      <p:sp>
        <p:nvSpPr>
          <p:cNvPr id="20" name="TextBox 19"/>
          <p:cNvSpPr txBox="1"/>
          <p:nvPr/>
        </p:nvSpPr>
        <p:spPr>
          <a:xfrm>
            <a:off x="685800" y="433984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2034–2035: Assess competitive position</a:t>
            </a:r>
          </a:p>
        </p:txBody>
      </p:sp>
      <p:sp>
        <p:nvSpPr>
          <p:cNvPr id="21" name="Rectangle 20"/>
          <p:cNvSpPr/>
          <p:nvPr/>
        </p:nvSpPr>
        <p:spPr>
          <a:xfrm>
            <a:off x="685800" y="48884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7970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Recalculate the market benchmark.</a:t>
            </a:r>
          </a:p>
        </p:txBody>
      </p:sp>
      <p:sp>
        <p:nvSpPr>
          <p:cNvPr id="23" name="Rectangle 22"/>
          <p:cNvSpPr/>
          <p:nvPr/>
        </p:nvSpPr>
        <p:spPr>
          <a:xfrm>
            <a:off x="685800" y="53379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2464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Compare revenue and attributable profit separately.</a:t>
            </a:r>
          </a:p>
        </p:txBody>
      </p:sp>
      <p:sp>
        <p:nvSpPr>
          <p:cNvPr id="25" name="Rectangle 24"/>
          <p:cNvSpPr/>
          <p:nvPr/>
        </p:nvSpPr>
        <p:spPr>
          <a:xfrm>
            <a:off x="685800" y="578738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5695949"/>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Test cash generation, returns, and resilience.</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249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Measures that connect ambition to execution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MANAGEMENT SCORECARD</a:t>
            </a:r>
          </a:p>
        </p:txBody>
      </p:sp>
      <p:graphicFrame>
        <p:nvGraphicFramePr>
          <p:cNvPr id="12" name="Table 11"/>
          <p:cNvGraphicFramePr>
            <a:graphicFrameLocks noGrp="1"/>
          </p:cNvGraphicFramePr>
          <p:nvPr/>
        </p:nvGraphicFramePr>
        <p:xfrm>
          <a:off x="685800" y="2433574"/>
          <a:ext cx="10789919" cy="30341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Area</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Measures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Market position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Revenue and attributable-profit position within a defined peer universe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Demand</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Qualified leads, conversion, mortgage approval, cancellations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Development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Launch readiness, absorption, construction progress, handover timeliness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Cash</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Collections, project cash requirements, liquidity headroom</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Legally ready pipeline, replenishment, infrastructure readiness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Capital productivity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Inventory age, asset cash contribution, return on invested capital</a:t>
                      </a:r>
                    </a:p>
                  </a:txBody>
                  <a:tcPr marL="109728" marR="109728" marT="82296" marB="0" anchor="t">
                    <a:solidFill>
                      <a:srgbClr val="E9E8DC"/>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107–108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Measures that connect ambition to execution</a:t>
            </a:r>
          </a:p>
        </p:txBody>
      </p:sp>
      <p:graphicFrame>
        <p:nvGraphicFramePr>
          <p:cNvPr id="11" name="Table 10"/>
          <p:cNvGraphicFramePr>
            <a:graphicFrameLocks noGrp="1"/>
          </p:cNvGraphicFramePr>
          <p:nvPr/>
        </p:nvGraphicFramePr>
        <p:xfrm>
          <a:off x="685800" y="2084831"/>
          <a:ext cx="10789919" cy="153263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Area</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Measures</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Recurring operations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Occupancy, income collection, operating cash contribution, maintenance</a:t>
                      </a:r>
                    </a:p>
                    <a:p>
                      <a:pPr>
                        <a:lnSpc>
                          <a:spcPts val="1829"/>
                        </a:lnSpc>
                        <a:spcBef>
                          <a:spcPts val="0"/>
                        </a:spcBef>
                        <a:spcAft>
                          <a:spcPts val="0"/>
                        </a:spcAft>
                      </a:pPr>
                      <a:r>
                        <a:rPr sz="1550" b="0">
                          <a:solidFill>
                            <a:srgbClr val="183A32"/>
                          </a:solidFill>
                          <a:latin typeface="Arial"/>
                        </a:rPr>
                        <a:t>requirements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Organisation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leadership capacity, delivery workload, reporting reliability</a:t>
                      </a:r>
                    </a:p>
                  </a:txBody>
                  <a:tcPr marL="109728" marR="109728" marT="82296" marB="0" anchor="t">
                    <a:solidFill>
                      <a:srgbClr val="E9E8DC"/>
                    </a:solidFill>
                    <a:lnL>
                      <a:noFill/>
                    </a:lnL>
                    <a:lnR>
                      <a:noFill/>
                    </a:lnR>
                    <a:lnT>
                      <a:noFill/>
                    </a:lnT>
                    <a:lnB>
                      <a:noFill/>
                    </a:lnB>
                  </a:tcPr>
                </a:tc>
              </a:tr>
            </a:tbl>
          </a:graphicData>
        </a:graphic>
      </p:graphicFrame>
      <p:sp>
        <p:nvSpPr>
          <p:cNvPr id="12" name="Rectangle 11"/>
          <p:cNvSpPr/>
          <p:nvPr/>
        </p:nvSpPr>
        <p:spPr>
          <a:xfrm>
            <a:off x="685800" y="3800347"/>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800347"/>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3882643"/>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Revenue rank is an outcome. These measures show whether the business can sustain it.</a:t>
            </a:r>
          </a:p>
        </p:txBody>
      </p:sp>
      <p:sp>
        <p:nvSpPr>
          <p:cNvPr id="15" name="Rectangle 14"/>
          <p:cNvSpPr/>
          <p:nvPr/>
        </p:nvSpPr>
        <p:spPr>
          <a:xfrm>
            <a:off x="685800" y="4368990"/>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368990"/>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4451286"/>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Status: Proposed framework; numerical targets require TANRISE baseline data and approval.</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109–109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Research gaps before committing to a Top Five plan</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MARKET-DEFINITION GAPS</a:t>
            </a:r>
          </a:p>
        </p:txBody>
      </p:sp>
      <p:sp>
        <p:nvSpPr>
          <p:cNvPr id="12" name="Rectangle 11"/>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33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Is the ambition based on listed issuers, consolidated groups, or all Indonesian developers?</a:t>
            </a:r>
          </a:p>
        </p:txBody>
      </p:sp>
      <p:sp>
        <p:nvSpPr>
          <p:cNvPr id="14" name="Rectangle 13"/>
          <p:cNvSpPr/>
          <p:nvPr/>
        </p:nvSpPr>
        <p:spPr>
          <a:xfrm>
            <a:off x="685800" y="29744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83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Are private developers included?</a:t>
            </a:r>
          </a:p>
        </p:txBody>
      </p:sp>
      <p:sp>
        <p:nvSpPr>
          <p:cNvPr id="16" name="Rectangle 15"/>
          <p:cNvSpPr/>
          <p:nvPr/>
        </p:nvSpPr>
        <p:spPr>
          <a:xfrm>
            <a:off x="685800" y="3423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332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What treatment applies to subsidiaries and mixed-sector businesses?</a:t>
            </a:r>
          </a:p>
        </p:txBody>
      </p:sp>
      <p:sp>
        <p:nvSpPr>
          <p:cNvPr id="18" name="TextBox 17"/>
          <p:cNvSpPr txBox="1"/>
          <p:nvPr/>
        </p:nvSpPr>
        <p:spPr>
          <a:xfrm>
            <a:off x="685800" y="3809364"/>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FINANCIAL GAPS</a:t>
            </a:r>
          </a:p>
        </p:txBody>
      </p:sp>
      <p:sp>
        <p:nvSpPr>
          <p:cNvPr id="19" name="Rectangle 18"/>
          <p:cNvSpPr/>
          <p:nvPr/>
        </p:nvSpPr>
        <p:spPr>
          <a:xfrm>
            <a:off x="685800" y="42221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1306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complete attributable-profit comparison using consistent definitions.</a:t>
            </a:r>
          </a:p>
        </p:txBody>
      </p:sp>
      <p:sp>
        <p:nvSpPr>
          <p:cNvPr id="21" name="Rectangle 20"/>
          <p:cNvSpPr/>
          <p:nvPr/>
        </p:nvSpPr>
        <p:spPr>
          <a:xfrm>
            <a:off x="685800" y="46715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58012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Normalisation of material disposals and other exceptional transactions.</a:t>
            </a:r>
          </a:p>
        </p:txBody>
      </p:sp>
      <p:sp>
        <p:nvSpPr>
          <p:cNvPr id="23" name="Rectangle 22"/>
          <p:cNvSpPr/>
          <p:nvPr/>
        </p:nvSpPr>
        <p:spPr>
          <a:xfrm>
            <a:off x="685800" y="51210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502958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Project-level cash requirements and available funding.</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109–109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TANRISE-specific gaps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Verified land and project pipeline.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Capacity of each project to support the required revenue scale.</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Household and employer demand for Sidoarjo.</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Industrial/warehousing tenant requirements.</a:t>
            </a:r>
          </a:p>
        </p:txBody>
      </p:sp>
      <p:sp>
        <p:nvSpPr>
          <p:cNvPr id="19" name="Rectangle 18"/>
          <p:cNvSpPr/>
          <p:nvPr/>
        </p:nvSpPr>
        <p:spPr>
          <a:xfrm>
            <a:off x="685800" y="397408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882643"/>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Asset-productivity options for existing holdings.</a:t>
            </a:r>
          </a:p>
        </p:txBody>
      </p:sp>
      <p:sp>
        <p:nvSpPr>
          <p:cNvPr id="21" name="Rectangle 20"/>
          <p:cNvSpPr/>
          <p:nvPr/>
        </p:nvSpPr>
        <p:spPr>
          <a:xfrm>
            <a:off x="685800" y="442353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332096"/>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Management and delivery capacity.</a:t>
            </a:r>
          </a:p>
        </p:txBody>
      </p:sp>
      <p:sp>
        <p:nvSpPr>
          <p:cNvPr id="23" name="Rectangle 22"/>
          <p:cNvSpPr/>
          <p:nvPr/>
        </p:nvSpPr>
        <p:spPr>
          <a:xfrm>
            <a:off x="685800" y="4781549"/>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781549"/>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4863845"/>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Key message: The ambition becomes actionable when the missing operating and financial evidence is resolved.</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Designer research and asset brief</a:t>
            </a:r>
          </a:p>
        </p:txBody>
      </p:sp>
      <p:cxnSp>
        <p:nvCxnSpPr>
          <p:cNvPr id="11" name="Connector 10"/>
          <p:cNvCxnSpPr/>
          <p:nvPr/>
        </p:nvCxnSpPr>
        <p:spPr>
          <a:xfrm>
            <a:off x="6062472" y="2084831"/>
            <a:ext cx="0" cy="270300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RECOMMENDED VISUAL MATERIALS</a:t>
            </a:r>
          </a:p>
        </p:txBody>
      </p:sp>
      <p:sp>
        <p:nvSpPr>
          <p:cNvPr id="13" name="Rectangle 12"/>
          <p:cNvSpPr/>
          <p:nvPr/>
        </p:nvSpPr>
        <p:spPr>
          <a:xfrm>
            <a:off x="685800" y="25250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33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Ownership diagrams: Distinguish group, issuer,</a:t>
            </a:r>
          </a:p>
          <a:p>
            <a:pPr>
              <a:lnSpc>
                <a:spcPts val="2135"/>
              </a:lnSpc>
              <a:spcBef>
                <a:spcPts val="0"/>
              </a:spcBef>
              <a:spcAft>
                <a:spcPts val="0"/>
              </a:spcAft>
            </a:pPr>
            <a:r>
              <a:rPr sz="1750" b="0" i="0">
                <a:solidFill>
                  <a:srgbClr val="183A32"/>
                </a:solidFill>
                <a:latin typeface="Arial"/>
              </a:rPr>
              <a:t>subsidiary, project owner, and operator.</a:t>
            </a:r>
          </a:p>
        </p:txBody>
      </p:sp>
      <p:sp>
        <p:nvSpPr>
          <p:cNvPr id="15" name="Rectangle 14"/>
          <p:cNvSpPr/>
          <p:nvPr/>
        </p:nvSpPr>
        <p:spPr>
          <a:xfrm>
            <a:off x="685800" y="3245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154172"/>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Company timelines: Separate operating</a:t>
            </a:r>
          </a:p>
          <a:p>
            <a:pPr>
              <a:lnSpc>
                <a:spcPts val="2135"/>
              </a:lnSpc>
              <a:spcBef>
                <a:spcPts val="0"/>
              </a:spcBef>
              <a:spcAft>
                <a:spcPts val="0"/>
              </a:spcAft>
            </a:pPr>
            <a:r>
              <a:rPr sz="1750" b="0" i="0">
                <a:solidFill>
                  <a:srgbClr val="183A32"/>
                </a:solidFill>
                <a:latin typeface="Arial"/>
              </a:rPr>
              <a:t>milestones from corporate transactions.</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Project maps: Use verified locations and label</a:t>
            </a:r>
          </a:p>
          <a:p>
            <a:pPr>
              <a:lnSpc>
                <a:spcPts val="2135"/>
              </a:lnSpc>
              <a:spcBef>
                <a:spcPts val="0"/>
              </a:spcBef>
              <a:spcAft>
                <a:spcPts val="0"/>
              </a:spcAft>
            </a:pPr>
            <a:r>
              <a:rPr sz="1750" b="0" i="0">
                <a:solidFill>
                  <a:srgbClr val="183A32"/>
                </a:solidFill>
                <a:latin typeface="Arial"/>
              </a:rPr>
              <a:t>selected examples rather than implying</a:t>
            </a:r>
          </a:p>
          <a:p>
            <a:pPr>
              <a:lnSpc>
                <a:spcPts val="2135"/>
              </a:lnSpc>
              <a:spcBef>
                <a:spcPts val="0"/>
              </a:spcBef>
              <a:spcAft>
                <a:spcPts val="0"/>
              </a:spcAft>
            </a:pPr>
            <a:r>
              <a:rPr sz="1750" b="0" i="0">
                <a:solidFill>
                  <a:srgbClr val="183A32"/>
                </a:solidFill>
                <a:latin typeface="Arial"/>
              </a:rPr>
              <a:t>exhaustive coverage.</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Financial charts: Preserve reporting period,</a:t>
            </a:r>
          </a:p>
          <a:p>
            <a:pPr>
              <a:lnSpc>
                <a:spcPts val="2135"/>
              </a:lnSpc>
              <a:spcBef>
                <a:spcPts val="0"/>
              </a:spcBef>
              <a:spcAft>
                <a:spcPts val="0"/>
              </a:spcAft>
            </a:pPr>
            <a:r>
              <a:rPr sz="1750" b="0" i="0">
                <a:solidFill>
                  <a:srgbClr val="183A32"/>
                </a:solidFill>
                <a:latin typeface="Arial"/>
              </a:rPr>
              <a:t>units, profit definition, and consolidation caveats.</a:t>
            </a:r>
          </a:p>
        </p:txBody>
      </p:sp>
      <p:sp>
        <p:nvSpPr>
          <p:cNvPr id="21" name="Rectangle 20"/>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805430"/>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Business-model diagrams: Label these as</a:t>
            </a:r>
          </a:p>
          <a:p>
            <a:pPr>
              <a:lnSpc>
                <a:spcPts val="2135"/>
              </a:lnSpc>
              <a:spcBef>
                <a:spcPts val="0"/>
              </a:spcBef>
              <a:spcAft>
                <a:spcPts val="0"/>
              </a:spcAft>
            </a:pPr>
            <a:r>
              <a:rPr sz="1750" b="0" i="0">
                <a:solidFill>
                  <a:srgbClr val="183A32"/>
                </a:solidFill>
                <a:latin typeface="Arial"/>
              </a:rPr>
              <a:t>analytical interpretations.</a:t>
            </a:r>
          </a:p>
        </p:txBody>
      </p:sp>
      <p:sp>
        <p:nvSpPr>
          <p:cNvPr id="23" name="Rectangle 22"/>
          <p:cNvSpPr/>
          <p:nvPr/>
        </p:nvSpPr>
        <p:spPr>
          <a:xfrm>
            <a:off x="6400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526027"/>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6. SWOT matrices: Label as analyst assessment.</a:t>
            </a:r>
          </a:p>
        </p:txBody>
      </p:sp>
      <p:sp>
        <p:nvSpPr>
          <p:cNvPr id="25" name="Rectangle 24"/>
          <p:cNvSpPr/>
          <p:nvPr/>
        </p:nvSpPr>
        <p:spPr>
          <a:xfrm>
            <a:off x="6400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97548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7. TANRISE roadmap: Label as proposed.</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4</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Designer research and asset brief</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8. Project imagery: Use official photographs, masterplans, or annual-report images with permission where</a:t>
            </a:r>
          </a:p>
          <a:p>
            <a:pPr>
              <a:lnSpc>
                <a:spcPts val="2135"/>
              </a:lnSpc>
              <a:spcBef>
                <a:spcPts val="0"/>
              </a:spcBef>
              <a:spcAft>
                <a:spcPts val="0"/>
              </a:spcAft>
            </a:pPr>
            <a:r>
              <a:rPr sz="1750" b="0" i="0">
                <a:solidFill>
                  <a:srgbClr val="183A32"/>
                </a:solidFill>
                <a:latin typeface="Arial"/>
              </a:rPr>
              <a:t>required.</a:t>
            </a:r>
          </a:p>
        </p:txBody>
      </p:sp>
      <p:sp>
        <p:nvSpPr>
          <p:cNvPr id="13" name="TextBox 12"/>
          <p:cNvSpPr txBox="1"/>
          <p:nvPr/>
        </p:nvSpPr>
        <p:spPr>
          <a:xfrm>
            <a:off x="685800" y="2832862"/>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SUGGESTED COMPANY IMAGERY</a:t>
            </a:r>
          </a:p>
        </p:txBody>
      </p:sp>
      <p:graphicFrame>
        <p:nvGraphicFramePr>
          <p:cNvPr id="14" name="Table 13"/>
          <p:cNvGraphicFramePr>
            <a:graphicFrameLocks noGrp="1"/>
          </p:cNvGraphicFramePr>
          <p:nvPr/>
        </p:nvGraphicFramePr>
        <p:xfrm>
          <a:off x="685800" y="3154172"/>
          <a:ext cx="10789919" cy="26007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Company</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Useful visual subjects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BSDE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BSD City masterplan and township infrastructure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LPKR</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Lippo Village and residential product examples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Examples of projects in different cities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SMRA</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phasing and functioning commercial anchors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PWON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Tunjungan City, Gandaria City, Kota Kasablanka</a:t>
                      </a:r>
                    </a:p>
                  </a:txBody>
                  <a:tcPr marL="109728" marR="109728" marT="82296" marB="0" anchor="t">
                    <a:solidFill>
                      <a:srgbClr val="F6F2E9"/>
                    </a:solidFill>
                    <a:lnL>
                      <a:noFill/>
                    </a:lnL>
                    <a:lnR>
                      <a:noFill/>
                    </a:lnR>
                    <a:lnT>
                      <a:noFill/>
                    </a:lnT>
                    <a:lnB>
                      <a:noFill/>
                    </a:lnB>
                  </a:tcPr>
                </a:tc>
              </a:tr>
            </a:tbl>
          </a:graphicData>
        </a:graphic>
      </p:graphicFrame>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Designer research and asset brief</a:t>
            </a:r>
          </a:p>
        </p:txBody>
      </p:sp>
      <p:graphicFrame>
        <p:nvGraphicFramePr>
          <p:cNvPr id="11" name="Table 10"/>
          <p:cNvGraphicFramePr>
            <a:graphicFrameLocks noGrp="1"/>
          </p:cNvGraphicFramePr>
          <p:nvPr/>
        </p:nvGraphicFramePr>
        <p:xfrm>
          <a:off x="685800" y="2084831"/>
          <a:ext cx="10789919" cy="26007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Company</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Useful visual subjects</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APLN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Mixed-use developments and contrasting asset formats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DUTI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Mangga Dua and township examples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ASRI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Alam Sutera, Suvarna Sutera, and separately labelled GWK</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JRPT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Bintaro Jaya, everyday amenities, and connectivity</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PIK2 development area and corporate-action chronology</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895850"/>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IMAGE-USE INSTRUCTION</a:t>
            </a:r>
          </a:p>
        </p:txBody>
      </p:sp>
      <p:sp>
        <p:nvSpPr>
          <p:cNvPr id="13" name="TextBox 12"/>
          <p:cNvSpPr txBox="1"/>
          <p:nvPr/>
        </p:nvSpPr>
        <p:spPr>
          <a:xfrm>
            <a:off x="685800" y="5217160"/>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Official website availability does not establish an open licence. Record the image owner, source, publication date,</a:t>
            </a:r>
          </a:p>
          <a:p>
            <a:pPr>
              <a:lnSpc>
                <a:spcPts val="2196"/>
              </a:lnSpc>
              <a:spcBef>
                <a:spcPts val="0"/>
              </a:spcBef>
              <a:spcAft>
                <a:spcPts val="0"/>
              </a:spcAft>
            </a:pPr>
            <a:r>
              <a:rPr sz="1800" b="0" i="0">
                <a:solidFill>
                  <a:srgbClr val="183A32"/>
                </a:solidFill>
                <a:latin typeface="Times New Roman"/>
              </a:rPr>
              <a:t>and permission or licence status. Keep architectural renderings clearly labelled as renderings.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R72.4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109–111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Final research principle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TANRISE’s advantage should come from a focused growth model that it can fund, deliver, and repeat—supported by</a:t>
            </a:r>
          </a:p>
          <a:p>
            <a:pPr>
              <a:lnSpc>
                <a:spcPts val="2196"/>
              </a:lnSpc>
              <a:spcBef>
                <a:spcPts val="0"/>
              </a:spcBef>
              <a:spcAft>
                <a:spcPts val="0"/>
              </a:spcAft>
            </a:pPr>
            <a:r>
              <a:rPr sz="1800" b="0" i="0">
                <a:solidFill>
                  <a:srgbClr val="183A32"/>
                </a:solidFill>
                <a:latin typeface="Times New Roman"/>
              </a:rPr>
              <a:t>a credible brand and measurable customer value.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4 / 4</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F6F2E9"/>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AD843F"/>
                </a:solidFill>
                <a:latin typeface="Arial"/>
              </a:rPr>
              <a:t>SUPPLEMENTARY RESEARCH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F6F2E9"/>
                </a:solidFill>
                <a:latin typeface="Arial"/>
              </a:rPr>
              <a:t>DEEP DIVE</a:t>
            </a:r>
          </a:p>
        </p:txBody>
      </p:sp>
      <p:cxnSp>
        <p:nvCxnSpPr>
          <p:cNvPr id="6" name="Connector 5"/>
          <p:cNvCxnSpPr/>
          <p:nvPr/>
        </p:nvCxnSpPr>
        <p:spPr>
          <a:xfrm>
            <a:off x="502920" y="694944"/>
            <a:ext cx="11183112" cy="0"/>
          </a:xfrm>
          <a:prstGeom prst="line">
            <a:avLst/>
          </a:prstGeom>
          <a:ln w="7620">
            <a:solidFill>
              <a:srgbClr val="AD84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Mario brief</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257</a:t>
            </a:r>
          </a:p>
        </p:txBody>
      </p:sp>
      <p:sp>
        <p:nvSpPr>
          <p:cNvPr id="10" name="TextBox 9"/>
          <p:cNvSpPr txBox="1"/>
          <p:nvPr/>
        </p:nvSpPr>
        <p:spPr>
          <a:xfrm>
            <a:off x="685800" y="1353312"/>
            <a:ext cx="10789920" cy="643636"/>
          </a:xfrm>
          <a:prstGeom prst="rect">
            <a:avLst/>
          </a:prstGeom>
          <a:noFill/>
        </p:spPr>
        <p:txBody>
          <a:bodyPr wrap="none" lIns="0" rIns="0" tIns="0" bIns="0">
            <a:spAutoFit/>
          </a:bodyPr>
          <a:lstStyle/>
          <a:p>
            <a:pPr>
              <a:lnSpc>
                <a:spcPts val="4600"/>
              </a:lnSpc>
              <a:spcBef>
                <a:spcPts val="0"/>
              </a:spcBef>
              <a:spcAft>
                <a:spcPts val="0"/>
              </a:spcAft>
            </a:pPr>
            <a:r>
              <a:rPr sz="4600" b="0" i="0">
                <a:solidFill>
                  <a:srgbClr val="AD843F"/>
                </a:solidFill>
                <a:latin typeface="Times New Roman"/>
              </a:rPr>
              <a:t>DEEP DIVE</a:t>
            </a:r>
          </a:p>
        </p:txBody>
      </p:sp>
      <p:sp>
        <p:nvSpPr>
          <p:cNvPr id="11" name="TextBox 10"/>
          <p:cNvSpPr txBox="1"/>
          <p:nvPr/>
        </p:nvSpPr>
        <p:spPr>
          <a:xfrm>
            <a:off x="731520" y="3218688"/>
            <a:ext cx="9966960" cy="580644"/>
          </a:xfrm>
          <a:prstGeom prst="rect">
            <a:avLst/>
          </a:prstGeom>
          <a:noFill/>
        </p:spPr>
        <p:txBody>
          <a:bodyPr wrap="none" lIns="0" rIns="0" tIns="0" bIns="0">
            <a:spAutoFit/>
          </a:bodyPr>
          <a:lstStyle/>
          <a:p>
            <a:pPr>
              <a:lnSpc>
                <a:spcPts val="4104"/>
              </a:lnSpc>
              <a:spcBef>
                <a:spcPts val="0"/>
              </a:spcBef>
              <a:spcAft>
                <a:spcPts val="0"/>
              </a:spcAft>
            </a:pPr>
            <a:r>
              <a:rPr sz="3600" b="0" i="0">
                <a:solidFill>
                  <a:srgbClr val="F6F2E9"/>
                </a:solidFill>
                <a:latin typeface="Arial"/>
              </a:rPr>
              <a:t>Competitive Strategy Deep Dive</a:t>
            </a:r>
          </a:p>
        </p:txBody>
      </p:sp>
      <p:sp>
        <p:nvSpPr>
          <p:cNvPr id="12" name="TextBox 11"/>
          <p:cNvSpPr txBox="1"/>
          <p:nvPr/>
        </p:nvSpPr>
        <p:spPr>
          <a:xfrm>
            <a:off x="6400800" y="5230368"/>
            <a:ext cx="4572000" cy="586232"/>
          </a:xfrm>
          <a:prstGeom prst="rect">
            <a:avLst/>
          </a:prstGeom>
          <a:noFill/>
        </p:spPr>
        <p:txBody>
          <a:bodyPr wrap="none" lIns="0" rIns="0" tIns="0" bIns="0">
            <a:spAutoFit/>
          </a:bodyPr>
          <a:lstStyle/>
          <a:p>
            <a:pPr>
              <a:lnSpc>
                <a:spcPts val="2074"/>
              </a:lnSpc>
              <a:spcBef>
                <a:spcPts val="0"/>
              </a:spcBef>
              <a:spcAft>
                <a:spcPts val="0"/>
              </a:spcAft>
            </a:pPr>
            <a:r>
              <a:rPr sz="1700" b="0" i="1">
                <a:solidFill>
                  <a:srgbClr val="F6F2E9"/>
                </a:solidFill>
                <a:latin typeface="Times New Roman"/>
              </a:rPr>
              <a:t>How Indonesia’s Major Developers Build Demand,</a:t>
            </a:r>
          </a:p>
          <a:p>
            <a:pPr>
              <a:lnSpc>
                <a:spcPts val="2074"/>
              </a:lnSpc>
              <a:spcBef>
                <a:spcPts val="0"/>
              </a:spcBef>
              <a:spcAft>
                <a:spcPts val="0"/>
              </a:spcAft>
            </a:pPr>
            <a:r>
              <a:rPr sz="1700" b="0" i="1">
                <a:solidFill>
                  <a:srgbClr val="F6F2E9"/>
                </a:solidFill>
                <a:latin typeface="Times New Roman"/>
              </a:rPr>
              <a:t>Trust, and Financial Scale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111–112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makes a developer’s strategy effective?</a:t>
            </a:r>
          </a:p>
        </p:txBody>
      </p:sp>
      <p:cxnSp>
        <p:nvCxnSpPr>
          <p:cNvPr id="11" name="Connector 10"/>
          <p:cNvCxnSpPr/>
          <p:nvPr/>
        </p:nvCxnSpPr>
        <p:spPr>
          <a:xfrm>
            <a:off x="6062472" y="2084831"/>
            <a:ext cx="0" cy="3097721"/>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084831"/>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developer’s competitive advantage comes from how</a:t>
            </a:r>
          </a:p>
          <a:p>
            <a:pPr>
              <a:lnSpc>
                <a:spcPts val="2196"/>
              </a:lnSpc>
              <a:spcBef>
                <a:spcPts val="0"/>
              </a:spcBef>
              <a:spcAft>
                <a:spcPts val="0"/>
              </a:spcAft>
            </a:pPr>
            <a:r>
              <a:rPr sz="1800" b="0" i="0">
                <a:solidFill>
                  <a:srgbClr val="183A32"/>
                </a:solidFill>
                <a:latin typeface="Times New Roman"/>
              </a:rPr>
              <a:t>several decisions reinforce one another:</a:t>
            </a:r>
          </a:p>
        </p:txBody>
      </p:sp>
      <p:sp>
        <p:nvSpPr>
          <p:cNvPr id="13" name="Rectangle 12"/>
          <p:cNvSpPr/>
          <p:nvPr/>
        </p:nvSpPr>
        <p:spPr>
          <a:xfrm>
            <a:off x="685800" y="291236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82092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Market selection: Which customers and</a:t>
            </a:r>
          </a:p>
          <a:p>
            <a:pPr>
              <a:lnSpc>
                <a:spcPts val="2135"/>
              </a:lnSpc>
              <a:spcBef>
                <a:spcPts val="0"/>
              </a:spcBef>
              <a:spcAft>
                <a:spcPts val="0"/>
              </a:spcAft>
            </a:pPr>
            <a:r>
              <a:rPr sz="1750" b="0" i="0">
                <a:solidFill>
                  <a:srgbClr val="183A32"/>
                </a:solidFill>
                <a:latin typeface="Arial"/>
              </a:rPr>
              <a:t>locations does it prioritise?</a:t>
            </a:r>
          </a:p>
        </p:txBody>
      </p:sp>
      <p:sp>
        <p:nvSpPr>
          <p:cNvPr id="15" name="Rectangle 14"/>
          <p:cNvSpPr/>
          <p:nvPr/>
        </p:nvSpPr>
        <p:spPr>
          <a:xfrm>
            <a:off x="685800" y="36329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541521"/>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Product economics: What can those customers</a:t>
            </a:r>
          </a:p>
          <a:p>
            <a:pPr>
              <a:lnSpc>
                <a:spcPts val="2135"/>
              </a:lnSpc>
              <a:spcBef>
                <a:spcPts val="0"/>
              </a:spcBef>
              <a:spcAft>
                <a:spcPts val="0"/>
              </a:spcAft>
            </a:pPr>
            <a:r>
              <a:rPr sz="1750" b="0" i="0">
                <a:solidFill>
                  <a:srgbClr val="183A32"/>
                </a:solidFill>
                <a:latin typeface="Arial"/>
              </a:rPr>
              <a:t>afford, and what can the developer deliver</a:t>
            </a:r>
          </a:p>
          <a:p>
            <a:pPr>
              <a:lnSpc>
                <a:spcPts val="2135"/>
              </a:lnSpc>
              <a:spcBef>
                <a:spcPts val="0"/>
              </a:spcBef>
              <a:spcAft>
                <a:spcPts val="0"/>
              </a:spcAft>
            </a:pPr>
            <a:r>
              <a:rPr sz="1750" b="0" i="0">
                <a:solidFill>
                  <a:srgbClr val="183A32"/>
                </a:solidFill>
                <a:latin typeface="Arial"/>
              </a:rPr>
              <a:t>profitably?</a:t>
            </a:r>
          </a:p>
        </p:txBody>
      </p:sp>
      <p:sp>
        <p:nvSpPr>
          <p:cNvPr id="17" name="Rectangle 16"/>
          <p:cNvSpPr/>
          <p:nvPr/>
        </p:nvSpPr>
        <p:spPr>
          <a:xfrm>
            <a:off x="685800" y="46247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53326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Brand strategy: What gives customers,</a:t>
            </a:r>
          </a:p>
          <a:p>
            <a:pPr>
              <a:lnSpc>
                <a:spcPts val="2135"/>
              </a:lnSpc>
              <a:spcBef>
                <a:spcPts val="0"/>
              </a:spcBef>
              <a:spcAft>
                <a:spcPts val="0"/>
              </a:spcAft>
            </a:pPr>
            <a:r>
              <a:rPr sz="1750" b="0" i="0">
                <a:solidFill>
                  <a:srgbClr val="183A32"/>
                </a:solidFill>
                <a:latin typeface="Arial"/>
              </a:rPr>
              <a:t>landowners, banks, and tenants confidence?</a:t>
            </a:r>
          </a:p>
        </p:txBody>
      </p:sp>
      <p:sp>
        <p:nvSpPr>
          <p:cNvPr id="19" name="Rectangle 18"/>
          <p:cNvSpPr/>
          <p:nvPr/>
        </p:nvSpPr>
        <p:spPr>
          <a:xfrm>
            <a:off x="6400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Demand creation: Why would people want to</a:t>
            </a:r>
          </a:p>
          <a:p>
            <a:pPr>
              <a:lnSpc>
                <a:spcPts val="2135"/>
              </a:lnSpc>
              <a:spcBef>
                <a:spcPts val="0"/>
              </a:spcBef>
              <a:spcAft>
                <a:spcPts val="0"/>
              </a:spcAft>
            </a:pPr>
            <a:r>
              <a:rPr sz="1750" b="0" i="0">
                <a:solidFill>
                  <a:srgbClr val="183A32"/>
                </a:solidFill>
                <a:latin typeface="Arial"/>
              </a:rPr>
              <a:t>live, work, or operate there?</a:t>
            </a:r>
          </a:p>
        </p:txBody>
      </p:sp>
      <p:sp>
        <p:nvSpPr>
          <p:cNvPr id="21" name="Rectangle 20"/>
          <p:cNvSpPr/>
          <p:nvPr/>
        </p:nvSpPr>
        <p:spPr>
          <a:xfrm>
            <a:off x="6400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Sales conversion: How does the developer</a:t>
            </a:r>
          </a:p>
          <a:p>
            <a:pPr>
              <a:lnSpc>
                <a:spcPts val="2135"/>
              </a:lnSpc>
              <a:spcBef>
                <a:spcPts val="0"/>
              </a:spcBef>
              <a:spcAft>
                <a:spcPts val="0"/>
              </a:spcAft>
            </a:pPr>
            <a:r>
              <a:rPr sz="1750" b="0" i="0">
                <a:solidFill>
                  <a:srgbClr val="183A32"/>
                </a:solidFill>
                <a:latin typeface="Arial"/>
              </a:rPr>
              <a:t>remove obstacles between interest and</a:t>
            </a:r>
          </a:p>
          <a:p>
            <a:pPr>
              <a:lnSpc>
                <a:spcPts val="2135"/>
              </a:lnSpc>
              <a:spcBef>
                <a:spcPts val="0"/>
              </a:spcBef>
              <a:spcAft>
                <a:spcPts val="0"/>
              </a:spcAft>
            </a:pPr>
            <a:r>
              <a:rPr sz="1750" b="0" i="0">
                <a:solidFill>
                  <a:srgbClr val="183A32"/>
                </a:solidFill>
                <a:latin typeface="Arial"/>
              </a:rPr>
              <a:t>purchase?</a:t>
            </a:r>
          </a:p>
        </p:txBody>
      </p:sp>
      <p:sp>
        <p:nvSpPr>
          <p:cNvPr id="23" name="Rectangle 22"/>
          <p:cNvSpPr/>
          <p:nvPr/>
        </p:nvSpPr>
        <p:spPr>
          <a:xfrm>
            <a:off x="6400800" y="388861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797173"/>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6. Capital strategy: How does it fund the next</a:t>
            </a:r>
          </a:p>
          <a:p>
            <a:pPr>
              <a:lnSpc>
                <a:spcPts val="2135"/>
              </a:lnSpc>
              <a:spcBef>
                <a:spcPts val="0"/>
              </a:spcBef>
              <a:spcAft>
                <a:spcPts val="0"/>
              </a:spcAft>
            </a:pPr>
            <a:r>
              <a:rPr sz="1750" b="0" i="0">
                <a:solidFill>
                  <a:srgbClr val="183A32"/>
                </a:solidFill>
                <a:latin typeface="Arial"/>
              </a:rPr>
              <a:t>phase without exhausting cash?</a:t>
            </a:r>
          </a:p>
        </p:txBody>
      </p:sp>
      <p:sp>
        <p:nvSpPr>
          <p:cNvPr id="25" name="Rectangle 24"/>
          <p:cNvSpPr/>
          <p:nvPr/>
        </p:nvSpPr>
        <p:spPr>
          <a:xfrm>
            <a:off x="6400800" y="460921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451777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7. Delivery: Does the completed experience</a:t>
            </a:r>
          </a:p>
          <a:p>
            <a:pPr>
              <a:lnSpc>
                <a:spcPts val="2135"/>
              </a:lnSpc>
              <a:spcBef>
                <a:spcPts val="0"/>
              </a:spcBef>
              <a:spcAft>
                <a:spcPts val="0"/>
              </a:spcAft>
            </a:pPr>
            <a:r>
              <a:rPr sz="1750" b="0" i="0">
                <a:solidFill>
                  <a:srgbClr val="183A32"/>
                </a:solidFill>
                <a:latin typeface="Arial"/>
              </a:rPr>
              <a:t>support the next launch?</a:t>
            </a:r>
          </a:p>
        </p:txBody>
      </p:sp>
      <p:sp>
        <p:nvSpPr>
          <p:cNvPr id="27" name="TextBox 2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111–112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259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makes a developer’s strategy effective?</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Analytical principle: A strong campaign cannot permanently compensate for an unsuitable location, unaffordable</a:t>
            </a:r>
          </a:p>
          <a:p>
            <a:pPr>
              <a:lnSpc>
                <a:spcPts val="2196"/>
              </a:lnSpc>
              <a:spcBef>
                <a:spcPts val="0"/>
              </a:spcBef>
              <a:spcAft>
                <a:spcPts val="0"/>
              </a:spcAft>
            </a:pPr>
            <a:r>
              <a:rPr sz="1800" b="0" i="0">
                <a:solidFill>
                  <a:srgbClr val="183A32"/>
                </a:solidFill>
                <a:latin typeface="Times New Roman"/>
              </a:rPr>
              <a:t>product, or unreliable delivery.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112–113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brands operate at different levels</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ANALYTICAL INTERPRETATION OF THE OBSERVED PORTFOLIOS</a:t>
            </a:r>
          </a:p>
        </p:txBody>
      </p:sp>
      <p:graphicFrame>
        <p:nvGraphicFramePr>
          <p:cNvPr id="12" name="Table 11"/>
          <p:cNvGraphicFramePr>
            <a:graphicFrameLocks noGrp="1"/>
          </p:cNvGraphicFramePr>
          <p:nvPr/>
        </p:nvGraphicFramePr>
        <p:xfrm>
          <a:off x="685800" y="2433574"/>
          <a:ext cx="10789919" cy="3127500"/>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brand mechanism</a:t>
                      </a:r>
                    </a:p>
                    <a:p>
                      <a:pPr>
                        <a:lnSpc>
                          <a:spcPts val="1829"/>
                        </a:lnSpc>
                        <a:spcBef>
                          <a:spcPts val="0"/>
                        </a:spcBef>
                        <a:spcAft>
                          <a:spcPts val="0"/>
                        </a:spcAft>
                      </a:pPr>
                      <a:r>
                        <a:rPr sz="1550" b="1">
                          <a:solidFill>
                            <a:srgbClr val="F6F2E9"/>
                          </a:solidFill>
                          <a:latin typeface="Arial"/>
                        </a:rPr>
                        <a:t>to examine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Commercial purpose</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BSDE / Sinar Mas Land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Corporate endorsement + BSD</a:t>
                      </a:r>
                    </a:p>
                    <a:p>
                      <a:pPr>
                        <a:lnSpc>
                          <a:spcPts val="1829"/>
                        </a:lnSpc>
                        <a:spcBef>
                          <a:spcPts val="0"/>
                        </a:spcBef>
                        <a:spcAft>
                          <a:spcPts val="0"/>
                        </a:spcAft>
                      </a:pPr>
                      <a:r>
                        <a:rPr sz="1550" b="0">
                          <a:solidFill>
                            <a:srgbClr val="183A32"/>
                          </a:solidFill>
                          <a:latin typeface="Arial"/>
                        </a:rPr>
                        <a:t>destination identity + cluster</a:t>
                      </a:r>
                    </a:p>
                    <a:p>
                      <a:pPr>
                        <a:lnSpc>
                          <a:spcPts val="1829"/>
                        </a:lnSpc>
                        <a:spcBef>
                          <a:spcPts val="0"/>
                        </a:spcBef>
                        <a:spcAft>
                          <a:spcPts val="0"/>
                        </a:spcAft>
                      </a:pPr>
                      <a:r>
                        <a:rPr sz="1550" b="0">
                          <a:solidFill>
                            <a:srgbClr val="183A32"/>
                          </a:solidFill>
                          <a:latin typeface="Arial"/>
                        </a:rPr>
                        <a:t>brands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Combine delivery confidence with different product</a:t>
                      </a:r>
                    </a:p>
                    <a:p>
                      <a:pPr>
                        <a:lnSpc>
                          <a:spcPts val="1829"/>
                        </a:lnSpc>
                        <a:spcBef>
                          <a:spcPts val="0"/>
                        </a:spcBef>
                        <a:spcAft>
                          <a:spcPts val="0"/>
                        </a:spcAft>
                      </a:pPr>
                      <a:r>
                        <a:rPr sz="1550" b="0">
                          <a:solidFill>
                            <a:srgbClr val="183A32"/>
                          </a:solidFill>
                          <a:latin typeface="Arial"/>
                        </a:rPr>
                        <a:t>propositions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Lippo Karawaci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identity + clearly</a:t>
                      </a:r>
                    </a:p>
                    <a:p>
                      <a:pPr>
                        <a:lnSpc>
                          <a:spcPts val="1829"/>
                        </a:lnSpc>
                        <a:spcBef>
                          <a:spcPts val="0"/>
                        </a:spcBef>
                        <a:spcAft>
                          <a:spcPts val="0"/>
                        </a:spcAft>
                      </a:pPr>
                      <a:r>
                        <a:rPr sz="1550" b="0">
                          <a:solidFill>
                            <a:srgbClr val="183A32"/>
                          </a:solidFill>
                          <a:latin typeface="Arial"/>
                        </a:rPr>
                        <a:t>differentiated housing series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Make products relevant to distinct budgets and</a:t>
                      </a:r>
                    </a:p>
                    <a:p>
                      <a:pPr>
                        <a:lnSpc>
                          <a:spcPts val="1829"/>
                        </a:lnSpc>
                        <a:spcBef>
                          <a:spcPts val="0"/>
                        </a:spcBef>
                        <a:spcAft>
                          <a:spcPts val="0"/>
                        </a:spcAft>
                      </a:pPr>
                      <a:r>
                        <a:rPr sz="1550" b="0">
                          <a:solidFill>
                            <a:srgbClr val="183A32"/>
                          </a:solidFill>
                          <a:latin typeface="Arial"/>
                        </a:rPr>
                        <a:t>household needs</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Ciputra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Recognisable development</a:t>
                      </a:r>
                    </a:p>
                    <a:p>
                      <a:pPr>
                        <a:lnSpc>
                          <a:spcPts val="1829"/>
                        </a:lnSpc>
                        <a:spcBef>
                          <a:spcPts val="0"/>
                        </a:spcBef>
                        <a:spcAft>
                          <a:spcPts val="0"/>
                        </a:spcAft>
                      </a:pPr>
                      <a:r>
                        <a:rPr sz="1550" b="0">
                          <a:solidFill>
                            <a:srgbClr val="183A32"/>
                          </a:solidFill>
                          <a:latin typeface="Arial"/>
                        </a:rPr>
                        <a:t>identity across locally adapted</a:t>
                      </a:r>
                    </a:p>
                    <a:p>
                      <a:pPr>
                        <a:lnSpc>
                          <a:spcPts val="1829"/>
                        </a:lnSpc>
                        <a:spcBef>
                          <a:spcPts val="0"/>
                        </a:spcBef>
                        <a:spcAft>
                          <a:spcPts val="0"/>
                        </a:spcAft>
                      </a:pPr>
                      <a:r>
                        <a:rPr sz="1550" b="0">
                          <a:solidFill>
                            <a:srgbClr val="183A32"/>
                          </a:solidFill>
                          <a:latin typeface="Arial"/>
                        </a:rPr>
                        <a:t>projects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Transfer confidence across cities and attract land</a:t>
                      </a:r>
                    </a:p>
                    <a:p>
                      <a:pPr>
                        <a:lnSpc>
                          <a:spcPts val="1829"/>
                        </a:lnSpc>
                        <a:spcBef>
                          <a:spcPts val="0"/>
                        </a:spcBef>
                        <a:spcAft>
                          <a:spcPts val="0"/>
                        </a:spcAft>
                      </a:pPr>
                      <a:r>
                        <a:rPr sz="1550" b="0">
                          <a:solidFill>
                            <a:srgbClr val="183A32"/>
                          </a:solidFill>
                          <a:latin typeface="Arial"/>
                        </a:rPr>
                        <a:t>partners</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112–113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brands operate at different levels</a:t>
            </a:r>
          </a:p>
        </p:txBody>
      </p:sp>
      <p:graphicFrame>
        <p:nvGraphicFramePr>
          <p:cNvPr id="11" name="Table 10"/>
          <p:cNvGraphicFramePr>
            <a:graphicFrameLocks noGrp="1"/>
          </p:cNvGraphicFramePr>
          <p:nvPr/>
        </p:nvGraphicFramePr>
        <p:xfrm>
          <a:off x="685800" y="2084831"/>
          <a:ext cx="10789919" cy="3560949"/>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brand mechanism</a:t>
                      </a:r>
                    </a:p>
                    <a:p>
                      <a:pPr>
                        <a:lnSpc>
                          <a:spcPts val="1829"/>
                        </a:lnSpc>
                        <a:spcBef>
                          <a:spcPts val="0"/>
                        </a:spcBef>
                        <a:spcAft>
                          <a:spcPts val="0"/>
                        </a:spcAft>
                      </a:pPr>
                      <a:r>
                        <a:rPr sz="1550" b="1">
                          <a:solidFill>
                            <a:srgbClr val="F6F2E9"/>
                          </a:solidFill>
                          <a:latin typeface="Arial"/>
                        </a:rPr>
                        <a:t>to examine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Commercial purpose</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Summarecon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Corporate name closely attached</a:t>
                      </a:r>
                    </a:p>
                    <a:p>
                      <a:pPr>
                        <a:lnSpc>
                          <a:spcPts val="1829"/>
                        </a:lnSpc>
                        <a:spcBef>
                          <a:spcPts val="0"/>
                        </a:spcBef>
                        <a:spcAft>
                          <a:spcPts val="0"/>
                        </a:spcAft>
                      </a:pPr>
                      <a:r>
                        <a:rPr sz="1550" b="0">
                          <a:solidFill>
                            <a:srgbClr val="183A32"/>
                          </a:solidFill>
                          <a:latin typeface="Arial"/>
                        </a:rPr>
                        <a:t>to township names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Transfer expectations from established places to new</a:t>
                      </a:r>
                    </a:p>
                    <a:p>
                      <a:pPr>
                        <a:lnSpc>
                          <a:spcPts val="1829"/>
                        </a:lnSpc>
                        <a:spcBef>
                          <a:spcPts val="0"/>
                        </a:spcBef>
                        <a:spcAft>
                          <a:spcPts val="0"/>
                        </a:spcAft>
                      </a:pPr>
                      <a:r>
                        <a:rPr sz="1550" b="0">
                          <a:solidFill>
                            <a:srgbClr val="183A32"/>
                          </a:solidFill>
                          <a:latin typeface="Arial"/>
                        </a:rPr>
                        <a:t>developments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Pakuwon</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Strong destination brands within</a:t>
                      </a:r>
                    </a:p>
                    <a:p>
                      <a:pPr>
                        <a:lnSpc>
                          <a:spcPts val="1829"/>
                        </a:lnSpc>
                        <a:spcBef>
                          <a:spcPts val="0"/>
                        </a:spcBef>
                        <a:spcAft>
                          <a:spcPts val="0"/>
                        </a:spcAft>
                      </a:pPr>
                      <a:r>
                        <a:rPr sz="1550" b="0">
                          <a:solidFill>
                            <a:srgbClr val="183A32"/>
                          </a:solidFill>
                          <a:latin typeface="Arial"/>
                        </a:rPr>
                        <a:t>an operating portfolio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Attract visitors, tenants, residents, and hotel customers</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Agung Podomoro</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Developer endorsement + project</a:t>
                      </a:r>
                    </a:p>
                    <a:p>
                      <a:pPr>
                        <a:lnSpc>
                          <a:spcPts val="1829"/>
                        </a:lnSpc>
                        <a:spcBef>
                          <a:spcPts val="0"/>
                        </a:spcBef>
                        <a:spcAft>
                          <a:spcPts val="0"/>
                        </a:spcAft>
                      </a:pPr>
                      <a:r>
                        <a:rPr sz="1550" b="0">
                          <a:solidFill>
                            <a:srgbClr val="183A32"/>
                          </a:solidFill>
                          <a:latin typeface="Arial"/>
                        </a:rPr>
                        <a:t>identity + tangible design</a:t>
                      </a:r>
                    </a:p>
                    <a:p>
                      <a:pPr>
                        <a:lnSpc>
                          <a:spcPts val="1829"/>
                        </a:lnSpc>
                        <a:spcBef>
                          <a:spcPts val="0"/>
                        </a:spcBef>
                        <a:spcAft>
                          <a:spcPts val="0"/>
                        </a:spcAft>
                      </a:pPr>
                      <a:r>
                        <a:rPr sz="1550" b="0">
                          <a:solidFill>
                            <a:srgbClr val="183A32"/>
                          </a:solidFill>
                          <a:latin typeface="Arial"/>
                        </a:rPr>
                        <a:t>propositions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Make products recognisable and easier to evaluate</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Duta Pertiwi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Township brands combined with</a:t>
                      </a:r>
                    </a:p>
                    <a:p>
                      <a:pPr>
                        <a:lnSpc>
                          <a:spcPts val="1829"/>
                        </a:lnSpc>
                        <a:spcBef>
                          <a:spcPts val="0"/>
                        </a:spcBef>
                        <a:spcAft>
                          <a:spcPts val="0"/>
                        </a:spcAft>
                      </a:pPr>
                      <a:r>
                        <a:rPr sz="1550" b="0">
                          <a:solidFill>
                            <a:srgbClr val="183A32"/>
                          </a:solidFill>
                          <a:latin typeface="Arial"/>
                        </a:rPr>
                        <a:t>specialist partner brands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Add credible capabilities to existing locations</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112–113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brands operate at different levels</a:t>
            </a:r>
          </a:p>
        </p:txBody>
      </p:sp>
      <p:graphicFrame>
        <p:nvGraphicFramePr>
          <p:cNvPr id="11" name="Table 10"/>
          <p:cNvGraphicFramePr>
            <a:graphicFrameLocks noGrp="1"/>
          </p:cNvGraphicFramePr>
          <p:nvPr/>
        </p:nvGraphicFramePr>
        <p:xfrm>
          <a:off x="685800" y="2084831"/>
          <a:ext cx="10789919" cy="3127500"/>
        </p:xfrm>
        <a:graphic>
          <a:graphicData uri="http://schemas.openxmlformats.org/drawingml/2006/table">
            <a:tbl>
              <a:tblPr firstRow="1" bandRow="1">
                <a:tableStyleId>{5C22544A-7EE6-4342-B048-85BDC9FD1C3A}</a:tableStyleId>
              </a:tblPr>
              <a:tblGrid>
                <a:gridCol w="2373782"/>
                <a:gridCol w="3236976"/>
                <a:gridCol w="5179161"/>
              </a:tblGrid>
              <a:tr h="665733">
                <a:tc>
                  <a:txBody>
                    <a:bodyPr wrap="none"/>
                    <a:lstStyle/>
                    <a:p>
                      <a:pPr>
                        <a:lnSpc>
                          <a:spcPts val="1829"/>
                        </a:lnSpc>
                        <a:spcBef>
                          <a:spcPts val="0"/>
                        </a:spcBef>
                        <a:spcAft>
                          <a:spcPts val="0"/>
                        </a:spcAft>
                      </a:pPr>
                      <a:r>
                        <a:rPr sz="1550" b="1">
                          <a:solidFill>
                            <a:srgbClr val="F6F2E9"/>
                          </a:solidFill>
                          <a:latin typeface="Arial"/>
                        </a:rPr>
                        <a:t>Developer</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useful brand mechanism</a:t>
                      </a:r>
                    </a:p>
                    <a:p>
                      <a:pPr>
                        <a:lnSpc>
                          <a:spcPts val="1829"/>
                        </a:lnSpc>
                        <a:spcBef>
                          <a:spcPts val="0"/>
                        </a:spcBef>
                        <a:spcAft>
                          <a:spcPts val="0"/>
                        </a:spcAft>
                      </a:pPr>
                      <a:r>
                        <a:rPr sz="1550" b="1">
                          <a:solidFill>
                            <a:srgbClr val="F6F2E9"/>
                          </a:solidFill>
                          <a:latin typeface="Arial"/>
                        </a:rPr>
                        <a:t>to examine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Commercial purpose</a:t>
                      </a:r>
                    </a:p>
                  </a:txBody>
                  <a:tcPr marL="109728" marR="109728" marT="82296" marB="0" anchor="t">
                    <a:solidFill>
                      <a:srgbClr val="153F35"/>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Alam Sutera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Place identity supported by a</a:t>
                      </a:r>
                    </a:p>
                    <a:p>
                      <a:pPr>
                        <a:lnSpc>
                          <a:spcPts val="1829"/>
                        </a:lnSpc>
                        <a:spcBef>
                          <a:spcPts val="0"/>
                        </a:spcBef>
                        <a:spcAft>
                          <a:spcPts val="0"/>
                        </a:spcAft>
                      </a:pPr>
                      <a:r>
                        <a:rPr sz="1550" b="0">
                          <a:solidFill>
                            <a:srgbClr val="183A32"/>
                          </a:solidFill>
                          <a:latin typeface="Arial"/>
                        </a:rPr>
                        <a:t>range of project and cluster</a:t>
                      </a:r>
                    </a:p>
                    <a:p>
                      <a:pPr>
                        <a:lnSpc>
                          <a:spcPts val="1829"/>
                        </a:lnSpc>
                        <a:spcBef>
                          <a:spcPts val="0"/>
                        </a:spcBef>
                        <a:spcAft>
                          <a:spcPts val="0"/>
                        </a:spcAft>
                      </a:pPr>
                      <a:r>
                        <a:rPr sz="1550" b="0">
                          <a:solidFill>
                            <a:srgbClr val="183A32"/>
                          </a:solidFill>
                          <a:latin typeface="Arial"/>
                        </a:rPr>
                        <a:t>propositions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Serve different purchasing capacities without one</a:t>
                      </a:r>
                    </a:p>
                    <a:p>
                      <a:pPr>
                        <a:lnSpc>
                          <a:spcPts val="1829"/>
                        </a:lnSpc>
                        <a:spcBef>
                          <a:spcPts val="0"/>
                        </a:spcBef>
                        <a:spcAft>
                          <a:spcPts val="0"/>
                        </a:spcAft>
                      </a:pPr>
                      <a:r>
                        <a:rPr sz="1550" b="0">
                          <a:solidFill>
                            <a:srgbClr val="183A32"/>
                          </a:solidFill>
                          <a:latin typeface="Arial"/>
                        </a:rPr>
                        <a:t>uniform offer</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Jaya Real Property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Established place brands</a:t>
                      </a:r>
                    </a:p>
                    <a:p>
                      <a:pPr>
                        <a:lnSpc>
                          <a:spcPts val="1829"/>
                        </a:lnSpc>
                        <a:spcBef>
                          <a:spcPts val="0"/>
                        </a:spcBef>
                        <a:spcAft>
                          <a:spcPts val="0"/>
                        </a:spcAft>
                      </a:pPr>
                      <a:r>
                        <a:rPr sz="1550" b="0">
                          <a:solidFill>
                            <a:srgbClr val="183A32"/>
                          </a:solidFill>
                          <a:latin typeface="Arial"/>
                        </a:rPr>
                        <a:t>supported by practical livability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Sell an everyday living environment</a:t>
                      </a:r>
                    </a:p>
                  </a:txBody>
                  <a:tcPr marL="109728" marR="109728" marT="82296" marB="0" anchor="t">
                    <a:solidFill>
                      <a:srgbClr val="E9E8DC"/>
                    </a:solidFill>
                    <a:lnL>
                      <a:noFill/>
                    </a:lnL>
                    <a:lnR>
                      <a:noFill/>
                    </a:lnR>
                    <a:lnT>
                      <a:noFill/>
                    </a:lnT>
                    <a:lnB>
                      <a:noFill/>
                    </a:lnB>
                  </a:tcPr>
                </a:tc>
              </a:tr>
              <a:tr h="898017">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PIK2 destination identity</a:t>
                      </a:r>
                    </a:p>
                    <a:p>
                      <a:pPr>
                        <a:lnSpc>
                          <a:spcPts val="1829"/>
                        </a:lnSpc>
                        <a:spcBef>
                          <a:spcPts val="0"/>
                        </a:spcBef>
                        <a:spcAft>
                          <a:spcPts val="0"/>
                        </a:spcAft>
                      </a:pPr>
                      <a:r>
                        <a:rPr sz="1550" b="0">
                          <a:solidFill>
                            <a:srgbClr val="183A32"/>
                          </a:solidFill>
                          <a:latin typeface="Arial"/>
                        </a:rPr>
                        <a:t>supporting multiple product</a:t>
                      </a:r>
                    </a:p>
                    <a:p>
                      <a:pPr>
                        <a:lnSpc>
                          <a:spcPts val="1829"/>
                        </a:lnSpc>
                        <a:spcBef>
                          <a:spcPts val="0"/>
                        </a:spcBef>
                        <a:spcAft>
                          <a:spcPts val="0"/>
                        </a:spcAft>
                      </a:pPr>
                      <a:r>
                        <a:rPr sz="1550" b="0">
                          <a:solidFill>
                            <a:srgbClr val="183A32"/>
                          </a:solidFill>
                          <a:latin typeface="Arial"/>
                        </a:rPr>
                        <a:t>categories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Connect residential and commercial demand to an</a:t>
                      </a:r>
                    </a:p>
                    <a:p>
                      <a:pPr>
                        <a:lnSpc>
                          <a:spcPts val="1829"/>
                        </a:lnSpc>
                        <a:spcBef>
                          <a:spcPts val="0"/>
                        </a:spcBef>
                        <a:spcAft>
                          <a:spcPts val="0"/>
                        </a:spcAft>
                      </a:pPr>
                      <a:r>
                        <a:rPr sz="1550" b="0">
                          <a:solidFill>
                            <a:srgbClr val="183A32"/>
                          </a:solidFill>
                          <a:latin typeface="Arial"/>
                        </a:rPr>
                        <a:t>expanding location</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539521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analytical descriptions, not claims that the companies formally use these exact brand-strategy terms.</a:t>
            </a:r>
          </a:p>
        </p:txBody>
      </p:sp>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113–114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Building an economic identity for the location</a:t>
            </a:r>
          </a:p>
        </p:txBody>
      </p:sp>
      <p:cxnSp>
        <p:nvCxnSpPr>
          <p:cNvPr id="11" name="Connector 10"/>
          <p:cNvCxnSpPr/>
          <p:nvPr/>
        </p:nvCxnSpPr>
        <p:spPr>
          <a:xfrm>
            <a:off x="6062472" y="2084831"/>
            <a:ext cx="0" cy="305733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STRATEGIC DECISION</a:t>
            </a:r>
          </a:p>
        </p:txBody>
      </p:sp>
      <p:sp>
        <p:nvSpPr>
          <p:cNvPr id="13" name="TextBox 12"/>
          <p:cNvSpPr txBox="1"/>
          <p:nvPr/>
        </p:nvSpPr>
        <p:spPr>
          <a:xfrm>
            <a:off x="685800" y="2433574"/>
            <a:ext cx="5074920" cy="229057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BSD’s Digital Hub was introduced in 2017 as a</a:t>
            </a:r>
          </a:p>
          <a:p>
            <a:pPr>
              <a:lnSpc>
                <a:spcPts val="2196"/>
              </a:lnSpc>
              <a:spcBef>
                <a:spcPts val="0"/>
              </a:spcBef>
              <a:spcAft>
                <a:spcPts val="0"/>
              </a:spcAft>
            </a:pPr>
            <a:r>
              <a:rPr sz="1800" b="0" i="0">
                <a:solidFill>
                  <a:srgbClr val="183A32"/>
                </a:solidFill>
                <a:latin typeface="Times New Roman"/>
              </a:rPr>
              <a:t>dedicated technology and digital-business area. An</a:t>
            </a:r>
          </a:p>
          <a:p>
            <a:pPr>
              <a:lnSpc>
                <a:spcPts val="2196"/>
              </a:lnSpc>
              <a:spcBef>
                <a:spcPts val="0"/>
              </a:spcBef>
              <a:spcAft>
                <a:spcPts val="0"/>
              </a:spcAft>
            </a:pPr>
            <a:r>
              <a:rPr sz="1800" b="0" i="0">
                <a:solidFill>
                  <a:srgbClr val="183A32"/>
                </a:solidFill>
                <a:latin typeface="Times New Roman"/>
              </a:rPr>
              <a:t>official 2021 disclosure identified an ecosystem</a:t>
            </a:r>
          </a:p>
          <a:p>
            <a:pPr>
              <a:lnSpc>
                <a:spcPts val="2196"/>
              </a:lnSpc>
              <a:spcBef>
                <a:spcPts val="0"/>
              </a:spcBef>
              <a:spcAft>
                <a:spcPts val="0"/>
              </a:spcAft>
            </a:pPr>
            <a:r>
              <a:rPr sz="1800" b="0" i="0">
                <a:solidFill>
                  <a:srgbClr val="183A32"/>
                </a:solidFill>
                <a:latin typeface="Times New Roman"/>
              </a:rPr>
              <a:t>including Apple Developer Academy, Traveloka,</a:t>
            </a:r>
          </a:p>
          <a:p>
            <a:pPr>
              <a:lnSpc>
                <a:spcPts val="2196"/>
              </a:lnSpc>
              <a:spcBef>
                <a:spcPts val="0"/>
              </a:spcBef>
              <a:spcAft>
                <a:spcPts val="0"/>
              </a:spcAft>
            </a:pPr>
            <a:r>
              <a:rPr sz="1800" b="0" i="0">
                <a:solidFill>
                  <a:srgbClr val="183A32"/>
                </a:solidFill>
                <a:latin typeface="Times New Roman"/>
              </a:rPr>
              <a:t>NTT, SIRCLO, and other businesses. These are</a:t>
            </a:r>
          </a:p>
          <a:p>
            <a:pPr>
              <a:lnSpc>
                <a:spcPts val="2196"/>
              </a:lnSpc>
              <a:spcBef>
                <a:spcPts val="0"/>
              </a:spcBef>
              <a:spcAft>
                <a:spcPts val="0"/>
              </a:spcAft>
            </a:pPr>
            <a:r>
              <a:rPr sz="1800" b="0" i="0">
                <a:solidFill>
                  <a:srgbClr val="183A32"/>
                </a:solidFill>
                <a:latin typeface="Times New Roman"/>
              </a:rPr>
              <a:t>different forms of participation; they should not all be</a:t>
            </a:r>
          </a:p>
          <a:p>
            <a:pPr>
              <a:lnSpc>
                <a:spcPts val="2196"/>
              </a:lnSpc>
              <a:spcBef>
                <a:spcPts val="0"/>
              </a:spcBef>
              <a:spcAft>
                <a:spcPts val="0"/>
              </a:spcAft>
            </a:pPr>
            <a:r>
              <a:rPr sz="1800" b="0" i="0">
                <a:solidFill>
                  <a:srgbClr val="183A32"/>
                </a:solidFill>
                <a:latin typeface="Times New Roman"/>
              </a:rPr>
              <a:t>described as identical tenants or investments. Source:</a:t>
            </a:r>
          </a:p>
          <a:p>
            <a:pPr>
              <a:lnSpc>
                <a:spcPts val="2196"/>
              </a:lnSpc>
              <a:spcBef>
                <a:spcPts val="0"/>
              </a:spcBef>
              <a:spcAft>
                <a:spcPts val="0"/>
              </a:spcAft>
            </a:pPr>
            <a:r>
              <a:rPr sz="1800" b="0" i="0">
                <a:solidFill>
                  <a:srgbClr val="183A32"/>
                </a:solidFill>
                <a:latin typeface="Times New Roman"/>
              </a:rPr>
              <a:t>Sinar Mas Land’s Digital Hub disclosure.</a:t>
            </a:r>
          </a:p>
        </p:txBody>
      </p:sp>
      <p:sp>
        <p:nvSpPr>
          <p:cNvPr id="14" name="TextBox 13"/>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5" name="TextBox 14"/>
          <p:cNvSpPr txBox="1"/>
          <p:nvPr/>
        </p:nvSpPr>
        <p:spPr>
          <a:xfrm>
            <a:off x="6400800" y="243357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BSD is being positioned as a place with an economic</a:t>
            </a:r>
          </a:p>
          <a:p>
            <a:pPr>
              <a:lnSpc>
                <a:spcPts val="2196"/>
              </a:lnSpc>
              <a:spcBef>
                <a:spcPts val="0"/>
              </a:spcBef>
              <a:spcAft>
                <a:spcPts val="0"/>
              </a:spcAft>
            </a:pPr>
            <a:r>
              <a:rPr sz="1800" b="0" i="0">
                <a:solidFill>
                  <a:srgbClr val="183A32"/>
                </a:solidFill>
                <a:latin typeface="Times New Roman"/>
              </a:rPr>
              <a:t>purpose, beyond its residential inventory. Technology</a:t>
            </a:r>
          </a:p>
          <a:p>
            <a:pPr>
              <a:lnSpc>
                <a:spcPts val="2196"/>
              </a:lnSpc>
              <a:spcBef>
                <a:spcPts val="0"/>
              </a:spcBef>
              <a:spcAft>
                <a:spcPts val="0"/>
              </a:spcAft>
            </a:pPr>
            <a:r>
              <a:rPr sz="1800" b="0" i="0">
                <a:solidFill>
                  <a:srgbClr val="183A32"/>
                </a:solidFill>
                <a:latin typeface="Times New Roman"/>
              </a:rPr>
              <a:t>businesses and education provide tangible support for</a:t>
            </a:r>
          </a:p>
          <a:p>
            <a:pPr>
              <a:lnSpc>
                <a:spcPts val="2196"/>
              </a:lnSpc>
              <a:spcBef>
                <a:spcPts val="0"/>
              </a:spcBef>
              <a:spcAft>
                <a:spcPts val="0"/>
              </a:spcAft>
            </a:pPr>
            <a:r>
              <a:rPr sz="1800" b="0" i="0">
                <a:solidFill>
                  <a:srgbClr val="183A32"/>
                </a:solidFill>
                <a:latin typeface="Times New Roman"/>
              </a:rPr>
              <a:t>that identity.</a:t>
            </a:r>
          </a:p>
        </p:txBody>
      </p:sp>
      <p:sp>
        <p:nvSpPr>
          <p:cNvPr id="16" name="TextBox 15"/>
          <p:cNvSpPr txBox="1"/>
          <p:nvPr/>
        </p:nvSpPr>
        <p:spPr>
          <a:xfrm>
            <a:off x="6400800" y="375488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17" name="Rectangle 16"/>
          <p:cNvSpPr/>
          <p:nvPr/>
        </p:nvSpPr>
        <p:spPr>
          <a:xfrm>
            <a:off x="6400800" y="4167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407619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Employers create reasons to travel to the area.</a:t>
            </a:r>
          </a:p>
        </p:txBody>
      </p:sp>
      <p:sp>
        <p:nvSpPr>
          <p:cNvPr id="19" name="Rectangle 18"/>
          <p:cNvSpPr/>
          <p:nvPr/>
        </p:nvSpPr>
        <p:spPr>
          <a:xfrm>
            <a:off x="6400800" y="461708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4525645"/>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Education and talent activity make the location</a:t>
            </a:r>
          </a:p>
          <a:p>
            <a:pPr>
              <a:lnSpc>
                <a:spcPts val="2135"/>
              </a:lnSpc>
              <a:spcBef>
                <a:spcPts val="0"/>
              </a:spcBef>
              <a:spcAft>
                <a:spcPts val="0"/>
              </a:spcAft>
            </a:pPr>
            <a:r>
              <a:rPr sz="1750" b="0" i="0">
                <a:solidFill>
                  <a:srgbClr val="183A32"/>
                </a:solidFill>
                <a:latin typeface="Arial"/>
              </a:rPr>
              <a:t>more relevant to businesses.</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113–114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Building an economic identity for the location</a:t>
            </a:r>
          </a:p>
        </p:txBody>
      </p:sp>
      <p:cxnSp>
        <p:nvCxnSpPr>
          <p:cNvPr id="11" name="Connector 10"/>
          <p:cNvCxnSpPr/>
          <p:nvPr/>
        </p:nvCxnSpPr>
        <p:spPr>
          <a:xfrm>
            <a:off x="6062472" y="2084831"/>
            <a:ext cx="0" cy="267671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08483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Workers, students, and visitors can support</a:t>
            </a:r>
          </a:p>
          <a:p>
            <a:pPr>
              <a:lnSpc>
                <a:spcPts val="2135"/>
              </a:lnSpc>
              <a:spcBef>
                <a:spcPts val="0"/>
              </a:spcBef>
              <a:spcAft>
                <a:spcPts val="0"/>
              </a:spcAft>
            </a:pPr>
            <a:r>
              <a:rPr sz="1750" b="0" i="0">
                <a:solidFill>
                  <a:srgbClr val="183A32"/>
                </a:solidFill>
                <a:latin typeface="Arial"/>
              </a:rPr>
              <a:t>surrounding services.</a:t>
            </a:r>
          </a:p>
        </p:txBody>
      </p:sp>
      <p:sp>
        <p:nvSpPr>
          <p:cNvPr id="14" name="Rectangle 13"/>
          <p:cNvSpPr/>
          <p:nvPr/>
        </p:nvSpPr>
        <p:spPr>
          <a:xfrm>
            <a:off x="685800" y="289687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805430"/>
            <a:ext cx="4910328" cy="872871"/>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The broader activity base can improve the</a:t>
            </a:r>
          </a:p>
          <a:p>
            <a:pPr>
              <a:lnSpc>
                <a:spcPts val="2135"/>
              </a:lnSpc>
              <a:spcBef>
                <a:spcPts val="0"/>
              </a:spcBef>
              <a:spcAft>
                <a:spcPts val="0"/>
              </a:spcAft>
            </a:pPr>
            <a:r>
              <a:rPr sz="1750" b="0" i="0">
                <a:solidFill>
                  <a:srgbClr val="183A32"/>
                </a:solidFill>
                <a:latin typeface="Arial"/>
              </a:rPr>
              <a:t>proposition for residential and commercial</a:t>
            </a:r>
          </a:p>
          <a:p>
            <a:pPr>
              <a:lnSpc>
                <a:spcPts val="2135"/>
              </a:lnSpc>
              <a:spcBef>
                <a:spcPts val="0"/>
              </a:spcBef>
              <a:spcAft>
                <a:spcPts val="0"/>
              </a:spcAft>
            </a:pPr>
            <a:r>
              <a:rPr sz="1750" b="0" i="0">
                <a:solidFill>
                  <a:srgbClr val="183A32"/>
                </a:solidFill>
                <a:latin typeface="Arial"/>
              </a:rPr>
              <a:t>property.</a:t>
            </a:r>
          </a:p>
        </p:txBody>
      </p:sp>
      <p:sp>
        <p:nvSpPr>
          <p:cNvPr id="16" name="TextBox 15"/>
          <p:cNvSpPr txBox="1"/>
          <p:nvPr/>
        </p:nvSpPr>
        <p:spPr>
          <a:xfrm>
            <a:off x="685800" y="3797173"/>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important strategic move is recruiting the</a:t>
            </a:r>
          </a:p>
          <a:p>
            <a:pPr>
              <a:lnSpc>
                <a:spcPts val="2196"/>
              </a:lnSpc>
              <a:spcBef>
                <a:spcPts val="0"/>
              </a:spcBef>
              <a:spcAft>
                <a:spcPts val="0"/>
              </a:spcAft>
            </a:pPr>
            <a:r>
              <a:rPr sz="1800" b="0" i="0">
                <a:solidFill>
                  <a:srgbClr val="183A32"/>
                </a:solidFill>
                <a:latin typeface="Times New Roman"/>
              </a:rPr>
              <a:t>organisations that make the destination promise</a:t>
            </a:r>
          </a:p>
          <a:p>
            <a:pPr>
              <a:lnSpc>
                <a:spcPts val="2196"/>
              </a:lnSpc>
              <a:spcBef>
                <a:spcPts val="0"/>
              </a:spcBef>
              <a:spcAft>
                <a:spcPts val="0"/>
              </a:spcAft>
            </a:pPr>
            <a:r>
              <a:rPr sz="1800" b="0" i="0">
                <a:solidFill>
                  <a:srgbClr val="183A32"/>
                </a:solidFill>
                <a:latin typeface="Times New Roman"/>
              </a:rPr>
              <a:t>credible.</a:t>
            </a:r>
          </a:p>
        </p:txBody>
      </p:sp>
      <p:sp>
        <p:nvSpPr>
          <p:cNvPr id="17" name="TextBox 16"/>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18" name="TextBox 17"/>
          <p:cNvSpPr txBox="1"/>
          <p:nvPr/>
        </p:nvSpPr>
        <p:spPr>
          <a:xfrm>
            <a:off x="6400800" y="243357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location connected to employment and education</a:t>
            </a:r>
          </a:p>
          <a:p>
            <a:pPr>
              <a:lnSpc>
                <a:spcPts val="2196"/>
              </a:lnSpc>
              <a:spcBef>
                <a:spcPts val="0"/>
              </a:spcBef>
              <a:spcAft>
                <a:spcPts val="0"/>
              </a:spcAft>
            </a:pPr>
            <a:r>
              <a:rPr sz="1800" b="0" i="0">
                <a:solidFill>
                  <a:srgbClr val="183A32"/>
                </a:solidFill>
                <a:latin typeface="Times New Roman"/>
              </a:rPr>
              <a:t>can address a more enduring need than a residential</a:t>
            </a:r>
          </a:p>
          <a:p>
            <a:pPr>
              <a:lnSpc>
                <a:spcPts val="2196"/>
              </a:lnSpc>
              <a:spcBef>
                <a:spcPts val="0"/>
              </a:spcBef>
              <a:spcAft>
                <a:spcPts val="0"/>
              </a:spcAft>
            </a:pPr>
            <a:r>
              <a:rPr sz="1800" b="0" i="0">
                <a:solidFill>
                  <a:srgbClr val="183A32"/>
                </a:solidFill>
                <a:latin typeface="Times New Roman"/>
              </a:rPr>
              <a:t>theme alone.</a:t>
            </a:r>
          </a:p>
        </p:txBody>
      </p:sp>
      <p:sp>
        <p:nvSpPr>
          <p:cNvPr id="19" name="TextBox 18"/>
          <p:cNvSpPr txBox="1"/>
          <p:nvPr/>
        </p:nvSpPr>
        <p:spPr>
          <a:xfrm>
            <a:off x="6400800" y="347598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EVIDENCE LIMIT</a:t>
            </a:r>
          </a:p>
        </p:txBody>
      </p:sp>
      <p:sp>
        <p:nvSpPr>
          <p:cNvPr id="20" name="TextBox 19"/>
          <p:cNvSpPr txBox="1"/>
          <p:nvPr/>
        </p:nvSpPr>
        <p:spPr>
          <a:xfrm>
            <a:off x="6400800" y="3797300"/>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reviewed disclosure does not quantify how much</a:t>
            </a:r>
          </a:p>
          <a:p>
            <a:pPr>
              <a:lnSpc>
                <a:spcPts val="2196"/>
              </a:lnSpc>
              <a:spcBef>
                <a:spcPts val="0"/>
              </a:spcBef>
              <a:spcAft>
                <a:spcPts val="0"/>
              </a:spcAft>
            </a:pPr>
            <a:r>
              <a:rPr sz="1800" b="0" i="0">
                <a:solidFill>
                  <a:srgbClr val="183A32"/>
                </a:solidFill>
                <a:latin typeface="Times New Roman"/>
              </a:rPr>
              <a:t>Digital Hub increased housing prices, absorption, or</a:t>
            </a:r>
          </a:p>
          <a:p>
            <a:pPr>
              <a:lnSpc>
                <a:spcPts val="2196"/>
              </a:lnSpc>
              <a:spcBef>
                <a:spcPts val="0"/>
              </a:spcBef>
              <a:spcAft>
                <a:spcPts val="0"/>
              </a:spcAft>
            </a:pPr>
            <a:r>
              <a:rPr sz="1800" b="0" i="0">
                <a:solidFill>
                  <a:srgbClr val="183A32"/>
                </a:solidFill>
                <a:latin typeface="Times New Roman"/>
              </a:rPr>
              <a:t>profit.</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114–115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Combining brand confidence with purchase-friction</a:t>
            </a:r>
          </a:p>
          <a:p>
            <a:pPr>
              <a:lnSpc>
                <a:spcPts val="3502"/>
              </a:lnSpc>
              <a:spcBef>
                <a:spcPts val="0"/>
              </a:spcBef>
              <a:spcAft>
                <a:spcPts val="0"/>
              </a:spcAft>
            </a:pPr>
            <a:r>
              <a:rPr sz="3100" b="0" i="0">
                <a:solidFill>
                  <a:srgbClr val="153F35"/>
                </a:solidFill>
                <a:latin typeface="Arial"/>
              </a:rPr>
              <a:t>removal</a:t>
            </a:r>
          </a:p>
        </p:txBody>
      </p:sp>
      <p:sp>
        <p:nvSpPr>
          <p:cNvPr id="11" name="TextBox 10"/>
          <p:cNvSpPr txBox="1"/>
          <p:nvPr/>
        </p:nvSpPr>
        <p:spPr>
          <a:xfrm>
            <a:off x="685800" y="21973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MARKETING EXECUTION</a:t>
            </a:r>
          </a:p>
        </p:txBody>
      </p:sp>
      <p:sp>
        <p:nvSpPr>
          <p:cNvPr id="12" name="TextBox 11"/>
          <p:cNvSpPr txBox="1"/>
          <p:nvPr/>
        </p:nvSpPr>
        <p:spPr>
          <a:xfrm>
            <a:off x="685800" y="2518664"/>
            <a:ext cx="10789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2025 Move in Quickly programme used three sales periods and product-dependent incentives, including price</a:t>
            </a:r>
          </a:p>
          <a:p>
            <a:pPr>
              <a:lnSpc>
                <a:spcPts val="2196"/>
              </a:lnSpc>
              <a:spcBef>
                <a:spcPts val="0"/>
              </a:spcBef>
              <a:spcAft>
                <a:spcPts val="0"/>
              </a:spcAft>
            </a:pPr>
            <a:r>
              <a:rPr sz="1800" b="0" i="0">
                <a:solidFill>
                  <a:srgbClr val="183A32"/>
                </a:solidFill>
                <a:latin typeface="Times New Roman"/>
              </a:rPr>
              <a:t>reductions, down-payment support, transaction-cost relief, and other benefits. Separate participation in BCA Expo</a:t>
            </a:r>
          </a:p>
          <a:p>
            <a:pPr>
              <a:lnSpc>
                <a:spcPts val="2196"/>
              </a:lnSpc>
              <a:spcBef>
                <a:spcPts val="0"/>
              </a:spcBef>
              <a:spcAft>
                <a:spcPts val="0"/>
              </a:spcAft>
            </a:pPr>
            <a:r>
              <a:rPr sz="1800" b="0" i="0">
                <a:solidFill>
                  <a:srgbClr val="183A32"/>
                </a:solidFill>
                <a:latin typeface="Times New Roman"/>
              </a:rPr>
              <a:t>placed property offers alongside a financing-related customer occasion. These were historical offers subject to</a:t>
            </a:r>
          </a:p>
          <a:p>
            <a:pPr>
              <a:lnSpc>
                <a:spcPts val="2196"/>
              </a:lnSpc>
              <a:spcBef>
                <a:spcPts val="0"/>
              </a:spcBef>
              <a:spcAft>
                <a:spcPts val="0"/>
              </a:spcAft>
            </a:pPr>
            <a:r>
              <a:rPr sz="1800" b="0" i="0">
                <a:solidFill>
                  <a:srgbClr val="183A32"/>
                </a:solidFill>
                <a:latin typeface="Times New Roman"/>
              </a:rPr>
              <a:t>conditions, not current universal prices. Sources: programme structure, BCA Expo campaign.</a:t>
            </a:r>
          </a:p>
        </p:txBody>
      </p:sp>
      <p:sp>
        <p:nvSpPr>
          <p:cNvPr id="13" name="TextBox 12"/>
          <p:cNvSpPr txBox="1"/>
          <p:nvPr/>
        </p:nvSpPr>
        <p:spPr>
          <a:xfrm>
            <a:off x="685800" y="3839972"/>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4" name="TextBox 13"/>
          <p:cNvSpPr txBox="1"/>
          <p:nvPr/>
        </p:nvSpPr>
        <p:spPr>
          <a:xfrm>
            <a:off x="685800" y="416128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customer can trust a developer and want its product while still being unable to transact.</a:t>
            </a:r>
          </a:p>
        </p:txBody>
      </p:sp>
      <p:sp>
        <p:nvSpPr>
          <p:cNvPr id="15" name="TextBox 14"/>
          <p:cNvSpPr txBox="1"/>
          <p:nvPr/>
        </p:nvSpPr>
        <p:spPr>
          <a:xfrm>
            <a:off x="685800" y="461848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Different incentives address different obstacles:</a:t>
            </a:r>
          </a:p>
        </p:txBody>
      </p:sp>
      <p:graphicFrame>
        <p:nvGraphicFramePr>
          <p:cNvPr id="16" name="Table 15"/>
          <p:cNvGraphicFramePr>
            <a:graphicFrameLocks noGrp="1"/>
          </p:cNvGraphicFramePr>
          <p:nvPr/>
        </p:nvGraphicFramePr>
        <p:xfrm>
          <a:off x="685800" y="5075682"/>
          <a:ext cx="10789919" cy="86690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Obstacle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Relevant commercial response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Insufficient initial cash</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Down-payment support</a:t>
                      </a:r>
                    </a:p>
                  </a:txBody>
                  <a:tcPr marL="109728" marR="109728" marT="82296" marB="0" anchor="t">
                    <a:solidFill>
                      <a:srgbClr val="F6F2E9"/>
                    </a:solidFill>
                    <a:lnL>
                      <a:noFill/>
                    </a:lnL>
                    <a:lnR>
                      <a:noFill/>
                    </a:lnR>
                    <a:lnT>
                      <a:noFill/>
                    </a:lnT>
                    <a:lnB>
                      <a:noFill/>
                    </a:lnB>
                  </a:tcPr>
                </a:tc>
              </a:tr>
            </a:tbl>
          </a:graphicData>
        </a:graphic>
      </p:graphicFrame>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114–115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BSDE: Combining brand confidence with purchase-friction</a:t>
            </a:r>
          </a:p>
          <a:p>
            <a:pPr>
              <a:lnSpc>
                <a:spcPts val="3502"/>
              </a:lnSpc>
              <a:spcBef>
                <a:spcPts val="0"/>
              </a:spcBef>
              <a:spcAft>
                <a:spcPts val="0"/>
              </a:spcAft>
            </a:pPr>
            <a:r>
              <a:rPr sz="3100" b="0" i="0">
                <a:solidFill>
                  <a:srgbClr val="153F35"/>
                </a:solidFill>
                <a:latin typeface="Arial"/>
              </a:rPr>
              <a:t>removal</a:t>
            </a:r>
          </a:p>
        </p:txBody>
      </p:sp>
      <p:graphicFrame>
        <p:nvGraphicFramePr>
          <p:cNvPr id="11" name="Table 10"/>
          <p:cNvGraphicFramePr>
            <a:graphicFrameLocks noGrp="1"/>
          </p:cNvGraphicFramePr>
          <p:nvPr/>
        </p:nvGraphicFramePr>
        <p:xfrm>
          <a:off x="685800" y="2169921"/>
          <a:ext cx="10789919" cy="2167250"/>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Obstacle</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Relevant commercial response</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High all-in acquisition cost</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Tax or transaction-fee assistance</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Uncertainty about financing</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Bank-linked sales channels</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Delayed decision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Clearly defined campaign periods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Difficulty comparing inventory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Searchable product information and sales support</a:t>
                      </a:r>
                    </a:p>
                  </a:txBody>
                  <a:tcPr marL="109728" marR="109728" marT="82296" marB="0" anchor="t">
                    <a:solidFill>
                      <a:srgbClr val="E9E8DC"/>
                    </a:solidFill>
                    <a:lnL>
                      <a:noFill/>
                    </a:lnL>
                    <a:lnR>
                      <a:noFill/>
                    </a:lnR>
                    <a:lnT>
                      <a:noFill/>
                    </a:lnT>
                    <a:lnB>
                      <a:noFill/>
                    </a:lnB>
                  </a:tcPr>
                </a:tc>
              </a:tr>
            </a:tbl>
          </a:graphicData>
        </a:graphic>
      </p:graphicFrame>
      <p:sp>
        <p:nvSpPr>
          <p:cNvPr id="12" name="TextBox 11"/>
          <p:cNvSpPr txBox="1"/>
          <p:nvPr/>
        </p:nvSpPr>
        <p:spPr>
          <a:xfrm>
            <a:off x="685800" y="4547489"/>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IMPLICATION</a:t>
            </a:r>
          </a:p>
        </p:txBody>
      </p:sp>
      <p:sp>
        <p:nvSpPr>
          <p:cNvPr id="13" name="TextBox 12"/>
          <p:cNvSpPr txBox="1"/>
          <p:nvPr/>
        </p:nvSpPr>
        <p:spPr>
          <a:xfrm>
            <a:off x="685800" y="4868799"/>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Marketing is coordinating inventory, financing, timing, and communication—not merely generating awareness.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114–115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Identify the actual barrier for each priority segment before designing a promotion. Track the net realised selling price</a:t>
            </a:r>
          </a:p>
          <a:p>
            <a:pPr>
              <a:lnSpc>
                <a:spcPts val="2196"/>
              </a:lnSpc>
              <a:spcBef>
                <a:spcPts val="0"/>
              </a:spcBef>
              <a:spcAft>
                <a:spcPts val="0"/>
              </a:spcAft>
            </a:pPr>
            <a:r>
              <a:rPr sz="1800" b="0" i="0">
                <a:solidFill>
                  <a:srgbClr val="183A32"/>
                </a:solidFill>
                <a:latin typeface="Times New Roman"/>
              </a:rPr>
              <a:t>and collections after incentives, rather than celebrating bookings alone.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115–116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Changing the product to reach a different customer</a:t>
            </a:r>
          </a:p>
        </p:txBody>
      </p:sp>
      <p:cxnSp>
        <p:nvCxnSpPr>
          <p:cNvPr id="11" name="Connector 10"/>
          <p:cNvCxnSpPr/>
          <p:nvPr/>
        </p:nvCxnSpPr>
        <p:spPr>
          <a:xfrm>
            <a:off x="6062472" y="2084831"/>
            <a:ext cx="0" cy="344576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STRATEGIC DECISION</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Lippo’s sustainability reporting describes market</a:t>
            </a:r>
          </a:p>
          <a:p>
            <a:pPr>
              <a:lnSpc>
                <a:spcPts val="2196"/>
              </a:lnSpc>
              <a:spcBef>
                <a:spcPts val="0"/>
              </a:spcBef>
              <a:spcAft>
                <a:spcPts val="0"/>
              </a:spcAft>
            </a:pPr>
            <a:r>
              <a:rPr sz="1800" b="0" i="0">
                <a:solidFill>
                  <a:srgbClr val="183A32"/>
                </a:solidFill>
                <a:latin typeface="Times New Roman"/>
              </a:rPr>
              <a:t>studies and ethnographic research into younger</a:t>
            </a:r>
          </a:p>
          <a:p>
            <a:pPr>
              <a:lnSpc>
                <a:spcPts val="2196"/>
              </a:lnSpc>
              <a:spcBef>
                <a:spcPts val="0"/>
              </a:spcBef>
              <a:spcAft>
                <a:spcPts val="0"/>
              </a:spcAft>
            </a:pPr>
            <a:r>
              <a:rPr sz="1800" b="0" i="0">
                <a:solidFill>
                  <a:srgbClr val="183A32"/>
                </a:solidFill>
                <a:latin typeface="Times New Roman"/>
              </a:rPr>
              <a:t>Indonesian buyers. It links that work to housing</a:t>
            </a:r>
          </a:p>
          <a:p>
            <a:pPr>
              <a:lnSpc>
                <a:spcPts val="2196"/>
              </a:lnSpc>
              <a:spcBef>
                <a:spcPts val="0"/>
              </a:spcBef>
              <a:spcAft>
                <a:spcPts val="0"/>
              </a:spcAft>
            </a:pPr>
            <a:r>
              <a:rPr sz="1800" b="0" i="0">
                <a:solidFill>
                  <a:srgbClr val="183A32"/>
                </a:solidFill>
                <a:latin typeface="Times New Roman"/>
              </a:rPr>
              <a:t>products at different price points and a shift toward</a:t>
            </a:r>
          </a:p>
          <a:p>
            <a:pPr>
              <a:lnSpc>
                <a:spcPts val="2196"/>
              </a:lnSpc>
              <a:spcBef>
                <a:spcPts val="0"/>
              </a:spcBef>
              <a:spcAft>
                <a:spcPts val="0"/>
              </a:spcAft>
            </a:pPr>
            <a:r>
              <a:rPr sz="1800" b="0" i="0">
                <a:solidFill>
                  <a:srgbClr val="183A32"/>
                </a:solidFill>
                <a:latin typeface="Times New Roman"/>
              </a:rPr>
              <a:t>community-oriented living environments.</a:t>
            </a:r>
          </a:p>
        </p:txBody>
      </p:sp>
      <p:sp>
        <p:nvSpPr>
          <p:cNvPr id="14" name="TextBox 13"/>
          <p:cNvSpPr txBox="1"/>
          <p:nvPr/>
        </p:nvSpPr>
        <p:spPr>
          <a:xfrm>
            <a:off x="685800" y="4006342"/>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XYZ Livin was presented at approximately</a:t>
            </a:r>
          </a:p>
          <a:p>
            <a:pPr>
              <a:lnSpc>
                <a:spcPts val="2196"/>
              </a:lnSpc>
              <a:spcBef>
                <a:spcPts val="0"/>
              </a:spcBef>
              <a:spcAft>
                <a:spcPts val="0"/>
              </a:spcAft>
            </a:pPr>
            <a:r>
              <a:rPr sz="1800" b="0" i="0">
                <a:solidFill>
                  <a:srgbClr val="183A32"/>
                </a:solidFill>
                <a:latin typeface="Times New Roman"/>
              </a:rPr>
              <a:t>Rp300–600 million, targeting young families and</a:t>
            </a:r>
          </a:p>
          <a:p>
            <a:pPr>
              <a:lnSpc>
                <a:spcPts val="2196"/>
              </a:lnSpc>
              <a:spcBef>
                <a:spcPts val="0"/>
              </a:spcBef>
              <a:spcAft>
                <a:spcPts val="0"/>
              </a:spcAft>
            </a:pPr>
            <a:r>
              <a:rPr sz="1800" b="0" i="0">
                <a:solidFill>
                  <a:srgbClr val="183A32"/>
                </a:solidFill>
                <a:latin typeface="Times New Roman"/>
              </a:rPr>
              <a:t>professionals. These were historical disclosed prices.</a:t>
            </a:r>
          </a:p>
          <a:p>
            <a:pPr>
              <a:lnSpc>
                <a:spcPts val="2196"/>
              </a:lnSpc>
              <a:spcBef>
                <a:spcPts val="0"/>
              </a:spcBef>
              <a:spcAft>
                <a:spcPts val="0"/>
              </a:spcAft>
            </a:pPr>
            <a:r>
              <a:rPr sz="1800" b="0" i="0">
                <a:solidFill>
                  <a:srgbClr val="183A32"/>
                </a:solidFill>
                <a:latin typeface="Times New Roman"/>
              </a:rPr>
              <a:t>Source: Lippo’s product-research and XYZ Livin</a:t>
            </a:r>
          </a:p>
          <a:p>
            <a:pPr>
              <a:lnSpc>
                <a:spcPts val="2196"/>
              </a:lnSpc>
              <a:spcBef>
                <a:spcPts val="0"/>
              </a:spcBef>
              <a:spcAft>
                <a:spcPts val="0"/>
              </a:spcAft>
            </a:pPr>
            <a:r>
              <a:rPr sz="1800" b="0" i="0">
                <a:solidFill>
                  <a:srgbClr val="183A32"/>
                </a:solidFill>
                <a:latin typeface="Times New Roman"/>
              </a:rPr>
              <a:t>discussion.</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43357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Product-series identities allow the developer to</a:t>
            </a:r>
          </a:p>
          <a:p>
            <a:pPr>
              <a:lnSpc>
                <a:spcPts val="2196"/>
              </a:lnSpc>
              <a:spcBef>
                <a:spcPts val="0"/>
              </a:spcBef>
              <a:spcAft>
                <a:spcPts val="0"/>
              </a:spcAft>
            </a:pPr>
            <a:r>
              <a:rPr sz="1800" b="0" i="0">
                <a:solidFill>
                  <a:srgbClr val="183A32"/>
                </a:solidFill>
                <a:latin typeface="Times New Roman"/>
              </a:rPr>
              <a:t>communicate different combinations of affordability,</a:t>
            </a:r>
          </a:p>
          <a:p>
            <a:pPr>
              <a:lnSpc>
                <a:spcPts val="2196"/>
              </a:lnSpc>
              <a:spcBef>
                <a:spcPts val="0"/>
              </a:spcBef>
              <a:spcAft>
                <a:spcPts val="0"/>
              </a:spcAft>
            </a:pPr>
            <a:r>
              <a:rPr sz="1800" b="0" i="0">
                <a:solidFill>
                  <a:srgbClr val="183A32"/>
                </a:solidFill>
                <a:latin typeface="Times New Roman"/>
              </a:rPr>
              <a:t>layout, functionality, and aspiration within a larger</a:t>
            </a:r>
          </a:p>
          <a:p>
            <a:pPr>
              <a:lnSpc>
                <a:spcPts val="2196"/>
              </a:lnSpc>
              <a:spcBef>
                <a:spcPts val="0"/>
              </a:spcBef>
              <a:spcAft>
                <a:spcPts val="0"/>
              </a:spcAft>
            </a:pPr>
            <a:r>
              <a:rPr sz="1800" b="0" i="0">
                <a:solidFill>
                  <a:srgbClr val="183A32"/>
                </a:solidFill>
                <a:latin typeface="Times New Roman"/>
              </a:rPr>
              <a:t>township.</a:t>
            </a:r>
          </a:p>
        </p:txBody>
      </p:sp>
      <p:sp>
        <p:nvSpPr>
          <p:cNvPr id="17" name="TextBox 16"/>
          <p:cNvSpPr txBox="1"/>
          <p:nvPr/>
        </p:nvSpPr>
        <p:spPr>
          <a:xfrm>
            <a:off x="6400800" y="375488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18" name="TextBox 17"/>
          <p:cNvSpPr txBox="1"/>
          <p:nvPr/>
        </p:nvSpPr>
        <p:spPr>
          <a:xfrm>
            <a:off x="6400800" y="407619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strategic sequence is:</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115–116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269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Changing the product to reach a different customer</a:t>
            </a:r>
          </a:p>
        </p:txBody>
      </p:sp>
      <p:sp>
        <p:nvSpPr>
          <p:cNvPr id="11" name="Rectangle 10"/>
          <p:cNvSpPr/>
          <p:nvPr/>
        </p:nvSpPr>
        <p:spPr>
          <a:xfrm>
            <a:off x="685800"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Understand purchasing</a:t>
            </a:r>
          </a:p>
          <a:p>
            <a:pPr>
              <a:lnSpc>
                <a:spcPts val="1647"/>
              </a:lnSpc>
              <a:spcBef>
                <a:spcPts val="0"/>
              </a:spcBef>
              <a:spcAft>
                <a:spcPts val="0"/>
              </a:spcAft>
            </a:pPr>
            <a:r>
              <a:rPr sz="1350" b="0" i="0">
                <a:solidFill>
                  <a:srgbClr val="F6F2E9"/>
                </a:solidFill>
                <a:latin typeface="Arial"/>
              </a:rPr>
              <a:t>capacity</a:t>
            </a:r>
          </a:p>
        </p:txBody>
      </p:sp>
      <p:sp>
        <p:nvSpPr>
          <p:cNvPr id="13" name="TextBox 12"/>
          <p:cNvSpPr txBox="1"/>
          <p:nvPr/>
        </p:nvSpPr>
        <p:spPr>
          <a:xfrm>
            <a:off x="3282696"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4" name="Rectangle 13"/>
          <p:cNvSpPr/>
          <p:nvPr/>
        </p:nvSpPr>
        <p:spPr>
          <a:xfrm>
            <a:off x="3433572"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3300" y="2231136"/>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redesign the product</a:t>
            </a:r>
          </a:p>
        </p:txBody>
      </p:sp>
      <p:sp>
        <p:nvSpPr>
          <p:cNvPr id="16" name="TextBox 15"/>
          <p:cNvSpPr txBox="1"/>
          <p:nvPr/>
        </p:nvSpPr>
        <p:spPr>
          <a:xfrm>
            <a:off x="6030468"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7" name="Rectangle 16"/>
          <p:cNvSpPr/>
          <p:nvPr/>
        </p:nvSpPr>
        <p:spPr>
          <a:xfrm>
            <a:off x="6181344"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define the relevant lifestyle</a:t>
            </a:r>
          </a:p>
          <a:p>
            <a:pPr>
              <a:lnSpc>
                <a:spcPts val="1647"/>
              </a:lnSpc>
              <a:spcBef>
                <a:spcPts val="0"/>
              </a:spcBef>
              <a:spcAft>
                <a:spcPts val="0"/>
              </a:spcAft>
            </a:pPr>
            <a:r>
              <a:rPr sz="1350" b="0" i="0">
                <a:solidFill>
                  <a:srgbClr val="F6F2E9"/>
                </a:solidFill>
                <a:latin typeface="Arial"/>
              </a:rPr>
              <a:t>proposition</a:t>
            </a:r>
          </a:p>
        </p:txBody>
      </p:sp>
      <p:sp>
        <p:nvSpPr>
          <p:cNvPr id="19" name="TextBox 18"/>
          <p:cNvSpPr txBox="1"/>
          <p:nvPr/>
        </p:nvSpPr>
        <p:spPr>
          <a:xfrm>
            <a:off x="8778240"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0" name="Rectangle 19"/>
          <p:cNvSpPr/>
          <p:nvPr/>
        </p:nvSpPr>
        <p:spPr>
          <a:xfrm>
            <a:off x="8929116"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8844" y="2231136"/>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organise financing and selling.</a:t>
            </a:r>
          </a:p>
        </p:txBody>
      </p:sp>
      <p:sp>
        <p:nvSpPr>
          <p:cNvPr id="22" name="TextBox 21"/>
          <p:cNvSpPr txBox="1"/>
          <p:nvPr/>
        </p:nvSpPr>
        <p:spPr>
          <a:xfrm>
            <a:off x="685800" y="32278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This is more consequential than applying a youthful campaign to an unchanged, unaffordable house.</a:t>
            </a:r>
          </a:p>
        </p:txBody>
      </p:sp>
      <p:sp>
        <p:nvSpPr>
          <p:cNvPr id="23" name="TextBox 22"/>
          <p:cNvSpPr txBox="1"/>
          <p:nvPr/>
        </p:nvSpPr>
        <p:spPr>
          <a:xfrm>
            <a:off x="685800" y="3712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IT CAN BE EFFECTIVE</a:t>
            </a:r>
          </a:p>
        </p:txBody>
      </p:sp>
      <p:sp>
        <p:nvSpPr>
          <p:cNvPr id="24" name="TextBox 23"/>
          <p:cNvSpPr txBox="1"/>
          <p:nvPr/>
        </p:nvSpPr>
        <p:spPr>
          <a:xfrm>
            <a:off x="685800" y="4033773"/>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lower total ticket can expand the pool of eligible buyers. Functional design can help smaller homes remain</a:t>
            </a:r>
          </a:p>
          <a:p>
            <a:pPr>
              <a:lnSpc>
                <a:spcPts val="2196"/>
              </a:lnSpc>
              <a:spcBef>
                <a:spcPts val="0"/>
              </a:spcBef>
              <a:spcAft>
                <a:spcPts val="0"/>
              </a:spcAft>
            </a:pPr>
            <a:r>
              <a:rPr sz="1800" b="0" i="0">
                <a:solidFill>
                  <a:srgbClr val="183A32"/>
                </a:solidFill>
                <a:latin typeface="Times New Roman"/>
              </a:rPr>
              <a:t>desirable.</a:t>
            </a:r>
          </a:p>
        </p:txBody>
      </p:sp>
      <p:sp>
        <p:nvSpPr>
          <p:cNvPr id="25" name="Rectangle 24"/>
          <p:cNvSpPr/>
          <p:nvPr/>
        </p:nvSpPr>
        <p:spPr>
          <a:xfrm>
            <a:off x="685800" y="4769865"/>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4769865"/>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 y="4852161"/>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trade-off</a:t>
            </a:r>
          </a:p>
        </p:txBody>
      </p:sp>
      <p:sp>
        <p:nvSpPr>
          <p:cNvPr id="28" name="TextBox 2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D05.3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115–116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Changing the product to reach a different customer</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Lower ticket prices must still support adequate margins, acceptable living quality, and manageable infrastructure</a:t>
            </a:r>
          </a:p>
          <a:p>
            <a:pPr>
              <a:lnSpc>
                <a:spcPts val="2196"/>
              </a:lnSpc>
              <a:spcBef>
                <a:spcPts val="0"/>
              </a:spcBef>
              <a:spcAft>
                <a:spcPts val="0"/>
              </a:spcAft>
            </a:pPr>
            <a:r>
              <a:rPr sz="1800" b="0" i="0">
                <a:solidFill>
                  <a:srgbClr val="183A32"/>
                </a:solidFill>
                <a:latin typeface="Times New Roman"/>
              </a:rPr>
              <a:t>costs per unit.</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116–117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Turning an affordable proposition into a repeatable</a:t>
            </a:r>
          </a:p>
          <a:p>
            <a:pPr>
              <a:lnSpc>
                <a:spcPts val="3502"/>
              </a:lnSpc>
              <a:spcBef>
                <a:spcPts val="0"/>
              </a:spcBef>
              <a:spcAft>
                <a:spcPts val="0"/>
              </a:spcAft>
            </a:pPr>
            <a:r>
              <a:rPr sz="3100" b="0" i="0">
                <a:solidFill>
                  <a:srgbClr val="153F35"/>
                </a:solidFill>
                <a:latin typeface="Arial"/>
              </a:rPr>
              <a:t>launch system</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RESULTS</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LPKR reported FY2024 marketing sales of</a:t>
            </a:r>
          </a:p>
          <a:p>
            <a:pPr>
              <a:lnSpc>
                <a:spcPts val="2196"/>
              </a:lnSpc>
              <a:spcBef>
                <a:spcPts val="0"/>
              </a:spcBef>
              <a:spcAft>
                <a:spcPts val="0"/>
              </a:spcAft>
            </a:pPr>
            <a:r>
              <a:rPr sz="1800" b="0" i="0">
                <a:solidFill>
                  <a:srgbClr val="183A32"/>
                </a:solidFill>
                <a:latin typeface="Times New Roman"/>
              </a:rPr>
              <a:t>approximately Rp6.01 trillion, up 17%, with residential</a:t>
            </a:r>
          </a:p>
          <a:p>
            <a:pPr>
              <a:lnSpc>
                <a:spcPts val="2196"/>
              </a:lnSpc>
              <a:spcBef>
                <a:spcPts val="0"/>
              </a:spcBef>
              <a:spcAft>
                <a:spcPts val="0"/>
              </a:spcAft>
            </a:pPr>
            <a:r>
              <a:rPr sz="1800" b="0" i="0">
                <a:solidFill>
                  <a:srgbClr val="183A32"/>
                </a:solidFill>
                <a:latin typeface="Times New Roman"/>
              </a:rPr>
              <a:t>products contributing 64%. It identified continuing</a:t>
            </a:r>
          </a:p>
          <a:p>
            <a:pPr>
              <a:lnSpc>
                <a:spcPts val="2196"/>
              </a:lnSpc>
              <a:spcBef>
                <a:spcPts val="0"/>
              </a:spcBef>
              <a:spcAft>
                <a:spcPts val="0"/>
              </a:spcAft>
            </a:pPr>
            <a:r>
              <a:rPr sz="1800" b="0" i="0">
                <a:solidFill>
                  <a:srgbClr val="183A32"/>
                </a:solidFill>
                <a:latin typeface="Times New Roman"/>
              </a:rPr>
              <a:t>demand for earlier housing series and contributions</a:t>
            </a:r>
          </a:p>
          <a:p>
            <a:pPr>
              <a:lnSpc>
                <a:spcPts val="2196"/>
              </a:lnSpc>
              <a:spcBef>
                <a:spcPts val="0"/>
              </a:spcBef>
              <a:spcAft>
                <a:spcPts val="0"/>
              </a:spcAft>
            </a:pPr>
            <a:r>
              <a:rPr sz="1800" b="0" i="0">
                <a:solidFill>
                  <a:srgbClr val="183A32"/>
                </a:solidFill>
                <a:latin typeface="Times New Roman"/>
              </a:rPr>
              <a:t>from subsequent launches.</a:t>
            </a:r>
          </a:p>
        </p:txBody>
      </p:sp>
      <p:sp>
        <p:nvSpPr>
          <p:cNvPr id="14" name="TextBox 13"/>
          <p:cNvSpPr txBox="1"/>
          <p:nvPr/>
        </p:nvSpPr>
        <p:spPr>
          <a:xfrm>
            <a:off x="685800" y="40914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also reported that first-stage Park</a:t>
            </a:r>
          </a:p>
          <a:p>
            <a:pPr>
              <a:lnSpc>
                <a:spcPts val="2196"/>
              </a:lnSpc>
              <a:spcBef>
                <a:spcPts val="0"/>
              </a:spcBef>
              <a:spcAft>
                <a:spcPts val="0"/>
              </a:spcAft>
            </a:pPr>
            <a:r>
              <a:rPr sz="1800" b="0" i="0">
                <a:solidFill>
                  <a:srgbClr val="183A32"/>
                </a:solidFill>
                <a:latin typeface="Times New Roman"/>
              </a:rPr>
              <a:t>Serpong handovers began in November 2024, within</a:t>
            </a:r>
          </a:p>
          <a:p>
            <a:pPr>
              <a:lnSpc>
                <a:spcPts val="2196"/>
              </a:lnSpc>
              <a:spcBef>
                <a:spcPts val="0"/>
              </a:spcBef>
              <a:spcAft>
                <a:spcPts val="0"/>
              </a:spcAft>
            </a:pPr>
            <a:r>
              <a:rPr sz="1800" b="0" i="0">
                <a:solidFill>
                  <a:srgbClr val="183A32"/>
                </a:solidFill>
                <a:latin typeface="Times New Roman"/>
              </a:rPr>
              <a:t>less than 18 months. These are issuer-reported results.</a:t>
            </a:r>
          </a:p>
          <a:p>
            <a:pPr>
              <a:lnSpc>
                <a:spcPts val="2196"/>
              </a:lnSpc>
              <a:spcBef>
                <a:spcPts val="0"/>
              </a:spcBef>
              <a:spcAft>
                <a:spcPts val="0"/>
              </a:spcAft>
            </a:pPr>
            <a:r>
              <a:rPr sz="1800" b="0" i="0">
                <a:solidFill>
                  <a:srgbClr val="183A32"/>
                </a:solidFill>
                <a:latin typeface="Times New Roman"/>
              </a:rPr>
              <a:t>Source: LPKR’s March 2025 sales announcement.</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Rectangle 15"/>
          <p:cNvSpPr/>
          <p:nvPr/>
        </p:nvSpPr>
        <p:spPr>
          <a:xfrm>
            <a:off x="6400800" y="261010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251866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recognisable product family reduces the need</a:t>
            </a:r>
          </a:p>
          <a:p>
            <a:pPr>
              <a:lnSpc>
                <a:spcPts val="2135"/>
              </a:lnSpc>
              <a:spcBef>
                <a:spcPts val="0"/>
              </a:spcBef>
              <a:spcAft>
                <a:spcPts val="0"/>
              </a:spcAft>
            </a:pPr>
            <a:r>
              <a:rPr sz="1750" b="0" i="0">
                <a:solidFill>
                  <a:srgbClr val="183A32"/>
                </a:solidFill>
                <a:latin typeface="Arial"/>
              </a:rPr>
              <a:t>to explain every new release from zero.</a:t>
            </a:r>
          </a:p>
        </p:txBody>
      </p:sp>
      <p:sp>
        <p:nvSpPr>
          <p:cNvPr id="18" name="Rectangle 17"/>
          <p:cNvSpPr/>
          <p:nvPr/>
        </p:nvSpPr>
        <p:spPr>
          <a:xfrm>
            <a:off x="6400800" y="333070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239261"/>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Multiple formats provide a price and functionality</a:t>
            </a:r>
          </a:p>
          <a:p>
            <a:pPr>
              <a:lnSpc>
                <a:spcPts val="2135"/>
              </a:lnSpc>
              <a:spcBef>
                <a:spcPts val="0"/>
              </a:spcBef>
              <a:spcAft>
                <a:spcPts val="0"/>
              </a:spcAft>
            </a:pPr>
            <a:r>
              <a:rPr sz="1750" b="0" i="0">
                <a:solidFill>
                  <a:srgbClr val="183A32"/>
                </a:solidFill>
                <a:latin typeface="Arial"/>
              </a:rPr>
              <a:t>ladder.</a:t>
            </a:r>
          </a:p>
        </p:txBody>
      </p:sp>
      <p:sp>
        <p:nvSpPr>
          <p:cNvPr id="20" name="Rectangle 19"/>
          <p:cNvSpPr/>
          <p:nvPr/>
        </p:nvSpPr>
        <p:spPr>
          <a:xfrm>
            <a:off x="6400800" y="405129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3959859"/>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Successive phases let the developer respond to</a:t>
            </a:r>
          </a:p>
          <a:p>
            <a:pPr>
              <a:lnSpc>
                <a:spcPts val="2135"/>
              </a:lnSpc>
              <a:spcBef>
                <a:spcPts val="0"/>
              </a:spcBef>
              <a:spcAft>
                <a:spcPts val="0"/>
              </a:spcAft>
            </a:pPr>
            <a:r>
              <a:rPr sz="1750" b="0" i="0">
                <a:solidFill>
                  <a:srgbClr val="183A32"/>
                </a:solidFill>
                <a:latin typeface="Arial"/>
              </a:rPr>
              <a:t>demand.</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116–117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272</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Lippo: Turning an affordable proposition into a repeatable</a:t>
            </a:r>
          </a:p>
          <a:p>
            <a:pPr>
              <a:lnSpc>
                <a:spcPts val="3502"/>
              </a:lnSpc>
              <a:spcBef>
                <a:spcPts val="0"/>
              </a:spcBef>
              <a:spcAft>
                <a:spcPts val="0"/>
              </a:spcAft>
            </a:pPr>
            <a:r>
              <a:rPr sz="3100" b="0" i="0">
                <a:solidFill>
                  <a:srgbClr val="153F35"/>
                </a:solidFill>
                <a:latin typeface="Arial"/>
              </a:rPr>
              <a:t>launch system</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Visible delivery gives later buyers evidence beyond renderings.</a:t>
            </a:r>
          </a:p>
        </p:txBody>
      </p:sp>
      <p:sp>
        <p:nvSpPr>
          <p:cNvPr id="13" name="TextBox 12"/>
          <p:cNvSpPr txBox="1"/>
          <p:nvPr/>
        </p:nvSpPr>
        <p:spPr>
          <a:xfrm>
            <a:off x="685800" y="264680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WHAT THE EVIDENCE DOES NOT ESTABLISH</a:t>
            </a:r>
          </a:p>
        </p:txBody>
      </p:sp>
      <p:sp>
        <p:nvSpPr>
          <p:cNvPr id="14" name="TextBox 13"/>
          <p:cNvSpPr txBox="1"/>
          <p:nvPr/>
        </p:nvSpPr>
        <p:spPr>
          <a:xfrm>
            <a:off x="685800" y="296811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 does not isolate the contribution of naming, digital advertising, affordability, financing, or broader market</a:t>
            </a:r>
          </a:p>
          <a:p>
            <a:pPr>
              <a:lnSpc>
                <a:spcPts val="2196"/>
              </a:lnSpc>
              <a:spcBef>
                <a:spcPts val="0"/>
              </a:spcBef>
              <a:spcAft>
                <a:spcPts val="0"/>
              </a:spcAft>
            </a:pPr>
            <a:r>
              <a:rPr sz="1800" b="0" i="0">
                <a:solidFill>
                  <a:srgbClr val="183A32"/>
                </a:solidFill>
                <a:latin typeface="Times New Roman"/>
              </a:rPr>
              <a:t>conditions.</a:t>
            </a:r>
          </a:p>
        </p:txBody>
      </p:sp>
      <p:sp>
        <p:nvSpPr>
          <p:cNvPr id="15" name="TextBox 14"/>
          <p:cNvSpPr txBox="1"/>
          <p:nvPr/>
        </p:nvSpPr>
        <p:spPr>
          <a:xfrm>
            <a:off x="685800" y="373164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6" name="TextBox 15"/>
          <p:cNvSpPr txBox="1"/>
          <p:nvPr/>
        </p:nvSpPr>
        <p:spPr>
          <a:xfrm>
            <a:off x="685800" y="4052950"/>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Sidoarjo, define specific household segments and their payment capacity before deciding the product range.</a:t>
            </a:r>
          </a:p>
          <a:p>
            <a:pPr>
              <a:lnSpc>
                <a:spcPts val="2196"/>
              </a:lnSpc>
              <a:spcBef>
                <a:spcPts val="0"/>
              </a:spcBef>
              <a:spcAft>
                <a:spcPts val="0"/>
              </a:spcAft>
            </a:pPr>
            <a:r>
              <a:rPr sz="1800" b="0" i="0">
                <a:solidFill>
                  <a:srgbClr val="183A32"/>
                </a:solidFill>
                <a:latin typeface="Times New Roman"/>
              </a:rPr>
              <a:t>Validate whether the preferred format meets both customer needs and project economics.</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117–118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Using the brand to acquire business opportunities</a:t>
            </a:r>
          </a:p>
        </p:txBody>
      </p:sp>
      <p:cxnSp>
        <p:nvCxnSpPr>
          <p:cNvPr id="11" name="Connector 10"/>
          <p:cNvCxnSpPr/>
          <p:nvPr/>
        </p:nvCxnSpPr>
        <p:spPr>
          <a:xfrm>
            <a:off x="6062472" y="2084831"/>
            <a:ext cx="0" cy="316458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BUSINESS STRATEGY</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Ciputra’s 2025 reporting describes joint operations,</a:t>
            </a:r>
          </a:p>
          <a:p>
            <a:pPr>
              <a:lnSpc>
                <a:spcPts val="2196"/>
              </a:lnSpc>
              <a:spcBef>
                <a:spcPts val="0"/>
              </a:spcBef>
              <a:spcAft>
                <a:spcPts val="0"/>
              </a:spcAft>
            </a:pPr>
            <a:r>
              <a:rPr sz="1800" b="0" i="0">
                <a:solidFill>
                  <a:srgbClr val="183A32"/>
                </a:solidFill>
                <a:latin typeface="Times New Roman"/>
              </a:rPr>
              <a:t>joint ventures, and strategic partnerships. Partners</a:t>
            </a:r>
          </a:p>
          <a:p>
            <a:pPr>
              <a:lnSpc>
                <a:spcPts val="2196"/>
              </a:lnSpc>
              <a:spcBef>
                <a:spcPts val="0"/>
              </a:spcBef>
              <a:spcAft>
                <a:spcPts val="0"/>
              </a:spcAft>
            </a:pPr>
            <a:r>
              <a:rPr sz="1800" b="0" i="0">
                <a:solidFill>
                  <a:srgbClr val="183A32"/>
                </a:solidFill>
                <a:latin typeface="Times New Roman"/>
              </a:rPr>
              <a:t>generally contribute land, while Ciputra provides</a:t>
            </a:r>
          </a:p>
          <a:p>
            <a:pPr>
              <a:lnSpc>
                <a:spcPts val="2196"/>
              </a:lnSpc>
              <a:spcBef>
                <a:spcPts val="0"/>
              </a:spcBef>
              <a:spcAft>
                <a:spcPts val="0"/>
              </a:spcAft>
            </a:pPr>
            <a:r>
              <a:rPr sz="1800" b="0" i="0">
                <a:solidFill>
                  <a:srgbClr val="183A32"/>
                </a:solidFill>
                <a:latin typeface="Times New Roman"/>
              </a:rPr>
              <a:t>planning, construction, marketing, and sales</a:t>
            </a:r>
          </a:p>
          <a:p>
            <a:pPr>
              <a:lnSpc>
                <a:spcPts val="2196"/>
              </a:lnSpc>
              <a:spcBef>
                <a:spcPts val="0"/>
              </a:spcBef>
              <a:spcAft>
                <a:spcPts val="0"/>
              </a:spcAft>
            </a:pPr>
            <a:r>
              <a:rPr sz="1800" b="0" i="0">
                <a:solidFill>
                  <a:srgbClr val="183A32"/>
                </a:solidFill>
                <a:latin typeface="Times New Roman"/>
              </a:rPr>
              <a:t>capabilities.</a:t>
            </a:r>
          </a:p>
        </p:txBody>
      </p:sp>
      <p:sp>
        <p:nvSpPr>
          <p:cNvPr id="14" name="TextBox 13"/>
          <p:cNvSpPr txBox="1"/>
          <p:nvPr/>
        </p:nvSpPr>
        <p:spPr>
          <a:xfrm>
            <a:off x="685800" y="4006342"/>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investor presentation explicitly connects continued</a:t>
            </a:r>
          </a:p>
          <a:p>
            <a:pPr>
              <a:lnSpc>
                <a:spcPts val="2196"/>
              </a:lnSpc>
              <a:spcBef>
                <a:spcPts val="0"/>
              </a:spcBef>
              <a:spcAft>
                <a:spcPts val="0"/>
              </a:spcAft>
            </a:pPr>
            <a:r>
              <a:rPr sz="1800" b="0" i="0">
                <a:solidFill>
                  <a:srgbClr val="183A32"/>
                </a:solidFill>
                <a:latin typeface="Times New Roman"/>
              </a:rPr>
              <a:t>joint-operation schemes with leveraging Ciputra brand</a:t>
            </a:r>
          </a:p>
          <a:p>
            <a:pPr>
              <a:lnSpc>
                <a:spcPts val="2196"/>
              </a:lnSpc>
              <a:spcBef>
                <a:spcPts val="0"/>
              </a:spcBef>
              <a:spcAft>
                <a:spcPts val="0"/>
              </a:spcAft>
            </a:pPr>
            <a:r>
              <a:rPr sz="1800" b="0" i="0">
                <a:solidFill>
                  <a:srgbClr val="183A32"/>
                </a:solidFill>
                <a:latin typeface="Times New Roman"/>
              </a:rPr>
              <a:t>equity. Sources: 2025 annual report, joint operations,</a:t>
            </a:r>
          </a:p>
          <a:p>
            <a:pPr>
              <a:lnSpc>
                <a:spcPts val="2196"/>
              </a:lnSpc>
              <a:spcBef>
                <a:spcPts val="0"/>
              </a:spcBef>
              <a:spcAft>
                <a:spcPts val="0"/>
              </a:spcAft>
            </a:pPr>
            <a:r>
              <a:rPr sz="1800" b="0" i="0">
                <a:solidFill>
                  <a:srgbClr val="183A32"/>
                </a:solidFill>
                <a:latin typeface="Times New Roman"/>
              </a:rPr>
              <a:t>growth-strategy presentation.</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433574"/>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brand serves two customers:</a:t>
            </a:r>
          </a:p>
        </p:txBody>
      </p:sp>
      <p:sp>
        <p:nvSpPr>
          <p:cNvPr id="17" name="Rectangle 16"/>
          <p:cNvSpPr/>
          <p:nvPr/>
        </p:nvSpPr>
        <p:spPr>
          <a:xfrm>
            <a:off x="6400800" y="298221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2890774"/>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Homebuyers: Confidence in the development.</a:t>
            </a:r>
          </a:p>
        </p:txBody>
      </p:sp>
      <p:sp>
        <p:nvSpPr>
          <p:cNvPr id="19" name="Rectangle 18"/>
          <p:cNvSpPr/>
          <p:nvPr/>
        </p:nvSpPr>
        <p:spPr>
          <a:xfrm>
            <a:off x="6400800" y="343166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340227"/>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Landowners: Confidence that the developer can</a:t>
            </a:r>
          </a:p>
          <a:p>
            <a:pPr>
              <a:lnSpc>
                <a:spcPts val="2135"/>
              </a:lnSpc>
              <a:spcBef>
                <a:spcPts val="0"/>
              </a:spcBef>
              <a:spcAft>
                <a:spcPts val="0"/>
              </a:spcAft>
            </a:pPr>
            <a:r>
              <a:rPr sz="1750" b="0" i="0">
                <a:solidFill>
                  <a:srgbClr val="183A32"/>
                </a:solidFill>
                <a:latin typeface="Arial"/>
              </a:rPr>
              <a:t>turn land into a commercially viable project.</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117–118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Why this is strategically powerful</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Reputation can improve access to opportunities, not only sales conversion.</a:t>
            </a:r>
          </a:p>
        </p:txBody>
      </p:sp>
      <p:sp>
        <p:nvSpPr>
          <p:cNvPr id="12" name="TextBox 11"/>
          <p:cNvSpPr txBox="1"/>
          <p:nvPr/>
        </p:nvSpPr>
        <p:spPr>
          <a:xfrm>
            <a:off x="685800" y="2542032"/>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landowner with limited development capability may value a partner that can organise design, permissions,</a:t>
            </a:r>
          </a:p>
          <a:p>
            <a:pPr>
              <a:lnSpc>
                <a:spcPts val="2196"/>
              </a:lnSpc>
              <a:spcBef>
                <a:spcPts val="0"/>
              </a:spcBef>
              <a:spcAft>
                <a:spcPts val="0"/>
              </a:spcAft>
            </a:pPr>
            <a:r>
              <a:rPr sz="1800" b="0" i="0">
                <a:solidFill>
                  <a:srgbClr val="183A32"/>
                </a:solidFill>
                <a:latin typeface="Times New Roman"/>
              </a:rPr>
              <a:t>construction, selling, and delivery.</a:t>
            </a:r>
          </a:p>
        </p:txBody>
      </p:sp>
      <p:sp>
        <p:nvSpPr>
          <p:cNvPr id="13" name="TextBox 12"/>
          <p:cNvSpPr txBox="1"/>
          <p:nvPr/>
        </p:nvSpPr>
        <p:spPr>
          <a:xfrm>
            <a:off x="685800" y="330555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ECONOMIC MECHANISM</a:t>
            </a:r>
          </a:p>
        </p:txBody>
      </p:sp>
      <p:sp>
        <p:nvSpPr>
          <p:cNvPr id="14" name="TextBox 13"/>
          <p:cNvSpPr txBox="1"/>
          <p:nvPr/>
        </p:nvSpPr>
        <p:spPr>
          <a:xfrm>
            <a:off x="685800" y="362686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Partnerships can reduce the need for outright upfront land acquisition and introduce local knowledge. They do not</a:t>
            </a:r>
          </a:p>
          <a:p>
            <a:pPr>
              <a:lnSpc>
                <a:spcPts val="2196"/>
              </a:lnSpc>
              <a:spcBef>
                <a:spcPts val="0"/>
              </a:spcBef>
              <a:spcAft>
                <a:spcPts val="0"/>
              </a:spcAft>
            </a:pPr>
            <a:r>
              <a:rPr sz="1800" b="0" i="0">
                <a:solidFill>
                  <a:srgbClr val="183A32"/>
                </a:solidFill>
                <a:latin typeface="Times New Roman"/>
              </a:rPr>
              <a:t>eliminate development expenditure, governance risk, or the partner’s share of profits.</a:t>
            </a:r>
          </a:p>
        </p:txBody>
      </p:sp>
      <p:sp>
        <p:nvSpPr>
          <p:cNvPr id="15" name="TextBox 1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118–119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Standardising capabilities while adapting products</a:t>
            </a:r>
          </a:p>
          <a:p>
            <a:pPr>
              <a:lnSpc>
                <a:spcPts val="3502"/>
              </a:lnSpc>
              <a:spcBef>
                <a:spcPts val="0"/>
              </a:spcBef>
              <a:spcAft>
                <a:spcPts val="0"/>
              </a:spcAft>
            </a:pPr>
            <a:r>
              <a:rPr sz="3100" b="0" i="0">
                <a:solidFill>
                  <a:srgbClr val="153F35"/>
                </a:solidFill>
                <a:latin typeface="Arial"/>
              </a:rPr>
              <a:t>locally</a:t>
            </a:r>
          </a:p>
        </p:txBody>
      </p:sp>
      <p:sp>
        <p:nvSpPr>
          <p:cNvPr id="11" name="TextBox 10"/>
          <p:cNvSpPr txBox="1"/>
          <p:nvPr/>
        </p:nvSpPr>
        <p:spPr>
          <a:xfrm>
            <a:off x="685800" y="21973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STRATEGIC DIRECTION</a:t>
            </a:r>
          </a:p>
        </p:txBody>
      </p:sp>
      <p:sp>
        <p:nvSpPr>
          <p:cNvPr id="12" name="TextBox 11"/>
          <p:cNvSpPr txBox="1"/>
          <p:nvPr/>
        </p:nvSpPr>
        <p:spPr>
          <a:xfrm>
            <a:off x="685800" y="251866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Ciputra’s investor materials combine geographic diversification, continued land replenishment, innovative launches,</a:t>
            </a:r>
          </a:p>
          <a:p>
            <a:pPr>
              <a:lnSpc>
                <a:spcPts val="2196"/>
              </a:lnSpc>
              <a:spcBef>
                <a:spcPts val="0"/>
              </a:spcBef>
              <a:spcAft>
                <a:spcPts val="0"/>
              </a:spcAft>
            </a:pPr>
            <a:r>
              <a:rPr sz="1800" b="0" i="0">
                <a:solidFill>
                  <a:srgbClr val="183A32"/>
                </a:solidFill>
                <a:latin typeface="Times New Roman"/>
              </a:rPr>
              <a:t>complementary amenities, and prudent capital management. Source: Ciputra growth-strategy presentation.</a:t>
            </a:r>
          </a:p>
        </p:txBody>
      </p:sp>
      <p:sp>
        <p:nvSpPr>
          <p:cNvPr id="13" name="TextBox 12"/>
          <p:cNvSpPr txBox="1"/>
          <p:nvPr/>
        </p:nvSpPr>
        <p:spPr>
          <a:xfrm>
            <a:off x="685800" y="328218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HOW THE SYSTEM WORKS — ANALYSIS</a:t>
            </a:r>
          </a:p>
        </p:txBody>
      </p:sp>
      <p:sp>
        <p:nvSpPr>
          <p:cNvPr id="14" name="TextBox 13"/>
          <p:cNvSpPr txBox="1"/>
          <p:nvPr/>
        </p:nvSpPr>
        <p:spPr>
          <a:xfrm>
            <a:off x="685800" y="360349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replicable component is the development organisation:</a:t>
            </a:r>
          </a:p>
        </p:txBody>
      </p:sp>
      <p:sp>
        <p:nvSpPr>
          <p:cNvPr id="15" name="Rectangle 14"/>
          <p:cNvSpPr/>
          <p:nvPr/>
        </p:nvSpPr>
        <p:spPr>
          <a:xfrm>
            <a:off x="685800" y="415213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06069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Project feasibility.</a:t>
            </a:r>
          </a:p>
        </p:txBody>
      </p:sp>
      <p:sp>
        <p:nvSpPr>
          <p:cNvPr id="17" name="Rectangle 16"/>
          <p:cNvSpPr/>
          <p:nvPr/>
        </p:nvSpPr>
        <p:spPr>
          <a:xfrm>
            <a:off x="685800" y="460159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451015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Design and procurement discipline.</a:t>
            </a:r>
          </a:p>
        </p:txBody>
      </p:sp>
      <p:sp>
        <p:nvSpPr>
          <p:cNvPr id="19" name="Rectangle 18"/>
          <p:cNvSpPr/>
          <p:nvPr/>
        </p:nvSpPr>
        <p:spPr>
          <a:xfrm>
            <a:off x="685800" y="505104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95960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Sales management.</a:t>
            </a:r>
          </a:p>
        </p:txBody>
      </p:sp>
      <p:sp>
        <p:nvSpPr>
          <p:cNvPr id="21" name="Rectangle 20"/>
          <p:cNvSpPr/>
          <p:nvPr/>
        </p:nvSpPr>
        <p:spPr>
          <a:xfrm>
            <a:off x="685800" y="550049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540905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Financial controls.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118–119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Ciputra: Standardising capabilities while adapting products</a:t>
            </a:r>
          </a:p>
          <a:p>
            <a:pPr>
              <a:lnSpc>
                <a:spcPts val="3502"/>
              </a:lnSpc>
              <a:spcBef>
                <a:spcPts val="0"/>
              </a:spcBef>
              <a:spcAft>
                <a:spcPts val="0"/>
              </a:spcAft>
            </a:pPr>
            <a:r>
              <a:rPr sz="3100" b="0" i="0">
                <a:solidFill>
                  <a:srgbClr val="153F35"/>
                </a:solidFill>
                <a:latin typeface="Arial"/>
              </a:rPr>
              <a:t>locally</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Construction and handover processes.</a:t>
            </a:r>
          </a:p>
        </p:txBody>
      </p:sp>
      <p:sp>
        <p:nvSpPr>
          <p:cNvPr id="13" name="TextBox 12"/>
          <p:cNvSpPr txBox="1"/>
          <p:nvPr/>
        </p:nvSpPr>
        <p:spPr>
          <a:xfrm>
            <a:off x="685800" y="26193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locally adaptable component is the customer offer:</a:t>
            </a:r>
          </a:p>
        </p:txBody>
      </p:sp>
      <p:sp>
        <p:nvSpPr>
          <p:cNvPr id="14" name="Rectangle 13"/>
          <p:cNvSpPr/>
          <p:nvPr/>
        </p:nvSpPr>
        <p:spPr>
          <a:xfrm>
            <a:off x="685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07657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Price.</a:t>
            </a:r>
          </a:p>
        </p:txBody>
      </p:sp>
      <p:sp>
        <p:nvSpPr>
          <p:cNvPr id="16" name="Rectangle 15"/>
          <p:cNvSpPr/>
          <p:nvPr/>
        </p:nvSpPr>
        <p:spPr>
          <a:xfrm>
            <a:off x="685800" y="361746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52602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Unit configuration.</a:t>
            </a:r>
          </a:p>
        </p:txBody>
      </p:sp>
      <p:sp>
        <p:nvSpPr>
          <p:cNvPr id="18" name="Rectangle 17"/>
          <p:cNvSpPr/>
          <p:nvPr/>
        </p:nvSpPr>
        <p:spPr>
          <a:xfrm>
            <a:off x="685800" y="4066920"/>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97548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Release size.</a:t>
            </a:r>
          </a:p>
        </p:txBody>
      </p:sp>
      <p:sp>
        <p:nvSpPr>
          <p:cNvPr id="20" name="Rectangle 19"/>
          <p:cNvSpPr/>
          <p:nvPr/>
        </p:nvSpPr>
        <p:spPr>
          <a:xfrm>
            <a:off x="685800" y="451637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42493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Amenity priorities.</a:t>
            </a:r>
          </a:p>
        </p:txBody>
      </p:sp>
      <p:sp>
        <p:nvSpPr>
          <p:cNvPr id="22" name="Rectangle 21"/>
          <p:cNvSpPr/>
          <p:nvPr/>
        </p:nvSpPr>
        <p:spPr>
          <a:xfrm>
            <a:off x="685800" y="496582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87438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Communication and distribution channels.</a:t>
            </a:r>
          </a:p>
        </p:txBody>
      </p:sp>
      <p:sp>
        <p:nvSpPr>
          <p:cNvPr id="24" name="TextBox 23"/>
          <p:cNvSpPr txBox="1"/>
          <p:nvPr/>
        </p:nvSpPr>
        <p:spPr>
          <a:xfrm>
            <a:off x="685800" y="5351272"/>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25" name="TextBox 24"/>
          <p:cNvSpPr txBox="1"/>
          <p:nvPr/>
        </p:nvSpPr>
        <p:spPr>
          <a:xfrm>
            <a:off x="685800" y="567258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can reuse operating knowledge without assuming that customers in every city want the same home.</a:t>
            </a:r>
          </a:p>
        </p:txBody>
      </p:sp>
      <p:sp>
        <p:nvSpPr>
          <p:cNvPr id="26" name="TextBox 2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D08.3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118–119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Brand implication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common development identity provides reassurance; project-level propositions supply local relevance.</a:t>
            </a:r>
          </a:p>
        </p:txBody>
      </p:sp>
      <p:sp>
        <p:nvSpPr>
          <p:cNvPr id="12" name="TextBox 11"/>
          <p:cNvSpPr txBox="1"/>
          <p:nvPr/>
        </p:nvSpPr>
        <p:spPr>
          <a:xfrm>
            <a:off x="685800" y="2569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3" name="TextBox 12"/>
          <p:cNvSpPr txBox="1"/>
          <p:nvPr/>
        </p:nvSpPr>
        <p:spPr>
          <a:xfrm>
            <a:off x="685800" y="28907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Create a repeatable development system before attempting rapid geographic expansion. A landowner-partnership</a:t>
            </a:r>
          </a:p>
          <a:p>
            <a:pPr>
              <a:lnSpc>
                <a:spcPts val="2196"/>
              </a:lnSpc>
              <a:spcBef>
                <a:spcPts val="0"/>
              </a:spcBef>
              <a:spcAft>
                <a:spcPts val="0"/>
              </a:spcAft>
            </a:pPr>
            <a:r>
              <a:rPr sz="1800" b="0" i="0">
                <a:solidFill>
                  <a:srgbClr val="183A32"/>
                </a:solidFill>
                <a:latin typeface="Times New Roman"/>
              </a:rPr>
              <a:t>proposal should specify TANRISE’s capabilities, governance, funding responsibilities, and delivery record.</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119–120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278</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Transferring the reputation of an established</a:t>
            </a:r>
          </a:p>
          <a:p>
            <a:pPr>
              <a:lnSpc>
                <a:spcPts val="3502"/>
              </a:lnSpc>
              <a:spcBef>
                <a:spcPts val="0"/>
              </a:spcBef>
              <a:spcAft>
                <a:spcPts val="0"/>
              </a:spcAft>
            </a:pPr>
            <a:r>
              <a:rPr sz="3100" b="0" i="0">
                <a:solidFill>
                  <a:srgbClr val="153F35"/>
                </a:solidFill>
                <a:latin typeface="Arial"/>
              </a:rPr>
              <a:t>place</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BRAND EXECUTION</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Summarecon Crown Gading launched using the theme</a:t>
            </a:r>
          </a:p>
          <a:p>
            <a:pPr>
              <a:lnSpc>
                <a:spcPts val="2196"/>
              </a:lnSpc>
              <a:spcBef>
                <a:spcPts val="0"/>
              </a:spcBef>
              <a:spcAft>
                <a:spcPts val="0"/>
              </a:spcAft>
            </a:pPr>
            <a:r>
              <a:rPr sz="1800" b="0" i="0">
                <a:solidFill>
                  <a:srgbClr val="183A32"/>
                </a:solidFill>
                <a:latin typeface="Times New Roman"/>
              </a:rPr>
              <a:t>“New City, New Kelapa Gading.” The launch</a:t>
            </a:r>
          </a:p>
          <a:p>
            <a:pPr>
              <a:lnSpc>
                <a:spcPts val="2196"/>
              </a:lnSpc>
              <a:spcBef>
                <a:spcPts val="0"/>
              </a:spcBef>
              <a:spcAft>
                <a:spcPts val="0"/>
              </a:spcAft>
            </a:pPr>
            <a:r>
              <a:rPr sz="1800" b="0" i="0">
                <a:solidFill>
                  <a:srgbClr val="183A32"/>
                </a:solidFill>
                <a:latin typeface="Times New Roman"/>
              </a:rPr>
              <a:t>explicitly connected the new township with the</a:t>
            </a:r>
          </a:p>
          <a:p>
            <a:pPr>
              <a:lnSpc>
                <a:spcPts val="2196"/>
              </a:lnSpc>
              <a:spcBef>
                <a:spcPts val="0"/>
              </a:spcBef>
              <a:spcAft>
                <a:spcPts val="0"/>
              </a:spcAft>
            </a:pPr>
            <a:r>
              <a:rPr sz="1800" b="0" i="0">
                <a:solidFill>
                  <a:srgbClr val="183A32"/>
                </a:solidFill>
                <a:latin typeface="Times New Roman"/>
              </a:rPr>
              <a:t>company’s established Kelapa Gading development.</a:t>
            </a:r>
          </a:p>
        </p:txBody>
      </p:sp>
      <p:sp>
        <p:nvSpPr>
          <p:cNvPr id="14" name="TextBox 13"/>
          <p:cNvSpPr txBox="1"/>
          <p:nvPr/>
        </p:nvSpPr>
        <p:spPr>
          <a:xfrm>
            <a:off x="685800" y="3812540"/>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its November 2022 launch, the company reported</a:t>
            </a:r>
          </a:p>
          <a:p>
            <a:pPr>
              <a:lnSpc>
                <a:spcPts val="2196"/>
              </a:lnSpc>
              <a:spcBef>
                <a:spcPts val="0"/>
              </a:spcBef>
              <a:spcAft>
                <a:spcPts val="0"/>
              </a:spcAft>
            </a:pPr>
            <a:r>
              <a:rPr sz="1800" b="0" i="0">
                <a:solidFill>
                  <a:srgbClr val="183A32"/>
                </a:solidFill>
                <a:latin typeface="Times New Roman"/>
              </a:rPr>
              <a:t>an initial offering of 244 homes, expanded through</a:t>
            </a:r>
          </a:p>
          <a:p>
            <a:pPr>
              <a:lnSpc>
                <a:spcPts val="2196"/>
              </a:lnSpc>
              <a:spcBef>
                <a:spcPts val="0"/>
              </a:spcBef>
              <a:spcAft>
                <a:spcPts val="0"/>
              </a:spcAft>
            </a:pPr>
            <a:r>
              <a:rPr sz="1800" b="0" i="0">
                <a:solidFill>
                  <a:srgbClr val="183A32"/>
                </a:solidFill>
                <a:latin typeface="Times New Roman"/>
              </a:rPr>
              <a:t>additional stages to 390 reported sales over six hours,</a:t>
            </a:r>
          </a:p>
          <a:p>
            <a:pPr>
              <a:lnSpc>
                <a:spcPts val="2196"/>
              </a:lnSpc>
              <a:spcBef>
                <a:spcPts val="0"/>
              </a:spcBef>
              <a:spcAft>
                <a:spcPts val="0"/>
              </a:spcAft>
            </a:pPr>
            <a:r>
              <a:rPr sz="1800" b="0" i="0">
                <a:solidFill>
                  <a:srgbClr val="183A32"/>
                </a:solidFill>
                <a:latin typeface="Times New Roman"/>
              </a:rPr>
              <a:t>with a stated sales value of approximately Rp827</a:t>
            </a:r>
          </a:p>
          <a:p>
            <a:pPr>
              <a:lnSpc>
                <a:spcPts val="2196"/>
              </a:lnSpc>
              <a:spcBef>
                <a:spcPts val="0"/>
              </a:spcBef>
              <a:spcAft>
                <a:spcPts val="0"/>
              </a:spcAft>
            </a:pPr>
            <a:r>
              <a:rPr sz="1800" b="0" i="0">
                <a:solidFill>
                  <a:srgbClr val="183A32"/>
                </a:solidFill>
                <a:latin typeface="Times New Roman"/>
              </a:rPr>
              <a:t>billion. Source: Crown Gading launch release.</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BRAND MECHANISM MATTERS — ANALYSIS</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new township asks customers to believe in a future</a:t>
            </a:r>
          </a:p>
          <a:p>
            <a:pPr>
              <a:lnSpc>
                <a:spcPts val="2196"/>
              </a:lnSpc>
              <a:spcBef>
                <a:spcPts val="0"/>
              </a:spcBef>
              <a:spcAft>
                <a:spcPts val="0"/>
              </a:spcAft>
            </a:pPr>
            <a:r>
              <a:rPr sz="1800" b="0" i="0">
                <a:solidFill>
                  <a:srgbClr val="183A32"/>
                </a:solidFill>
                <a:latin typeface="Times New Roman"/>
              </a:rPr>
              <a:t>environment.</a:t>
            </a:r>
          </a:p>
        </p:txBody>
      </p:sp>
      <p:sp>
        <p:nvSpPr>
          <p:cNvPr id="17" name="TextBox 16"/>
          <p:cNvSpPr txBox="1"/>
          <p:nvPr/>
        </p:nvSpPr>
        <p:spPr>
          <a:xfrm>
            <a:off x="6400800" y="3254756"/>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Referencing a familiar, functioning development gives</a:t>
            </a:r>
          </a:p>
          <a:p>
            <a:pPr>
              <a:lnSpc>
                <a:spcPts val="2196"/>
              </a:lnSpc>
              <a:spcBef>
                <a:spcPts val="0"/>
              </a:spcBef>
              <a:spcAft>
                <a:spcPts val="0"/>
              </a:spcAft>
            </a:pPr>
            <a:r>
              <a:rPr sz="1800" b="0" i="0">
                <a:solidFill>
                  <a:srgbClr val="183A32"/>
                </a:solidFill>
                <a:latin typeface="Times New Roman"/>
              </a:rPr>
              <a:t>buyers a concrete model for that future. The</a:t>
            </a:r>
          </a:p>
          <a:p>
            <a:pPr>
              <a:lnSpc>
                <a:spcPts val="2196"/>
              </a:lnSpc>
              <a:spcBef>
                <a:spcPts val="0"/>
              </a:spcBef>
              <a:spcAft>
                <a:spcPts val="0"/>
              </a:spcAft>
            </a:pPr>
            <a:r>
              <a:rPr sz="1800" b="0" i="0">
                <a:solidFill>
                  <a:srgbClr val="183A32"/>
                </a:solidFill>
                <a:latin typeface="Times New Roman"/>
              </a:rPr>
              <a:t>developer’s track record helps reduce the perceived</a:t>
            </a:r>
          </a:p>
          <a:p>
            <a:pPr>
              <a:lnSpc>
                <a:spcPts val="2196"/>
              </a:lnSpc>
              <a:spcBef>
                <a:spcPts val="0"/>
              </a:spcBef>
              <a:spcAft>
                <a:spcPts val="0"/>
              </a:spcAft>
            </a:pPr>
            <a:r>
              <a:rPr sz="1800" b="0" i="0">
                <a:solidFill>
                  <a:srgbClr val="183A32"/>
                </a:solidFill>
                <a:latin typeface="Times New Roman"/>
              </a:rPr>
              <a:t>risk of buying before the new location matures.</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D09.2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119–120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279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implication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Past delivery can support demand for new land and new phases.</a:t>
            </a:r>
          </a:p>
        </p:txBody>
      </p:sp>
      <p:sp>
        <p:nvSpPr>
          <p:cNvPr id="12" name="TextBox 11"/>
          <p:cNvSpPr txBox="1"/>
          <p:nvPr/>
        </p:nvSpPr>
        <p:spPr>
          <a:xfrm>
            <a:off x="685800" y="2569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EVIDENCE CAUTION</a:t>
            </a:r>
          </a:p>
        </p:txBody>
      </p:sp>
      <p:sp>
        <p:nvSpPr>
          <p:cNvPr id="13" name="TextBox 12"/>
          <p:cNvSpPr txBox="1"/>
          <p:nvPr/>
        </p:nvSpPr>
        <p:spPr>
          <a:xfrm>
            <a:off x="685800" y="28907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Launch sales are not the same as completed handovers or audited recognised revenue. The release does not establish</a:t>
            </a:r>
          </a:p>
          <a:p>
            <a:pPr>
              <a:lnSpc>
                <a:spcPts val="2196"/>
              </a:lnSpc>
              <a:spcBef>
                <a:spcPts val="0"/>
              </a:spcBef>
              <a:spcAft>
                <a:spcPts val="0"/>
              </a:spcAft>
            </a:pPr>
            <a:r>
              <a:rPr sz="1800" b="0" i="0">
                <a:solidFill>
                  <a:srgbClr val="183A32"/>
                </a:solidFill>
                <a:latin typeface="Times New Roman"/>
              </a:rPr>
              <a:t>how many purchases later cancelled.</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120–121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280</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Selling the next economic layer of the</a:t>
            </a:r>
          </a:p>
          <a:p>
            <a:pPr>
              <a:lnSpc>
                <a:spcPts val="3502"/>
              </a:lnSpc>
              <a:spcBef>
                <a:spcPts val="0"/>
              </a:spcBef>
              <a:spcAft>
                <a:spcPts val="0"/>
              </a:spcAft>
            </a:pPr>
            <a:r>
              <a:rPr sz="3100" b="0" i="0">
                <a:solidFill>
                  <a:srgbClr val="153F35"/>
                </a:solidFill>
                <a:latin typeface="Arial"/>
              </a:rPr>
              <a:t>township</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SEQUENCE</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After the initial residential launch, Crown Gading</a:t>
            </a:r>
          </a:p>
          <a:p>
            <a:pPr>
              <a:lnSpc>
                <a:spcPts val="2196"/>
              </a:lnSpc>
              <a:spcBef>
                <a:spcPts val="0"/>
              </a:spcBef>
              <a:spcAft>
                <a:spcPts val="0"/>
              </a:spcAft>
            </a:pPr>
            <a:r>
              <a:rPr sz="1800" b="0" i="0">
                <a:solidFill>
                  <a:srgbClr val="183A32"/>
                </a:solidFill>
                <a:latin typeface="Times New Roman"/>
              </a:rPr>
              <a:t>introduced Gading Bulevar Commercial in September</a:t>
            </a:r>
          </a:p>
          <a:p>
            <a:pPr>
              <a:lnSpc>
                <a:spcPts val="2196"/>
              </a:lnSpc>
              <a:spcBef>
                <a:spcPts val="0"/>
              </a:spcBef>
              <a:spcAft>
                <a:spcPts val="0"/>
              </a:spcAft>
            </a:pPr>
            <a:r>
              <a:rPr sz="1800" b="0" i="0">
                <a:solidFill>
                  <a:srgbClr val="183A32"/>
                </a:solidFill>
                <a:latin typeface="Times New Roman"/>
              </a:rPr>
              <a:t>2023. The company reported 66 shophouses sold,</a:t>
            </a:r>
          </a:p>
          <a:p>
            <a:pPr>
              <a:lnSpc>
                <a:spcPts val="2196"/>
              </a:lnSpc>
              <a:spcBef>
                <a:spcPts val="0"/>
              </a:spcBef>
              <a:spcAft>
                <a:spcPts val="0"/>
              </a:spcAft>
            </a:pPr>
            <a:r>
              <a:rPr sz="1800" b="0" i="0">
                <a:solidFill>
                  <a:srgbClr val="183A32"/>
                </a:solidFill>
                <a:latin typeface="Times New Roman"/>
              </a:rPr>
              <a:t>across successive stages, with a stated sales value of</a:t>
            </a:r>
          </a:p>
          <a:p>
            <a:pPr>
              <a:lnSpc>
                <a:spcPts val="2196"/>
              </a:lnSpc>
              <a:spcBef>
                <a:spcPts val="0"/>
              </a:spcBef>
              <a:spcAft>
                <a:spcPts val="0"/>
              </a:spcAft>
            </a:pPr>
            <a:r>
              <a:rPr sz="1800" b="0" i="0">
                <a:solidFill>
                  <a:srgbClr val="183A32"/>
                </a:solidFill>
                <a:latin typeface="Times New Roman"/>
              </a:rPr>
              <a:t>approximately Rp200 billion.</a:t>
            </a:r>
          </a:p>
        </p:txBody>
      </p:sp>
      <p:sp>
        <p:nvSpPr>
          <p:cNvPr id="14" name="TextBox 13"/>
          <p:cNvSpPr txBox="1"/>
          <p:nvPr/>
        </p:nvSpPr>
        <p:spPr>
          <a:xfrm>
            <a:off x="685800" y="40914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proposition highlighted gateway positioning,</a:t>
            </a:r>
          </a:p>
          <a:p>
            <a:pPr>
              <a:lnSpc>
                <a:spcPts val="2196"/>
              </a:lnSpc>
              <a:spcBef>
                <a:spcPts val="0"/>
              </a:spcBef>
              <a:spcAft>
                <a:spcPts val="0"/>
              </a:spcAft>
            </a:pPr>
            <a:r>
              <a:rPr sz="1800" b="0" i="0">
                <a:solidFill>
                  <a:srgbClr val="183A32"/>
                </a:solidFill>
                <a:latin typeface="Times New Roman"/>
              </a:rPr>
              <a:t>boulevard access, future facilities, and named</a:t>
            </a:r>
          </a:p>
          <a:p>
            <a:pPr>
              <a:lnSpc>
                <a:spcPts val="2196"/>
              </a:lnSpc>
              <a:spcBef>
                <a:spcPts val="0"/>
              </a:spcBef>
              <a:spcAft>
                <a:spcPts val="0"/>
              </a:spcAft>
            </a:pPr>
            <a:r>
              <a:rPr sz="1800" b="0" i="0">
                <a:solidFill>
                  <a:srgbClr val="183A32"/>
                </a:solidFill>
                <a:latin typeface="Times New Roman"/>
              </a:rPr>
              <a:t>businesses preparing to operate. Source: Gading</a:t>
            </a:r>
          </a:p>
          <a:p>
            <a:pPr>
              <a:lnSpc>
                <a:spcPts val="2196"/>
              </a:lnSpc>
              <a:spcBef>
                <a:spcPts val="0"/>
              </a:spcBef>
              <a:spcAft>
                <a:spcPts val="0"/>
              </a:spcAft>
            </a:pPr>
            <a:r>
              <a:rPr sz="1800" b="0" i="0">
                <a:solidFill>
                  <a:srgbClr val="183A32"/>
                </a:solidFill>
                <a:latin typeface="Times New Roman"/>
              </a:rPr>
              <a:t>Bulevar launch release.</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Residential buyers and commercial buyers require</a:t>
            </a:r>
          </a:p>
          <a:p>
            <a:pPr>
              <a:lnSpc>
                <a:spcPts val="2196"/>
              </a:lnSpc>
              <a:spcBef>
                <a:spcPts val="0"/>
              </a:spcBef>
              <a:spcAft>
                <a:spcPts val="0"/>
              </a:spcAft>
            </a:pPr>
            <a:r>
              <a:rPr sz="1800" b="0" i="0">
                <a:solidFill>
                  <a:srgbClr val="183A32"/>
                </a:solidFill>
                <a:latin typeface="Times New Roman"/>
              </a:rPr>
              <a:t>different arguments:</a:t>
            </a:r>
          </a:p>
        </p:txBody>
      </p:sp>
      <p:sp>
        <p:nvSpPr>
          <p:cNvPr id="17" name="Rectangle 16"/>
          <p:cNvSpPr/>
          <p:nvPr/>
        </p:nvSpPr>
        <p:spPr>
          <a:xfrm>
            <a:off x="6400800" y="334619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3254756"/>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household evaluates living quality and</a:t>
            </a:r>
          </a:p>
          <a:p>
            <a:pPr>
              <a:lnSpc>
                <a:spcPts val="2135"/>
              </a:lnSpc>
              <a:spcBef>
                <a:spcPts val="0"/>
              </a:spcBef>
              <a:spcAft>
                <a:spcPts val="0"/>
              </a:spcAft>
            </a:pPr>
            <a:r>
              <a:rPr sz="1750" b="0" i="0">
                <a:solidFill>
                  <a:srgbClr val="183A32"/>
                </a:solidFill>
                <a:latin typeface="Arial"/>
              </a:rPr>
              <a:t>affordability.</a:t>
            </a:r>
          </a:p>
        </p:txBody>
      </p:sp>
      <p:sp>
        <p:nvSpPr>
          <p:cNvPr id="19" name="Rectangle 18"/>
          <p:cNvSpPr/>
          <p:nvPr/>
        </p:nvSpPr>
        <p:spPr>
          <a:xfrm>
            <a:off x="6400800" y="406679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97535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business evaluates access, visibility,</a:t>
            </a:r>
          </a:p>
          <a:p>
            <a:pPr>
              <a:lnSpc>
                <a:spcPts val="2135"/>
              </a:lnSpc>
              <a:spcBef>
                <a:spcPts val="0"/>
              </a:spcBef>
              <a:spcAft>
                <a:spcPts val="0"/>
              </a:spcAft>
            </a:pPr>
            <a:r>
              <a:rPr sz="1750" b="0" i="0">
                <a:solidFill>
                  <a:srgbClr val="183A32"/>
                </a:solidFill>
                <a:latin typeface="Arial"/>
              </a:rPr>
              <a:t>catchment, and customer activity.</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120–121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Summarecon: Selling the next economic layer of the</a:t>
            </a:r>
          </a:p>
          <a:p>
            <a:pPr>
              <a:lnSpc>
                <a:spcPts val="3502"/>
              </a:lnSpc>
              <a:spcBef>
                <a:spcPts val="0"/>
              </a:spcBef>
              <a:spcAft>
                <a:spcPts val="0"/>
              </a:spcAft>
            </a:pPr>
            <a:r>
              <a:rPr sz="3100" b="0" i="0">
                <a:solidFill>
                  <a:srgbClr val="153F35"/>
                </a:solidFill>
                <a:latin typeface="Arial"/>
              </a:rPr>
              <a:t>township</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An investor evaluates likely occupancy, income, and resale prospects.</a:t>
            </a:r>
          </a:p>
        </p:txBody>
      </p:sp>
      <p:sp>
        <p:nvSpPr>
          <p:cNvPr id="13" name="TextBox 12"/>
          <p:cNvSpPr txBox="1"/>
          <p:nvPr/>
        </p:nvSpPr>
        <p:spPr>
          <a:xfrm>
            <a:off x="685800" y="261937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marketing story changes with the product’s economic function.</a:t>
            </a:r>
          </a:p>
        </p:txBody>
      </p:sp>
      <p:sp>
        <p:nvSpPr>
          <p:cNvPr id="14" name="Rectangle 13"/>
          <p:cNvSpPr/>
          <p:nvPr/>
        </p:nvSpPr>
        <p:spPr>
          <a:xfrm>
            <a:off x="685800" y="3076574"/>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076574"/>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 y="3158870"/>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distinction</a:t>
            </a:r>
          </a:p>
        </p:txBody>
      </p:sp>
      <p:sp>
        <p:nvSpPr>
          <p:cNvPr id="17" name="TextBox 16"/>
          <p:cNvSpPr txBox="1"/>
          <p:nvPr/>
        </p:nvSpPr>
        <p:spPr>
          <a:xfrm>
            <a:off x="685800" y="364521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Early residential sales can support interest in commercial property, but they do not prove sufficient occupied</a:t>
            </a:r>
          </a:p>
          <a:p>
            <a:pPr>
              <a:lnSpc>
                <a:spcPts val="2196"/>
              </a:lnSpc>
              <a:spcBef>
                <a:spcPts val="0"/>
              </a:spcBef>
              <a:spcAft>
                <a:spcPts val="0"/>
              </a:spcAft>
            </a:pPr>
            <a:r>
              <a:rPr sz="1800" b="0" i="0">
                <a:solidFill>
                  <a:srgbClr val="183A32"/>
                </a:solidFill>
                <a:latin typeface="Times New Roman"/>
              </a:rPr>
              <a:t>households or sustainable tenant turnover.</a:t>
            </a:r>
          </a:p>
        </p:txBody>
      </p:sp>
      <p:sp>
        <p:nvSpPr>
          <p:cNvPr id="18" name="TextBox 17"/>
          <p:cNvSpPr txBox="1"/>
          <p:nvPr/>
        </p:nvSpPr>
        <p:spPr>
          <a:xfrm>
            <a:off x="685800" y="440874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9" name="TextBox 18"/>
          <p:cNvSpPr txBox="1"/>
          <p:nvPr/>
        </p:nvSpPr>
        <p:spPr>
          <a:xfrm>
            <a:off x="685800" y="473005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Separate household marketing from business-occupier marketing. For commercial phases, show verified catchment</a:t>
            </a:r>
          </a:p>
          <a:p>
            <a:pPr>
              <a:lnSpc>
                <a:spcPts val="2196"/>
              </a:lnSpc>
              <a:spcBef>
                <a:spcPts val="0"/>
              </a:spcBef>
              <a:spcAft>
                <a:spcPts val="0"/>
              </a:spcAft>
            </a:pPr>
            <a:r>
              <a:rPr sz="1800" b="0" i="0">
                <a:solidFill>
                  <a:srgbClr val="183A32"/>
                </a:solidFill>
                <a:latin typeface="Times New Roman"/>
              </a:rPr>
              <a:t>and operating demand rather than relying on residential launch success.</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121–121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The marketing customer is also the tenant</a:t>
            </a:r>
          </a:p>
        </p:txBody>
      </p:sp>
      <p:cxnSp>
        <p:nvCxnSpPr>
          <p:cNvPr id="11" name="Connector 10"/>
          <p:cNvCxnSpPr/>
          <p:nvPr/>
        </p:nvCxnSpPr>
        <p:spPr>
          <a:xfrm>
            <a:off x="6062472" y="2084831"/>
            <a:ext cx="0" cy="292379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OPERATING STRATEGY</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Pakuwon’s 2025 report describes selective tenant-mix</a:t>
            </a:r>
          </a:p>
          <a:p>
            <a:pPr>
              <a:lnSpc>
                <a:spcPts val="2196"/>
              </a:lnSpc>
              <a:spcBef>
                <a:spcPts val="0"/>
              </a:spcBef>
              <a:spcAft>
                <a:spcPts val="0"/>
              </a:spcAft>
            </a:pPr>
            <a:r>
              <a:rPr sz="1800" b="0" i="0">
                <a:solidFill>
                  <a:srgbClr val="183A32"/>
                </a:solidFill>
                <a:latin typeface="Times New Roman"/>
              </a:rPr>
              <a:t>curation, prioritising food and beverage, entertainment,</a:t>
            </a:r>
          </a:p>
          <a:p>
            <a:pPr>
              <a:lnSpc>
                <a:spcPts val="2196"/>
              </a:lnSpc>
              <a:spcBef>
                <a:spcPts val="0"/>
              </a:spcBef>
              <a:spcAft>
                <a:spcPts val="0"/>
              </a:spcAft>
            </a:pPr>
            <a:r>
              <a:rPr sz="1800" b="0" i="0">
                <a:solidFill>
                  <a:srgbClr val="183A32"/>
                </a:solidFill>
                <a:latin typeface="Times New Roman"/>
              </a:rPr>
              <a:t>and lifestyle uses, together with experience-based</a:t>
            </a:r>
          </a:p>
          <a:p>
            <a:pPr>
              <a:lnSpc>
                <a:spcPts val="2196"/>
              </a:lnSpc>
              <a:spcBef>
                <a:spcPts val="0"/>
              </a:spcBef>
              <a:spcAft>
                <a:spcPts val="0"/>
              </a:spcAft>
            </a:pPr>
            <a:r>
              <a:rPr sz="1800" b="0" i="0">
                <a:solidFill>
                  <a:srgbClr val="183A32"/>
                </a:solidFill>
                <a:latin typeface="Times New Roman"/>
              </a:rPr>
              <a:t>marketing and digital integration. Source: Pakuwon</a:t>
            </a:r>
          </a:p>
          <a:p>
            <a:pPr>
              <a:lnSpc>
                <a:spcPts val="2196"/>
              </a:lnSpc>
              <a:spcBef>
                <a:spcPts val="0"/>
              </a:spcBef>
              <a:spcAft>
                <a:spcPts val="0"/>
              </a:spcAft>
            </a:pPr>
            <a:r>
              <a:rPr sz="1800" b="0" i="0">
                <a:solidFill>
                  <a:srgbClr val="183A32"/>
                </a:solidFill>
                <a:latin typeface="Times New Roman"/>
              </a:rPr>
              <a:t>2025 annual report, marketing discussion.</a:t>
            </a:r>
          </a:p>
        </p:txBody>
      </p:sp>
      <p:sp>
        <p:nvSpPr>
          <p:cNvPr id="14" name="TextBox 13"/>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5" name="TextBox 14"/>
          <p:cNvSpPr txBox="1"/>
          <p:nvPr/>
        </p:nvSpPr>
        <p:spPr>
          <a:xfrm>
            <a:off x="6400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mall brand must create value for two connected</a:t>
            </a:r>
          </a:p>
          <a:p>
            <a:pPr>
              <a:lnSpc>
                <a:spcPts val="2196"/>
              </a:lnSpc>
              <a:spcBef>
                <a:spcPts val="0"/>
              </a:spcBef>
              <a:spcAft>
                <a:spcPts val="0"/>
              </a:spcAft>
            </a:pPr>
            <a:r>
              <a:rPr sz="1800" b="0" i="0">
                <a:solidFill>
                  <a:srgbClr val="183A32"/>
                </a:solidFill>
                <a:latin typeface="Times New Roman"/>
              </a:rPr>
              <a:t>audiences:</a:t>
            </a:r>
          </a:p>
        </p:txBody>
      </p:sp>
      <p:sp>
        <p:nvSpPr>
          <p:cNvPr id="16" name="Rectangle 15"/>
          <p:cNvSpPr/>
          <p:nvPr/>
        </p:nvSpPr>
        <p:spPr>
          <a:xfrm>
            <a:off x="6400800" y="326110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316966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Visitors need reasons to return.</a:t>
            </a:r>
          </a:p>
        </p:txBody>
      </p:sp>
      <p:sp>
        <p:nvSpPr>
          <p:cNvPr id="18" name="Rectangle 17"/>
          <p:cNvSpPr/>
          <p:nvPr/>
        </p:nvSpPr>
        <p:spPr>
          <a:xfrm>
            <a:off x="6400800" y="371055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619119"/>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Tenants need commercially useful customer</a:t>
            </a:r>
          </a:p>
          <a:p>
            <a:pPr>
              <a:lnSpc>
                <a:spcPts val="2135"/>
              </a:lnSpc>
              <a:spcBef>
                <a:spcPts val="0"/>
              </a:spcBef>
              <a:spcAft>
                <a:spcPts val="0"/>
              </a:spcAft>
            </a:pPr>
            <a:r>
              <a:rPr sz="1750" b="0" i="0">
                <a:solidFill>
                  <a:srgbClr val="183A32"/>
                </a:solidFill>
                <a:latin typeface="Arial"/>
              </a:rPr>
              <a:t>traffic.</a:t>
            </a:r>
          </a:p>
        </p:txBody>
      </p:sp>
      <p:sp>
        <p:nvSpPr>
          <p:cNvPr id="20" name="TextBox 19"/>
          <p:cNvSpPr txBox="1"/>
          <p:nvPr/>
        </p:nvSpPr>
        <p:spPr>
          <a:xfrm>
            <a:off x="6400800" y="436714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21" name="Rectangle 20"/>
          <p:cNvSpPr/>
          <p:nvPr/>
        </p:nvSpPr>
        <p:spPr>
          <a:xfrm>
            <a:off x="6400800" y="477989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688459"/>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1. Recruit a relevant tenant mix.</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121–121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The marketing customer is also the tenant</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2. Make the destination useful and enjoyable.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3. Encourage repeat visits and time spent.</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4. Support tenant trading.</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5. Sustain leasing demand and rental income.</a:t>
            </a:r>
          </a:p>
        </p:txBody>
      </p:sp>
      <p:sp>
        <p:nvSpPr>
          <p:cNvPr id="19" name="TextBox 18"/>
          <p:cNvSpPr txBox="1"/>
          <p:nvPr/>
        </p:nvSpPr>
        <p:spPr>
          <a:xfrm>
            <a:off x="685800" y="391007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IT CAN BE EFFECTIVE</a:t>
            </a:r>
          </a:p>
        </p:txBody>
      </p:sp>
      <p:sp>
        <p:nvSpPr>
          <p:cNvPr id="20" name="TextBox 19"/>
          <p:cNvSpPr txBox="1"/>
          <p:nvPr/>
        </p:nvSpPr>
        <p:spPr>
          <a:xfrm>
            <a:off x="685800" y="423138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operating asset becomes a continuing customer-acquisition environment for its tenants.</a:t>
            </a:r>
          </a:p>
        </p:txBody>
      </p:sp>
      <p:sp>
        <p:nvSpPr>
          <p:cNvPr id="21" name="Rectangle 20"/>
          <p:cNvSpPr/>
          <p:nvPr/>
        </p:nvSpPr>
        <p:spPr>
          <a:xfrm>
            <a:off x="685800" y="4688586"/>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688586"/>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4770881"/>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Important qualification</a:t>
            </a:r>
          </a:p>
        </p:txBody>
      </p:sp>
      <p:sp>
        <p:nvSpPr>
          <p:cNvPr id="24" name="TextBox 23"/>
          <p:cNvSpPr txBox="1"/>
          <p:nvPr/>
        </p:nvSpPr>
        <p:spPr>
          <a:xfrm>
            <a:off x="685800" y="5257228"/>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Footfall alone is insufficient. A crowded event can generate weak tenant spending or poor returns after activation</a:t>
            </a:r>
          </a:p>
          <a:p>
            <a:pPr>
              <a:lnSpc>
                <a:spcPts val="2196"/>
              </a:lnSpc>
              <a:spcBef>
                <a:spcPts val="0"/>
              </a:spcBef>
              <a:spcAft>
                <a:spcPts val="0"/>
              </a:spcAft>
            </a:pPr>
            <a:r>
              <a:rPr sz="1800" b="0" i="0">
                <a:solidFill>
                  <a:srgbClr val="183A32"/>
                </a:solidFill>
                <a:latin typeface="Times New Roman"/>
              </a:rPr>
              <a:t>costs.</a:t>
            </a:r>
          </a:p>
        </p:txBody>
      </p:sp>
      <p:sp>
        <p:nvSpPr>
          <p:cNvPr id="25" name="TextBox 24"/>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Reinvesting in the reasons people visit</a:t>
            </a:r>
          </a:p>
        </p:txBody>
      </p:sp>
      <p:cxnSp>
        <p:nvCxnSpPr>
          <p:cNvPr id="11" name="Connector 10"/>
          <p:cNvCxnSpPr/>
          <p:nvPr/>
        </p:nvCxnSpPr>
        <p:spPr>
          <a:xfrm>
            <a:off x="6062472" y="2084831"/>
            <a:ext cx="0" cy="3164586"/>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EXECUTION</a:t>
            </a:r>
          </a:p>
        </p:txBody>
      </p:sp>
      <p:sp>
        <p:nvSpPr>
          <p:cNvPr id="13" name="TextBox 12"/>
          <p:cNvSpPr txBox="1"/>
          <p:nvPr/>
        </p:nvSpPr>
        <p:spPr>
          <a:xfrm>
            <a:off x="685800" y="243357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Pakuwon’s 2024 report describes new sports-fashion,</a:t>
            </a:r>
          </a:p>
          <a:p>
            <a:pPr>
              <a:lnSpc>
                <a:spcPts val="2196"/>
              </a:lnSpc>
              <a:spcBef>
                <a:spcPts val="0"/>
              </a:spcBef>
              <a:spcAft>
                <a:spcPts val="0"/>
              </a:spcAft>
            </a:pPr>
            <a:r>
              <a:rPr sz="1800" b="0" i="0">
                <a:solidFill>
                  <a:srgbClr val="183A32"/>
                </a:solidFill>
                <a:latin typeface="Times New Roman"/>
              </a:rPr>
              <a:t>food, beauty, and entertainment tenants, alongside</a:t>
            </a:r>
          </a:p>
          <a:p>
            <a:pPr>
              <a:lnSpc>
                <a:spcPts val="2196"/>
              </a:lnSpc>
              <a:spcBef>
                <a:spcPts val="0"/>
              </a:spcBef>
              <a:spcAft>
                <a:spcPts val="0"/>
              </a:spcAft>
            </a:pPr>
            <a:r>
              <a:rPr sz="1800" b="0" i="0">
                <a:solidFill>
                  <a:srgbClr val="183A32"/>
                </a:solidFill>
                <a:latin typeface="Times New Roman"/>
              </a:rPr>
              <a:t>events intended to attract visitors and support tenant</a:t>
            </a:r>
          </a:p>
          <a:p>
            <a:pPr>
              <a:lnSpc>
                <a:spcPts val="2196"/>
              </a:lnSpc>
              <a:spcBef>
                <a:spcPts val="0"/>
              </a:spcBef>
              <a:spcAft>
                <a:spcPts val="0"/>
              </a:spcAft>
            </a:pPr>
            <a:r>
              <a:rPr sz="1800" b="0" i="0">
                <a:solidFill>
                  <a:srgbClr val="183A32"/>
                </a:solidFill>
                <a:latin typeface="Times New Roman"/>
              </a:rPr>
              <a:t>sales.</a:t>
            </a:r>
          </a:p>
        </p:txBody>
      </p:sp>
      <p:sp>
        <p:nvSpPr>
          <p:cNvPr id="14" name="TextBox 13"/>
          <p:cNvSpPr txBox="1"/>
          <p:nvPr/>
        </p:nvSpPr>
        <p:spPr>
          <a:xfrm>
            <a:off x="685800" y="3727449"/>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reported approximately 95% mall</a:t>
            </a:r>
          </a:p>
          <a:p>
            <a:pPr>
              <a:lnSpc>
                <a:spcPts val="2196"/>
              </a:lnSpc>
              <a:spcBef>
                <a:spcPts val="0"/>
              </a:spcBef>
              <a:spcAft>
                <a:spcPts val="0"/>
              </a:spcAft>
            </a:pPr>
            <a:r>
              <a:rPr sz="1800" b="0" i="0">
                <a:solidFill>
                  <a:srgbClr val="183A32"/>
                </a:solidFill>
                <a:latin typeface="Times New Roman"/>
              </a:rPr>
              <a:t>occupancy and 10% growth in shopping-centre</a:t>
            </a:r>
          </a:p>
          <a:p>
            <a:pPr>
              <a:lnSpc>
                <a:spcPts val="2196"/>
              </a:lnSpc>
              <a:spcBef>
                <a:spcPts val="0"/>
              </a:spcBef>
              <a:spcAft>
                <a:spcPts val="0"/>
              </a:spcAft>
            </a:pPr>
            <a:r>
              <a:rPr sz="1800" b="0" i="0">
                <a:solidFill>
                  <a:srgbClr val="183A32"/>
                </a:solidFill>
                <a:latin typeface="Times New Roman"/>
              </a:rPr>
              <a:t>revenue for that year. These are concurrent operating</a:t>
            </a:r>
          </a:p>
          <a:p>
            <a:pPr>
              <a:lnSpc>
                <a:spcPts val="2196"/>
              </a:lnSpc>
              <a:spcBef>
                <a:spcPts val="0"/>
              </a:spcBef>
              <a:spcAft>
                <a:spcPts val="0"/>
              </a:spcAft>
            </a:pPr>
            <a:r>
              <a:rPr sz="1800" b="0" i="0">
                <a:solidFill>
                  <a:srgbClr val="183A32"/>
                </a:solidFill>
                <a:latin typeface="Times New Roman"/>
              </a:rPr>
              <a:t>results, not proof that events alone caused the growth.</a:t>
            </a:r>
          </a:p>
          <a:p>
            <a:pPr>
              <a:lnSpc>
                <a:spcPts val="2196"/>
              </a:lnSpc>
              <a:spcBef>
                <a:spcPts val="0"/>
              </a:spcBef>
              <a:spcAft>
                <a:spcPts val="0"/>
              </a:spcAft>
            </a:pPr>
            <a:r>
              <a:rPr sz="1800" b="0" i="0">
                <a:solidFill>
                  <a:srgbClr val="183A32"/>
                </a:solidFill>
                <a:latin typeface="Times New Roman"/>
              </a:rPr>
              <a:t>Source: Pakuwon revised 2024 annual report.</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IS MORE THAN PROMOTION — ANALYSIS</a:t>
            </a:r>
          </a:p>
        </p:txBody>
      </p:sp>
      <p:sp>
        <p:nvSpPr>
          <p:cNvPr id="16" name="TextBox 15"/>
          <p:cNvSpPr txBox="1"/>
          <p:nvPr/>
        </p:nvSpPr>
        <p:spPr>
          <a:xfrm>
            <a:off x="6400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Tenant selection changes the product itself. Events and</a:t>
            </a:r>
          </a:p>
          <a:p>
            <a:pPr>
              <a:lnSpc>
                <a:spcPts val="2196"/>
              </a:lnSpc>
              <a:spcBef>
                <a:spcPts val="0"/>
              </a:spcBef>
              <a:spcAft>
                <a:spcPts val="0"/>
              </a:spcAft>
            </a:pPr>
            <a:r>
              <a:rPr sz="1800" b="0" i="0">
                <a:solidFill>
                  <a:srgbClr val="183A32"/>
                </a:solidFill>
                <a:latin typeface="Times New Roman"/>
              </a:rPr>
              <a:t>communication then amplify that product.</a:t>
            </a:r>
          </a:p>
        </p:txBody>
      </p:sp>
      <p:sp>
        <p:nvSpPr>
          <p:cNvPr id="17" name="TextBox 16"/>
          <p:cNvSpPr txBox="1"/>
          <p:nvPr/>
        </p:nvSpPr>
        <p:spPr>
          <a:xfrm>
            <a:off x="6400800" y="3169666"/>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 operator must continuously decide:</a:t>
            </a:r>
          </a:p>
        </p:txBody>
      </p:sp>
      <p:sp>
        <p:nvSpPr>
          <p:cNvPr id="18" name="Rectangle 17"/>
          <p:cNvSpPr/>
          <p:nvPr/>
        </p:nvSpPr>
        <p:spPr>
          <a:xfrm>
            <a:off x="6400800" y="371830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62686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categories attract the desired catchment?</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122–122</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Pakuwon: Reinvesting in the reasons people visit</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tenants deserve additional space?</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areas need improvement?</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Which activities generate repeat visits?</a:t>
            </a:r>
          </a:p>
        </p:txBody>
      </p:sp>
      <p:sp>
        <p:nvSpPr>
          <p:cNvPr id="17" name="Rectangle 16"/>
          <p:cNvSpPr/>
          <p:nvPr/>
        </p:nvSpPr>
        <p:spPr>
          <a:xfrm>
            <a:off x="685800" y="3524631"/>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43319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Does incremental income justify reinvestment?</a:t>
            </a:r>
          </a:p>
        </p:txBody>
      </p:sp>
      <p:sp>
        <p:nvSpPr>
          <p:cNvPr id="19" name="TextBox 18"/>
          <p:cNvSpPr txBox="1"/>
          <p:nvPr/>
        </p:nvSpPr>
        <p:spPr>
          <a:xfrm>
            <a:off x="685800" y="391007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20" name="TextBox 19"/>
          <p:cNvSpPr txBox="1"/>
          <p:nvPr/>
        </p:nvSpPr>
        <p:spPr>
          <a:xfrm>
            <a:off x="685800" y="4231386"/>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retained commercial or hospitality assets, evaluate the operating proposition before increasing promotion.</a:t>
            </a:r>
          </a:p>
          <a:p>
            <a:pPr>
              <a:lnSpc>
                <a:spcPts val="2196"/>
              </a:lnSpc>
              <a:spcBef>
                <a:spcPts val="0"/>
              </a:spcBef>
              <a:spcAft>
                <a:spcPts val="0"/>
              </a:spcAft>
            </a:pPr>
            <a:r>
              <a:rPr sz="1800" b="0" i="0">
                <a:solidFill>
                  <a:srgbClr val="183A32"/>
                </a:solidFill>
                <a:latin typeface="Times New Roman"/>
              </a:rPr>
              <a:t>Measure repeat use, customer spending, occupancy quality, and net cash contribution.</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Turning a design concept into a</a:t>
            </a:r>
          </a:p>
          <a:p>
            <a:pPr>
              <a:lnSpc>
                <a:spcPts val="3502"/>
              </a:lnSpc>
              <a:spcBef>
                <a:spcPts val="0"/>
              </a:spcBef>
              <a:spcAft>
                <a:spcPts val="0"/>
              </a:spcAft>
            </a:pPr>
            <a:r>
              <a:rPr sz="3100" b="0" i="0">
                <a:solidFill>
                  <a:srgbClr val="153F35"/>
                </a:solidFill>
                <a:latin typeface="Arial"/>
              </a:rPr>
              <a:t>recognisable offer</a:t>
            </a:r>
          </a:p>
        </p:txBody>
      </p:sp>
      <p:cxnSp>
        <p:nvCxnSpPr>
          <p:cNvPr id="11" name="Connector 10"/>
          <p:cNvCxnSpPr/>
          <p:nvPr/>
        </p:nvCxnSpPr>
        <p:spPr>
          <a:xfrm>
            <a:off x="6062472" y="2169921"/>
            <a:ext cx="0" cy="3445765"/>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PRODUCT STRATEGY</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In 2025, Agung Podomoro promoted The Garden</a:t>
            </a:r>
          </a:p>
          <a:p>
            <a:pPr>
              <a:lnSpc>
                <a:spcPts val="2196"/>
              </a:lnSpc>
              <a:spcBef>
                <a:spcPts val="0"/>
              </a:spcBef>
              <a:spcAft>
                <a:spcPts val="0"/>
              </a:spcAft>
            </a:pPr>
            <a:r>
              <a:rPr sz="1800" b="0" i="0">
                <a:solidFill>
                  <a:srgbClr val="183A32"/>
                </a:solidFill>
                <a:latin typeface="Times New Roman"/>
              </a:rPr>
              <a:t>House, incorporating courtyard design across several</a:t>
            </a:r>
          </a:p>
          <a:p>
            <a:pPr>
              <a:lnSpc>
                <a:spcPts val="2196"/>
              </a:lnSpc>
              <a:spcBef>
                <a:spcPts val="0"/>
              </a:spcBef>
              <a:spcAft>
                <a:spcPts val="0"/>
              </a:spcAft>
            </a:pPr>
            <a:r>
              <a:rPr sz="1800" b="0" i="0">
                <a:solidFill>
                  <a:srgbClr val="183A32"/>
                </a:solidFill>
                <a:latin typeface="Times New Roman"/>
              </a:rPr>
              <a:t>projects, including Podomoro Park Bandung and Kota</a:t>
            </a:r>
          </a:p>
          <a:p>
            <a:pPr>
              <a:lnSpc>
                <a:spcPts val="2196"/>
              </a:lnSpc>
              <a:spcBef>
                <a:spcPts val="0"/>
              </a:spcBef>
              <a:spcAft>
                <a:spcPts val="0"/>
              </a:spcAft>
            </a:pPr>
            <a:r>
              <a:rPr sz="1800" b="0" i="0">
                <a:solidFill>
                  <a:srgbClr val="183A32"/>
                </a:solidFill>
                <a:latin typeface="Times New Roman"/>
              </a:rPr>
              <a:t>Podomoro Tenjo.</a:t>
            </a:r>
          </a:p>
        </p:txBody>
      </p:sp>
      <p:sp>
        <p:nvSpPr>
          <p:cNvPr id="14" name="TextBox 13"/>
          <p:cNvSpPr txBox="1"/>
          <p:nvPr/>
        </p:nvSpPr>
        <p:spPr>
          <a:xfrm>
            <a:off x="685800" y="3812540"/>
            <a:ext cx="5074920" cy="1732787"/>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annual report also describes efficient unit</a:t>
            </a:r>
          </a:p>
          <a:p>
            <a:pPr>
              <a:lnSpc>
                <a:spcPts val="2196"/>
              </a:lnSpc>
              <a:spcBef>
                <a:spcPts val="0"/>
              </a:spcBef>
              <a:spcAft>
                <a:spcPts val="0"/>
              </a:spcAft>
            </a:pPr>
            <a:r>
              <a:rPr sz="1800" b="0" i="0">
                <a:solidFill>
                  <a:srgbClr val="183A32"/>
                </a:solidFill>
                <a:latin typeface="Times New Roman"/>
              </a:rPr>
              <a:t>configurations, differentiated price ranges, flexible</a:t>
            </a:r>
          </a:p>
          <a:p>
            <a:pPr>
              <a:lnSpc>
                <a:spcPts val="2196"/>
              </a:lnSpc>
              <a:spcBef>
                <a:spcPts val="0"/>
              </a:spcBef>
              <a:spcAft>
                <a:spcPts val="0"/>
              </a:spcAft>
            </a:pPr>
            <a:r>
              <a:rPr sz="1800" b="0" i="0">
                <a:solidFill>
                  <a:srgbClr val="183A32"/>
                </a:solidFill>
                <a:latin typeface="Times New Roman"/>
              </a:rPr>
              <a:t>payment arrangements, customer-database</a:t>
            </a:r>
          </a:p>
          <a:p>
            <a:pPr>
              <a:lnSpc>
                <a:spcPts val="2196"/>
              </a:lnSpc>
              <a:spcBef>
                <a:spcPts val="0"/>
              </a:spcBef>
              <a:spcAft>
                <a:spcPts val="0"/>
              </a:spcAft>
            </a:pPr>
            <a:r>
              <a:rPr sz="1800" b="0" i="0">
                <a:solidFill>
                  <a:srgbClr val="183A32"/>
                </a:solidFill>
                <a:latin typeface="Times New Roman"/>
              </a:rPr>
              <a:t>management, agent cooperation, and online booking</a:t>
            </a:r>
          </a:p>
          <a:p>
            <a:pPr>
              <a:lnSpc>
                <a:spcPts val="2196"/>
              </a:lnSpc>
              <a:spcBef>
                <a:spcPts val="0"/>
              </a:spcBef>
              <a:spcAft>
                <a:spcPts val="0"/>
              </a:spcAft>
            </a:pPr>
            <a:r>
              <a:rPr sz="1800" b="0" i="0">
                <a:solidFill>
                  <a:srgbClr val="183A32"/>
                </a:solidFill>
                <a:latin typeface="Times New Roman"/>
              </a:rPr>
              <a:t>development. Sources: Garden House announcement,</a:t>
            </a:r>
          </a:p>
          <a:p>
            <a:pPr>
              <a:lnSpc>
                <a:spcPts val="2196"/>
              </a:lnSpc>
              <a:spcBef>
                <a:spcPts val="0"/>
              </a:spcBef>
              <a:spcAft>
                <a:spcPts val="0"/>
              </a:spcAft>
            </a:pPr>
            <a:r>
              <a:rPr sz="1800" b="0" i="0">
                <a:solidFill>
                  <a:srgbClr val="183A32"/>
                </a:solidFill>
                <a:latin typeface="Times New Roman"/>
              </a:rPr>
              <a:t>2025 annual report, marketing and pricing.</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51866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visible design feature provides a more concrete</a:t>
            </a:r>
          </a:p>
          <a:p>
            <a:pPr>
              <a:lnSpc>
                <a:spcPts val="2196"/>
              </a:lnSpc>
              <a:spcBef>
                <a:spcPts val="0"/>
              </a:spcBef>
              <a:spcAft>
                <a:spcPts val="0"/>
              </a:spcAft>
            </a:pPr>
            <a:r>
              <a:rPr sz="1800" b="0" i="0">
                <a:solidFill>
                  <a:srgbClr val="183A32"/>
                </a:solidFill>
                <a:latin typeface="Times New Roman"/>
              </a:rPr>
              <a:t>proposition than a broad claim about modern or</a:t>
            </a:r>
          </a:p>
          <a:p>
            <a:pPr>
              <a:lnSpc>
                <a:spcPts val="2196"/>
              </a:lnSpc>
              <a:spcBef>
                <a:spcPts val="0"/>
              </a:spcBef>
              <a:spcAft>
                <a:spcPts val="0"/>
              </a:spcAft>
            </a:pPr>
            <a:r>
              <a:rPr sz="1800" b="0" i="0">
                <a:solidFill>
                  <a:srgbClr val="183A32"/>
                </a:solidFill>
                <a:latin typeface="Times New Roman"/>
              </a:rPr>
              <a:t>sustainable living.</a:t>
            </a:r>
          </a:p>
        </p:txBody>
      </p:sp>
      <p:sp>
        <p:nvSpPr>
          <p:cNvPr id="17" name="TextBox 16"/>
          <p:cNvSpPr txBox="1"/>
          <p:nvPr/>
        </p:nvSpPr>
        <p:spPr>
          <a:xfrm>
            <a:off x="6400800" y="356107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a:t>
            </a:r>
          </a:p>
        </p:txBody>
      </p:sp>
      <p:sp>
        <p:nvSpPr>
          <p:cNvPr id="18" name="TextBox 17"/>
          <p:cNvSpPr txBox="1"/>
          <p:nvPr/>
        </p:nvSpPr>
        <p:spPr>
          <a:xfrm>
            <a:off x="6400800" y="388238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Customers can assess how the feature changes their</a:t>
            </a:r>
          </a:p>
          <a:p>
            <a:pPr>
              <a:lnSpc>
                <a:spcPts val="2196"/>
              </a:lnSpc>
              <a:spcBef>
                <a:spcPts val="0"/>
              </a:spcBef>
              <a:spcAft>
                <a:spcPts val="0"/>
              </a:spcAft>
            </a:pPr>
            <a:r>
              <a:rPr sz="1800" b="0" i="0">
                <a:solidFill>
                  <a:srgbClr val="183A32"/>
                </a:solidFill>
                <a:latin typeface="Times New Roman"/>
              </a:rPr>
              <a:t>daily experience: light, ventilation, privacy, usable</a:t>
            </a:r>
          </a:p>
          <a:p>
            <a:pPr>
              <a:lnSpc>
                <a:spcPts val="2196"/>
              </a:lnSpc>
              <a:spcBef>
                <a:spcPts val="0"/>
              </a:spcBef>
              <a:spcAft>
                <a:spcPts val="0"/>
              </a:spcAft>
            </a:pPr>
            <a:r>
              <a:rPr sz="1800" b="0" i="0">
                <a:solidFill>
                  <a:srgbClr val="183A32"/>
                </a:solidFill>
                <a:latin typeface="Times New Roman"/>
              </a:rPr>
              <a:t>space, and maintenance.</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122–123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trade-off</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distinctive feature must justify its cost and fit the target household. A courtyard is not automatically valuable in</a:t>
            </a:r>
          </a:p>
          <a:p>
            <a:pPr>
              <a:lnSpc>
                <a:spcPts val="2196"/>
              </a:lnSpc>
              <a:spcBef>
                <a:spcPts val="0"/>
              </a:spcBef>
              <a:spcAft>
                <a:spcPts val="0"/>
              </a:spcAft>
            </a:pPr>
            <a:r>
              <a:rPr sz="1800" b="0" i="0">
                <a:solidFill>
                  <a:srgbClr val="183A32"/>
                </a:solidFill>
                <a:latin typeface="Times New Roman"/>
              </a:rPr>
              <a:t>every plot configuration or price segment.</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123–124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288</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Bringing the demonstration closer to</a:t>
            </a:r>
          </a:p>
          <a:p>
            <a:pPr>
              <a:lnSpc>
                <a:spcPts val="3502"/>
              </a:lnSpc>
              <a:spcBef>
                <a:spcPts val="0"/>
              </a:spcBef>
              <a:spcAft>
                <a:spcPts val="0"/>
              </a:spcAft>
            </a:pPr>
            <a:r>
              <a:rPr sz="3100" b="0" i="0">
                <a:solidFill>
                  <a:srgbClr val="153F35"/>
                </a:solidFill>
                <a:latin typeface="Arial"/>
              </a:rPr>
              <a:t>buyers</a:t>
            </a:r>
          </a:p>
        </p:txBody>
      </p:sp>
      <p:cxnSp>
        <p:nvCxnSpPr>
          <p:cNvPr id="11" name="Connector 10"/>
          <p:cNvCxnSpPr/>
          <p:nvPr/>
        </p:nvCxnSpPr>
        <p:spPr>
          <a:xfrm>
            <a:off x="6062472" y="2169921"/>
            <a:ext cx="0" cy="292531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MARKETING EXECUTION</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In October 2025, Kota Podomoro Tenjo opened two</a:t>
            </a:r>
          </a:p>
          <a:p>
            <a:pPr>
              <a:lnSpc>
                <a:spcPts val="2196"/>
              </a:lnSpc>
              <a:spcBef>
                <a:spcPts val="0"/>
              </a:spcBef>
              <a:spcAft>
                <a:spcPts val="0"/>
              </a:spcAft>
            </a:pPr>
            <a:r>
              <a:rPr sz="1800" b="0" i="0">
                <a:solidFill>
                  <a:srgbClr val="183A32"/>
                </a:solidFill>
                <a:latin typeface="Times New Roman"/>
              </a:rPr>
              <a:t>show units at its marketing gallery in Central Park,</a:t>
            </a:r>
          </a:p>
          <a:p>
            <a:pPr>
              <a:lnSpc>
                <a:spcPts val="2196"/>
              </a:lnSpc>
              <a:spcBef>
                <a:spcPts val="0"/>
              </a:spcBef>
              <a:spcAft>
                <a:spcPts val="0"/>
              </a:spcAft>
            </a:pPr>
            <a:r>
              <a:rPr sz="1800" b="0" i="0">
                <a:solidFill>
                  <a:srgbClr val="183A32"/>
                </a:solidFill>
                <a:latin typeface="Times New Roman"/>
              </a:rPr>
              <a:t>Jakarta. The launch included product-knowledge</a:t>
            </a:r>
          </a:p>
          <a:p>
            <a:pPr>
              <a:lnSpc>
                <a:spcPts val="2196"/>
              </a:lnSpc>
              <a:spcBef>
                <a:spcPts val="0"/>
              </a:spcBef>
              <a:spcAft>
                <a:spcPts val="0"/>
              </a:spcAft>
            </a:pPr>
            <a:r>
              <a:rPr sz="1800" b="0" i="0">
                <a:solidFill>
                  <a:srgbClr val="183A32"/>
                </a:solidFill>
                <a:latin typeface="Times New Roman"/>
              </a:rPr>
              <a:t>sessions and an agent gathering. Source: official</a:t>
            </a:r>
          </a:p>
          <a:p>
            <a:pPr>
              <a:lnSpc>
                <a:spcPts val="2196"/>
              </a:lnSpc>
              <a:spcBef>
                <a:spcPts val="0"/>
              </a:spcBef>
              <a:spcAft>
                <a:spcPts val="0"/>
              </a:spcAft>
            </a:pPr>
            <a:r>
              <a:rPr sz="1800" b="0" i="0">
                <a:solidFill>
                  <a:srgbClr val="183A32"/>
                </a:solidFill>
                <a:latin typeface="Times New Roman"/>
              </a:rPr>
              <a:t>show-unit announcement.</a:t>
            </a:r>
          </a:p>
        </p:txBody>
      </p:sp>
      <p:sp>
        <p:nvSpPr>
          <p:cNvPr id="14" name="TextBox 13"/>
          <p:cNvSpPr txBox="1"/>
          <p:nvPr/>
        </p:nvSpPr>
        <p:spPr>
          <a:xfrm>
            <a:off x="685800" y="4118864"/>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5" name="TextBox 14"/>
          <p:cNvSpPr txBox="1"/>
          <p:nvPr/>
        </p:nvSpPr>
        <p:spPr>
          <a:xfrm>
            <a:off x="685800" y="44401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a project outside the buyer’s regular travel pattern,</a:t>
            </a:r>
          </a:p>
          <a:p>
            <a:pPr>
              <a:lnSpc>
                <a:spcPts val="2196"/>
              </a:lnSpc>
              <a:spcBef>
                <a:spcPts val="0"/>
              </a:spcBef>
              <a:spcAft>
                <a:spcPts val="0"/>
              </a:spcAft>
            </a:pPr>
            <a:r>
              <a:rPr sz="1800" b="0" i="0">
                <a:solidFill>
                  <a:srgbClr val="183A32"/>
                </a:solidFill>
                <a:latin typeface="Times New Roman"/>
              </a:rPr>
              <a:t>the first site visit can be a significant obstacle.</a:t>
            </a:r>
          </a:p>
        </p:txBody>
      </p:sp>
      <p:sp>
        <p:nvSpPr>
          <p:cNvPr id="16" name="TextBox 15"/>
          <p:cNvSpPr txBox="1"/>
          <p:nvPr/>
        </p:nvSpPr>
        <p:spPr>
          <a:xfrm>
            <a:off x="6400800" y="2169921"/>
            <a:ext cx="5074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An accessible demonstration location can:</a:t>
            </a:r>
          </a:p>
        </p:txBody>
      </p:sp>
      <p:sp>
        <p:nvSpPr>
          <p:cNvPr id="17" name="Rectangle 16"/>
          <p:cNvSpPr/>
          <p:nvPr/>
        </p:nvSpPr>
        <p:spPr>
          <a:xfrm>
            <a:off x="6400800" y="27185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2627121"/>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Make initial product evaluation easier.</a:t>
            </a:r>
          </a:p>
        </p:txBody>
      </p:sp>
      <p:sp>
        <p:nvSpPr>
          <p:cNvPr id="19" name="Rectangle 18"/>
          <p:cNvSpPr/>
          <p:nvPr/>
        </p:nvSpPr>
        <p:spPr>
          <a:xfrm>
            <a:off x="6400800" y="316801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07657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Help salespeople explain layouts and</a:t>
            </a:r>
          </a:p>
          <a:p>
            <a:pPr>
              <a:lnSpc>
                <a:spcPts val="2135"/>
              </a:lnSpc>
              <a:spcBef>
                <a:spcPts val="0"/>
              </a:spcBef>
              <a:spcAft>
                <a:spcPts val="0"/>
              </a:spcAft>
            </a:pPr>
            <a:r>
              <a:rPr sz="1750" b="0" i="0">
                <a:solidFill>
                  <a:srgbClr val="183A32"/>
                </a:solidFill>
                <a:latin typeface="Arial"/>
              </a:rPr>
              <a:t>specifications.</a:t>
            </a:r>
          </a:p>
        </p:txBody>
      </p:sp>
      <p:sp>
        <p:nvSpPr>
          <p:cNvPr id="21" name="Rectangle 20"/>
          <p:cNvSpPr/>
          <p:nvPr/>
        </p:nvSpPr>
        <p:spPr>
          <a:xfrm>
            <a:off x="6400800" y="388861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379717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Train agents around a consistent proposition.</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123–124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289</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Agung Podomoro: Bringing the demonstration closer to</a:t>
            </a:r>
          </a:p>
          <a:p>
            <a:pPr>
              <a:lnSpc>
                <a:spcPts val="3502"/>
              </a:lnSpc>
              <a:spcBef>
                <a:spcPts val="0"/>
              </a:spcBef>
              <a:spcAft>
                <a:spcPts val="0"/>
              </a:spcAft>
            </a:pPr>
            <a:r>
              <a:rPr sz="3100" b="0" i="0">
                <a:solidFill>
                  <a:srgbClr val="153F35"/>
                </a:solidFill>
                <a:latin typeface="Arial"/>
              </a:rPr>
              <a:t>buyers</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Qualify buyers before a longer project visit.</a:t>
            </a:r>
          </a:p>
        </p:txBody>
      </p:sp>
      <p:sp>
        <p:nvSpPr>
          <p:cNvPr id="13" name="TextBox 12"/>
          <p:cNvSpPr txBox="1"/>
          <p:nvPr/>
        </p:nvSpPr>
        <p:spPr>
          <a:xfrm>
            <a:off x="685800" y="264680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WHAT REMAINS UNPROVEN</a:t>
            </a:r>
          </a:p>
        </p:txBody>
      </p:sp>
      <p:sp>
        <p:nvSpPr>
          <p:cNvPr id="14" name="TextBox 13"/>
          <p:cNvSpPr txBox="1"/>
          <p:nvPr/>
        </p:nvSpPr>
        <p:spPr>
          <a:xfrm>
            <a:off x="685800" y="2968117"/>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announcement does not disclose incremental sales, acquisition cost, or conversion compared with other channels.</a:t>
            </a:r>
          </a:p>
        </p:txBody>
      </p:sp>
      <p:sp>
        <p:nvSpPr>
          <p:cNvPr id="15" name="TextBox 14"/>
          <p:cNvSpPr txBox="1"/>
          <p:nvPr/>
        </p:nvSpPr>
        <p:spPr>
          <a:xfrm>
            <a:off x="685800" y="345274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6" name="TextBox 15"/>
          <p:cNvSpPr txBox="1"/>
          <p:nvPr/>
        </p:nvSpPr>
        <p:spPr>
          <a:xfrm>
            <a:off x="685800" y="377405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Test demonstration spaces near the priority customer catchment—including employer locations where</a:t>
            </a:r>
          </a:p>
          <a:p>
            <a:pPr>
              <a:lnSpc>
                <a:spcPts val="2196"/>
              </a:lnSpc>
              <a:spcBef>
                <a:spcPts val="0"/>
              </a:spcBef>
              <a:spcAft>
                <a:spcPts val="0"/>
              </a:spcAft>
            </a:pPr>
            <a:r>
              <a:rPr sz="1800" b="0" i="0">
                <a:solidFill>
                  <a:srgbClr val="183A32"/>
                </a:solidFill>
                <a:latin typeface="Times New Roman"/>
              </a:rPr>
              <a:t>appropriate—before committing to a large permanent sales facility.</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D15</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124–124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290</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Borrowing specialist capability through</a:t>
            </a:r>
          </a:p>
          <a:p>
            <a:pPr>
              <a:lnSpc>
                <a:spcPts val="3502"/>
              </a:lnSpc>
              <a:spcBef>
                <a:spcPts val="0"/>
              </a:spcBef>
              <a:spcAft>
                <a:spcPts val="0"/>
              </a:spcAft>
            </a:pPr>
            <a:r>
              <a:rPr sz="3100" b="0" i="0">
                <a:solidFill>
                  <a:srgbClr val="153F35"/>
                </a:solidFill>
                <a:latin typeface="Arial"/>
              </a:rPr>
              <a:t>partnerships</a:t>
            </a:r>
          </a:p>
        </p:txBody>
      </p:sp>
      <p:cxnSp>
        <p:nvCxnSpPr>
          <p:cNvPr id="11" name="Connector 10"/>
          <p:cNvCxnSpPr/>
          <p:nvPr/>
        </p:nvCxnSpPr>
        <p:spPr>
          <a:xfrm>
            <a:off x="6062472" y="2169921"/>
            <a:ext cx="0" cy="288340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BUSINESS DEVELOPMENT</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DUTI’s 2025 report describes a collaboration through</a:t>
            </a:r>
          </a:p>
          <a:p>
            <a:pPr>
              <a:lnSpc>
                <a:spcPts val="2196"/>
              </a:lnSpc>
              <a:spcBef>
                <a:spcPts val="0"/>
              </a:spcBef>
              <a:spcAft>
                <a:spcPts val="0"/>
              </a:spcAft>
            </a:pPr>
            <a:r>
              <a:rPr sz="1800" b="0" i="0">
                <a:solidFill>
                  <a:srgbClr val="183A32"/>
                </a:solidFill>
                <a:latin typeface="Times New Roman"/>
              </a:rPr>
              <a:t>a subsidiary with Sumitomo Forestry Indonesia for</a:t>
            </a:r>
          </a:p>
          <a:p>
            <a:pPr>
              <a:lnSpc>
                <a:spcPts val="2196"/>
              </a:lnSpc>
              <a:spcBef>
                <a:spcPts val="0"/>
              </a:spcBef>
              <a:spcAft>
                <a:spcPts val="0"/>
              </a:spcAft>
            </a:pPr>
            <a:r>
              <a:rPr sz="1800" b="0" i="0">
                <a:solidFill>
                  <a:srgbClr val="183A32"/>
                </a:solidFill>
                <a:latin typeface="Times New Roman"/>
              </a:rPr>
              <a:t>Kota Wisata Ecovia, including the initial Orlens</a:t>
            </a:r>
          </a:p>
          <a:p>
            <a:pPr>
              <a:lnSpc>
                <a:spcPts val="2196"/>
              </a:lnSpc>
              <a:spcBef>
                <a:spcPts val="0"/>
              </a:spcBef>
              <a:spcAft>
                <a:spcPts val="0"/>
              </a:spcAft>
            </a:pPr>
            <a:r>
              <a:rPr sz="1800" b="0" i="0">
                <a:solidFill>
                  <a:srgbClr val="183A32"/>
                </a:solidFill>
                <a:latin typeface="Times New Roman"/>
              </a:rPr>
              <a:t>cluster.</a:t>
            </a:r>
          </a:p>
        </p:txBody>
      </p:sp>
      <p:sp>
        <p:nvSpPr>
          <p:cNvPr id="14" name="TextBox 13"/>
          <p:cNvSpPr txBox="1"/>
          <p:nvPr/>
        </p:nvSpPr>
        <p:spPr>
          <a:xfrm>
            <a:off x="685800" y="3812540"/>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same report describes ARTOTEL Living World</a:t>
            </a:r>
          </a:p>
          <a:p>
            <a:pPr>
              <a:lnSpc>
                <a:spcPts val="2196"/>
              </a:lnSpc>
              <a:spcBef>
                <a:spcPts val="0"/>
              </a:spcBef>
              <a:spcAft>
                <a:spcPts val="0"/>
              </a:spcAft>
            </a:pPr>
            <a:r>
              <a:rPr sz="1800" b="0" i="0">
                <a:solidFill>
                  <a:srgbClr val="183A32"/>
                </a:solidFill>
                <a:latin typeface="Times New Roman"/>
              </a:rPr>
              <a:t>Kota Wisata, which began operating in August 2025.</a:t>
            </a:r>
          </a:p>
          <a:p>
            <a:pPr>
              <a:lnSpc>
                <a:spcPts val="2196"/>
              </a:lnSpc>
              <a:spcBef>
                <a:spcPts val="0"/>
              </a:spcBef>
              <a:spcAft>
                <a:spcPts val="0"/>
              </a:spcAft>
            </a:pPr>
            <a:r>
              <a:rPr sz="1800" b="0" i="0">
                <a:solidFill>
                  <a:srgbClr val="183A32"/>
                </a:solidFill>
                <a:latin typeface="Times New Roman"/>
              </a:rPr>
              <a:t>Source: DUTI 2025 annual report, management</a:t>
            </a:r>
          </a:p>
          <a:p>
            <a:pPr>
              <a:lnSpc>
                <a:spcPts val="2196"/>
              </a:lnSpc>
              <a:spcBef>
                <a:spcPts val="0"/>
              </a:spcBef>
              <a:spcAft>
                <a:spcPts val="0"/>
              </a:spcAft>
            </a:pPr>
            <a:r>
              <a:rPr sz="1800" b="0" i="0">
                <a:solidFill>
                  <a:srgbClr val="183A32"/>
                </a:solidFill>
                <a:latin typeface="Times New Roman"/>
              </a:rPr>
              <a:t>discussion and portfolio development.</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Different partners can supply different forms of</a:t>
            </a:r>
          </a:p>
          <a:p>
            <a:pPr>
              <a:lnSpc>
                <a:spcPts val="2196"/>
              </a:lnSpc>
              <a:spcBef>
                <a:spcPts val="0"/>
              </a:spcBef>
              <a:spcAft>
                <a:spcPts val="0"/>
              </a:spcAft>
            </a:pPr>
            <a:r>
              <a:rPr sz="1800" b="0" i="0">
                <a:solidFill>
                  <a:srgbClr val="183A32"/>
                </a:solidFill>
                <a:latin typeface="Times New Roman"/>
              </a:rPr>
              <a:t>credibility:</a:t>
            </a:r>
          </a:p>
        </p:txBody>
      </p:sp>
      <p:sp>
        <p:nvSpPr>
          <p:cNvPr id="17" name="Rectangle 16"/>
          <p:cNvSpPr/>
          <p:nvPr/>
        </p:nvSpPr>
        <p:spPr>
          <a:xfrm>
            <a:off x="6400800" y="334619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3254756"/>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Development or design expertise.</a:t>
            </a:r>
          </a:p>
        </p:txBody>
      </p:sp>
      <p:sp>
        <p:nvSpPr>
          <p:cNvPr id="19" name="Rectangle 18"/>
          <p:cNvSpPr/>
          <p:nvPr/>
        </p:nvSpPr>
        <p:spPr>
          <a:xfrm>
            <a:off x="6400800" y="379564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704209"/>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Retail and tenant relationships.</a:t>
            </a:r>
          </a:p>
        </p:txBody>
      </p:sp>
      <p:sp>
        <p:nvSpPr>
          <p:cNvPr id="21" name="Rectangle 20"/>
          <p:cNvSpPr/>
          <p:nvPr/>
        </p:nvSpPr>
        <p:spPr>
          <a:xfrm>
            <a:off x="6400800" y="424510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153662"/>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Hotel operations.</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D15.2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124–124</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Borrowing specialist capability through</a:t>
            </a:r>
          </a:p>
          <a:p>
            <a:pPr>
              <a:lnSpc>
                <a:spcPts val="3502"/>
              </a:lnSpc>
              <a:spcBef>
                <a:spcPts val="0"/>
              </a:spcBef>
              <a:spcAft>
                <a:spcPts val="0"/>
              </a:spcAft>
            </a:pPr>
            <a:r>
              <a:rPr sz="3100" b="0" i="0">
                <a:solidFill>
                  <a:srgbClr val="153F35"/>
                </a:solidFill>
                <a:latin typeface="Arial"/>
              </a:rPr>
              <a:t>partnerships</a:t>
            </a:r>
          </a:p>
        </p:txBody>
      </p:sp>
      <p:sp>
        <p:nvSpPr>
          <p:cNvPr id="11" name="Rectangle 10"/>
          <p:cNvSpPr/>
          <p:nvPr/>
        </p:nvSpPr>
        <p:spPr>
          <a:xfrm>
            <a:off x="685800" y="226136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992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 recognisable customer proposition.</a:t>
            </a:r>
          </a:p>
        </p:txBody>
      </p:sp>
      <p:sp>
        <p:nvSpPr>
          <p:cNvPr id="13" name="TextBox 12"/>
          <p:cNvSpPr txBox="1"/>
          <p:nvPr/>
        </p:nvSpPr>
        <p:spPr>
          <a:xfrm>
            <a:off x="685800" y="264680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14" name="TextBox 13"/>
          <p:cNvSpPr txBox="1"/>
          <p:nvPr/>
        </p:nvSpPr>
        <p:spPr>
          <a:xfrm>
            <a:off x="685800" y="2968117"/>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developer can add a function to the township without independently building every specialist capability.</a:t>
            </a:r>
          </a:p>
        </p:txBody>
      </p:sp>
      <p:sp>
        <p:nvSpPr>
          <p:cNvPr id="15" name="Rectangle 14"/>
          <p:cNvSpPr/>
          <p:nvPr/>
        </p:nvSpPr>
        <p:spPr>
          <a:xfrm>
            <a:off x="685800" y="3425317"/>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425317"/>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3507612"/>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trade-off</a:t>
            </a:r>
          </a:p>
        </p:txBody>
      </p:sp>
      <p:sp>
        <p:nvSpPr>
          <p:cNvPr id="18" name="TextBox 17"/>
          <p:cNvSpPr txBox="1"/>
          <p:nvPr/>
        </p:nvSpPr>
        <p:spPr>
          <a:xfrm>
            <a:off x="685800" y="3993959"/>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Partnerships require clear economics, control rights, service standards, and accountability. A well-known partner’s</a:t>
            </a:r>
          </a:p>
          <a:p>
            <a:pPr>
              <a:lnSpc>
                <a:spcPts val="2196"/>
              </a:lnSpc>
              <a:spcBef>
                <a:spcPts val="0"/>
              </a:spcBef>
              <a:spcAft>
                <a:spcPts val="0"/>
              </a:spcAft>
            </a:pPr>
            <a:r>
              <a:rPr sz="1800" b="0" i="0">
                <a:solidFill>
                  <a:srgbClr val="183A32"/>
                </a:solidFill>
                <a:latin typeface="Times New Roman"/>
              </a:rPr>
              <a:t>name does not itself establish attractive project returns.</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D16</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292</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Duta Pertiwi: Using operating destinations to deepen the</a:t>
            </a:r>
          </a:p>
          <a:p>
            <a:pPr>
              <a:lnSpc>
                <a:spcPts val="3502"/>
              </a:lnSpc>
              <a:spcBef>
                <a:spcPts val="0"/>
              </a:spcBef>
              <a:spcAft>
                <a:spcPts val="0"/>
              </a:spcAft>
            </a:pPr>
            <a:r>
              <a:rPr sz="3100" b="0" i="0">
                <a:solidFill>
                  <a:srgbClr val="153F35"/>
                </a:solidFill>
                <a:latin typeface="Arial"/>
              </a:rPr>
              <a:t>township proposition</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EXAMPLE</a:t>
            </a:r>
          </a:p>
        </p:txBody>
      </p:sp>
      <p:sp>
        <p:nvSpPr>
          <p:cNvPr id="13" name="TextBox 12"/>
          <p:cNvSpPr txBox="1"/>
          <p:nvPr/>
        </p:nvSpPr>
        <p:spPr>
          <a:xfrm>
            <a:off x="685800" y="251866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Living World’s official portfolio records its Kota</a:t>
            </a:r>
          </a:p>
          <a:p>
            <a:pPr>
              <a:lnSpc>
                <a:spcPts val="2196"/>
              </a:lnSpc>
              <a:spcBef>
                <a:spcPts val="0"/>
              </a:spcBef>
              <a:spcAft>
                <a:spcPts val="0"/>
              </a:spcAft>
            </a:pPr>
            <a:r>
              <a:rPr sz="1800" b="0" i="0">
                <a:solidFill>
                  <a:srgbClr val="183A32"/>
                </a:solidFill>
                <a:latin typeface="Times New Roman"/>
              </a:rPr>
              <a:t>Wisata opening in 2024 and Grand Wisata opening in</a:t>
            </a:r>
          </a:p>
          <a:p>
            <a:pPr>
              <a:lnSpc>
                <a:spcPts val="2196"/>
              </a:lnSpc>
              <a:spcBef>
                <a:spcPts val="0"/>
              </a:spcBef>
              <a:spcAft>
                <a:spcPts val="0"/>
              </a:spcAft>
            </a:pPr>
            <a:r>
              <a:rPr sz="1800" b="0" i="0">
                <a:solidFill>
                  <a:srgbClr val="183A32"/>
                </a:solidFill>
                <a:latin typeface="Times New Roman"/>
              </a:rPr>
              <a:t>February 2025. Its retail proposition combines</a:t>
            </a:r>
          </a:p>
          <a:p>
            <a:pPr>
              <a:lnSpc>
                <a:spcPts val="2196"/>
              </a:lnSpc>
              <a:spcBef>
                <a:spcPts val="0"/>
              </a:spcBef>
              <a:spcAft>
                <a:spcPts val="0"/>
              </a:spcAft>
            </a:pPr>
            <a:r>
              <a:rPr sz="1800" b="0" i="0">
                <a:solidFill>
                  <a:srgbClr val="183A32"/>
                </a:solidFill>
                <a:latin typeface="Times New Roman"/>
              </a:rPr>
              <a:t>home-related shopping, lifestyle, food, and</a:t>
            </a:r>
          </a:p>
          <a:p>
            <a:pPr>
              <a:lnSpc>
                <a:spcPts val="2196"/>
              </a:lnSpc>
              <a:spcBef>
                <a:spcPts val="0"/>
              </a:spcBef>
              <a:spcAft>
                <a:spcPts val="0"/>
              </a:spcAft>
            </a:pPr>
            <a:r>
              <a:rPr sz="1800" b="0" i="0">
                <a:solidFill>
                  <a:srgbClr val="183A32"/>
                </a:solidFill>
                <a:latin typeface="Times New Roman"/>
              </a:rPr>
              <a:t>entertainment.</a:t>
            </a:r>
          </a:p>
        </p:txBody>
      </p:sp>
      <p:sp>
        <p:nvSpPr>
          <p:cNvPr id="14" name="TextBox 13"/>
          <p:cNvSpPr txBox="1"/>
          <p:nvPr/>
        </p:nvSpPr>
        <p:spPr>
          <a:xfrm>
            <a:off x="685800" y="4091431"/>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Grand Wisata destination also used a</a:t>
            </a:r>
          </a:p>
          <a:p>
            <a:pPr>
              <a:lnSpc>
                <a:spcPts val="2196"/>
              </a:lnSpc>
              <a:spcBef>
                <a:spcPts val="0"/>
              </a:spcBef>
              <a:spcAft>
                <a:spcPts val="0"/>
              </a:spcAft>
            </a:pPr>
            <a:r>
              <a:rPr sz="1800" b="0" i="0">
                <a:solidFill>
                  <a:srgbClr val="183A32"/>
                </a:solidFill>
                <a:latin typeface="Times New Roman"/>
              </a:rPr>
              <a:t>purchase-linked rewards programme supported by the</a:t>
            </a:r>
          </a:p>
          <a:p>
            <a:pPr>
              <a:lnSpc>
                <a:spcPts val="2196"/>
              </a:lnSpc>
              <a:spcBef>
                <a:spcPts val="0"/>
              </a:spcBef>
              <a:spcAft>
                <a:spcPts val="0"/>
              </a:spcAft>
            </a:pPr>
            <a:r>
              <a:rPr sz="1800" b="0" i="0">
                <a:solidFill>
                  <a:srgbClr val="183A32"/>
                </a:solidFill>
                <a:latin typeface="Times New Roman"/>
              </a:rPr>
              <a:t>MyLiving application. Sources: Kawan Lama’s Living</a:t>
            </a:r>
          </a:p>
          <a:p>
            <a:pPr>
              <a:lnSpc>
                <a:spcPts val="2196"/>
              </a:lnSpc>
              <a:spcBef>
                <a:spcPts val="0"/>
              </a:spcBef>
              <a:spcAft>
                <a:spcPts val="0"/>
              </a:spcAft>
            </a:pPr>
            <a:r>
              <a:rPr sz="1800" b="0" i="0">
                <a:solidFill>
                  <a:srgbClr val="183A32"/>
                </a:solidFill>
                <a:latin typeface="Times New Roman"/>
              </a:rPr>
              <a:t>World portfolio, Grand Wisata rewards programme.</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TextBox 15"/>
          <p:cNvSpPr txBox="1"/>
          <p:nvPr/>
        </p:nvSpPr>
        <p:spPr>
          <a:xfrm>
            <a:off x="6400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functioning destination can give residents and</a:t>
            </a:r>
          </a:p>
          <a:p>
            <a:pPr>
              <a:lnSpc>
                <a:spcPts val="2196"/>
              </a:lnSpc>
              <a:spcBef>
                <a:spcPts val="0"/>
              </a:spcBef>
              <a:spcAft>
                <a:spcPts val="0"/>
              </a:spcAft>
            </a:pPr>
            <a:r>
              <a:rPr sz="1800" b="0" i="0">
                <a:solidFill>
                  <a:srgbClr val="183A32"/>
                </a:solidFill>
                <a:latin typeface="Times New Roman"/>
              </a:rPr>
              <a:t>surrounding customers recurring reasons to visit. A</a:t>
            </a:r>
          </a:p>
          <a:p>
            <a:pPr>
              <a:lnSpc>
                <a:spcPts val="2196"/>
              </a:lnSpc>
              <a:spcBef>
                <a:spcPts val="0"/>
              </a:spcBef>
              <a:spcAft>
                <a:spcPts val="0"/>
              </a:spcAft>
            </a:pPr>
            <a:r>
              <a:rPr sz="1800" b="0" i="0">
                <a:solidFill>
                  <a:srgbClr val="183A32"/>
                </a:solidFill>
                <a:latin typeface="Times New Roman"/>
              </a:rPr>
              <a:t>rewards programme can support identifiable customer</a:t>
            </a:r>
          </a:p>
          <a:p>
            <a:pPr>
              <a:lnSpc>
                <a:spcPts val="2196"/>
              </a:lnSpc>
              <a:spcBef>
                <a:spcPts val="0"/>
              </a:spcBef>
              <a:spcAft>
                <a:spcPts val="0"/>
              </a:spcAft>
            </a:pPr>
            <a:r>
              <a:rPr sz="1800" b="0" i="0">
                <a:solidFill>
                  <a:srgbClr val="183A32"/>
                </a:solidFill>
                <a:latin typeface="Times New Roman"/>
              </a:rPr>
              <a:t>relationships and repeat purchasing.</a:t>
            </a:r>
          </a:p>
        </p:txBody>
      </p:sp>
      <p:sp>
        <p:nvSpPr>
          <p:cNvPr id="17" name="TextBox 16"/>
          <p:cNvSpPr txBox="1"/>
          <p:nvPr/>
        </p:nvSpPr>
        <p:spPr>
          <a:xfrm>
            <a:off x="6400800" y="3839972"/>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QUESTION</a:t>
            </a:r>
          </a:p>
        </p:txBody>
      </p:sp>
      <p:sp>
        <p:nvSpPr>
          <p:cNvPr id="18" name="TextBox 17"/>
          <p:cNvSpPr txBox="1"/>
          <p:nvPr/>
        </p:nvSpPr>
        <p:spPr>
          <a:xfrm>
            <a:off x="6400800" y="416128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Does the asset earn an adequate direct return, improve</a:t>
            </a:r>
          </a:p>
          <a:p>
            <a:pPr>
              <a:lnSpc>
                <a:spcPts val="2196"/>
              </a:lnSpc>
              <a:spcBef>
                <a:spcPts val="0"/>
              </a:spcBef>
              <a:spcAft>
                <a:spcPts val="0"/>
              </a:spcAft>
            </a:pPr>
            <a:r>
              <a:rPr sz="1800" b="0" i="0">
                <a:solidFill>
                  <a:srgbClr val="183A32"/>
                </a:solidFill>
                <a:latin typeface="Times New Roman"/>
              </a:rPr>
              <a:t>surrounding property demand, or both? Those benefits</a:t>
            </a:r>
          </a:p>
          <a:p>
            <a:pPr>
              <a:lnSpc>
                <a:spcPts val="2196"/>
              </a:lnSpc>
              <a:spcBef>
                <a:spcPts val="0"/>
              </a:spcBef>
              <a:spcAft>
                <a:spcPts val="0"/>
              </a:spcAft>
            </a:pPr>
            <a:r>
              <a:rPr sz="1800" b="0" i="0">
                <a:solidFill>
                  <a:srgbClr val="183A32"/>
                </a:solidFill>
                <a:latin typeface="Times New Roman"/>
              </a:rPr>
              <a:t>must be tested separately.</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D16.2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125–125</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Before launching a membership or loyalty programme, establish a service or destination that people already have a</a:t>
            </a:r>
          </a:p>
          <a:p>
            <a:pPr>
              <a:lnSpc>
                <a:spcPts val="2196"/>
              </a:lnSpc>
              <a:spcBef>
                <a:spcPts val="0"/>
              </a:spcBef>
              <a:spcAft>
                <a:spcPts val="0"/>
              </a:spcAft>
            </a:pPr>
            <a:r>
              <a:rPr sz="1800" b="0" i="0">
                <a:solidFill>
                  <a:srgbClr val="183A32"/>
                </a:solidFill>
                <a:latin typeface="Times New Roman"/>
              </a:rPr>
              <a:t>reason to use repeatedly.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D17</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Segmenting the payment proposition</a:t>
            </a:r>
          </a:p>
        </p:txBody>
      </p:sp>
      <p:cxnSp>
        <p:nvCxnSpPr>
          <p:cNvPr id="11" name="Connector 10"/>
          <p:cNvCxnSpPr/>
          <p:nvPr/>
        </p:nvCxnSpPr>
        <p:spPr>
          <a:xfrm>
            <a:off x="6062472" y="2084831"/>
            <a:ext cx="0" cy="303885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CUSTOMER BEHAVIOUR</a:t>
            </a:r>
          </a:p>
        </p:txBody>
      </p:sp>
      <p:sp>
        <p:nvSpPr>
          <p:cNvPr id="13" name="TextBox 12"/>
          <p:cNvSpPr txBox="1"/>
          <p:nvPr/>
        </p:nvSpPr>
        <p:spPr>
          <a:xfrm>
            <a:off x="685800" y="243357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ASRI’s 1H2025 investor presentation shows a</a:t>
            </a:r>
          </a:p>
          <a:p>
            <a:pPr>
              <a:lnSpc>
                <a:spcPts val="2196"/>
              </a:lnSpc>
              <a:spcBef>
                <a:spcPts val="0"/>
              </a:spcBef>
              <a:spcAft>
                <a:spcPts val="0"/>
              </a:spcAft>
            </a:pPr>
            <a:r>
              <a:rPr sz="1800" b="0" i="0">
                <a:solidFill>
                  <a:srgbClr val="183A32"/>
                </a:solidFill>
                <a:latin typeface="Times New Roman"/>
              </a:rPr>
              <a:t>materially different payment mix between its locations:</a:t>
            </a:r>
          </a:p>
        </p:txBody>
      </p:sp>
      <p:sp>
        <p:nvSpPr>
          <p:cNvPr id="14" name="Rectangle 13"/>
          <p:cNvSpPr/>
          <p:nvPr/>
        </p:nvSpPr>
        <p:spPr>
          <a:xfrm>
            <a:off x="685800" y="3261106"/>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169666"/>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Alam Sutera: approximately 47.6% cash</a:t>
            </a:r>
          </a:p>
          <a:p>
            <a:pPr>
              <a:lnSpc>
                <a:spcPts val="2135"/>
              </a:lnSpc>
              <a:spcBef>
                <a:spcPts val="0"/>
              </a:spcBef>
              <a:spcAft>
                <a:spcPts val="0"/>
              </a:spcAft>
            </a:pPr>
            <a:r>
              <a:rPr sz="1750" b="0" i="0">
                <a:solidFill>
                  <a:srgbClr val="183A32"/>
                </a:solidFill>
                <a:latin typeface="Arial"/>
              </a:rPr>
              <a:t>instalments and 43.7% mortgages.</a:t>
            </a:r>
          </a:p>
        </p:txBody>
      </p:sp>
      <p:sp>
        <p:nvSpPr>
          <p:cNvPr id="16" name="Rectangle 15"/>
          <p:cNvSpPr/>
          <p:nvPr/>
        </p:nvSpPr>
        <p:spPr>
          <a:xfrm>
            <a:off x="685800" y="3981703"/>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890264"/>
            <a:ext cx="4910328" cy="601726"/>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Suvarna Sutera: approximately 22.9% cash</a:t>
            </a:r>
          </a:p>
          <a:p>
            <a:pPr>
              <a:lnSpc>
                <a:spcPts val="2135"/>
              </a:lnSpc>
              <a:spcBef>
                <a:spcPts val="0"/>
              </a:spcBef>
              <a:spcAft>
                <a:spcPts val="0"/>
              </a:spcAft>
            </a:pPr>
            <a:r>
              <a:rPr sz="1750" b="0" i="0">
                <a:solidFill>
                  <a:srgbClr val="183A32"/>
                </a:solidFill>
                <a:latin typeface="Arial"/>
              </a:rPr>
              <a:t>instalments and 67.4% mortgages.</a:t>
            </a:r>
          </a:p>
        </p:txBody>
      </p:sp>
      <p:sp>
        <p:nvSpPr>
          <p:cNvPr id="18" name="TextBox 17"/>
          <p:cNvSpPr txBox="1"/>
          <p:nvPr/>
        </p:nvSpPr>
        <p:spPr>
          <a:xfrm>
            <a:off x="6400800" y="2084831"/>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period-specific sales-payment profiles, not</a:t>
            </a:r>
          </a:p>
          <a:p>
            <a:pPr>
              <a:lnSpc>
                <a:spcPts val="2196"/>
              </a:lnSpc>
              <a:spcBef>
                <a:spcPts val="0"/>
              </a:spcBef>
              <a:spcAft>
                <a:spcPts val="0"/>
              </a:spcAft>
            </a:pPr>
            <a:r>
              <a:rPr sz="1800" b="0" i="0">
                <a:solidFill>
                  <a:srgbClr val="183A32"/>
                </a:solidFill>
                <a:latin typeface="Times New Roman"/>
              </a:rPr>
              <a:t>complete demographic descriptions. Source: ASRI</a:t>
            </a:r>
          </a:p>
          <a:p>
            <a:pPr>
              <a:lnSpc>
                <a:spcPts val="2196"/>
              </a:lnSpc>
              <a:spcBef>
                <a:spcPts val="0"/>
              </a:spcBef>
              <a:spcAft>
                <a:spcPts val="0"/>
              </a:spcAft>
            </a:pPr>
            <a:r>
              <a:rPr sz="1800" b="0" i="0">
                <a:solidFill>
                  <a:srgbClr val="183A32"/>
                </a:solidFill>
                <a:latin typeface="Times New Roman"/>
              </a:rPr>
              <a:t>investor presentation, payment-profile analysis.</a:t>
            </a:r>
          </a:p>
        </p:txBody>
      </p:sp>
      <p:sp>
        <p:nvSpPr>
          <p:cNvPr id="19" name="TextBox 18"/>
          <p:cNvSpPr txBox="1"/>
          <p:nvPr/>
        </p:nvSpPr>
        <p:spPr>
          <a:xfrm>
            <a:off x="6400800" y="3127247"/>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MATTERS — ANALYSIS</a:t>
            </a:r>
          </a:p>
        </p:txBody>
      </p:sp>
      <p:sp>
        <p:nvSpPr>
          <p:cNvPr id="20" name="TextBox 19"/>
          <p:cNvSpPr txBox="1"/>
          <p:nvPr/>
        </p:nvSpPr>
        <p:spPr>
          <a:xfrm>
            <a:off x="6400800" y="3448558"/>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Two projects within one company can require different</a:t>
            </a:r>
          </a:p>
          <a:p>
            <a:pPr>
              <a:lnSpc>
                <a:spcPts val="2196"/>
              </a:lnSpc>
              <a:spcBef>
                <a:spcPts val="0"/>
              </a:spcBef>
              <a:spcAft>
                <a:spcPts val="0"/>
              </a:spcAft>
            </a:pPr>
            <a:r>
              <a:rPr sz="1800" b="0" i="0">
                <a:solidFill>
                  <a:srgbClr val="183A32"/>
                </a:solidFill>
                <a:latin typeface="Times New Roman"/>
              </a:rPr>
              <a:t>conversion systems.</a:t>
            </a:r>
          </a:p>
        </p:txBody>
      </p:sp>
      <p:sp>
        <p:nvSpPr>
          <p:cNvPr id="21" name="TextBox 20"/>
          <p:cNvSpPr txBox="1"/>
          <p:nvPr/>
        </p:nvSpPr>
        <p:spPr>
          <a:xfrm>
            <a:off x="6400800" y="418464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mortgage-dependent project needs particular</a:t>
            </a:r>
          </a:p>
          <a:p>
            <a:pPr>
              <a:lnSpc>
                <a:spcPts val="2196"/>
              </a:lnSpc>
              <a:spcBef>
                <a:spcPts val="0"/>
              </a:spcBef>
              <a:spcAft>
                <a:spcPts val="0"/>
              </a:spcAft>
            </a:pPr>
            <a:r>
              <a:rPr sz="1800" b="0" i="0">
                <a:solidFill>
                  <a:srgbClr val="183A32"/>
                </a:solidFill>
                <a:latin typeface="Times New Roman"/>
              </a:rPr>
              <a:t>attention to bank approval, documentation, eligibility,</a:t>
            </a:r>
          </a:p>
          <a:p>
            <a:pPr>
              <a:lnSpc>
                <a:spcPts val="2196"/>
              </a:lnSpc>
              <a:spcBef>
                <a:spcPts val="0"/>
              </a:spcBef>
              <a:spcAft>
                <a:spcPts val="0"/>
              </a:spcAft>
            </a:pPr>
            <a:r>
              <a:rPr sz="1800" b="0" i="0">
                <a:solidFill>
                  <a:srgbClr val="183A32"/>
                </a:solidFill>
                <a:latin typeface="Times New Roman"/>
              </a:rPr>
              <a:t>and payment stability.</a:t>
            </a:r>
          </a:p>
        </p:txBody>
      </p:sp>
      <p:sp>
        <p:nvSpPr>
          <p:cNvPr id="22" name="TextBox 2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D17.2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125–126</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295</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Segmenting the payment proposition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project with greater instalment usage needs close attention to collection schedules and the developer’s financing</a:t>
            </a:r>
          </a:p>
          <a:p>
            <a:pPr>
              <a:lnSpc>
                <a:spcPts val="2196"/>
              </a:lnSpc>
              <a:spcBef>
                <a:spcPts val="0"/>
              </a:spcBef>
              <a:spcAft>
                <a:spcPts val="0"/>
              </a:spcAft>
            </a:pPr>
            <a:r>
              <a:rPr sz="1800" b="0" i="0">
                <a:solidFill>
                  <a:srgbClr val="183A32"/>
                </a:solidFill>
                <a:latin typeface="Times New Roman"/>
              </a:rPr>
              <a:t>exposure.</a:t>
            </a:r>
          </a:p>
        </p:txBody>
      </p:sp>
      <p:sp>
        <p:nvSpPr>
          <p:cNvPr id="12" name="TextBox 11"/>
          <p:cNvSpPr txBox="1"/>
          <p:nvPr/>
        </p:nvSpPr>
        <p:spPr>
          <a:xfrm>
            <a:off x="685800" y="2848356"/>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IMPLICATION</a:t>
            </a:r>
          </a:p>
        </p:txBody>
      </p:sp>
      <p:sp>
        <p:nvSpPr>
          <p:cNvPr id="13" name="TextBox 12"/>
          <p:cNvSpPr txBox="1"/>
          <p:nvPr/>
        </p:nvSpPr>
        <p:spPr>
          <a:xfrm>
            <a:off x="685800" y="3169666"/>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corporate identity can remain consistent while the payment proposition and sales conversation differ by market.</a:t>
            </a:r>
          </a:p>
        </p:txBody>
      </p:sp>
      <p:sp>
        <p:nvSpPr>
          <p:cNvPr id="14" name="TextBox 13"/>
          <p:cNvSpPr txBox="1"/>
          <p:nvPr/>
        </p:nvSpPr>
        <p:spPr>
          <a:xfrm>
            <a:off x="685800" y="3654298"/>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5" name="TextBox 14"/>
          <p:cNvSpPr txBox="1"/>
          <p:nvPr/>
        </p:nvSpPr>
        <p:spPr>
          <a:xfrm>
            <a:off x="685800" y="3975608"/>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Segment by financial behaviour as well as age and income.</a:t>
            </a:r>
          </a:p>
        </p:txBody>
      </p:sp>
      <p:sp>
        <p:nvSpPr>
          <p:cNvPr id="16" name="TextBox 15"/>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D18</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126–127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296</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Alam Sutera: A successful launch can materially change the</a:t>
            </a:r>
          </a:p>
          <a:p>
            <a:pPr>
              <a:lnSpc>
                <a:spcPts val="3502"/>
              </a:lnSpc>
              <a:spcBef>
                <a:spcPts val="0"/>
              </a:spcBef>
              <a:spcAft>
                <a:spcPts val="0"/>
              </a:spcAft>
            </a:pPr>
            <a:r>
              <a:rPr sz="3100" b="0" i="0">
                <a:solidFill>
                  <a:srgbClr val="153F35"/>
                </a:solidFill>
                <a:latin typeface="Arial"/>
              </a:rPr>
              <a:t>sales mix</a:t>
            </a:r>
          </a:p>
        </p:txBody>
      </p:sp>
      <p:cxnSp>
        <p:nvCxnSpPr>
          <p:cNvPr id="11" name="Connector 10"/>
          <p:cNvCxnSpPr/>
          <p:nvPr/>
        </p:nvCxnSpPr>
        <p:spPr>
          <a:xfrm>
            <a:off x="6062472" y="2169921"/>
            <a:ext cx="0" cy="3164587"/>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PERFORMANCE</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ASRI reported approximately Rp1.39 trillion in</a:t>
            </a:r>
          </a:p>
          <a:p>
            <a:pPr>
              <a:lnSpc>
                <a:spcPts val="2196"/>
              </a:lnSpc>
              <a:spcBef>
                <a:spcPts val="0"/>
              </a:spcBef>
              <a:spcAft>
                <a:spcPts val="0"/>
              </a:spcAft>
            </a:pPr>
            <a:r>
              <a:rPr sz="1800" b="0" i="0">
                <a:solidFill>
                  <a:srgbClr val="183A32"/>
                </a:solidFill>
                <a:latin typeface="Times New Roman"/>
              </a:rPr>
              <a:t>1H2025 marketing sales. Its presentation identified</a:t>
            </a:r>
          </a:p>
          <a:p>
            <a:pPr>
              <a:lnSpc>
                <a:spcPts val="2196"/>
              </a:lnSpc>
              <a:spcBef>
                <a:spcPts val="0"/>
              </a:spcBef>
              <a:spcAft>
                <a:spcPts val="0"/>
              </a:spcAft>
            </a:pPr>
            <a:r>
              <a:rPr sz="1800" b="0" i="0">
                <a:solidFill>
                  <a:srgbClr val="183A32"/>
                </a:solidFill>
                <a:latin typeface="Times New Roman"/>
              </a:rPr>
              <a:t>Sutera Rasuna as contributing approximately 43% of</a:t>
            </a:r>
          </a:p>
          <a:p>
            <a:pPr>
              <a:lnSpc>
                <a:spcPts val="2196"/>
              </a:lnSpc>
              <a:spcBef>
                <a:spcPts val="0"/>
              </a:spcBef>
              <a:spcAft>
                <a:spcPts val="0"/>
              </a:spcAft>
            </a:pPr>
            <a:r>
              <a:rPr sz="1800" b="0" i="0">
                <a:solidFill>
                  <a:srgbClr val="183A32"/>
                </a:solidFill>
                <a:latin typeface="Times New Roman"/>
              </a:rPr>
              <a:t>residential marketing sales.</a:t>
            </a:r>
          </a:p>
        </p:txBody>
      </p:sp>
      <p:sp>
        <p:nvSpPr>
          <p:cNvPr id="14" name="TextBox 13"/>
          <p:cNvSpPr txBox="1"/>
          <p:nvPr/>
        </p:nvSpPr>
        <p:spPr>
          <a:xfrm>
            <a:off x="685800" y="3812540"/>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Its 2025 annual report describes market research,</a:t>
            </a:r>
          </a:p>
          <a:p>
            <a:pPr>
              <a:lnSpc>
                <a:spcPts val="2196"/>
              </a:lnSpc>
              <a:spcBef>
                <a:spcPts val="0"/>
              </a:spcBef>
              <a:spcAft>
                <a:spcPts val="0"/>
              </a:spcAft>
            </a:pPr>
            <a:r>
              <a:rPr sz="1800" b="0" i="0">
                <a:solidFill>
                  <a:srgbClr val="183A32"/>
                </a:solidFill>
                <a:latin typeface="Times New Roman"/>
              </a:rPr>
              <a:t>product variation across prices, show units,</a:t>
            </a:r>
          </a:p>
          <a:p>
            <a:pPr>
              <a:lnSpc>
                <a:spcPts val="2196"/>
              </a:lnSpc>
              <a:spcBef>
                <a:spcPts val="0"/>
              </a:spcBef>
              <a:spcAft>
                <a:spcPts val="0"/>
              </a:spcAft>
            </a:pPr>
            <a:r>
              <a:rPr sz="1800" b="0" i="0">
                <a:solidFill>
                  <a:srgbClr val="183A32"/>
                </a:solidFill>
                <a:latin typeface="Times New Roman"/>
              </a:rPr>
              <a:t>exhibitions, strategic-location media, and digital</a:t>
            </a:r>
          </a:p>
          <a:p>
            <a:pPr>
              <a:lnSpc>
                <a:spcPts val="2196"/>
              </a:lnSpc>
              <a:spcBef>
                <a:spcPts val="0"/>
              </a:spcBef>
              <a:spcAft>
                <a:spcPts val="0"/>
              </a:spcAft>
            </a:pPr>
            <a:r>
              <a:rPr sz="1800" b="0" i="0">
                <a:solidFill>
                  <a:srgbClr val="183A32"/>
                </a:solidFill>
                <a:latin typeface="Times New Roman"/>
              </a:rPr>
              <a:t>channels. Sources: investor presentation, annual report,</a:t>
            </a:r>
          </a:p>
          <a:p>
            <a:pPr>
              <a:lnSpc>
                <a:spcPts val="2196"/>
              </a:lnSpc>
              <a:spcBef>
                <a:spcPts val="0"/>
              </a:spcBef>
              <a:spcAft>
                <a:spcPts val="0"/>
              </a:spcAft>
            </a:pPr>
            <a:r>
              <a:rPr sz="1800" b="0" i="0">
                <a:solidFill>
                  <a:srgbClr val="183A32"/>
                </a:solidFill>
                <a:latin typeface="Times New Roman"/>
              </a:rPr>
              <a:t>marketing discussion.</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6" name="TextBox 15"/>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performance of one relevant release can matter</a:t>
            </a:r>
          </a:p>
          <a:p>
            <a:pPr>
              <a:lnSpc>
                <a:spcPts val="2196"/>
              </a:lnSpc>
              <a:spcBef>
                <a:spcPts val="0"/>
              </a:spcBef>
              <a:spcAft>
                <a:spcPts val="0"/>
              </a:spcAft>
            </a:pPr>
            <a:r>
              <a:rPr sz="1800" b="0" i="0">
                <a:solidFill>
                  <a:srgbClr val="183A32"/>
                </a:solidFill>
                <a:latin typeface="Times New Roman"/>
              </a:rPr>
              <a:t>more than the total number of campaigns.</a:t>
            </a:r>
          </a:p>
        </p:txBody>
      </p:sp>
      <p:sp>
        <p:nvSpPr>
          <p:cNvPr id="17" name="TextBox 16"/>
          <p:cNvSpPr txBox="1"/>
          <p:nvPr/>
        </p:nvSpPr>
        <p:spPr>
          <a:xfrm>
            <a:off x="6400800" y="3254756"/>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useful research question is whether the release filled</a:t>
            </a:r>
          </a:p>
          <a:p>
            <a:pPr>
              <a:lnSpc>
                <a:spcPts val="2196"/>
              </a:lnSpc>
              <a:spcBef>
                <a:spcPts val="0"/>
              </a:spcBef>
              <a:spcAft>
                <a:spcPts val="0"/>
              </a:spcAft>
            </a:pPr>
            <a:r>
              <a:rPr sz="1800" b="0" i="0">
                <a:solidFill>
                  <a:srgbClr val="183A32"/>
                </a:solidFill>
                <a:latin typeface="Times New Roman"/>
              </a:rPr>
              <a:t>a gap in price, layout, location, financing, or available</a:t>
            </a:r>
          </a:p>
          <a:p>
            <a:pPr>
              <a:lnSpc>
                <a:spcPts val="2196"/>
              </a:lnSpc>
              <a:spcBef>
                <a:spcPts val="0"/>
              </a:spcBef>
              <a:spcAft>
                <a:spcPts val="0"/>
              </a:spcAft>
            </a:pPr>
            <a:r>
              <a:rPr sz="1800" b="0" i="0">
                <a:solidFill>
                  <a:srgbClr val="183A32"/>
                </a:solidFill>
                <a:latin typeface="Times New Roman"/>
              </a:rPr>
              <a:t>inventory.</a:t>
            </a:r>
          </a:p>
        </p:txBody>
      </p:sp>
      <p:sp>
        <p:nvSpPr>
          <p:cNvPr id="18" name="TextBox 17"/>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D18.2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126–127</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Evidence limit</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disclosures do not isolate which of those factors drove Sutera Rasuna’s contribution.</a:t>
            </a:r>
          </a:p>
        </p:txBody>
      </p:sp>
      <p:sp>
        <p:nvSpPr>
          <p:cNvPr id="12" name="TextBox 11"/>
          <p:cNvSpPr txBox="1"/>
          <p:nvPr/>
        </p:nvSpPr>
        <p:spPr>
          <a:xfrm>
            <a:off x="685800" y="25694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13" name="TextBox 12"/>
          <p:cNvSpPr txBox="1"/>
          <p:nvPr/>
        </p:nvSpPr>
        <p:spPr>
          <a:xfrm>
            <a:off x="685800" y="28907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Compare product cohorts. Identify which configurations convert qualified demand into collected sales, then adjust</a:t>
            </a:r>
          </a:p>
          <a:p>
            <a:pPr>
              <a:lnSpc>
                <a:spcPts val="2196"/>
              </a:lnSpc>
              <a:spcBef>
                <a:spcPts val="0"/>
              </a:spcBef>
              <a:spcAft>
                <a:spcPts val="0"/>
              </a:spcAft>
            </a:pPr>
            <a:r>
              <a:rPr sz="1800" b="0" i="0">
                <a:solidFill>
                  <a:srgbClr val="183A32"/>
                </a:solidFill>
                <a:latin typeface="Times New Roman"/>
              </a:rPr>
              <a:t>subsequent releases.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D19</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127–128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298</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Building a portfolio of customer</a:t>
            </a:r>
          </a:p>
          <a:p>
            <a:pPr>
              <a:lnSpc>
                <a:spcPts val="3502"/>
              </a:lnSpc>
              <a:spcBef>
                <a:spcPts val="0"/>
              </a:spcBef>
              <a:spcAft>
                <a:spcPts val="0"/>
              </a:spcAft>
            </a:pPr>
            <a:r>
              <a:rPr sz="3100" b="0" i="0">
                <a:solidFill>
                  <a:srgbClr val="153F35"/>
                </a:solidFill>
                <a:latin typeface="Arial"/>
              </a:rPr>
              <a:t>propositions</a:t>
            </a:r>
          </a:p>
        </p:txBody>
      </p:sp>
      <p:sp>
        <p:nvSpPr>
          <p:cNvPr id="11" name="TextBox 10"/>
          <p:cNvSpPr txBox="1"/>
          <p:nvPr/>
        </p:nvSpPr>
        <p:spPr>
          <a:xfrm>
            <a:off x="685800" y="219735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PRODUCT SEGMENTATION</a:t>
            </a:r>
          </a:p>
        </p:txBody>
      </p:sp>
      <p:sp>
        <p:nvSpPr>
          <p:cNvPr id="12" name="TextBox 11"/>
          <p:cNvSpPr txBox="1"/>
          <p:nvPr/>
        </p:nvSpPr>
        <p:spPr>
          <a:xfrm>
            <a:off x="685800" y="2518664"/>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JRPT’s FY2024 sales announcement presented materially different offers:</a:t>
            </a:r>
          </a:p>
        </p:txBody>
      </p:sp>
      <p:sp>
        <p:nvSpPr>
          <p:cNvPr id="13" name="Rectangle 12"/>
          <p:cNvSpPr/>
          <p:nvPr/>
        </p:nvSpPr>
        <p:spPr>
          <a:xfrm>
            <a:off x="685800" y="3067304"/>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975864"/>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Aura–Discovery Flamine: homes in an established environment at approximately Rp4.8–6.1 billion.</a:t>
            </a:r>
          </a:p>
        </p:txBody>
      </p:sp>
      <p:sp>
        <p:nvSpPr>
          <p:cNvPr id="15" name="Rectangle 14"/>
          <p:cNvSpPr/>
          <p:nvPr/>
        </p:nvSpPr>
        <p:spPr>
          <a:xfrm>
            <a:off x="685800" y="351675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42531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Thalassa at Puri Jaya: approximately Rp588–730 million.</a:t>
            </a:r>
          </a:p>
        </p:txBody>
      </p:sp>
      <p:sp>
        <p:nvSpPr>
          <p:cNvPr id="17" name="Rectangle 16"/>
          <p:cNvSpPr/>
          <p:nvPr/>
        </p:nvSpPr>
        <p:spPr>
          <a:xfrm>
            <a:off x="685800" y="396620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74770"/>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Kasuari Straits: housing combined with entrepreneurial space, starting around</a:t>
            </a:r>
          </a:p>
        </p:txBody>
      </p:sp>
      <p:sp>
        <p:nvSpPr>
          <p:cNvPr id="19" name="TextBox 18"/>
          <p:cNvSpPr txBox="1"/>
          <p:nvPr/>
        </p:nvSpPr>
        <p:spPr>
          <a:xfrm>
            <a:off x="685800" y="432422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Rp490 million.</a:t>
            </a:r>
          </a:p>
        </p:txBody>
      </p:sp>
      <p:sp>
        <p:nvSpPr>
          <p:cNvPr id="20" name="TextBox 19"/>
          <p:cNvSpPr txBox="1"/>
          <p:nvPr/>
        </p:nvSpPr>
        <p:spPr>
          <a:xfrm>
            <a:off x="685800" y="4781423"/>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These are historical disclosed offers with differing specifications and terms. Source: JRPT FY2024 marketing-sales</a:t>
            </a:r>
          </a:p>
          <a:p>
            <a:pPr>
              <a:lnSpc>
                <a:spcPts val="2196"/>
              </a:lnSpc>
              <a:spcBef>
                <a:spcPts val="0"/>
              </a:spcBef>
              <a:spcAft>
                <a:spcPts val="0"/>
              </a:spcAft>
            </a:pPr>
            <a:r>
              <a:rPr sz="1800" b="0" i="0">
                <a:solidFill>
                  <a:srgbClr val="183A32"/>
                </a:solidFill>
                <a:latin typeface="Times New Roman"/>
              </a:rPr>
              <a:t>announcement.</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D19.2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127–128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299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Brand strategy — analytical interpretation</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company does not rely on one universal meaning of “aspirational housing.”</a:t>
            </a:r>
          </a:p>
        </p:txBody>
      </p:sp>
      <p:sp>
        <p:nvSpPr>
          <p:cNvPr id="12" name="TextBox 11"/>
          <p:cNvSpPr txBox="1"/>
          <p:nvPr/>
        </p:nvSpPr>
        <p:spPr>
          <a:xfrm>
            <a:off x="685800" y="2542032"/>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 translates aspiration into different practical outcomes:</a:t>
            </a:r>
          </a:p>
        </p:txBody>
      </p:sp>
      <p:sp>
        <p:nvSpPr>
          <p:cNvPr id="13" name="Rectangle 12"/>
          <p:cNvSpPr/>
          <p:nvPr/>
        </p:nvSpPr>
        <p:spPr>
          <a:xfrm>
            <a:off x="685800" y="30906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999232"/>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Established family convenience.</a:t>
            </a:r>
          </a:p>
        </p:txBody>
      </p:sp>
      <p:sp>
        <p:nvSpPr>
          <p:cNvPr id="15" name="Rectangle 14"/>
          <p:cNvSpPr/>
          <p:nvPr/>
        </p:nvSpPr>
        <p:spPr>
          <a:xfrm>
            <a:off x="685800" y="35401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4486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Accessible home ownership.</a:t>
            </a:r>
          </a:p>
        </p:txBody>
      </p:sp>
      <p:sp>
        <p:nvSpPr>
          <p:cNvPr id="17" name="Rectangle 16"/>
          <p:cNvSpPr/>
          <p:nvPr/>
        </p:nvSpPr>
        <p:spPr>
          <a:xfrm>
            <a:off x="685800" y="3989577"/>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898137"/>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Space that supports earning an income.</a:t>
            </a:r>
          </a:p>
        </p:txBody>
      </p:sp>
      <p:sp>
        <p:nvSpPr>
          <p:cNvPr id="19" name="TextBox 18"/>
          <p:cNvSpPr txBox="1"/>
          <p:nvPr/>
        </p:nvSpPr>
        <p:spPr>
          <a:xfrm>
            <a:off x="685800" y="437502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CAN BE EFFECTIVE</a:t>
            </a:r>
          </a:p>
        </p:txBody>
      </p:sp>
      <p:sp>
        <p:nvSpPr>
          <p:cNvPr id="20" name="TextBox 19"/>
          <p:cNvSpPr txBox="1"/>
          <p:nvPr/>
        </p:nvSpPr>
        <p:spPr>
          <a:xfrm>
            <a:off x="685800" y="469633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customer proposition matches the household’s economic situation and intended use.</a:t>
            </a:r>
          </a:p>
        </p:txBody>
      </p:sp>
      <p:sp>
        <p:nvSpPr>
          <p:cNvPr id="21" name="TextBox 20"/>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D19.3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127–128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Define the specific improvement each product makes in the customer’s life. Avoid describing every project with the</a:t>
            </a:r>
          </a:p>
          <a:p>
            <a:pPr>
              <a:lnSpc>
                <a:spcPts val="2196"/>
              </a:lnSpc>
              <a:spcBef>
                <a:spcPts val="0"/>
              </a:spcBef>
              <a:spcAft>
                <a:spcPts val="0"/>
              </a:spcAft>
            </a:pPr>
            <a:r>
              <a:rPr sz="1800" b="0" i="0">
                <a:solidFill>
                  <a:srgbClr val="183A32"/>
                </a:solidFill>
                <a:latin typeface="Times New Roman"/>
              </a:rPr>
              <a:t>same lifestyle vocabulary.</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D20</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128–128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301</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Jaya Real Property: Turning connectivity into a usable</a:t>
            </a:r>
          </a:p>
          <a:p>
            <a:pPr>
              <a:lnSpc>
                <a:spcPts val="3502"/>
              </a:lnSpc>
              <a:spcBef>
                <a:spcPts val="0"/>
              </a:spcBef>
              <a:spcAft>
                <a:spcPts val="0"/>
              </a:spcAft>
            </a:pPr>
            <a:r>
              <a:rPr sz="3100" b="0" i="0">
                <a:solidFill>
                  <a:srgbClr val="153F35"/>
                </a:solidFill>
                <a:latin typeface="Arial"/>
              </a:rPr>
              <a:t>service</a:t>
            </a:r>
          </a:p>
        </p:txBody>
      </p:sp>
      <p:cxnSp>
        <p:nvCxnSpPr>
          <p:cNvPr id="11" name="Connector 10"/>
          <p:cNvCxnSpPr/>
          <p:nvPr/>
        </p:nvCxnSpPr>
        <p:spPr>
          <a:xfrm>
            <a:off x="6062472" y="2169921"/>
            <a:ext cx="0" cy="2446783"/>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EXECUTION</a:t>
            </a:r>
          </a:p>
        </p:txBody>
      </p:sp>
      <p:sp>
        <p:nvSpPr>
          <p:cNvPr id="13" name="TextBox 12"/>
          <p:cNvSpPr txBox="1"/>
          <p:nvPr/>
        </p:nvSpPr>
        <p:spPr>
          <a:xfrm>
            <a:off x="685800" y="2518664"/>
            <a:ext cx="5074920" cy="2011679"/>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JRPT’s sales material describes connections to</a:t>
            </a:r>
          </a:p>
          <a:p>
            <a:pPr>
              <a:lnSpc>
                <a:spcPts val="2196"/>
              </a:lnSpc>
              <a:spcBef>
                <a:spcPts val="0"/>
              </a:spcBef>
              <a:spcAft>
                <a:spcPts val="0"/>
              </a:spcAft>
            </a:pPr>
            <a:r>
              <a:rPr sz="1800" b="0" i="0">
                <a:solidFill>
                  <a:srgbClr val="183A32"/>
                </a:solidFill>
                <a:latin typeface="Times New Roman"/>
              </a:rPr>
              <a:t>commuter stations and internal InTrans shuttle</a:t>
            </a:r>
          </a:p>
          <a:p>
            <a:pPr>
              <a:lnSpc>
                <a:spcPts val="2196"/>
              </a:lnSpc>
              <a:spcBef>
                <a:spcPts val="0"/>
              </a:spcBef>
              <a:spcAft>
                <a:spcPts val="0"/>
              </a:spcAft>
            </a:pPr>
            <a:r>
              <a:rPr sz="1800" b="0" i="0">
                <a:solidFill>
                  <a:srgbClr val="183A32"/>
                </a:solidFill>
                <a:latin typeface="Times New Roman"/>
              </a:rPr>
              <a:t>services. Its earlier annual report also explains a</a:t>
            </a:r>
          </a:p>
          <a:p>
            <a:pPr>
              <a:lnSpc>
                <a:spcPts val="2196"/>
              </a:lnSpc>
              <a:spcBef>
                <a:spcPts val="0"/>
              </a:spcBef>
              <a:spcAft>
                <a:spcPts val="0"/>
              </a:spcAft>
            </a:pPr>
            <a:r>
              <a:rPr sz="1800" b="0" i="0">
                <a:solidFill>
                  <a:srgbClr val="183A32"/>
                </a:solidFill>
                <a:latin typeface="Times New Roman"/>
              </a:rPr>
              <a:t>strategy of selectively leasing commercial land to</a:t>
            </a:r>
          </a:p>
          <a:p>
            <a:pPr>
              <a:lnSpc>
                <a:spcPts val="2196"/>
              </a:lnSpc>
              <a:spcBef>
                <a:spcPts val="0"/>
              </a:spcBef>
              <a:spcAft>
                <a:spcPts val="0"/>
              </a:spcAft>
            </a:pPr>
            <a:r>
              <a:rPr sz="1800" b="0" i="0">
                <a:solidFill>
                  <a:srgbClr val="183A32"/>
                </a:solidFill>
                <a:latin typeface="Times New Roman"/>
              </a:rPr>
              <a:t>quality tenants to generate recurring income and</a:t>
            </a:r>
          </a:p>
          <a:p>
            <a:pPr>
              <a:lnSpc>
                <a:spcPts val="2196"/>
              </a:lnSpc>
              <a:spcBef>
                <a:spcPts val="0"/>
              </a:spcBef>
              <a:spcAft>
                <a:spcPts val="0"/>
              </a:spcAft>
            </a:pPr>
            <a:r>
              <a:rPr sz="1800" b="0" i="0">
                <a:solidFill>
                  <a:srgbClr val="183A32"/>
                </a:solidFill>
                <a:latin typeface="Times New Roman"/>
              </a:rPr>
              <a:t>improve area value. Sources: FY2024 sales material,</a:t>
            </a:r>
          </a:p>
          <a:p>
            <a:pPr>
              <a:lnSpc>
                <a:spcPts val="2196"/>
              </a:lnSpc>
              <a:spcBef>
                <a:spcPts val="0"/>
              </a:spcBef>
              <a:spcAft>
                <a:spcPts val="0"/>
              </a:spcAft>
            </a:pPr>
            <a:r>
              <a:rPr sz="1800" b="0" i="0">
                <a:solidFill>
                  <a:srgbClr val="183A32"/>
                </a:solidFill>
                <a:latin typeface="Times New Roman"/>
              </a:rPr>
              <a:t>2023 annual report, strategic outlook.</a:t>
            </a:r>
          </a:p>
        </p:txBody>
      </p:sp>
      <p:sp>
        <p:nvSpPr>
          <p:cNvPr id="14" name="TextBox 13"/>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THE MECHANISM MATTERS — ANALYSIS</a:t>
            </a:r>
          </a:p>
        </p:txBody>
      </p:sp>
      <p:sp>
        <p:nvSpPr>
          <p:cNvPr id="15" name="TextBox 14"/>
          <p:cNvSpPr txBox="1"/>
          <p:nvPr/>
        </p:nvSpPr>
        <p:spPr>
          <a:xfrm>
            <a:off x="6400800" y="2518664"/>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“Near transport” is a geographic statement. A usable</a:t>
            </a:r>
          </a:p>
          <a:p>
            <a:pPr>
              <a:lnSpc>
                <a:spcPts val="2196"/>
              </a:lnSpc>
              <a:spcBef>
                <a:spcPts val="0"/>
              </a:spcBef>
              <a:spcAft>
                <a:spcPts val="0"/>
              </a:spcAft>
            </a:pPr>
            <a:r>
              <a:rPr sz="1800" b="0" i="0">
                <a:solidFill>
                  <a:srgbClr val="183A32"/>
                </a:solidFill>
                <a:latin typeface="Times New Roman"/>
              </a:rPr>
              <a:t>connection is an operating proposition.</a:t>
            </a:r>
          </a:p>
        </p:txBody>
      </p:sp>
      <p:sp>
        <p:nvSpPr>
          <p:cNvPr id="16" name="TextBox 15"/>
          <p:cNvSpPr txBox="1"/>
          <p:nvPr/>
        </p:nvSpPr>
        <p:spPr>
          <a:xfrm>
            <a:off x="6400800" y="3254756"/>
            <a:ext cx="5074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Likewise, adding a commercial building is different</a:t>
            </a:r>
          </a:p>
          <a:p>
            <a:pPr>
              <a:lnSpc>
                <a:spcPts val="2196"/>
              </a:lnSpc>
              <a:spcBef>
                <a:spcPts val="0"/>
              </a:spcBef>
              <a:spcAft>
                <a:spcPts val="0"/>
              </a:spcAft>
            </a:pPr>
            <a:r>
              <a:rPr sz="1800" b="0" i="0">
                <a:solidFill>
                  <a:srgbClr val="183A32"/>
                </a:solidFill>
                <a:latin typeface="Times New Roman"/>
              </a:rPr>
              <a:t>from attracting an operator that residents use.</a:t>
            </a:r>
          </a:p>
        </p:txBody>
      </p:sp>
      <p:sp>
        <p:nvSpPr>
          <p:cNvPr id="17" name="TextBox 16"/>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D20.2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128–128</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Business mechanism</a:t>
            </a:r>
          </a:p>
        </p:txBody>
      </p:sp>
      <p:sp>
        <p:nvSpPr>
          <p:cNvPr id="11" name="Rectangle 10"/>
          <p:cNvSpPr/>
          <p:nvPr/>
        </p:nvSpPr>
        <p:spPr>
          <a:xfrm>
            <a:off x="685800"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Improve the practical</a:t>
            </a:r>
          </a:p>
          <a:p>
            <a:pPr>
              <a:lnSpc>
                <a:spcPts val="1647"/>
              </a:lnSpc>
              <a:spcBef>
                <a:spcPts val="0"/>
              </a:spcBef>
              <a:spcAft>
                <a:spcPts val="0"/>
              </a:spcAft>
            </a:pPr>
            <a:r>
              <a:rPr sz="1350" b="0" i="0">
                <a:solidFill>
                  <a:srgbClr val="F6F2E9"/>
                </a:solidFill>
                <a:latin typeface="Arial"/>
              </a:rPr>
              <a:t>experience of the location</a:t>
            </a:r>
          </a:p>
        </p:txBody>
      </p:sp>
      <p:sp>
        <p:nvSpPr>
          <p:cNvPr id="13" name="TextBox 12"/>
          <p:cNvSpPr txBox="1"/>
          <p:nvPr/>
        </p:nvSpPr>
        <p:spPr>
          <a:xfrm>
            <a:off x="3282696"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4" name="Rectangle 13"/>
          <p:cNvSpPr/>
          <p:nvPr/>
        </p:nvSpPr>
        <p:spPr>
          <a:xfrm>
            <a:off x="3433572"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3300"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strengthen residential</a:t>
            </a:r>
          </a:p>
          <a:p>
            <a:pPr>
              <a:lnSpc>
                <a:spcPts val="1647"/>
              </a:lnSpc>
              <a:spcBef>
                <a:spcPts val="0"/>
              </a:spcBef>
              <a:spcAft>
                <a:spcPts val="0"/>
              </a:spcAft>
            </a:pPr>
            <a:r>
              <a:rPr sz="1350" b="0" i="0">
                <a:solidFill>
                  <a:srgbClr val="F6F2E9"/>
                </a:solidFill>
                <a:latin typeface="Arial"/>
              </a:rPr>
              <a:t>relevance</a:t>
            </a:r>
          </a:p>
        </p:txBody>
      </p:sp>
      <p:sp>
        <p:nvSpPr>
          <p:cNvPr id="16" name="TextBox 15"/>
          <p:cNvSpPr txBox="1"/>
          <p:nvPr/>
        </p:nvSpPr>
        <p:spPr>
          <a:xfrm>
            <a:off x="6030468"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17" name="Rectangle 16"/>
          <p:cNvSpPr/>
          <p:nvPr/>
        </p:nvSpPr>
        <p:spPr>
          <a:xfrm>
            <a:off x="6181344"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2231136"/>
            <a:ext cx="2327148" cy="268604"/>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support commercial demand</a:t>
            </a:r>
          </a:p>
        </p:txBody>
      </p:sp>
      <p:sp>
        <p:nvSpPr>
          <p:cNvPr id="19" name="TextBox 18"/>
          <p:cNvSpPr txBox="1"/>
          <p:nvPr/>
        </p:nvSpPr>
        <p:spPr>
          <a:xfrm>
            <a:off x="8778240" y="2267712"/>
            <a:ext cx="137160" cy="353822"/>
          </a:xfrm>
          <a:prstGeom prst="rect">
            <a:avLst/>
          </a:prstGeom>
          <a:noFill/>
        </p:spPr>
        <p:txBody>
          <a:bodyPr wrap="none" lIns="0" rIns="0" tIns="0" bIns="0">
            <a:spAutoFit/>
          </a:bodyPr>
          <a:lstStyle/>
          <a:p>
            <a:pPr>
              <a:lnSpc>
                <a:spcPts val="2318"/>
              </a:lnSpc>
              <a:spcBef>
                <a:spcPts val="0"/>
              </a:spcBef>
              <a:spcAft>
                <a:spcPts val="0"/>
              </a:spcAft>
            </a:pPr>
            <a:r>
              <a:rPr sz="1900" b="0" i="0">
                <a:solidFill>
                  <a:srgbClr val="AD843F"/>
                </a:solidFill>
                <a:latin typeface="Times New Roman"/>
              </a:rPr>
              <a:t>›</a:t>
            </a:r>
          </a:p>
        </p:txBody>
      </p:sp>
      <p:sp>
        <p:nvSpPr>
          <p:cNvPr id="20" name="Rectangle 19"/>
          <p:cNvSpPr/>
          <p:nvPr/>
        </p:nvSpPr>
        <p:spPr>
          <a:xfrm>
            <a:off x="8929116" y="2084831"/>
            <a:ext cx="2546604" cy="1033271"/>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8844" y="2231136"/>
            <a:ext cx="2327148" cy="477773"/>
          </a:xfrm>
          <a:prstGeom prst="rect">
            <a:avLst/>
          </a:prstGeom>
          <a:noFill/>
        </p:spPr>
        <p:txBody>
          <a:bodyPr wrap="none" lIns="0" rIns="0" tIns="0" bIns="0">
            <a:spAutoFit/>
          </a:bodyPr>
          <a:lstStyle/>
          <a:p>
            <a:pPr>
              <a:lnSpc>
                <a:spcPts val="1647"/>
              </a:lnSpc>
              <a:spcBef>
                <a:spcPts val="0"/>
              </a:spcBef>
              <a:spcAft>
                <a:spcPts val="0"/>
              </a:spcAft>
            </a:pPr>
            <a:r>
              <a:rPr sz="1350" b="0" i="0">
                <a:solidFill>
                  <a:srgbClr val="F6F2E9"/>
                </a:solidFill>
                <a:latin typeface="Arial"/>
              </a:rPr>
              <a:t>retain selected income</a:t>
            </a:r>
          </a:p>
          <a:p>
            <a:pPr>
              <a:lnSpc>
                <a:spcPts val="1647"/>
              </a:lnSpc>
              <a:spcBef>
                <a:spcPts val="0"/>
              </a:spcBef>
              <a:spcAft>
                <a:spcPts val="0"/>
              </a:spcAft>
            </a:pPr>
            <a:r>
              <a:rPr sz="1350" b="0" i="0">
                <a:solidFill>
                  <a:srgbClr val="F6F2E9"/>
                </a:solidFill>
                <a:latin typeface="Arial"/>
              </a:rPr>
              <a:t>opportunities.</a:t>
            </a:r>
          </a:p>
        </p:txBody>
      </p:sp>
      <p:sp>
        <p:nvSpPr>
          <p:cNvPr id="22" name="TextBox 21"/>
          <p:cNvSpPr txBox="1"/>
          <p:nvPr/>
        </p:nvSpPr>
        <p:spPr>
          <a:xfrm>
            <a:off x="685800" y="3255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23" name="TextBox 22"/>
          <p:cNvSpPr txBox="1"/>
          <p:nvPr/>
        </p:nvSpPr>
        <p:spPr>
          <a:xfrm>
            <a:off x="685800" y="3576574"/>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For Sidoarjo, test actual journeys to employment centres: travel time, cost, service availability, and reliability. For</a:t>
            </a:r>
          </a:p>
          <a:p>
            <a:pPr>
              <a:lnSpc>
                <a:spcPts val="2196"/>
              </a:lnSpc>
              <a:spcBef>
                <a:spcPts val="0"/>
              </a:spcBef>
              <a:spcAft>
                <a:spcPts val="0"/>
              </a:spcAft>
            </a:pPr>
            <a:r>
              <a:rPr sz="1800" b="0" i="0">
                <a:solidFill>
                  <a:srgbClr val="183A32"/>
                </a:solidFill>
                <a:latin typeface="Times New Roman"/>
              </a:rPr>
              <a:t>amenities, distinguish committed operators from proposed facilities.</a:t>
            </a:r>
          </a:p>
        </p:txBody>
      </p:sp>
      <p:sp>
        <p:nvSpPr>
          <p:cNvPr id="24" name="TextBox 2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D21</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129–129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303</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Coordinating a destination story with multiple products</a:t>
            </a:r>
          </a:p>
        </p:txBody>
      </p:sp>
      <p:cxnSp>
        <p:nvCxnSpPr>
          <p:cNvPr id="11" name="Connector 10"/>
          <p:cNvCxnSpPr/>
          <p:nvPr/>
        </p:nvCxnSpPr>
        <p:spPr>
          <a:xfrm>
            <a:off x="6062472" y="2084831"/>
            <a:ext cx="0" cy="288340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STRATEGY</a:t>
            </a:r>
          </a:p>
        </p:txBody>
      </p:sp>
      <p:sp>
        <p:nvSpPr>
          <p:cNvPr id="13" name="TextBox 12"/>
          <p:cNvSpPr txBox="1"/>
          <p:nvPr/>
        </p:nvSpPr>
        <p:spPr>
          <a:xfrm>
            <a:off x="685800" y="2433574"/>
            <a:ext cx="5074920" cy="1453895"/>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PANI’s 3Q2025 release connected residential,</a:t>
            </a:r>
          </a:p>
          <a:p>
            <a:pPr>
              <a:lnSpc>
                <a:spcPts val="2196"/>
              </a:lnSpc>
              <a:spcBef>
                <a:spcPts val="0"/>
              </a:spcBef>
              <a:spcAft>
                <a:spcPts val="0"/>
              </a:spcAft>
            </a:pPr>
            <a:r>
              <a:rPr sz="1800" b="0" i="0">
                <a:solidFill>
                  <a:srgbClr val="183A32"/>
                </a:solidFill>
                <a:latin typeface="Times New Roman"/>
              </a:rPr>
              <a:t>commercial, and commercial-land sales with the</a:t>
            </a:r>
          </a:p>
          <a:p>
            <a:pPr>
              <a:lnSpc>
                <a:spcPts val="2196"/>
              </a:lnSpc>
              <a:spcBef>
                <a:spcPts val="0"/>
              </a:spcBef>
              <a:spcAft>
                <a:spcPts val="0"/>
              </a:spcAft>
            </a:pPr>
            <a:r>
              <a:rPr sz="1800" b="0" i="0">
                <a:solidFill>
                  <a:srgbClr val="183A32"/>
                </a:solidFill>
                <a:latin typeface="Times New Roman"/>
              </a:rPr>
              <a:t>development of PIK2. It identified NICE and the</a:t>
            </a:r>
          </a:p>
          <a:p>
            <a:pPr>
              <a:lnSpc>
                <a:spcPts val="2196"/>
              </a:lnSpc>
              <a:spcBef>
                <a:spcPts val="0"/>
              </a:spcBef>
              <a:spcAft>
                <a:spcPts val="0"/>
              </a:spcAft>
            </a:pPr>
            <a:r>
              <a:rPr sz="1800" b="0" i="0">
                <a:solidFill>
                  <a:srgbClr val="183A32"/>
                </a:solidFill>
                <a:latin typeface="Times New Roman"/>
              </a:rPr>
              <a:t>Kataraja toll road as expected contributors to visitor</a:t>
            </a:r>
          </a:p>
          <a:p>
            <a:pPr>
              <a:lnSpc>
                <a:spcPts val="2196"/>
              </a:lnSpc>
              <a:spcBef>
                <a:spcPts val="0"/>
              </a:spcBef>
              <a:spcAft>
                <a:spcPts val="0"/>
              </a:spcAft>
            </a:pPr>
            <a:r>
              <a:rPr sz="1800" b="0" i="0">
                <a:solidFill>
                  <a:srgbClr val="183A32"/>
                </a:solidFill>
                <a:latin typeface="Times New Roman"/>
              </a:rPr>
              <a:t>activity and the area economy.</a:t>
            </a:r>
          </a:p>
        </p:txBody>
      </p:sp>
      <p:sp>
        <p:nvSpPr>
          <p:cNvPr id="14" name="TextBox 13"/>
          <p:cNvSpPr txBox="1"/>
          <p:nvPr/>
        </p:nvSpPr>
        <p:spPr>
          <a:xfrm>
            <a:off x="685800" y="4006342"/>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It also disclosed different residential and</a:t>
            </a:r>
          </a:p>
          <a:p>
            <a:pPr>
              <a:lnSpc>
                <a:spcPts val="2196"/>
              </a:lnSpc>
              <a:spcBef>
                <a:spcPts val="0"/>
              </a:spcBef>
              <a:spcAft>
                <a:spcPts val="0"/>
              </a:spcAft>
            </a:pPr>
            <a:r>
              <a:rPr sz="1800" b="0" i="0">
                <a:solidFill>
                  <a:srgbClr val="183A32"/>
                </a:solidFill>
                <a:latin typeface="Times New Roman"/>
              </a:rPr>
              <a:t>business-property products rather than one uniform</a:t>
            </a:r>
          </a:p>
          <a:p>
            <a:pPr>
              <a:lnSpc>
                <a:spcPts val="2196"/>
              </a:lnSpc>
              <a:spcBef>
                <a:spcPts val="0"/>
              </a:spcBef>
              <a:spcAft>
                <a:spcPts val="0"/>
              </a:spcAft>
            </a:pPr>
            <a:r>
              <a:rPr sz="1800" b="0" i="0">
                <a:solidFill>
                  <a:srgbClr val="183A32"/>
                </a:solidFill>
                <a:latin typeface="Times New Roman"/>
              </a:rPr>
              <a:t>offer. Source: PANI 3Q2025 marketing-sales release.</a:t>
            </a:r>
          </a:p>
        </p:txBody>
      </p:sp>
      <p:sp>
        <p:nvSpPr>
          <p:cNvPr id="15" name="TextBox 14"/>
          <p:cNvSpPr txBox="1"/>
          <p:nvPr/>
        </p:nvSpPr>
        <p:spPr>
          <a:xfrm>
            <a:off x="6400800" y="211226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BRAND STRATEGY — ANALYTICAL INTERPRETATION</a:t>
            </a:r>
          </a:p>
        </p:txBody>
      </p:sp>
      <p:sp>
        <p:nvSpPr>
          <p:cNvPr id="16" name="TextBox 15"/>
          <p:cNvSpPr txBox="1"/>
          <p:nvPr/>
        </p:nvSpPr>
        <p:spPr>
          <a:xfrm>
            <a:off x="6400800" y="243357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destination identity gives otherwise different</a:t>
            </a:r>
          </a:p>
          <a:p>
            <a:pPr>
              <a:lnSpc>
                <a:spcPts val="2196"/>
              </a:lnSpc>
              <a:spcBef>
                <a:spcPts val="0"/>
              </a:spcBef>
              <a:spcAft>
                <a:spcPts val="0"/>
              </a:spcAft>
            </a:pPr>
            <a:r>
              <a:rPr sz="1800" b="0" i="0">
                <a:solidFill>
                  <a:srgbClr val="183A32"/>
                </a:solidFill>
                <a:latin typeface="Times New Roman"/>
              </a:rPr>
              <a:t>products a common story about where activity and</a:t>
            </a:r>
          </a:p>
          <a:p>
            <a:pPr>
              <a:lnSpc>
                <a:spcPts val="2196"/>
              </a:lnSpc>
              <a:spcBef>
                <a:spcPts val="0"/>
              </a:spcBef>
              <a:spcAft>
                <a:spcPts val="0"/>
              </a:spcAft>
            </a:pPr>
            <a:r>
              <a:rPr sz="1800" b="0" i="0">
                <a:solidFill>
                  <a:srgbClr val="183A32"/>
                </a:solidFill>
                <a:latin typeface="Times New Roman"/>
              </a:rPr>
              <a:t>development are concentrating.</a:t>
            </a:r>
          </a:p>
        </p:txBody>
      </p:sp>
      <p:sp>
        <p:nvSpPr>
          <p:cNvPr id="17" name="TextBox 16"/>
          <p:cNvSpPr txBox="1"/>
          <p:nvPr/>
        </p:nvSpPr>
        <p:spPr>
          <a:xfrm>
            <a:off x="6400800" y="347598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BUSINESS MECHANISM</a:t>
            </a:r>
          </a:p>
        </p:txBody>
      </p:sp>
      <p:sp>
        <p:nvSpPr>
          <p:cNvPr id="18" name="Rectangle 17"/>
          <p:cNvSpPr/>
          <p:nvPr/>
        </p:nvSpPr>
        <p:spPr>
          <a:xfrm>
            <a:off x="6400800" y="3888739"/>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797300"/>
            <a:ext cx="4910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Access can improve the location’s usability.</a:t>
            </a:r>
          </a:p>
        </p:txBody>
      </p:sp>
      <p:sp>
        <p:nvSpPr>
          <p:cNvPr id="20" name="TextBox 19"/>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D21.2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129–129</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304</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Coordinating a destination story with multiple products</a:t>
            </a:r>
          </a:p>
        </p:txBody>
      </p:sp>
      <p:sp>
        <p:nvSpPr>
          <p:cNvPr id="11" name="Rectangle 10"/>
          <p:cNvSpPr/>
          <p:nvPr/>
        </p:nvSpPr>
        <p:spPr>
          <a:xfrm>
            <a:off x="685800" y="2176272"/>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084831"/>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Events can introduce visitors and businesses.</a:t>
            </a:r>
          </a:p>
        </p:txBody>
      </p:sp>
      <p:sp>
        <p:nvSpPr>
          <p:cNvPr id="13" name="Rectangle 12"/>
          <p:cNvSpPr/>
          <p:nvPr/>
        </p:nvSpPr>
        <p:spPr>
          <a:xfrm>
            <a:off x="685800" y="2625725"/>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534285"/>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Residential occupation can support everyday commerce.</a:t>
            </a:r>
          </a:p>
        </p:txBody>
      </p:sp>
      <p:sp>
        <p:nvSpPr>
          <p:cNvPr id="15" name="Rectangle 14"/>
          <p:cNvSpPr/>
          <p:nvPr/>
        </p:nvSpPr>
        <p:spPr>
          <a:xfrm>
            <a:off x="685800" y="3075178"/>
            <a:ext cx="41148" cy="41148"/>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983738"/>
            <a:ext cx="10625328" cy="330580"/>
          </a:xfrm>
          <a:prstGeom prst="rect">
            <a:avLst/>
          </a:prstGeom>
          <a:noFill/>
        </p:spPr>
        <p:txBody>
          <a:bodyPr wrap="none" lIns="0" rIns="0" tIns="0" bIns="0">
            <a:spAutoFit/>
          </a:bodyPr>
          <a:lstStyle/>
          <a:p>
            <a:pPr>
              <a:lnSpc>
                <a:spcPts val="2135"/>
              </a:lnSpc>
              <a:spcBef>
                <a:spcPts val="0"/>
              </a:spcBef>
              <a:spcAft>
                <a:spcPts val="0"/>
              </a:spcAft>
            </a:pPr>
            <a:r>
              <a:rPr sz="1750" b="0" i="0">
                <a:solidFill>
                  <a:srgbClr val="183A32"/>
                </a:solidFill>
                <a:latin typeface="Arial"/>
              </a:rPr>
              <a:t>Commercial activity can strengthen the proposition for subsequent development.</a:t>
            </a:r>
          </a:p>
        </p:txBody>
      </p:sp>
      <p:sp>
        <p:nvSpPr>
          <p:cNvPr id="17" name="Rectangle 16"/>
          <p:cNvSpPr/>
          <p:nvPr/>
        </p:nvSpPr>
        <p:spPr>
          <a:xfrm>
            <a:off x="685800" y="3433191"/>
            <a:ext cx="10789920" cy="477202"/>
          </a:xfrm>
          <a:prstGeom prst="rect">
            <a:avLst/>
          </a:prstGeom>
          <a:solidFill>
            <a:srgbClr val="E9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433191"/>
            <a:ext cx="32004" cy="477202"/>
          </a:xfrm>
          <a:prstGeom prst="rect">
            <a:avLst/>
          </a:prstGeom>
          <a:solidFill>
            <a:srgbClr val="AD8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3515486"/>
            <a:ext cx="10533888" cy="315086"/>
          </a:xfrm>
          <a:prstGeom prst="rect">
            <a:avLst/>
          </a:prstGeom>
          <a:noFill/>
        </p:spPr>
        <p:txBody>
          <a:bodyPr wrap="none" lIns="0" rIns="0" tIns="0" bIns="0">
            <a:spAutoFit/>
          </a:bodyPr>
          <a:lstStyle/>
          <a:p>
            <a:pPr>
              <a:lnSpc>
                <a:spcPts val="2013"/>
              </a:lnSpc>
              <a:spcBef>
                <a:spcPts val="0"/>
              </a:spcBef>
              <a:spcAft>
                <a:spcPts val="0"/>
              </a:spcAft>
            </a:pPr>
            <a:r>
              <a:rPr sz="1650" b="0" i="0">
                <a:solidFill>
                  <a:srgbClr val="183A32"/>
                </a:solidFill>
                <a:latin typeface="Times New Roman"/>
              </a:rPr>
              <a:t>Critical qualification</a:t>
            </a:r>
          </a:p>
        </p:txBody>
      </p:sp>
      <p:sp>
        <p:nvSpPr>
          <p:cNvPr id="20" name="TextBox 19"/>
          <p:cNvSpPr txBox="1"/>
          <p:nvPr/>
        </p:nvSpPr>
        <p:spPr>
          <a:xfrm>
            <a:off x="685800" y="4001833"/>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Event attendance is not equivalent to permanent occupation, sustainable tenant turnover, or collected property sales.</a:t>
            </a:r>
          </a:p>
        </p:txBody>
      </p:sp>
      <p:sp>
        <p:nvSpPr>
          <p:cNvPr id="21" name="TextBox 20"/>
          <p:cNvSpPr txBox="1"/>
          <p:nvPr/>
        </p:nvSpPr>
        <p:spPr>
          <a:xfrm>
            <a:off x="685800" y="4486465"/>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TANRISE APPLICATION</a:t>
            </a:r>
          </a:p>
        </p:txBody>
      </p:sp>
      <p:sp>
        <p:nvSpPr>
          <p:cNvPr id="22" name="TextBox 21"/>
          <p:cNvSpPr txBox="1"/>
          <p:nvPr/>
        </p:nvSpPr>
        <p:spPr>
          <a:xfrm>
            <a:off x="685800" y="4807775"/>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Build an activity model for each destination: who comes, why, how often, and what they spend.</a:t>
            </a:r>
          </a:p>
        </p:txBody>
      </p:sp>
      <p:sp>
        <p:nvSpPr>
          <p:cNvPr id="23" name="TextBox 2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129–130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305</a:t>
            </a:r>
          </a:p>
        </p:txBody>
      </p:sp>
      <p:sp>
        <p:nvSpPr>
          <p:cNvPr id="10" name="TextBox 9"/>
          <p:cNvSpPr txBox="1"/>
          <p:nvPr/>
        </p:nvSpPr>
        <p:spPr>
          <a:xfrm>
            <a:off x="685800" y="987552"/>
            <a:ext cx="10744200" cy="949197"/>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PANI: Strong destination branding does not remove demand</a:t>
            </a:r>
          </a:p>
          <a:p>
            <a:pPr>
              <a:lnSpc>
                <a:spcPts val="3502"/>
              </a:lnSpc>
              <a:spcBef>
                <a:spcPts val="0"/>
              </a:spcBef>
              <a:spcAft>
                <a:spcPts val="0"/>
              </a:spcAft>
            </a:pPr>
            <a:r>
              <a:rPr sz="3100" b="0" i="0">
                <a:solidFill>
                  <a:srgbClr val="153F35"/>
                </a:solidFill>
                <a:latin typeface="Arial"/>
              </a:rPr>
              <a:t>risk</a:t>
            </a:r>
          </a:p>
        </p:txBody>
      </p:sp>
      <p:cxnSp>
        <p:nvCxnSpPr>
          <p:cNvPr id="11" name="Connector 10"/>
          <p:cNvCxnSpPr/>
          <p:nvPr/>
        </p:nvCxnSpPr>
        <p:spPr>
          <a:xfrm>
            <a:off x="6062472" y="2169921"/>
            <a:ext cx="0" cy="2883409"/>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DOCUMENTED COUNTER-EVIDENCE</a:t>
            </a:r>
          </a:p>
        </p:txBody>
      </p:sp>
      <p:sp>
        <p:nvSpPr>
          <p:cNvPr id="13" name="TextBox 12"/>
          <p:cNvSpPr txBox="1"/>
          <p:nvPr/>
        </p:nvSpPr>
        <p:spPr>
          <a:xfrm>
            <a:off x="685800" y="2518664"/>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The same 3Q2025 release reported a strong quarterly</a:t>
            </a:r>
          </a:p>
          <a:p>
            <a:pPr>
              <a:lnSpc>
                <a:spcPts val="2196"/>
              </a:lnSpc>
              <a:spcBef>
                <a:spcPts val="0"/>
              </a:spcBef>
              <a:spcAft>
                <a:spcPts val="0"/>
              </a:spcAft>
            </a:pPr>
            <a:r>
              <a:rPr sz="1800" b="0" i="0">
                <a:solidFill>
                  <a:srgbClr val="183A32"/>
                </a:solidFill>
                <a:latin typeface="Times New Roman"/>
              </a:rPr>
              <a:t>sales increase but also reduced the FY2025</a:t>
            </a:r>
          </a:p>
          <a:p>
            <a:pPr>
              <a:lnSpc>
                <a:spcPts val="2196"/>
              </a:lnSpc>
              <a:spcBef>
                <a:spcPts val="0"/>
              </a:spcBef>
              <a:spcAft>
                <a:spcPts val="0"/>
              </a:spcAft>
            </a:pPr>
            <a:r>
              <a:rPr sz="1800" b="0" i="0">
                <a:solidFill>
                  <a:srgbClr val="183A32"/>
                </a:solidFill>
                <a:latin typeface="Times New Roman"/>
              </a:rPr>
              <a:t>marketing-sales target from Rp5.3 trillion to Rp4.3</a:t>
            </a:r>
          </a:p>
          <a:p>
            <a:pPr>
              <a:lnSpc>
                <a:spcPts val="2196"/>
              </a:lnSpc>
              <a:spcBef>
                <a:spcPts val="0"/>
              </a:spcBef>
              <a:spcAft>
                <a:spcPts val="0"/>
              </a:spcAft>
            </a:pPr>
            <a:r>
              <a:rPr sz="1800" b="0" i="0">
                <a:solidFill>
                  <a:srgbClr val="183A32"/>
                </a:solidFill>
                <a:latin typeface="Times New Roman"/>
              </a:rPr>
              <a:t>trillion.</a:t>
            </a:r>
          </a:p>
        </p:txBody>
      </p:sp>
      <p:sp>
        <p:nvSpPr>
          <p:cNvPr id="14" name="TextBox 13"/>
          <p:cNvSpPr txBox="1"/>
          <p:nvPr/>
        </p:nvSpPr>
        <p:spPr>
          <a:xfrm>
            <a:off x="685800" y="3812540"/>
            <a:ext cx="5074920" cy="1175004"/>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That is a reduction of approximately 19%, despite the</a:t>
            </a:r>
          </a:p>
          <a:p>
            <a:pPr>
              <a:lnSpc>
                <a:spcPts val="2196"/>
              </a:lnSpc>
              <a:spcBef>
                <a:spcPts val="0"/>
              </a:spcBef>
              <a:spcAft>
                <a:spcPts val="0"/>
              </a:spcAft>
            </a:pPr>
            <a:r>
              <a:rPr sz="1800" b="0" i="0">
                <a:solidFill>
                  <a:srgbClr val="183A32"/>
                </a:solidFill>
                <a:latin typeface="Times New Roman"/>
              </a:rPr>
              <a:t>destination’s visibility and development activity.</a:t>
            </a:r>
          </a:p>
          <a:p>
            <a:pPr>
              <a:lnSpc>
                <a:spcPts val="2196"/>
              </a:lnSpc>
              <a:spcBef>
                <a:spcPts val="0"/>
              </a:spcBef>
              <a:spcAft>
                <a:spcPts val="0"/>
              </a:spcAft>
            </a:pPr>
            <a:r>
              <a:rPr sz="1800" b="0" i="0">
                <a:solidFill>
                  <a:srgbClr val="183A32"/>
                </a:solidFill>
                <a:latin typeface="Times New Roman"/>
              </a:rPr>
              <a:t>Source: PANI target revision and quarterly results.</a:t>
            </a:r>
          </a:p>
          <a:p>
            <a:pPr>
              <a:lnSpc>
                <a:spcPts val="2196"/>
              </a:lnSpc>
              <a:spcBef>
                <a:spcPts val="0"/>
              </a:spcBef>
              <a:spcAft>
                <a:spcPts val="0"/>
              </a:spcAft>
            </a:pPr>
            <a:r>
              <a:rPr sz="1800" b="0" i="0">
                <a:solidFill>
                  <a:srgbClr val="183A32"/>
                </a:solidFill>
                <a:latin typeface="Times New Roman"/>
              </a:rPr>
              <a:t>Percentage is calculated from the disclosed targets.</a:t>
            </a:r>
          </a:p>
        </p:txBody>
      </p:sp>
      <p:sp>
        <p:nvSpPr>
          <p:cNvPr id="15" name="TextBox 14"/>
          <p:cNvSpPr txBox="1"/>
          <p:nvPr/>
        </p:nvSpPr>
        <p:spPr>
          <a:xfrm>
            <a:off x="6400800" y="2197353"/>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WHY THIS MATTERS — ANALYSIS</a:t>
            </a:r>
          </a:p>
        </p:txBody>
      </p:sp>
      <p:sp>
        <p:nvSpPr>
          <p:cNvPr id="16" name="TextBox 15"/>
          <p:cNvSpPr txBox="1"/>
          <p:nvPr/>
        </p:nvSpPr>
        <p:spPr>
          <a:xfrm>
            <a:off x="6400800" y="2518664"/>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high-profile brand can generate attention while</a:t>
            </a:r>
          </a:p>
          <a:p>
            <a:pPr>
              <a:lnSpc>
                <a:spcPts val="2196"/>
              </a:lnSpc>
              <a:spcBef>
                <a:spcPts val="0"/>
              </a:spcBef>
              <a:spcAft>
                <a:spcPts val="0"/>
              </a:spcAft>
            </a:pPr>
            <a:r>
              <a:rPr sz="1800" b="0" i="0">
                <a:solidFill>
                  <a:srgbClr val="183A32"/>
                </a:solidFill>
                <a:latin typeface="Times New Roman"/>
              </a:rPr>
              <a:t>buyers remain constrained by confidence, affordability,</a:t>
            </a:r>
          </a:p>
          <a:p>
            <a:pPr>
              <a:lnSpc>
                <a:spcPts val="2196"/>
              </a:lnSpc>
              <a:spcBef>
                <a:spcPts val="0"/>
              </a:spcBef>
              <a:spcAft>
                <a:spcPts val="0"/>
              </a:spcAft>
            </a:pPr>
            <a:r>
              <a:rPr sz="1800" b="0" i="0">
                <a:solidFill>
                  <a:srgbClr val="183A32"/>
                </a:solidFill>
                <a:latin typeface="Times New Roman"/>
              </a:rPr>
              <a:t>timing, or investment appetite.</a:t>
            </a:r>
          </a:p>
        </p:txBody>
      </p:sp>
      <p:sp>
        <p:nvSpPr>
          <p:cNvPr id="17" name="TextBox 16"/>
          <p:cNvSpPr txBox="1"/>
          <p:nvPr/>
        </p:nvSpPr>
        <p:spPr>
          <a:xfrm>
            <a:off x="6400800" y="3561079"/>
            <a:ext cx="5074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RESEARCH IMPLICATION</a:t>
            </a:r>
          </a:p>
        </p:txBody>
      </p:sp>
      <p:sp>
        <p:nvSpPr>
          <p:cNvPr id="18" name="TextBox 17"/>
          <p:cNvSpPr txBox="1"/>
          <p:nvPr/>
        </p:nvSpPr>
        <p:spPr>
          <a:xfrm>
            <a:off x="6400800" y="3882389"/>
            <a:ext cx="5074920" cy="896112"/>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Do not treat a strong quarter, social visibility, or a</a:t>
            </a:r>
          </a:p>
          <a:p>
            <a:pPr>
              <a:lnSpc>
                <a:spcPts val="2196"/>
              </a:lnSpc>
              <a:spcBef>
                <a:spcPts val="0"/>
              </a:spcBef>
              <a:spcAft>
                <a:spcPts val="0"/>
              </a:spcAft>
            </a:pPr>
            <a:r>
              <a:rPr sz="1800" b="0" i="0">
                <a:solidFill>
                  <a:srgbClr val="183A32"/>
                </a:solidFill>
                <a:latin typeface="Times New Roman"/>
              </a:rPr>
              <a:t>major opening as proof of permanently stronger</a:t>
            </a:r>
          </a:p>
          <a:p>
            <a:pPr>
              <a:lnSpc>
                <a:spcPts val="2196"/>
              </a:lnSpc>
              <a:spcBef>
                <a:spcPts val="0"/>
              </a:spcBef>
              <a:spcAft>
                <a:spcPts val="0"/>
              </a:spcAft>
            </a:pPr>
            <a:r>
              <a:rPr sz="1800" b="0" i="0">
                <a:solidFill>
                  <a:srgbClr val="183A32"/>
                </a:solidFill>
                <a:latin typeface="Times New Roman"/>
              </a:rPr>
              <a:t>demand.</a:t>
            </a:r>
          </a:p>
        </p:txBody>
      </p:sp>
      <p:sp>
        <p:nvSpPr>
          <p:cNvPr id="19" name="TextBox 18"/>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2</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D22.2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129–130</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306</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TANRISE application</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Build downside scenarios into the 2035 plan. Link expansion commitments to collected sales and verified operating</a:t>
            </a:r>
          </a:p>
          <a:p>
            <a:pPr>
              <a:lnSpc>
                <a:spcPts val="2196"/>
              </a:lnSpc>
              <a:spcBef>
                <a:spcPts val="0"/>
              </a:spcBef>
              <a:spcAft>
                <a:spcPts val="0"/>
              </a:spcAft>
            </a:pPr>
            <a:r>
              <a:rPr sz="1800" b="0" i="0">
                <a:solidFill>
                  <a:srgbClr val="183A32"/>
                </a:solidFill>
                <a:latin typeface="Times New Roman"/>
              </a:rPr>
              <a:t>demand.</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2</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130–131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307</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most useful combined strategy for TANRISE</a:t>
            </a:r>
          </a:p>
        </p:txBody>
      </p:sp>
      <p:sp>
        <p:nvSpPr>
          <p:cNvPr id="11" name="TextBox 10"/>
          <p:cNvSpPr txBox="1"/>
          <p:nvPr/>
        </p:nvSpPr>
        <p:spPr>
          <a:xfrm>
            <a:off x="685800" y="2112263"/>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DIRECTION</a:t>
            </a:r>
          </a:p>
        </p:txBody>
      </p:sp>
      <p:graphicFrame>
        <p:nvGraphicFramePr>
          <p:cNvPr id="12" name="Table 11"/>
          <p:cNvGraphicFramePr>
            <a:graphicFrameLocks noGrp="1"/>
          </p:cNvGraphicFramePr>
          <p:nvPr/>
        </p:nvGraphicFramePr>
        <p:xfrm>
          <a:off x="685800" y="2433574"/>
          <a:ext cx="10789919" cy="32975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Strategic problem</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relevant lesson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application</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Insufficient land pipeline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Ciputra</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Build a credible land-partnership proposition</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Product affordability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Lippo</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Start with household finances and redesign accordingly</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New-location</a:t>
                      </a:r>
                    </a:p>
                    <a:p>
                      <a:pPr>
                        <a:lnSpc>
                          <a:spcPts val="1829"/>
                        </a:lnSpc>
                        <a:spcBef>
                          <a:spcPts val="0"/>
                        </a:spcBef>
                        <a:spcAft>
                          <a:spcPts val="0"/>
                        </a:spcAft>
                      </a:pPr>
                      <a:r>
                        <a:rPr sz="1550" b="0">
                          <a:solidFill>
                            <a:srgbClr val="183A32"/>
                          </a:solidFill>
                          <a:latin typeface="Arial"/>
                        </a:rPr>
                        <a:t>uncertainty</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Summarecon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Use delivery evidence and credible project phasing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Need for permanent</a:t>
                      </a:r>
                    </a:p>
                    <a:p>
                      <a:pPr>
                        <a:lnSpc>
                          <a:spcPts val="1829"/>
                        </a:lnSpc>
                        <a:spcBef>
                          <a:spcPts val="0"/>
                        </a:spcBef>
                        <a:spcAft>
                          <a:spcPts val="0"/>
                        </a:spcAft>
                      </a:pPr>
                      <a:r>
                        <a:rPr sz="1550" b="0">
                          <a:solidFill>
                            <a:srgbClr val="183A32"/>
                          </a:solidFill>
                          <a:latin typeface="Arial"/>
                        </a:rPr>
                        <a:t>activity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BSDE and JRPT</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Connect housing to work, services, and practical access</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Underproductive</a:t>
                      </a:r>
                    </a:p>
                    <a:p>
                      <a:pPr>
                        <a:lnSpc>
                          <a:spcPts val="1829"/>
                        </a:lnSpc>
                        <a:spcBef>
                          <a:spcPts val="0"/>
                        </a:spcBef>
                        <a:spcAft>
                          <a:spcPts val="0"/>
                        </a:spcAft>
                      </a:pPr>
                      <a:r>
                        <a:rPr sz="1550" b="0">
                          <a:solidFill>
                            <a:srgbClr val="183A32"/>
                          </a:solidFill>
                          <a:latin typeface="Arial"/>
                        </a:rPr>
                        <a:t>retained assets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Pakuwon and APLN</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Review the operating proposition and capital productivity</a:t>
                      </a:r>
                    </a:p>
                  </a:txBody>
                  <a:tcPr marL="109728" marR="109728" marT="82296" marB="0" anchor="t">
                    <a:solidFill>
                      <a:srgbClr val="F6F2E9"/>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D23.2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130–131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308</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most useful combined strategy for TANRISE</a:t>
            </a:r>
          </a:p>
        </p:txBody>
      </p:sp>
      <p:graphicFrame>
        <p:nvGraphicFramePr>
          <p:cNvPr id="11" name="Table 10"/>
          <p:cNvGraphicFramePr>
            <a:graphicFrameLocks noGrp="1"/>
          </p:cNvGraphicFramePr>
          <p:nvPr/>
        </p:nvGraphicFramePr>
        <p:xfrm>
          <a:off x="685800" y="2084831"/>
          <a:ext cx="10789919" cy="2430649"/>
        </p:xfrm>
        <a:graphic>
          <a:graphicData uri="http://schemas.openxmlformats.org/drawingml/2006/table">
            <a:tbl>
              <a:tblPr firstRow="1" bandRow="1">
                <a:tableStyleId>{5C22544A-7EE6-4342-B048-85BDC9FD1C3A}</a:tableStyleId>
              </a:tblPr>
              <a:tblGrid>
                <a:gridCol w="2373782"/>
                <a:gridCol w="3236976"/>
                <a:gridCol w="5179161"/>
              </a:tblGrid>
              <a:tr h="433450">
                <a:tc>
                  <a:txBody>
                    <a:bodyPr wrap="none"/>
                    <a:lstStyle/>
                    <a:p>
                      <a:pPr>
                        <a:lnSpc>
                          <a:spcPts val="1829"/>
                        </a:lnSpc>
                        <a:spcBef>
                          <a:spcPts val="0"/>
                        </a:spcBef>
                        <a:spcAft>
                          <a:spcPts val="0"/>
                        </a:spcAft>
                      </a:pPr>
                      <a:r>
                        <a:rPr sz="1550" b="1">
                          <a:solidFill>
                            <a:srgbClr val="F6F2E9"/>
                          </a:solidFill>
                          <a:latin typeface="Arial"/>
                        </a:rPr>
                        <a:t>Strategic problem</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Most relevant lesson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TANRISE application</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Missing specialist</a:t>
                      </a:r>
                    </a:p>
                    <a:p>
                      <a:pPr>
                        <a:lnSpc>
                          <a:spcPts val="1829"/>
                        </a:lnSpc>
                        <a:spcBef>
                          <a:spcPts val="0"/>
                        </a:spcBef>
                        <a:spcAft>
                          <a:spcPts val="0"/>
                        </a:spcAft>
                      </a:pPr>
                      <a:r>
                        <a:rPr sz="1550" b="0">
                          <a:solidFill>
                            <a:srgbClr val="183A32"/>
                          </a:solidFill>
                          <a:latin typeface="Arial"/>
                        </a:rPr>
                        <a:t>capabilities</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DUTI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Partner selectively, with clear accountability</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Different buyer financing</a:t>
                      </a:r>
                    </a:p>
                    <a:p>
                      <a:pPr>
                        <a:lnSpc>
                          <a:spcPts val="1829"/>
                        </a:lnSpc>
                        <a:spcBef>
                          <a:spcPts val="0"/>
                        </a:spcBef>
                        <a:spcAft>
                          <a:spcPts val="0"/>
                        </a:spcAft>
                      </a:pPr>
                      <a:r>
                        <a:rPr sz="1550" b="0">
                          <a:solidFill>
                            <a:srgbClr val="183A32"/>
                          </a:solidFill>
                          <a:latin typeface="Arial"/>
                        </a:rPr>
                        <a:t>needs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ASRI</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Adapt payment and sales processes by segment</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Destination visibility</a:t>
                      </a:r>
                    </a:p>
                    <a:p>
                      <a:pPr>
                        <a:lnSpc>
                          <a:spcPts val="1829"/>
                        </a:lnSpc>
                        <a:spcBef>
                          <a:spcPts val="0"/>
                        </a:spcBef>
                        <a:spcAft>
                          <a:spcPts val="0"/>
                        </a:spcAft>
                      </a:pPr>
                      <a:r>
                        <a:rPr sz="1550" b="0">
                          <a:solidFill>
                            <a:srgbClr val="183A32"/>
                          </a:solidFill>
                          <a:latin typeface="Arial"/>
                        </a:rPr>
                        <a:t>without assured demand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PANI</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Separate attention from sustainable economic activity</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725797"/>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CENTRAL RECOMMENDATION</a:t>
            </a:r>
          </a:p>
        </p:txBody>
      </p:sp>
      <p:sp>
        <p:nvSpPr>
          <p:cNvPr id="13" name="TextBox 12"/>
          <p:cNvSpPr txBox="1"/>
          <p:nvPr/>
        </p:nvSpPr>
        <p:spPr>
          <a:xfrm>
            <a:off x="685800" y="5047107"/>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TANRISE’s corporate brand should express a standard it can deliver repeatedly. Each existing project should then</a:t>
            </a:r>
          </a:p>
          <a:p>
            <a:pPr>
              <a:lnSpc>
                <a:spcPts val="2196"/>
              </a:lnSpc>
              <a:spcBef>
                <a:spcPts val="0"/>
              </a:spcBef>
              <a:spcAft>
                <a:spcPts val="0"/>
              </a:spcAft>
            </a:pPr>
            <a:r>
              <a:rPr sz="1800" b="0" i="0">
                <a:solidFill>
                  <a:srgbClr val="183A32"/>
                </a:solidFill>
                <a:latin typeface="Times New Roman"/>
              </a:rPr>
              <a:t>present a specific customer proposition supported by product, access, services, price, and delivery.</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D23.3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130–131</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309</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The most useful combined strategy for TANRISE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Preserve existing project names. A clearer strategy does not require a wholesale renaming programme.</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D24</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132–133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310</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a genuinely deeper competitor audit should measure</a:t>
            </a:r>
          </a:p>
        </p:txBody>
      </p:sp>
      <p:sp>
        <p:nvSpPr>
          <p:cNvPr id="11" name="TextBox 10"/>
          <p:cNvSpPr txBox="1"/>
          <p:nvPr/>
        </p:nvSpPr>
        <p:spPr>
          <a:xfrm>
            <a:off x="685800" y="2084831"/>
            <a:ext cx="10789920" cy="338328"/>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Public sources establish many actions, but the following evidence is needed to judge effectiveness more precisely:</a:t>
            </a:r>
          </a:p>
        </p:txBody>
      </p:sp>
      <p:graphicFrame>
        <p:nvGraphicFramePr>
          <p:cNvPr id="12" name="Table 11"/>
          <p:cNvGraphicFramePr>
            <a:graphicFrameLocks noGrp="1"/>
          </p:cNvGraphicFramePr>
          <p:nvPr/>
        </p:nvGraphicFramePr>
        <p:xfrm>
          <a:off x="685800" y="2542032"/>
          <a:ext cx="10789919" cy="2864099"/>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Question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Evidence required</a:t>
                      </a:r>
                    </a:p>
                  </a:txBody>
                  <a:tcPr marL="109728" marR="109728" marT="82296" marB="0" anchor="t">
                    <a:solidFill>
                      <a:srgbClr val="153F35"/>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Does the brand command a</a:t>
                      </a:r>
                    </a:p>
                    <a:p>
                      <a:pPr>
                        <a:lnSpc>
                          <a:spcPts val="1829"/>
                        </a:lnSpc>
                        <a:spcBef>
                          <a:spcPts val="0"/>
                        </a:spcBef>
                        <a:spcAft>
                          <a:spcPts val="0"/>
                        </a:spcAft>
                      </a:pPr>
                      <a:r>
                        <a:rPr sz="1550" b="0">
                          <a:solidFill>
                            <a:srgbClr val="183A32"/>
                          </a:solidFill>
                          <a:latin typeface="Arial"/>
                        </a:rPr>
                        <a:t>premium?</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Comparable transaction prices adjusted for location, specification, and payment</a:t>
                      </a:r>
                    </a:p>
                    <a:p>
                      <a:pPr>
                        <a:lnSpc>
                          <a:spcPts val="1829"/>
                        </a:lnSpc>
                        <a:spcBef>
                          <a:spcPts val="0"/>
                        </a:spcBef>
                        <a:spcAft>
                          <a:spcPts val="0"/>
                        </a:spcAft>
                      </a:pPr>
                      <a:r>
                        <a:rPr sz="1550" b="0">
                          <a:solidFill>
                            <a:srgbClr val="183A32"/>
                          </a:solidFill>
                          <a:latin typeface="Arial"/>
                        </a:rPr>
                        <a:t>terms</a:t>
                      </a:r>
                    </a:p>
                  </a:txBody>
                  <a:tcPr marL="109728" marR="109728" marT="82296" marB="0" anchor="t">
                    <a:solidFill>
                      <a:srgbClr val="F6F2E9"/>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Which channels create customers?</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Qualified leads, visits, signed sales, cancellations, and collections by source</a:t>
                      </a:r>
                    </a:p>
                  </a:txBody>
                  <a:tcPr marL="109728" marR="109728" marT="82296" marB="0" anchor="t">
                    <a:solidFill>
                      <a:srgbClr val="E9E8DC"/>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 launch events create durable</a:t>
                      </a:r>
                    </a:p>
                    <a:p>
                      <a:pPr>
                        <a:lnSpc>
                          <a:spcPts val="1829"/>
                        </a:lnSpc>
                        <a:spcBef>
                          <a:spcPts val="0"/>
                        </a:spcBef>
                        <a:spcAft>
                          <a:spcPts val="0"/>
                        </a:spcAft>
                      </a:pPr>
                      <a:r>
                        <a:rPr sz="1550" b="0">
                          <a:solidFill>
                            <a:srgbClr val="183A32"/>
                          </a:solidFill>
                          <a:latin typeface="Arial"/>
                        </a:rPr>
                        <a:t>demand?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Subsequent cancellations, mortgage approvals, and completed handovers</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 amenities improve housing</a:t>
                      </a:r>
                    </a:p>
                    <a:p>
                      <a:pPr>
                        <a:lnSpc>
                          <a:spcPts val="1829"/>
                        </a:lnSpc>
                        <a:spcBef>
                          <a:spcPts val="0"/>
                        </a:spcBef>
                        <a:spcAft>
                          <a:spcPts val="0"/>
                        </a:spcAft>
                      </a:pPr>
                      <a:r>
                        <a:rPr sz="1550" b="0">
                          <a:solidFill>
                            <a:srgbClr val="183A32"/>
                          </a:solidFill>
                          <a:latin typeface="Arial"/>
                        </a:rPr>
                        <a:t>performance?</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Matched sales comparisons before and after opening, with other changes</a:t>
                      </a:r>
                    </a:p>
                    <a:p>
                      <a:pPr>
                        <a:lnSpc>
                          <a:spcPts val="1829"/>
                        </a:lnSpc>
                        <a:spcBef>
                          <a:spcPts val="0"/>
                        </a:spcBef>
                        <a:spcAft>
                          <a:spcPts val="0"/>
                        </a:spcAft>
                      </a:pPr>
                      <a:r>
                        <a:rPr sz="1550" b="0">
                          <a:solidFill>
                            <a:srgbClr val="183A32"/>
                          </a:solidFill>
                          <a:latin typeface="Arial"/>
                        </a:rPr>
                        <a:t>considered</a:t>
                      </a:r>
                    </a:p>
                  </a:txBody>
                  <a:tcPr marL="109728" marR="109728" marT="82296" marB="0" anchor="t">
                    <a:solidFill>
                      <a:srgbClr val="E9E8DC"/>
                    </a:solidFill>
                    <a:lnL>
                      <a:noFill/>
                    </a:lnL>
                    <a:lnR>
                      <a:noFill/>
                    </a:lnR>
                    <a:lnT>
                      <a:noFill/>
                    </a:lnT>
                    <a:lnB>
                      <a:noFill/>
                    </a:lnB>
                  </a:tcPr>
                </a:tc>
              </a:tr>
            </a:tbl>
          </a:graphicData>
        </a:graphic>
      </p:graphicFrame>
      <p:sp>
        <p:nvSpPr>
          <p:cNvPr id="13" name="TextBox 12"/>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1 / 3</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D24.2</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132–133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311</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What a genuinely deeper competitor audit should measure</a:t>
            </a:r>
          </a:p>
        </p:txBody>
      </p:sp>
      <p:graphicFrame>
        <p:nvGraphicFramePr>
          <p:cNvPr id="11" name="Table 10"/>
          <p:cNvGraphicFramePr>
            <a:graphicFrameLocks noGrp="1"/>
          </p:cNvGraphicFramePr>
          <p:nvPr/>
        </p:nvGraphicFramePr>
        <p:xfrm>
          <a:off x="685800" y="2084831"/>
          <a:ext cx="10789919" cy="1966083"/>
        </p:xfrm>
        <a:graphic>
          <a:graphicData uri="http://schemas.openxmlformats.org/drawingml/2006/table">
            <a:tbl>
              <a:tblPr firstRow="1" bandRow="1">
                <a:tableStyleId>{5C22544A-7EE6-4342-B048-85BDC9FD1C3A}</a:tableStyleId>
              </a:tblPr>
              <a:tblGrid>
                <a:gridCol w="3452774"/>
                <a:gridCol w="7337145"/>
              </a:tblGrid>
              <a:tr h="433450">
                <a:tc>
                  <a:txBody>
                    <a:bodyPr wrap="none"/>
                    <a:lstStyle/>
                    <a:p>
                      <a:pPr>
                        <a:lnSpc>
                          <a:spcPts val="1829"/>
                        </a:lnSpc>
                        <a:spcBef>
                          <a:spcPts val="0"/>
                        </a:spcBef>
                        <a:spcAft>
                          <a:spcPts val="0"/>
                        </a:spcAft>
                      </a:pPr>
                      <a:r>
                        <a:rPr sz="1550" b="1">
                          <a:solidFill>
                            <a:srgbClr val="F6F2E9"/>
                          </a:solidFill>
                          <a:latin typeface="Arial"/>
                        </a:rPr>
                        <a:t>Question</a:t>
                      </a:r>
                    </a:p>
                  </a:txBody>
                  <a:tcPr marL="109728" marR="109728" marT="82296" marB="0" anchor="t">
                    <a:solidFill>
                      <a:srgbClr val="153F35"/>
                    </a:solidFill>
                    <a:lnL>
                      <a:noFill/>
                    </a:lnL>
                    <a:lnR>
                      <a:noFill/>
                    </a:lnR>
                    <a:lnT>
                      <a:noFill/>
                    </a:lnT>
                    <a:lnB>
                      <a:noFill/>
                    </a:lnB>
                  </a:tcPr>
                </a:tc>
                <a:tc>
                  <a:txBody>
                    <a:bodyPr wrap="none"/>
                    <a:lstStyle/>
                    <a:p>
                      <a:pPr>
                        <a:lnSpc>
                          <a:spcPts val="1829"/>
                        </a:lnSpc>
                        <a:spcBef>
                          <a:spcPts val="0"/>
                        </a:spcBef>
                        <a:spcAft>
                          <a:spcPts val="0"/>
                        </a:spcAft>
                      </a:pPr>
                      <a:r>
                        <a:rPr sz="1550" b="1">
                          <a:solidFill>
                            <a:srgbClr val="F6F2E9"/>
                          </a:solidFill>
                          <a:latin typeface="Arial"/>
                        </a:rPr>
                        <a:t>Evidence required</a:t>
                      </a:r>
                    </a:p>
                  </a:txBody>
                  <a:tcPr marL="109728" marR="109728" marT="82296" marB="0" anchor="t">
                    <a:solidFill>
                      <a:srgbClr val="153F35"/>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Are promotions profitable?</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Net realised prices, incentive costs, commissions, and cash timing</a:t>
                      </a:r>
                    </a:p>
                  </a:txBody>
                  <a:tcPr marL="109728" marR="109728" marT="82296" marB="0" anchor="t">
                    <a:solidFill>
                      <a:srgbClr val="F6F2E9"/>
                    </a:solidFill>
                    <a:lnL>
                      <a:noFill/>
                    </a:lnL>
                    <a:lnR>
                      <a:noFill/>
                    </a:lnR>
                    <a:lnT>
                      <a:noFill/>
                    </a:lnT>
                    <a:lnB>
                      <a:noFill/>
                    </a:lnB>
                  </a:tcPr>
                </a:tc>
              </a:tr>
              <a:tr h="665733">
                <a:tc>
                  <a:txBody>
                    <a:bodyPr wrap="none"/>
                    <a:lstStyle/>
                    <a:p>
                      <a:pPr>
                        <a:lnSpc>
                          <a:spcPts val="1829"/>
                        </a:lnSpc>
                        <a:spcBef>
                          <a:spcPts val="0"/>
                        </a:spcBef>
                        <a:spcAft>
                          <a:spcPts val="0"/>
                        </a:spcAft>
                      </a:pPr>
                      <a:r>
                        <a:rPr sz="1550" b="0">
                          <a:solidFill>
                            <a:srgbClr val="183A32"/>
                          </a:solidFill>
                          <a:latin typeface="Arial"/>
                        </a:rPr>
                        <a:t>Do destinations create recurring</a:t>
                      </a:r>
                    </a:p>
                    <a:p>
                      <a:pPr>
                        <a:lnSpc>
                          <a:spcPts val="1829"/>
                        </a:lnSpc>
                        <a:spcBef>
                          <a:spcPts val="0"/>
                        </a:spcBef>
                        <a:spcAft>
                          <a:spcPts val="0"/>
                        </a:spcAft>
                      </a:pPr>
                      <a:r>
                        <a:rPr sz="1550" b="0">
                          <a:solidFill>
                            <a:srgbClr val="183A32"/>
                          </a:solidFill>
                          <a:latin typeface="Arial"/>
                        </a:rPr>
                        <a:t>activity?</a:t>
                      </a:r>
                    </a:p>
                  </a:txBody>
                  <a:tcPr marL="109728" marR="109728" marT="82296" marB="0" anchor="t">
                    <a:solidFill>
                      <a:srgbClr val="E9E8DC"/>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Repeat visits, weekday usage, tenant turnover, occupancy, and operating cash</a:t>
                      </a:r>
                    </a:p>
                    <a:p>
                      <a:pPr>
                        <a:lnSpc>
                          <a:spcPts val="1829"/>
                        </a:lnSpc>
                        <a:spcBef>
                          <a:spcPts val="0"/>
                        </a:spcBef>
                        <a:spcAft>
                          <a:spcPts val="0"/>
                        </a:spcAft>
                      </a:pPr>
                      <a:r>
                        <a:rPr sz="1550" b="0">
                          <a:solidFill>
                            <a:srgbClr val="183A32"/>
                          </a:solidFill>
                          <a:latin typeface="Arial"/>
                        </a:rPr>
                        <a:t>flow</a:t>
                      </a:r>
                    </a:p>
                  </a:txBody>
                  <a:tcPr marL="109728" marR="109728" marT="82296" marB="0" anchor="t">
                    <a:solidFill>
                      <a:srgbClr val="E9E8DC"/>
                    </a:solidFill>
                    <a:lnL>
                      <a:noFill/>
                    </a:lnL>
                    <a:lnR>
                      <a:noFill/>
                    </a:lnR>
                    <a:lnT>
                      <a:noFill/>
                    </a:lnT>
                    <a:lnB>
                      <a:noFill/>
                    </a:lnB>
                  </a:tcPr>
                </a:tc>
              </a:tr>
              <a:tr h="433450">
                <a:tc>
                  <a:txBody>
                    <a:bodyPr wrap="none"/>
                    <a:lstStyle/>
                    <a:p>
                      <a:pPr>
                        <a:lnSpc>
                          <a:spcPts val="1829"/>
                        </a:lnSpc>
                        <a:spcBef>
                          <a:spcPts val="0"/>
                        </a:spcBef>
                        <a:spcAft>
                          <a:spcPts val="0"/>
                        </a:spcAft>
                      </a:pPr>
                      <a:r>
                        <a:rPr sz="1550" b="0">
                          <a:solidFill>
                            <a:srgbClr val="183A32"/>
                          </a:solidFill>
                          <a:latin typeface="Arial"/>
                        </a:rPr>
                        <a:t>Can expansion be repeated?</a:t>
                      </a:r>
                    </a:p>
                  </a:txBody>
                  <a:tcPr marL="109728" marR="109728" marT="82296" marB="0" anchor="t">
                    <a:solidFill>
                      <a:srgbClr val="F6F2E9"/>
                    </a:solidFill>
                    <a:lnL>
                      <a:noFill/>
                    </a:lnL>
                    <a:lnR>
                      <a:noFill/>
                    </a:lnR>
                    <a:lnT>
                      <a:noFill/>
                    </a:lnT>
                    <a:lnB>
                      <a:noFill/>
                    </a:lnB>
                  </a:tcPr>
                </a:tc>
                <a:tc>
                  <a:txBody>
                    <a:bodyPr wrap="none"/>
                    <a:lstStyle/>
                    <a:p>
                      <a:pPr>
                        <a:lnSpc>
                          <a:spcPts val="1829"/>
                        </a:lnSpc>
                        <a:spcBef>
                          <a:spcPts val="0"/>
                        </a:spcBef>
                        <a:spcAft>
                          <a:spcPts val="0"/>
                        </a:spcAft>
                      </a:pPr>
                      <a:r>
                        <a:rPr sz="1550" b="0">
                          <a:solidFill>
                            <a:srgbClr val="183A32"/>
                          </a:solidFill>
                          <a:latin typeface="Arial"/>
                        </a:rPr>
                        <a:t>Project returns, delivery consistency, management capacity, and funding needs</a:t>
                      </a:r>
                    </a:p>
                  </a:txBody>
                  <a:tcPr marL="109728" marR="109728" marT="82296" marB="0" anchor="t">
                    <a:solidFill>
                      <a:srgbClr val="F6F2E9"/>
                    </a:solidFill>
                    <a:lnL>
                      <a:noFill/>
                    </a:lnL>
                    <a:lnR>
                      <a:noFill/>
                    </a:lnR>
                    <a:lnT>
                      <a:noFill/>
                    </a:lnT>
                    <a:lnB>
                      <a:noFill/>
                    </a:lnB>
                  </a:tcPr>
                </a:tc>
              </a:tr>
            </a:tbl>
          </a:graphicData>
        </a:graphic>
      </p:graphicFrame>
      <p:sp>
        <p:nvSpPr>
          <p:cNvPr id="12" name="TextBox 11"/>
          <p:cNvSpPr txBox="1"/>
          <p:nvPr/>
        </p:nvSpPr>
        <p:spPr>
          <a:xfrm>
            <a:off x="685800" y="4261231"/>
            <a:ext cx="10789920" cy="229870"/>
          </a:xfrm>
          <a:prstGeom prst="rect">
            <a:avLst/>
          </a:prstGeom>
          <a:noFill/>
        </p:spPr>
        <p:txBody>
          <a:bodyPr wrap="none" lIns="0" rIns="0" tIns="0" bIns="0">
            <a:spAutoFit/>
          </a:bodyPr>
          <a:lstStyle/>
          <a:p>
            <a:pPr>
              <a:lnSpc>
                <a:spcPts val="1342"/>
              </a:lnSpc>
              <a:spcBef>
                <a:spcPts val="0"/>
              </a:spcBef>
              <a:spcAft>
                <a:spcPts val="0"/>
              </a:spcAft>
            </a:pPr>
            <a:r>
              <a:rPr sz="1100" b="1" i="0">
                <a:solidFill>
                  <a:srgbClr val="AD843F"/>
                </a:solidFill>
                <a:latin typeface="Arial"/>
              </a:rPr>
              <a:t>PROPOSED NEXT LAYER OF TANRISE RESEARCH</a:t>
            </a:r>
          </a:p>
        </p:txBody>
      </p:sp>
      <p:sp>
        <p:nvSpPr>
          <p:cNvPr id="13" name="TextBox 12"/>
          <p:cNvSpPr txBox="1"/>
          <p:nvPr/>
        </p:nvSpPr>
        <p:spPr>
          <a:xfrm>
            <a:off x="685800" y="458254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Use this framework to examine a small number of directly comparable projects in greater detail, including site</a:t>
            </a:r>
          </a:p>
          <a:p>
            <a:pPr>
              <a:lnSpc>
                <a:spcPts val="2196"/>
              </a:lnSpc>
              <a:spcBef>
                <a:spcPts val="0"/>
              </a:spcBef>
              <a:spcAft>
                <a:spcPts val="0"/>
              </a:spcAft>
            </a:pPr>
            <a:r>
              <a:rPr sz="1800" b="0" i="0">
                <a:solidFill>
                  <a:srgbClr val="183A32"/>
                </a:solidFill>
                <a:latin typeface="Times New Roman"/>
              </a:rPr>
              <a:t>observation, buyer interviews, product and payment comparisons, and operator discussions.</a:t>
            </a:r>
          </a:p>
        </p:txBody>
      </p:sp>
      <p:sp>
        <p:nvSpPr>
          <p:cNvPr id="14" name="TextBox 13"/>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2 / 3</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828800" cy="307340"/>
          </a:xfrm>
          <a:prstGeom prst="rect">
            <a:avLst/>
          </a:prstGeom>
          <a:noFill/>
        </p:spPr>
        <p:txBody>
          <a:bodyPr wrap="none" lIns="0" rIns="0" tIns="0" bIns="0">
            <a:spAutoFit/>
          </a:bodyPr>
          <a:lstStyle/>
          <a:p>
            <a:pPr>
              <a:lnSpc>
                <a:spcPts val="1952"/>
              </a:lnSpc>
              <a:spcBef>
                <a:spcPts val="0"/>
              </a:spcBef>
              <a:spcAft>
                <a:spcPts val="0"/>
              </a:spcAft>
            </a:pPr>
            <a:r>
              <a:rPr sz="1600" b="1" i="0">
                <a:solidFill>
                  <a:srgbClr val="153F35"/>
                </a:solidFill>
                <a:latin typeface="Arial"/>
              </a:rPr>
              <a:t>TANRISE</a:t>
            </a:r>
          </a:p>
        </p:txBody>
      </p:sp>
      <p:sp>
        <p:nvSpPr>
          <p:cNvPr id="4" name="TextBox 3"/>
          <p:cNvSpPr txBox="1"/>
          <p:nvPr/>
        </p:nvSpPr>
        <p:spPr>
          <a:xfrm>
            <a:off x="1965960" y="310896"/>
            <a:ext cx="8229600" cy="186486"/>
          </a:xfrm>
          <a:prstGeom prst="rect">
            <a:avLst/>
          </a:prstGeom>
          <a:noFill/>
        </p:spPr>
        <p:txBody>
          <a:bodyPr wrap="none" lIns="0" rIns="0" tIns="0" bIns="0">
            <a:spAutoFit/>
          </a:bodyPr>
          <a:lstStyle/>
          <a:p>
            <a:pPr>
              <a:lnSpc>
                <a:spcPts val="1000"/>
              </a:lnSpc>
              <a:spcBef>
                <a:spcPts val="0"/>
              </a:spcBef>
              <a:spcAft>
                <a:spcPts val="0"/>
              </a:spcAft>
            </a:pPr>
            <a:r>
              <a:rPr sz="819" b="0" i="0">
                <a:solidFill>
                  <a:srgbClr val="68766B"/>
                </a:solidFill>
                <a:latin typeface="Arial"/>
              </a:rPr>
              <a:t>DEEP DIVE / CORPORATE STRATEGY 2026–2035</a:t>
            </a:r>
          </a:p>
        </p:txBody>
      </p:sp>
      <p:sp>
        <p:nvSpPr>
          <p:cNvPr id="5" name="TextBox 4"/>
          <p:cNvSpPr txBox="1"/>
          <p:nvPr/>
        </p:nvSpPr>
        <p:spPr>
          <a:xfrm>
            <a:off x="10789920" y="292608"/>
            <a:ext cx="896112" cy="198882"/>
          </a:xfrm>
          <a:prstGeom prst="rect">
            <a:avLst/>
          </a:prstGeom>
          <a:noFill/>
        </p:spPr>
        <p:txBody>
          <a:bodyPr wrap="none" lIns="0" rIns="0" tIns="0" bIns="0">
            <a:spAutoFit/>
          </a:bodyPr>
          <a:lstStyle/>
          <a:p>
            <a:pPr>
              <a:lnSpc>
                <a:spcPts val="1098"/>
              </a:lnSpc>
              <a:spcBef>
                <a:spcPts val="0"/>
              </a:spcBef>
              <a:spcAft>
                <a:spcPts val="0"/>
              </a:spcAft>
            </a:pPr>
            <a:r>
              <a:rPr sz="900" b="0" i="0">
                <a:solidFill>
                  <a:srgbClr val="153F35"/>
                </a:solidFill>
                <a:latin typeface="Arial"/>
              </a:rPr>
              <a:t>D24.3</a:t>
            </a:r>
          </a:p>
        </p:txBody>
      </p:sp>
      <p:cxnSp>
        <p:nvCxnSpPr>
          <p:cNvPr id="6" name="Connector 5"/>
          <p:cNvCxnSpPr/>
          <p:nvPr/>
        </p:nvCxnSpPr>
        <p:spPr>
          <a:xfrm>
            <a:off x="502920" y="694944"/>
            <a:ext cx="11183112" cy="0"/>
          </a:xfrm>
          <a:prstGeom prst="line">
            <a:avLst/>
          </a:prstGeom>
          <a:ln w="7620">
            <a:solidFill>
              <a:srgbClr val="D8D4C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92240"/>
            <a:ext cx="36576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STRATEGIC DISCUSSION DRAFT</a:t>
            </a:r>
          </a:p>
        </p:txBody>
      </p:sp>
      <p:sp>
        <p:nvSpPr>
          <p:cNvPr id="8" name="TextBox 7"/>
          <p:cNvSpPr txBox="1"/>
          <p:nvPr/>
        </p:nvSpPr>
        <p:spPr>
          <a:xfrm>
            <a:off x="7909560" y="6492240"/>
            <a:ext cx="292608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Mario brief · pp. 132–133</a:t>
            </a:r>
          </a:p>
        </p:txBody>
      </p:sp>
      <p:sp>
        <p:nvSpPr>
          <p:cNvPr id="9" name="TextBox 8"/>
          <p:cNvSpPr txBox="1"/>
          <p:nvPr/>
        </p:nvSpPr>
        <p:spPr>
          <a:xfrm>
            <a:off x="11247120" y="6492240"/>
            <a:ext cx="4572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68766B"/>
                </a:solidFill>
                <a:latin typeface="Arial"/>
              </a:rPr>
              <a:t>312</a:t>
            </a:r>
          </a:p>
        </p:txBody>
      </p:sp>
      <p:sp>
        <p:nvSpPr>
          <p:cNvPr id="10" name="TextBox 9"/>
          <p:cNvSpPr txBox="1"/>
          <p:nvPr/>
        </p:nvSpPr>
        <p:spPr>
          <a:xfrm>
            <a:off x="685800" y="987552"/>
            <a:ext cx="10744200" cy="504316"/>
          </a:xfrm>
          <a:prstGeom prst="rect">
            <a:avLst/>
          </a:prstGeom>
          <a:noFill/>
        </p:spPr>
        <p:txBody>
          <a:bodyPr wrap="none" lIns="0" rIns="0" tIns="0" bIns="0">
            <a:spAutoFit/>
          </a:bodyPr>
          <a:lstStyle/>
          <a:p>
            <a:pPr>
              <a:lnSpc>
                <a:spcPts val="3502"/>
              </a:lnSpc>
              <a:spcBef>
                <a:spcPts val="0"/>
              </a:spcBef>
              <a:spcAft>
                <a:spcPts val="0"/>
              </a:spcAft>
            </a:pPr>
            <a:r>
              <a:rPr sz="3100" b="0" i="0">
                <a:solidFill>
                  <a:srgbClr val="153F35"/>
                </a:solidFill>
                <a:latin typeface="Arial"/>
              </a:rPr>
              <a:t>Research standard</a:t>
            </a:r>
          </a:p>
        </p:txBody>
      </p:sp>
      <p:sp>
        <p:nvSpPr>
          <p:cNvPr id="11" name="TextBox 10"/>
          <p:cNvSpPr txBox="1"/>
          <p:nvPr/>
        </p:nvSpPr>
        <p:spPr>
          <a:xfrm>
            <a:off x="685800" y="2084831"/>
            <a:ext cx="10789920" cy="617220"/>
          </a:xfrm>
          <a:prstGeom prst="rect">
            <a:avLst/>
          </a:prstGeom>
          <a:noFill/>
        </p:spPr>
        <p:txBody>
          <a:bodyPr wrap="none" lIns="0" rIns="0" tIns="0" bIns="0">
            <a:spAutoFit/>
          </a:bodyPr>
          <a:lstStyle/>
          <a:p>
            <a:pPr>
              <a:lnSpc>
                <a:spcPts val="2196"/>
              </a:lnSpc>
              <a:spcBef>
                <a:spcPts val="0"/>
              </a:spcBef>
              <a:spcAft>
                <a:spcPts val="0"/>
              </a:spcAft>
            </a:pPr>
            <a:r>
              <a:rPr sz="1800" b="0" i="0">
                <a:solidFill>
                  <a:srgbClr val="183A32"/>
                </a:solidFill>
                <a:latin typeface="Times New Roman"/>
              </a:rPr>
              <a:t>A strategy is effective when it produces economically valuable customer behaviour at an acceptable cost—and the</a:t>
            </a:r>
          </a:p>
          <a:p>
            <a:pPr>
              <a:lnSpc>
                <a:spcPts val="2196"/>
              </a:lnSpc>
              <a:spcBef>
                <a:spcPts val="0"/>
              </a:spcBef>
              <a:spcAft>
                <a:spcPts val="0"/>
              </a:spcAft>
            </a:pPr>
            <a:r>
              <a:rPr sz="1800" b="0" i="0">
                <a:solidFill>
                  <a:srgbClr val="183A32"/>
                </a:solidFill>
                <a:latin typeface="Times New Roman"/>
              </a:rPr>
              <a:t>company can repeat it.</a:t>
            </a:r>
          </a:p>
        </p:txBody>
      </p:sp>
      <p:sp>
        <p:nvSpPr>
          <p:cNvPr id="12" name="TextBox 11"/>
          <p:cNvSpPr txBox="1"/>
          <p:nvPr/>
        </p:nvSpPr>
        <p:spPr>
          <a:xfrm>
            <a:off x="10698480" y="6355080"/>
            <a:ext cx="685800" cy="183388"/>
          </a:xfrm>
          <a:prstGeom prst="rect">
            <a:avLst/>
          </a:prstGeom>
          <a:noFill/>
        </p:spPr>
        <p:txBody>
          <a:bodyPr wrap="none" lIns="0" rIns="0" tIns="0" bIns="0">
            <a:spAutoFit/>
          </a:bodyPr>
          <a:lstStyle/>
          <a:p>
            <a:pPr>
              <a:lnSpc>
                <a:spcPts val="976"/>
              </a:lnSpc>
              <a:spcBef>
                <a:spcPts val="0"/>
              </a:spcBef>
              <a:spcAft>
                <a:spcPts val="0"/>
              </a:spcAft>
            </a:pPr>
            <a:r>
              <a:rPr sz="800" b="0" i="0">
                <a:solidFill>
                  <a:srgbClr val="AD843F"/>
                </a:solidFill>
                <a:latin typeface="Arial"/>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TANRISE — Corporate Strategy 2026–2035</dc:title>
  <dc:subject>Main presentation, appendices, and separate supplementary research sequences</dc:subject>
  <dc:creator>Rubicube Creative</dc:creator>
  <cp:keywords>TANRISE, strategic discussion draft, editable presentation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