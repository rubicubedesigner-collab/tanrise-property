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3 · Competitive advantages research" id="{F90390D7-FCEC-4744-9D0C-D34B0DF306E6}">
          <p14:sldIdLst>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 id="484"/>
            <p14:sldId id="485"/>
            <p14:sldId id="486"/>
            <p14:sldId id="487"/>
            <p14:sldId id="488"/>
            <p14:sldId id="489"/>
            <p14:sldId id="490"/>
            <p14:sldId id="491"/>
            <p14:sldId id="492"/>
            <p14:sldId id="493"/>
            <p14:sldId id="494"/>
            <p14:sldId id="495"/>
            <p14:sldId id="496"/>
            <p14:sldId id="497"/>
            <p14:sldId id="498"/>
            <p14:sldId id="499"/>
            <p14:sldId id="500"/>
            <p14:sldId id="501"/>
            <p14:sldId id="502"/>
            <p14:sldId id="503"/>
            <p14:sldId id="504"/>
            <p14:sldId id="505"/>
            <p14:sldId id="506"/>
            <p14:sldId id="507"/>
            <p14:sldId id="508"/>
            <p14:sldId id="509"/>
            <p14:sldId id="510"/>
            <p14:sldId id="511"/>
          </p14:sldIdLst>
        </p14:section>
        <p14:section name="04 · Competitive strategy deep dive" id="{E4E1529B-BDCD-4705-BD38-B9DF9676DC25}">
          <p14:sldIdLst>
            <p14:sldId id="512"/>
            <p14:sldId id="513"/>
            <p14:sldId id="514"/>
            <p14:sldId id="515"/>
            <p14:sldId id="516"/>
            <p14:sldId id="517"/>
            <p14:sldId id="518"/>
            <p14:sldId id="519"/>
            <p14:sldId id="520"/>
            <p14:sldId id="521"/>
            <p14:sldId id="522"/>
            <p14:sldId id="523"/>
            <p14:sldId id="524"/>
            <p14:sldId id="525"/>
            <p14:sldId id="526"/>
            <p14:sldId id="527"/>
            <p14:sldId id="528"/>
            <p14:sldId id="529"/>
            <p14:sldId id="530"/>
            <p14:sldId id="531"/>
            <p14:sldId id="532"/>
            <p14:sldId id="533"/>
            <p14:sldId id="534"/>
            <p14:sldId id="535"/>
            <p14:sldId id="536"/>
            <p14:sldId id="537"/>
            <p14:sldId id="538"/>
            <p14:sldId id="539"/>
            <p14:sldId id="540"/>
            <p14:sldId id="541"/>
            <p14:sldId id="542"/>
            <p14:sldId id="543"/>
            <p14:sldId id="544"/>
            <p14:sldId id="545"/>
            <p14:sldId id="546"/>
            <p14:sldId id="547"/>
            <p14:sldId id="548"/>
            <p14:sldId id="549"/>
            <p14:sldId id="550"/>
            <p14:sldId id="551"/>
            <p14:sldId id="552"/>
            <p14:sldId id="553"/>
            <p14:sldId id="554"/>
            <p14:sldId id="555"/>
            <p14:sldId id="556"/>
            <p14:sldId id="557"/>
            <p14:sldId id="558"/>
            <p14:sldId id="559"/>
            <p14:sldId id="560"/>
            <p14:sldId id="561"/>
            <p14:sldId id="562"/>
            <p14:sldId id="563"/>
            <p14:sldId id="564"/>
            <p14:sldId id="565"/>
            <p14:sldId id="566"/>
            <p14:sldId id="56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bar"/>
        <c:grouping val="clustered"/>
        <c:ser>
          <c:idx val="0"/>
          <c:order val="0"/>
          <c:tx>
            <c:strRef>
              <c:f>Sheet1!$B$1</c:f>
              <c:strCache>
                <c:ptCount val="1"/>
                <c:pt idx="0">
                  <c:v>Revenue · Rp trillion</c:v>
                </c:pt>
              </c:strCache>
            </c:strRef>
          </c:tx>
          <c:spPr>
            <a:solidFill>
              <a:srgbClr val="153F35"/>
            </a:solidFill>
            <a:ln>
              <a:noFill/>
            </a:ln>
          </c:spPr>
          <c:dPt>
            <c:idx val="9"/>
            <c:spPr>
              <a:solidFill>
                <a:srgbClr val="AD843F"/>
              </a:solidFill>
            </c:spPr>
          </c:dPt>
          <c:cat>
            <c:strRef>
              <c:f>Sheet1!$A$2:$A$11</c:f>
              <c:strCache>
                <c:ptCount val="10"/>
                <c:pt idx="0">
                  <c:v>BSDE</c:v>
                </c:pt>
                <c:pt idx="1">
                  <c:v>CTRA</c:v>
                </c:pt>
                <c:pt idx="2">
                  <c:v>LPKR</c:v>
                </c:pt>
                <c:pt idx="3">
                  <c:v>SMRA</c:v>
                </c:pt>
                <c:pt idx="4">
                  <c:v>PWON</c:v>
                </c:pt>
                <c:pt idx="5">
                  <c:v>PANI</c:v>
                </c:pt>
                <c:pt idx="6">
                  <c:v>APLN</c:v>
                </c:pt>
                <c:pt idx="7">
                  <c:v>JRPT</c:v>
                </c:pt>
                <c:pt idx="8">
                  <c:v>ASRI</c:v>
                </c:pt>
                <c:pt idx="9">
                  <c:v>DUTI</c:v>
                </c:pt>
              </c:strCache>
            </c:strRef>
          </c:cat>
          <c:val>
            <c:numRef>
              <c:f>Sheet1!$B$2:$B$11</c:f>
              <c:numCache>
                <c:formatCode>General</c:formatCode>
                <c:ptCount val="10"/>
                <c:pt idx="0">
                  <c:v>12.79</c:v>
                </c:pt>
                <c:pt idx="1">
                  <c:v>12.62</c:v>
                </c:pt>
                <c:pt idx="2">
                  <c:v>9.03</c:v>
                </c:pt>
                <c:pt idx="3">
                  <c:v>8.77</c:v>
                </c:pt>
                <c:pt idx="4">
                  <c:v>7.11</c:v>
                </c:pt>
                <c:pt idx="5">
                  <c:v>4.3</c:v>
                </c:pt>
                <c:pt idx="6">
                  <c:v>3.57</c:v>
                </c:pt>
                <c:pt idx="7">
                  <c:v>3.27</c:v>
                </c:pt>
                <c:pt idx="8">
                  <c:v>2.93</c:v>
                </c:pt>
                <c:pt idx="9">
                  <c:v>2.73</c:v>
                </c:pt>
              </c:numCache>
            </c:numRef>
          </c:val>
        </c:ser>
        <c:dLbls>
          <c:numFmt formatCode="0.00" sourceLinked="0"/>
          <c:txPr>
            <a:bodyPr/>
            <a:lstStyle/>
            <a:p>
              <a:pPr>
                <a:defRPr sz="1300">
                  <a:solidFill>
                    <a:srgbClr val="183A32"/>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noFill/>
          </a:ln>
        </c:spPr>
        <c:txPr>
          <a:bodyPr/>
          <a:lstStyle/>
          <a:p>
            <a:pPr>
              <a:defRPr sz="1300">
                <a:latin typeface="Aria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R01 — Research title</a:t>
            </a:r>
          </a:p>
          <a:p>
            <a:r>
              <a:t>Document pages: 62</a:t>
            </a:r>
          </a:p>
          <a:p/>
          <a:p>
            <a:r>
              <a:t>COMPLETE SOURCE TEXT</a:t>
            </a:r>
          </a:p>
          <a:p>
            <a:r>
              <a:t>TANRISE: Learning from Indonesia’s Major Property Developers</a:t>
            </a:r>
          </a:p>
          <a:p/>
          <a:p>
            <a:r>
              <a:t>Subtitle: Company origins, growth models, competitive advantages, financial scale, and implications for TANRISE’s Top Five ambition in 2035.</a:t>
            </a:r>
          </a:p>
          <a:p/>
          <a:p>
            <a:r>
              <a:t>Research scope: Ten selected listed developers and their relevant group backgrounds.</a:t>
            </a:r>
          </a:p>
          <a:p/>
          <a:p>
            <a:r>
              <a:t>Financial comparison: FY2025 full-year results.</a:t>
            </a:r>
          </a:p>
          <a:p/>
          <a:p>
            <a:r>
              <a:t>Research reference date: 29 October 2026.</a:t>
            </a:r>
          </a:p>
          <a:p/>
          <a:p>
            <a:r>
              <a:t>Suggested visual: A company landscape showing the ten issuers, with TANRISE positioned separately as the company applying the lessons.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R02 — The ten companies being studied</a:t>
            </a:r>
          </a:p>
          <a:p>
            <a:r>
              <a:t>Document pages: 62, 63</a:t>
            </a:r>
          </a:p>
          <a:p/>
          <a:p>
            <a:r>
              <a:t>COMPLETE SOURCE TEXT</a:t>
            </a:r>
          </a:p>
          <a:p>
            <a:r>
              <a:t>Case | Correct company name | Ticker | Important distinction</a:t>
            </a:r>
          </a:p>
          <a:p/>
          <a:p>
            <a:r>
              <a:t>1 | PT Bumi Serpong Damai Tbk | BSDE | A listed company within Sinar Mas Land</a:t>
            </a:r>
          </a:p>
          <a:p/>
          <a:p>
            <a:r>
              <a:t>2 | PT Lippo Karawaci Tbk | LPKR | One listed platform within the broader Lippo Group</a:t>
            </a:r>
          </a:p>
          <a:p/>
          <a:p>
            <a:r>
              <a:t>3 | PT Ciputra Development Tbk | CTRA | The consolidated listed Ciputra development platform</a:t>
            </a:r>
          </a:p>
          <a:p/>
          <a:p>
            <a:r>
              <a:t>4 | PT Summarecon Agung Tbk | SMRA | The company intended by “Sinar Mas Agung”</a:t>
            </a:r>
          </a:p>
          <a:p/>
          <a:p>
            <a:r>
              <a:t>5 | PT Pakuwon Jati Tbk | PWON | The company intended by “Bakri Jati”</a:t>
            </a:r>
          </a:p>
          <a:p/>
          <a:p>
            <a:r>
              <a:t>6 | PT Agung Podomoro Land Tbk | APLN | Distinguish the listed issuer from the longer-established group</a:t>
            </a:r>
          </a:p>
          <a:p/>
          <a:p>
            <a:r>
              <a:t>7 | PT Duta Pertiwi Tbk | DUTI | A listed subsidiary consolidated within BSDE</a:t>
            </a:r>
          </a:p>
          <a:p/>
          <a:p>
            <a:r>
              <a:t>8 | PT Alam Sutera Realty Tbk | ASRI | Integrated township and property developer</a:t>
            </a:r>
          </a:p>
          <a:p/>
          <a:p>
            <a:r>
              <a:t>9 | PT Jaya Real Property Tbk | JRPT | Part of Pembangunan Jaya Group</a:t>
            </a:r>
          </a:p>
          <a:p/>
          <a:p>
            <a:r>
              <a:t>10 | PT Pantai Indah Kapuk Dua Tbk | PANI | A listed platform developing assets in the PIK2 area</a:t>
            </a:r>
          </a:p>
          <a:p/>
          <a:p>
            <a:r>
              <a:t>Key message: Case numbers are identifiers, not current market ranks.</a:t>
            </a:r>
          </a:p>
          <a:p/>
          <a:p>
            <a:r>
              <a:t>Suggested visual: An ownership map, particularly highlighting BSDE–DUTI and the distinction between group, issuer, and project.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R02 — The ten companies being studied</a:t>
            </a:r>
          </a:p>
          <a:p>
            <a:r>
              <a:t>Document pages: 62, 63</a:t>
            </a:r>
          </a:p>
          <a:p/>
          <a:p>
            <a:r>
              <a:t>COMPLETE SOURCE TEXT</a:t>
            </a:r>
          </a:p>
          <a:p>
            <a:r>
              <a:t>Case | Correct company name | Ticker | Important distinction</a:t>
            </a:r>
          </a:p>
          <a:p/>
          <a:p>
            <a:r>
              <a:t>1 | PT Bumi Serpong Damai Tbk | BSDE | A listed company within Sinar Mas Land</a:t>
            </a:r>
          </a:p>
          <a:p/>
          <a:p>
            <a:r>
              <a:t>2 | PT Lippo Karawaci Tbk | LPKR | One listed platform within the broader Lippo Group</a:t>
            </a:r>
          </a:p>
          <a:p/>
          <a:p>
            <a:r>
              <a:t>3 | PT Ciputra Development Tbk | CTRA | The consolidated listed Ciputra development platform</a:t>
            </a:r>
          </a:p>
          <a:p/>
          <a:p>
            <a:r>
              <a:t>4 | PT Summarecon Agung Tbk | SMRA | The company intended by “Sinar Mas Agung”</a:t>
            </a:r>
          </a:p>
          <a:p/>
          <a:p>
            <a:r>
              <a:t>5 | PT Pakuwon Jati Tbk | PWON | The company intended by “Bakri Jati”</a:t>
            </a:r>
          </a:p>
          <a:p/>
          <a:p>
            <a:r>
              <a:t>6 | PT Agung Podomoro Land Tbk | APLN | Distinguish the listed issuer from the longer-established group</a:t>
            </a:r>
          </a:p>
          <a:p/>
          <a:p>
            <a:r>
              <a:t>7 | PT Duta Pertiwi Tbk | DUTI | A listed subsidiary consolidated within BSDE</a:t>
            </a:r>
          </a:p>
          <a:p/>
          <a:p>
            <a:r>
              <a:t>8 | PT Alam Sutera Realty Tbk | ASRI | Integrated township and property developer</a:t>
            </a:r>
          </a:p>
          <a:p/>
          <a:p>
            <a:r>
              <a:t>9 | PT Jaya Real Property Tbk | JRPT | Part of Pembangunan Jaya Group</a:t>
            </a:r>
          </a:p>
          <a:p/>
          <a:p>
            <a:r>
              <a:t>10 | PT Pantai Indah Kapuk Dua Tbk | PANI | A listed platform developing assets in the PIK2 area</a:t>
            </a:r>
          </a:p>
          <a:p/>
          <a:p>
            <a:r>
              <a:t>Key message: Case numbers are identifiers, not current market ranks.</a:t>
            </a:r>
          </a:p>
          <a:p/>
          <a:p>
            <a:r>
              <a:t>Suggested visual: An ownership map, particularly highlighting BSDE–DUTI and the distinction between group, issuer, and project.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R02 — The ten companies being studied</a:t>
            </a:r>
          </a:p>
          <a:p>
            <a:r>
              <a:t>Document pages: 62, 63</a:t>
            </a:r>
          </a:p>
          <a:p/>
          <a:p>
            <a:r>
              <a:t>COMPLETE SOURCE TEXT</a:t>
            </a:r>
          </a:p>
          <a:p>
            <a:r>
              <a:t>Case | Correct company name | Ticker | Important distinction</a:t>
            </a:r>
          </a:p>
          <a:p/>
          <a:p>
            <a:r>
              <a:t>1 | PT Bumi Serpong Damai Tbk | BSDE | A listed company within Sinar Mas Land</a:t>
            </a:r>
          </a:p>
          <a:p/>
          <a:p>
            <a:r>
              <a:t>2 | PT Lippo Karawaci Tbk | LPKR | One listed platform within the broader Lippo Group</a:t>
            </a:r>
          </a:p>
          <a:p/>
          <a:p>
            <a:r>
              <a:t>3 | PT Ciputra Development Tbk | CTRA | The consolidated listed Ciputra development platform</a:t>
            </a:r>
          </a:p>
          <a:p/>
          <a:p>
            <a:r>
              <a:t>4 | PT Summarecon Agung Tbk | SMRA | The company intended by “Sinar Mas Agung”</a:t>
            </a:r>
          </a:p>
          <a:p/>
          <a:p>
            <a:r>
              <a:t>5 | PT Pakuwon Jati Tbk | PWON | The company intended by “Bakri Jati”</a:t>
            </a:r>
          </a:p>
          <a:p/>
          <a:p>
            <a:r>
              <a:t>6 | PT Agung Podomoro Land Tbk | APLN | Distinguish the listed issuer from the longer-established group</a:t>
            </a:r>
          </a:p>
          <a:p/>
          <a:p>
            <a:r>
              <a:t>7 | PT Duta Pertiwi Tbk | DUTI | A listed subsidiary consolidated within BSDE</a:t>
            </a:r>
          </a:p>
          <a:p/>
          <a:p>
            <a:r>
              <a:t>8 | PT Alam Sutera Realty Tbk | ASRI | Integrated township and property developer</a:t>
            </a:r>
          </a:p>
          <a:p/>
          <a:p>
            <a:r>
              <a:t>9 | PT Jaya Real Property Tbk | JRPT | Part of Pembangunan Jaya Group</a:t>
            </a:r>
          </a:p>
          <a:p/>
          <a:p>
            <a:r>
              <a:t>10 | PT Pantai Indah Kapuk Dua Tbk | PANI | A listed platform developing assets in the PIK2 area</a:t>
            </a:r>
          </a:p>
          <a:p/>
          <a:p>
            <a:r>
              <a:t>Key message: Case numbers are identifiers, not current market ranks.</a:t>
            </a:r>
          </a:p>
          <a:p/>
          <a:p>
            <a:r>
              <a:t>Suggested visual: An ownership map, particularly highlighting BSDE–DUTI and the distinction between group, issuer, and project.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R03 — How to interpret this research</a:t>
            </a:r>
          </a:p>
          <a:p>
            <a:r>
              <a:t>Document pages: 63, 64</a:t>
            </a:r>
          </a:p>
          <a:p/>
          <a:p>
            <a:r>
              <a:t>COMPLETE SOURCE TEXT</a:t>
            </a:r>
          </a:p>
          <a:p>
            <a:r>
              <a:t>Three evidence categories</a:t>
            </a:r>
          </a:p>
          <a:p/>
          <a:p>
            <a:r>
              <a:t>● Reported fact: Information disclosed in company reports, financial statements, or</a:t>
            </a:r>
          </a:p>
          <a:p/>
          <a:p>
            <a:r>
              <a:t>official histories. ● Analyst assessment: An interpretation of how a business model creates</a:t>
            </a:r>
          </a:p>
          <a:p/>
          <a:p>
            <a:r>
              <a:t>advantages or exposes the company to risk. ● Proposed application: A recommendation for TANRISE that requires feasibility</a:t>
            </a:r>
          </a:p>
          <a:p/>
          <a:p>
            <a:r>
              <a:t>testing and management approval.</a:t>
            </a:r>
          </a:p>
          <a:p/>
          <a:p>
            <a:r>
              <a:t>Comparison rules</a:t>
            </a:r>
          </a:p>
          <a:p/>
          <a:p>
            <a:r>
              <a:t>● Revenue, marketing sales, profit, and market capitalisation measure different</a:t>
            </a:r>
          </a:p>
          <a:p/>
          <a:p>
            <a:r>
              <a:t>things. ● Consolidated group results must not be added to subsidiary results. ● Total profit differs from profit attributable to the parent. ● Acquisitions, divestments, and handover timing can change apparent</a:t>
            </a:r>
          </a:p>
          <a:p/>
          <a:p>
            <a:r>
              <a:t>performance. ● FY2025 provides a common full-year baseline; it is not a substitute for all</a:t>
            </a:r>
          </a:p>
          <a:p/>
          <a:p>
            <a:r>
              <a:t>subsequent 2026 disclosures.</a:t>
            </a:r>
          </a:p>
          <a:p/>
          <a:p>
            <a:r>
              <a:t>Suggested visual: A three-column evidence legend to repeat throughout the deck.</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R03 — How to interpret this research</a:t>
            </a:r>
          </a:p>
          <a:p>
            <a:r>
              <a:t>Document pages: 63, 64</a:t>
            </a:r>
          </a:p>
          <a:p/>
          <a:p>
            <a:r>
              <a:t>COMPLETE SOURCE TEXT</a:t>
            </a:r>
          </a:p>
          <a:p>
            <a:r>
              <a:t>Three evidence categories</a:t>
            </a:r>
          </a:p>
          <a:p/>
          <a:p>
            <a:r>
              <a:t>● Reported fact: Information disclosed in company reports, financial statements, or</a:t>
            </a:r>
          </a:p>
          <a:p/>
          <a:p>
            <a:r>
              <a:t>official histories. ● Analyst assessment: An interpretation of how a business model creates</a:t>
            </a:r>
          </a:p>
          <a:p/>
          <a:p>
            <a:r>
              <a:t>advantages or exposes the company to risk. ● Proposed application: A recommendation for TANRISE that requires feasibility</a:t>
            </a:r>
          </a:p>
          <a:p/>
          <a:p>
            <a:r>
              <a:t>testing and management approval.</a:t>
            </a:r>
          </a:p>
          <a:p/>
          <a:p>
            <a:r>
              <a:t>Comparison rules</a:t>
            </a:r>
          </a:p>
          <a:p/>
          <a:p>
            <a:r>
              <a:t>● Revenue, marketing sales, profit, and market capitalisation measure different</a:t>
            </a:r>
          </a:p>
          <a:p/>
          <a:p>
            <a:r>
              <a:t>things. ● Consolidated group results must not be added to subsidiary results. ● Total profit differs from profit attributable to the parent. ● Acquisitions, divestments, and handover timing can change apparent</a:t>
            </a:r>
          </a:p>
          <a:p/>
          <a:p>
            <a:r>
              <a:t>performance. ● FY2025 provides a common full-year baseline; it is not a substitute for all</a:t>
            </a:r>
          </a:p>
          <a:p/>
          <a:p>
            <a:r>
              <a:t>subsequent 2026 disclosures.</a:t>
            </a:r>
          </a:p>
          <a:p/>
          <a:p>
            <a:r>
              <a:t>Suggested visual: A three-column evidence legend to repeat throughout the deck.</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R04 — FY2025 revenue comparison within the selected cohort</a:t>
            </a:r>
          </a:p>
          <a:p>
            <a:r>
              <a:t>Document pages: 64, 65</a:t>
            </a:r>
          </a:p>
          <a:p/>
          <a:p>
            <a:r>
              <a:t>COMPLETE SOURCE TEXT</a:t>
            </a:r>
          </a:p>
          <a:p>
            <a:r>
              <a:t>Reported consolidated revenue, approximately Rp trillion</a:t>
            </a:r>
          </a:p>
          <a:p/>
          <a:p>
            <a:r>
              <a:t>Position within this cohort | Issuer | FY2025 revenue</a:t>
            </a:r>
          </a:p>
          <a:p/>
          <a:p>
            <a:r>
              <a:t>1 | BSDE | 12.79</a:t>
            </a:r>
          </a:p>
          <a:p/>
          <a:p>
            <a:r>
              <a:t>2 | CTRA | 12.62</a:t>
            </a:r>
          </a:p>
          <a:p/>
          <a:p>
            <a:r>
              <a:t>3 | LPKR | 9.03</a:t>
            </a:r>
          </a:p>
          <a:p/>
          <a:p>
            <a:r>
              <a:t>4 | SMRA | 8.77</a:t>
            </a:r>
          </a:p>
          <a:p/>
          <a:p>
            <a:r>
              <a:t>5 | PWON | 7.11</a:t>
            </a:r>
          </a:p>
          <a:p/>
          <a:p>
            <a:r>
              <a:t>6 | PANI | 4.3</a:t>
            </a:r>
          </a:p>
          <a:p/>
          <a:p>
            <a:r>
              <a:t>7 | APLN | 3.57</a:t>
            </a:r>
          </a:p>
          <a:p/>
          <a:p>
            <a:r>
              <a:t>8 | JRPT | 3.27</a:t>
            </a:r>
          </a:p>
          <a:p/>
          <a:p>
            <a:r>
              <a:t>9 | ASRI | 2.93</a:t>
            </a:r>
          </a:p>
          <a:p/>
          <a:p>
            <a:r>
              <a:t>10 | DUTI | 2.73</a:t>
            </a:r>
          </a:p>
          <a:p/>
          <a:p>
            <a:r>
              <a:t>Interpretation</a:t>
            </a:r>
          </a:p>
          <a:p/>
          <a:p>
            <a:r>
              <a:t>This table describes the selected issuers. It does not establish Indonesia’s complete Top Ten.</a:t>
            </a:r>
          </a:p>
          <a:p/>
          <a:p>
            <a:r>
              <a:t>LPKR also reports revenue after final tax of approximately Rp8.84 trillion; the table uses its headline revenue line. PANI is shown at the precision of its financial-results release.</a:t>
            </a:r>
          </a:p>
          <a:p/>
          <a:p>
            <a:r>
              <a:t>Suggested chart: Horizontal bars, with DUTI marked “included within BSDE consolidation.” Do not sum the bars into a market total.</a:t>
            </a:r>
          </a:p>
          <a:p/>
          <a:p>
            <a:r>
              <a:t>Sources: BSDE annual report, Ciputra reporting, LPKR results announcement, Summarecon presentation, Pakuwon annual report, PANI results, APLN annual report, JRPT results, ASRI annual report, DUTI annual report.</a:t>
            </a:r>
          </a:p>
          <a:p/>
          <a:p>
            <a:r>
              <a:t>SOURCE HYPERLINKS (as embedded in Mario’s PDF; not independently reverified)</a:t>
            </a:r>
          </a:p>
          <a:p>
            <a:r>
              <a:t>https://www.bsdcity.com/app/uploads/2026/05/AR-BSDE-2025.pdf</a:t>
            </a:r>
          </a:p>
          <a:p>
            <a:r>
              <a:t>https://ciputradevelopment.com/wp-content/uploads/2026/05/Laporan_Keberlanjutan_2025_CTRA.pdf</a:t>
            </a:r>
          </a:p>
          <a:p>
            <a:r>
              <a:t>https://www.lippokarawaci.co.id/news/pt-lippo-karawaci-tbk-announces-new-board-of-directors-and-commissioners-at-2026-annual-general-meeting-of-shareholders</a:t>
            </a:r>
          </a:p>
          <a:p>
            <a:r>
              <a:t>https://www.summarecon.com/files/article/SMRA%20Presentation%202026-05.pdf</a:t>
            </a:r>
          </a:p>
          <a:p>
            <a:r>
              <a:t>https://www.pakuwonjati.com/upload/2026/04/69f2e5afd9760-ar-pakuwonjati-2025.pdf</a:t>
            </a:r>
          </a:p>
          <a:p>
            <a:r>
              <a:t>https://storage.googleapis.com/panifiles/pdf/PANI_Press_Release_Financial_Results_FY2025.pdf</a:t>
            </a:r>
          </a:p>
          <a:p>
            <a:r>
              <a:t>https://www.agungpodomoroland.com/en/investor-relation/download/908</a:t>
            </a:r>
          </a:p>
          <a:p>
            <a:r>
              <a:t>https://jayaproperty.com/</a:t>
            </a:r>
          </a:p>
          <a:p>
            <a:r>
              <a:t>https://alamsuterarealty.co.id/public/assets/annualreport/Annual%20Report%20ASRI%202025.pdf</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R04 — FY2025 revenue comparison within the selected cohort</a:t>
            </a:r>
          </a:p>
          <a:p>
            <a:r>
              <a:t>Document pages: 64, 65</a:t>
            </a:r>
          </a:p>
          <a:p/>
          <a:p>
            <a:r>
              <a:t>COMPLETE SOURCE TEXT</a:t>
            </a:r>
          </a:p>
          <a:p>
            <a:r>
              <a:t>Reported consolidated revenue, approximately Rp trillion</a:t>
            </a:r>
          </a:p>
          <a:p/>
          <a:p>
            <a:r>
              <a:t>Position within this cohort | Issuer | FY2025 revenue</a:t>
            </a:r>
          </a:p>
          <a:p/>
          <a:p>
            <a:r>
              <a:t>1 | BSDE | 12.79</a:t>
            </a:r>
          </a:p>
          <a:p/>
          <a:p>
            <a:r>
              <a:t>2 | CTRA | 12.62</a:t>
            </a:r>
          </a:p>
          <a:p/>
          <a:p>
            <a:r>
              <a:t>3 | LPKR | 9.03</a:t>
            </a:r>
          </a:p>
          <a:p/>
          <a:p>
            <a:r>
              <a:t>4 | SMRA | 8.77</a:t>
            </a:r>
          </a:p>
          <a:p/>
          <a:p>
            <a:r>
              <a:t>5 | PWON | 7.11</a:t>
            </a:r>
          </a:p>
          <a:p/>
          <a:p>
            <a:r>
              <a:t>6 | PANI | 4.3</a:t>
            </a:r>
          </a:p>
          <a:p/>
          <a:p>
            <a:r>
              <a:t>7 | APLN | 3.57</a:t>
            </a:r>
          </a:p>
          <a:p/>
          <a:p>
            <a:r>
              <a:t>8 | JRPT | 3.27</a:t>
            </a:r>
          </a:p>
          <a:p/>
          <a:p>
            <a:r>
              <a:t>9 | ASRI | 2.93</a:t>
            </a:r>
          </a:p>
          <a:p/>
          <a:p>
            <a:r>
              <a:t>10 | DUTI | 2.73</a:t>
            </a:r>
          </a:p>
          <a:p/>
          <a:p>
            <a:r>
              <a:t>Interpretation</a:t>
            </a:r>
          </a:p>
          <a:p/>
          <a:p>
            <a:r>
              <a:t>This table describes the selected issuers. It does not establish Indonesia’s complete Top Ten.</a:t>
            </a:r>
          </a:p>
          <a:p/>
          <a:p>
            <a:r>
              <a:t>LPKR also reports revenue after final tax of approximately Rp8.84 trillion; the table uses its headline revenue line. PANI is shown at the precision of its financial-results release.</a:t>
            </a:r>
          </a:p>
          <a:p/>
          <a:p>
            <a:r>
              <a:t>Suggested chart: Horizontal bars, with DUTI marked “included within BSDE consolidation.” Do not sum the bars into a market total.</a:t>
            </a:r>
          </a:p>
          <a:p/>
          <a:p>
            <a:r>
              <a:t>Sources: BSDE annual report, Ciputra reporting, LPKR results announcement, Summarecon presentation, Pakuwon annual report, PANI results, APLN annual report, JRPT results, ASRI annual report, DUTI annual report.</a:t>
            </a:r>
          </a:p>
          <a:p/>
          <a:p>
            <a:r>
              <a:t>SOURCE HYPERLINKS (as embedded in Mario’s PDF; not independently reverified)</a:t>
            </a:r>
          </a:p>
          <a:p>
            <a:r>
              <a:t>https://www.bsdcity.com/app/uploads/2026/05/AR-BSDE-2025.pdf</a:t>
            </a:r>
          </a:p>
          <a:p>
            <a:r>
              <a:t>https://ciputradevelopment.com/wp-content/uploads/2026/05/Laporan_Keberlanjutan_2025_CTRA.pdf</a:t>
            </a:r>
          </a:p>
          <a:p>
            <a:r>
              <a:t>https://www.lippokarawaci.co.id/news/pt-lippo-karawaci-tbk-announces-new-board-of-directors-and-commissioners-at-2026-annual-general-meeting-of-shareholders</a:t>
            </a:r>
          </a:p>
          <a:p>
            <a:r>
              <a:t>https://www.summarecon.com/files/article/SMRA%20Presentation%202026-05.pdf</a:t>
            </a:r>
          </a:p>
          <a:p>
            <a:r>
              <a:t>https://www.pakuwonjati.com/upload/2026/04/69f2e5afd9760-ar-pakuwonjati-2025.pdf</a:t>
            </a:r>
          </a:p>
          <a:p>
            <a:r>
              <a:t>https://storage.googleapis.com/panifiles/pdf/PANI_Press_Release_Financial_Results_FY2025.pdf</a:t>
            </a:r>
          </a:p>
          <a:p>
            <a:r>
              <a:t>https://www.agungpodomoroland.com/en/investor-relation/download/908</a:t>
            </a:r>
          </a:p>
          <a:p>
            <a:r>
              <a:t>https://jayaproperty.com/</a:t>
            </a:r>
          </a:p>
          <a:p>
            <a:r>
              <a:t>https://alamsuterarealty.co.id/public/assets/annualreport/Annual%20Report%20ASRI%202025.pdf</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R04 — FY2025 revenue comparison within the selected cohort</a:t>
            </a:r>
          </a:p>
          <a:p>
            <a:r>
              <a:t>Document pages: 64, 65</a:t>
            </a:r>
          </a:p>
          <a:p/>
          <a:p>
            <a:r>
              <a:t>COMPLETE SOURCE TEXT</a:t>
            </a:r>
          </a:p>
          <a:p>
            <a:r>
              <a:t>Reported consolidated revenue, approximately Rp trillion</a:t>
            </a:r>
          </a:p>
          <a:p/>
          <a:p>
            <a:r>
              <a:t>Position within this cohort | Issuer | FY2025 revenue</a:t>
            </a:r>
          </a:p>
          <a:p/>
          <a:p>
            <a:r>
              <a:t>1 | BSDE | 12.79</a:t>
            </a:r>
          </a:p>
          <a:p/>
          <a:p>
            <a:r>
              <a:t>2 | CTRA | 12.62</a:t>
            </a:r>
          </a:p>
          <a:p/>
          <a:p>
            <a:r>
              <a:t>3 | LPKR | 9.03</a:t>
            </a:r>
          </a:p>
          <a:p/>
          <a:p>
            <a:r>
              <a:t>4 | SMRA | 8.77</a:t>
            </a:r>
          </a:p>
          <a:p/>
          <a:p>
            <a:r>
              <a:t>5 | PWON | 7.11</a:t>
            </a:r>
          </a:p>
          <a:p/>
          <a:p>
            <a:r>
              <a:t>6 | PANI | 4.3</a:t>
            </a:r>
          </a:p>
          <a:p/>
          <a:p>
            <a:r>
              <a:t>7 | APLN | 3.57</a:t>
            </a:r>
          </a:p>
          <a:p/>
          <a:p>
            <a:r>
              <a:t>8 | JRPT | 3.27</a:t>
            </a:r>
          </a:p>
          <a:p/>
          <a:p>
            <a:r>
              <a:t>9 | ASRI | 2.93</a:t>
            </a:r>
          </a:p>
          <a:p/>
          <a:p>
            <a:r>
              <a:t>10 | DUTI | 2.73</a:t>
            </a:r>
          </a:p>
          <a:p/>
          <a:p>
            <a:r>
              <a:t>Interpretation</a:t>
            </a:r>
          </a:p>
          <a:p/>
          <a:p>
            <a:r>
              <a:t>This table describes the selected issuers. It does not establish Indonesia’s complete Top Ten.</a:t>
            </a:r>
          </a:p>
          <a:p/>
          <a:p>
            <a:r>
              <a:t>LPKR also reports revenue after final tax of approximately Rp8.84 trillion; the table uses its headline revenue line. PANI is shown at the precision of its financial-results release.</a:t>
            </a:r>
          </a:p>
          <a:p/>
          <a:p>
            <a:r>
              <a:t>Suggested chart: Horizontal bars, with DUTI marked “included within BSDE consolidation.” Do not sum the bars into a market total.</a:t>
            </a:r>
          </a:p>
          <a:p/>
          <a:p>
            <a:r>
              <a:t>Sources: BSDE annual report, Ciputra reporting, LPKR results announcement, Summarecon presentation, Pakuwon annual report, PANI results, APLN annual report, JRPT results, ASRI annual report, DUTI annual report.</a:t>
            </a:r>
          </a:p>
          <a:p/>
          <a:p>
            <a:r>
              <a:t>SOURCE HYPERLINKS (as embedded in Mario’s PDF; not independently reverified)</a:t>
            </a:r>
          </a:p>
          <a:p>
            <a:r>
              <a:t>https://www.bsdcity.com/app/uploads/2026/05/AR-BSDE-2025.pdf</a:t>
            </a:r>
          </a:p>
          <a:p>
            <a:r>
              <a:t>https://ciputradevelopment.com/wp-content/uploads/2026/05/Laporan_Keberlanjutan_2025_CTRA.pdf</a:t>
            </a:r>
          </a:p>
          <a:p>
            <a:r>
              <a:t>https://www.lippokarawaci.co.id/news/pt-lippo-karawaci-tbk-announces-new-board-of-directors-and-commissioners-at-2026-annual-general-meeting-of-shareholders</a:t>
            </a:r>
          </a:p>
          <a:p>
            <a:r>
              <a:t>https://www.summarecon.com/files/article/SMRA%20Presentation%202026-05.pdf</a:t>
            </a:r>
          </a:p>
          <a:p>
            <a:r>
              <a:t>https://www.pakuwonjati.com/upload/2026/04/69f2e5afd9760-ar-pakuwonjati-2025.pdf</a:t>
            </a:r>
          </a:p>
          <a:p>
            <a:r>
              <a:t>https://storage.googleapis.com/panifiles/pdf/PANI_Press_Release_Financial_Results_FY2025.pdf</a:t>
            </a:r>
          </a:p>
          <a:p>
            <a:r>
              <a:t>https://www.agungpodomoroland.com/en/investor-relation/download/908</a:t>
            </a:r>
          </a:p>
          <a:p>
            <a:r>
              <a:t>https://jayaproperty.com/</a:t>
            </a:r>
          </a:p>
          <a:p>
            <a:r>
              <a:t>https://alamsuterarealty.co.id/public/assets/annualreport/Annual%20Report%20ASRI%202025.pdf</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R05 — BSDE: Company background and 5W1H</a:t>
            </a:r>
          </a:p>
          <a:p>
            <a:r>
              <a:t>Document pages: 65, 66</a:t>
            </a:r>
          </a:p>
          <a:p/>
          <a:p>
            <a:r>
              <a:t>COMPLETE SOURCE TEXT</a:t>
            </a:r>
          </a:p>
          <a:p>
            <a:r>
              <a:t>● Who: PT Bumi Serpong Damai Tbk, a listed township developer within Sinar Mas</a:t>
            </a:r>
          </a:p>
          <a:p/>
          <a:p>
            <a:r>
              <a:t>Land.</a:t>
            </a:r>
          </a:p>
          <a:p/>
          <a:p>
            <a:r>
              <a:t>● What: Residential, commercial, and supporting urban development, with BSD City</a:t>
            </a:r>
          </a:p>
          <a:p/>
          <a:p>
            <a:r>
              <a:t>as its flagship. ● Where: Its principal development identity is centred on the Serpong–Tangerang</a:t>
            </a:r>
          </a:p>
          <a:p/>
          <a:p>
            <a:r>
              <a:t>area, alongside a wider portfolio. ● When: Established in 1984; listed in 2008. ● Who is behind it: The Sinar Mas Land platform and the Widjaja business-family</a:t>
            </a:r>
          </a:p>
          <a:p/>
          <a:p>
            <a:r>
              <a:t>legacy. This group association should not be mistaken for a claim that one individual alone founded the original BSD venture. ● Why and how — analyst interpretation: Long-term control of development land</a:t>
            </a:r>
          </a:p>
          <a:p/>
          <a:p>
            <a:r>
              <a:t>enables infrastructure and amenities to increase the attractiveness of successive property releases.</a:t>
            </a:r>
          </a:p>
          <a:p/>
          <a:p>
            <a:r>
              <a:t>Suggested visual: Group → listed issuer → flagship township diagram.</a:t>
            </a:r>
          </a:p>
          <a:p/>
          <a:p>
            <a:r>
              <a:t>Source: Official BSDE history.</a:t>
            </a:r>
          </a:p>
          <a:p/>
          <a:p>
            <a:r>
              <a:t>SOURCE HYPERLINKS (as embedded in Mario’s PDF; not independently reverified)</a:t>
            </a:r>
          </a:p>
          <a:p>
            <a:r>
              <a:t>https://www.sinarmasland.com/about-us/history-bumi-serpong-damai</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R06 — BSDE: Milestones and strategic inflection points</a:t>
            </a:r>
          </a:p>
          <a:p>
            <a:r>
              <a:t>Document pages: 66, 67</a:t>
            </a:r>
          </a:p>
          <a:p/>
          <a:p>
            <a:r>
              <a:t>COMPLETE SOURCE TEXT</a:t>
            </a:r>
          </a:p>
          <a:p>
            <a:r>
              <a:t>Period | Milestone | Strategic significance</a:t>
            </a:r>
          </a:p>
          <a:p/>
          <a:p>
            <a:r>
              <a:t>1984 | Company established | Beginning of the development platform</a:t>
            </a:r>
          </a:p>
          <a:p/>
          <a:p>
            <a:r>
              <a:t>1990s–20 00s | Residential development and supporting amenities | Building a functioning township over successive phases</a:t>
            </a:r>
          </a:p>
          <a:p/>
          <a:p>
            <a:r>
              <a:t>2008 | Stock-market listing | Access to public equity capital</a:t>
            </a:r>
          </a:p>
          <a:p/>
          <a:p>
            <a:r>
              <a:t>2010 | Acquisition of Duta Pertiwi and other property entities | Expansion through corporate consolidation</a:t>
            </a:r>
          </a:p>
          <a:p/>
          <a:p>
            <a:r>
              <a:t>2010s | Additional retail and commercial anchors | More reasons to live, work, and visit</a:t>
            </a:r>
          </a:p>
          <a:p/>
          <a:p>
            <a:r>
              <a:t>FY2025 | Revenue approximately Rp12.79 trillion | Evidence of the scale reached by the consolidated platform</a:t>
            </a:r>
          </a:p>
          <a:p/>
          <a:p>
            <a:r>
              <a:t>Analyst interpretation: Growth combined development over time with acquisitions; it was not solely organic sales growth inside one township.</a:t>
            </a:r>
          </a:p>
          <a:p/>
          <a:p>
            <a:r>
              <a:t>Suggested visual: Timeline with separate tracks for township development and corporate transactions.</a:t>
            </a:r>
          </a:p>
          <a:p/>
          <a:p>
            <a:r>
              <a:t>Sources: Official history, 2025 annual report.</a:t>
            </a:r>
          </a:p>
          <a:p/>
          <a:p>
            <a:r>
              <a:t>SOURCE HYPERLINKS (as embedded in Mario’s PDF; not independently reverified)</a:t>
            </a:r>
          </a:p>
          <a:p>
            <a:r>
              <a:t>https://www.sinarmasland.com/about-us/history-bumi-serpong-damai</a:t>
            </a:r>
          </a:p>
          <a:p>
            <a:r>
              <a:t>https://www.bsdcity.com/app/uploads/2026/05/AR-BSDE-2025.pdf</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R06 — BSDE: Milestones and strategic inflection points</a:t>
            </a:r>
          </a:p>
          <a:p>
            <a:r>
              <a:t>Document pages: 66, 67</a:t>
            </a:r>
          </a:p>
          <a:p/>
          <a:p>
            <a:r>
              <a:t>COMPLETE SOURCE TEXT</a:t>
            </a:r>
          </a:p>
          <a:p>
            <a:r>
              <a:t>Period | Milestone | Strategic significance</a:t>
            </a:r>
          </a:p>
          <a:p/>
          <a:p>
            <a:r>
              <a:t>1984 | Company established | Beginning of the development platform</a:t>
            </a:r>
          </a:p>
          <a:p/>
          <a:p>
            <a:r>
              <a:t>1990s–20 00s | Residential development and supporting amenities | Building a functioning township over successive phases</a:t>
            </a:r>
          </a:p>
          <a:p/>
          <a:p>
            <a:r>
              <a:t>2008 | Stock-market listing | Access to public equity capital</a:t>
            </a:r>
          </a:p>
          <a:p/>
          <a:p>
            <a:r>
              <a:t>2010 | Acquisition of Duta Pertiwi and other property entities | Expansion through corporate consolidation</a:t>
            </a:r>
          </a:p>
          <a:p/>
          <a:p>
            <a:r>
              <a:t>2010s | Additional retail and commercial anchors | More reasons to live, work, and visit</a:t>
            </a:r>
          </a:p>
          <a:p/>
          <a:p>
            <a:r>
              <a:t>FY2025 | Revenue approximately Rp12.79 trillion | Evidence of the scale reached by the consolidated platform</a:t>
            </a:r>
          </a:p>
          <a:p/>
          <a:p>
            <a:r>
              <a:t>Analyst interpretation: Growth combined development over time with acquisitions; it was not solely organic sales growth inside one township.</a:t>
            </a:r>
          </a:p>
          <a:p/>
          <a:p>
            <a:r>
              <a:t>Suggested visual: Timeline with separate tracks for township development and corporate transactions.</a:t>
            </a:r>
          </a:p>
          <a:p/>
          <a:p>
            <a:r>
              <a:t>Sources: Official history, 2025 annual report.</a:t>
            </a:r>
          </a:p>
          <a:p/>
          <a:p>
            <a:r>
              <a:t>SOURCE HYPERLINKS (as embedded in Mario’s PDF; not independently reverified)</a:t>
            </a:r>
          </a:p>
          <a:p>
            <a:r>
              <a:t>https://www.sinarmasland.com/about-us/history-bumi-serpong-damai</a:t>
            </a:r>
          </a:p>
          <a:p>
            <a:r>
              <a:t>https://www.bsdcity.com/app/uploads/2026/05/AR-BSDE-2025.pdf</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R07 — BSDE: How the growth model works</a:t>
            </a:r>
          </a:p>
          <a:p>
            <a:r>
              <a:t>Document pages: 67</a:t>
            </a:r>
          </a:p>
          <a:p/>
          <a:p>
            <a:r>
              <a:t>COMPLETE SOURCE TEXT</a:t>
            </a:r>
          </a:p>
          <a:p>
            <a:r>
              <a:t>Analyst assessment</a:t>
            </a:r>
          </a:p>
          <a:p/>
          <a:p>
            <a:r>
              <a:t>1. Secure a substantial development pipeline. 2. Provide infrastructure and credible delivery. 3. Introduce residential products for different buyer segments. 4. Attract commercial and institutional activity. 5. Use an increasingly functional location to support subsequent releases. 6. Reinvest proceeds into development capacity and future inventory.</a:t>
            </a:r>
          </a:p>
          <a:p/>
          <a:p>
            <a:r>
              <a:t>Competitive advantage: The business can capture value across multiple development phases rather than relying on one completed building.</a:t>
            </a:r>
          </a:p>
          <a:p/>
          <a:p>
            <a:r>
              <a:t>Important qualification: Amenities consume capital before their benefits are fully realised. Land holdings alone do not create cash flow.</a:t>
            </a:r>
          </a:p>
          <a:p/>
          <a:p>
            <a:r>
              <a:t>Suggested diagram: Land → infrastructure → occupancy → amenities and employment → additional demand → subsequent releases.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R07 — BSDE: How the growth model works</a:t>
            </a:r>
          </a:p>
          <a:p>
            <a:r>
              <a:t>Document pages: 67</a:t>
            </a:r>
          </a:p>
          <a:p/>
          <a:p>
            <a:r>
              <a:t>COMPLETE SOURCE TEXT</a:t>
            </a:r>
          </a:p>
          <a:p>
            <a:r>
              <a:t>Analyst assessment</a:t>
            </a:r>
          </a:p>
          <a:p/>
          <a:p>
            <a:r>
              <a:t>1. Secure a substantial development pipeline. 2. Provide infrastructure and credible delivery. 3. Introduce residential products for different buyer segments. 4. Attract commercial and institutional activity. 5. Use an increasingly functional location to support subsequent releases. 6. Reinvest proceeds into development capacity and future inventory.</a:t>
            </a:r>
          </a:p>
          <a:p/>
          <a:p>
            <a:r>
              <a:t>Competitive advantage: The business can capture value across multiple development phases rather than relying on one completed building.</a:t>
            </a:r>
          </a:p>
          <a:p/>
          <a:p>
            <a:r>
              <a:t>Important qualification: Amenities consume capital before their benefits are fully realised. Land holdings alone do not create cash flow.</a:t>
            </a:r>
          </a:p>
          <a:p/>
          <a:p>
            <a:r>
              <a:t>Suggested diagram: Land → infrastructure → occupancy → amenities and employment → additional demand → subsequent releases.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R08 — BSDE: Financial scale and its interpretation</a:t>
            </a:r>
          </a:p>
          <a:p>
            <a:r>
              <a:t>Document pages: 67, 68</a:t>
            </a:r>
          </a:p>
          <a:p/>
          <a:p>
            <a:r>
              <a:t>COMPLETE SOURCE TEXT</a:t>
            </a:r>
          </a:p>
          <a:p>
            <a:r>
              <a:t>FY2025 reported results, rounded</a:t>
            </a:r>
          </a:p>
          <a:p/>
          <a:p>
            <a:r>
              <a:t>● Revenue: Rp12.79 trillion ● Profit attributable to owners: Rp2.55 trillion ● FY2024 revenue: approximately Rp13.80 trillion ● FY2024 attributable profit: approximately Rp4.36 trillion</a:t>
            </a:r>
          </a:p>
          <a:p/>
          <a:p>
            <a:r>
              <a:t>What this tells us</a:t>
            </a:r>
          </a:p>
          <a:p/>
          <a:p>
            <a:r>
              <a:t>BSDE has substantial revenue and earnings capacity, but scale does not remove volatility. FY2025 revenue and attributable profit were lower than FY2024.</a:t>
            </a:r>
          </a:p>
          <a:p/>
          <a:p>
            <a:r>
              <a:t>What this does not prove</a:t>
            </a:r>
          </a:p>
          <a:p/>
          <a:p>
            <a:r>
              <a:t>The figures do not establish that every project is equally profitable or that reported profit converts immediately into unrestricted cash.</a:t>
            </a:r>
          </a:p>
          <a:p/>
          <a:p>
            <a:r>
              <a:t>Suggested chart: Separate FY2024–FY2025 revenue and attributable-profit comparisons.</a:t>
            </a:r>
          </a:p>
          <a:p/>
          <a:p>
            <a:r>
              <a:t>Source: BSDE 2025 annual report — financial highlights.</a:t>
            </a:r>
          </a:p>
          <a:p/>
          <a:p>
            <a:r>
              <a:t>SOURCE HYPERLINKS (as embedded in Mario’s PDF; not independently reverified)</a:t>
            </a:r>
          </a:p>
          <a:p>
            <a:r>
              <a:t>https://www.bsdcity.com/app/uploads/2026/05/AR-BSDE-2025.pdf</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R08 — BSDE: Financial scale and its interpretation</a:t>
            </a:r>
          </a:p>
          <a:p>
            <a:r>
              <a:t>Document pages: 67, 68</a:t>
            </a:r>
          </a:p>
          <a:p/>
          <a:p>
            <a:r>
              <a:t>COMPLETE SOURCE TEXT</a:t>
            </a:r>
          </a:p>
          <a:p>
            <a:r>
              <a:t>FY2025 reported results, rounded</a:t>
            </a:r>
          </a:p>
          <a:p/>
          <a:p>
            <a:r>
              <a:t>● Revenue: Rp12.79 trillion ● Profit attributable to owners: Rp2.55 trillion ● FY2024 revenue: approximately Rp13.80 trillion ● FY2024 attributable profit: approximately Rp4.36 trillion</a:t>
            </a:r>
          </a:p>
          <a:p/>
          <a:p>
            <a:r>
              <a:t>What this tells us</a:t>
            </a:r>
          </a:p>
          <a:p/>
          <a:p>
            <a:r>
              <a:t>BSDE has substantial revenue and earnings capacity, but scale does not remove volatility. FY2025 revenue and attributable profit were lower than FY2024.</a:t>
            </a:r>
          </a:p>
          <a:p/>
          <a:p>
            <a:r>
              <a:t>What this does not prove</a:t>
            </a:r>
          </a:p>
          <a:p/>
          <a:p>
            <a:r>
              <a:t>The figures do not establish that every project is equally profitable or that reported profit converts immediately into unrestricted cash.</a:t>
            </a:r>
          </a:p>
          <a:p/>
          <a:p>
            <a:r>
              <a:t>Suggested chart: Separate FY2024–FY2025 revenue and attributable-profit comparisons.</a:t>
            </a:r>
          </a:p>
          <a:p/>
          <a:p>
            <a:r>
              <a:t>Source: BSDE 2025 annual report — financial highlights.</a:t>
            </a:r>
          </a:p>
          <a:p/>
          <a:p>
            <a:r>
              <a:t>SOURCE HYPERLINKS (as embedded in Mario’s PDF; not independently reverified)</a:t>
            </a:r>
          </a:p>
          <a:p>
            <a:r>
              <a:t>https://www.bsdcity.com/app/uploads/2026/05/AR-BSDE-2025.pdf</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R09 — BSDE: SWOT</a:t>
            </a:r>
          </a:p>
          <a:p>
            <a:r>
              <a:t>Document pages: 68, 69</a:t>
            </a:r>
          </a:p>
          <a:p/>
          <a:p>
            <a:r>
              <a:t>COMPLETE SOURCE TEXT</a:t>
            </a:r>
          </a:p>
          <a:p>
            <a:r>
              <a:t>Analyst assessment</a:t>
            </a:r>
          </a:p>
          <a:p/>
          <a:p>
            <a:r>
              <a:t>Strengths | Weaknesses / structural constraints</a:t>
            </a:r>
          </a:p>
          <a:p/>
          <a:p>
            <a:r>
              <a:t>Established township platform and group capabilities | Substantial infrastructure and land capital requirements</a:t>
            </a:r>
          </a:p>
          <a:p/>
          <a:p>
            <a:r>
              <a:t>Multiple property products and development phases | Handover and transaction timing affect annual results</a:t>
            </a:r>
          </a:p>
          <a:p/>
          <a:p>
            <a:r>
              <a:t>Ability to coordinate land use and amenities | Large developments require sustained organisational coordination</a:t>
            </a:r>
          </a:p>
          <a:p/>
          <a:p>
            <a:r>
              <a:t>Opportunities | Threats</a:t>
            </a:r>
          </a:p>
          <a:p/>
          <a:p>
            <a:r>
              <a:t>Additional employment, education, and commercial activity | Mortgage affordability and weaker purchasing power</a:t>
            </a:r>
          </a:p>
          <a:p/>
          <a:p>
            <a:r>
              <a:t>More productive use of existing infrastructure | Competing township supply</a:t>
            </a:r>
          </a:p>
          <a:p/>
          <a:p>
            <a:r>
              <a:t>Partnerships that broaden destination functions | Construction-cost, infrastructure, and environmental risks</a:t>
            </a:r>
          </a:p>
          <a:p/>
          <a:p>
            <a:r>
              <a:t>Suggested visual: SWOT matrix with factual foundations distinguished from analytical conclusions.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R10 — BSDE: Lessons for TANRISE</a:t>
            </a:r>
          </a:p>
          <a:p>
            <a:r>
              <a:t>Document pages: 69</a:t>
            </a:r>
          </a:p>
          <a:p/>
          <a:p>
            <a:r>
              <a:t>COMPLETE SOURCE TEXT</a:t>
            </a:r>
          </a:p>
          <a:p>
            <a:r>
              <a:t>Proposed applications</a:t>
            </a:r>
          </a:p>
          <a:p/>
          <a:p>
            <a:r>
              <a:t>● Give each integrated development a phased economic plan, not only a masterplan</a:t>
            </a:r>
          </a:p>
          <a:p/>
          <a:p>
            <a:r>
              <a:t>image. ● Connect residential releases to credible access, services, and employment</a:t>
            </a:r>
          </a:p>
          <a:p/>
          <a:p>
            <a:r>
              <a:t>demand. ● Assess anchors by their contribution to occupancy and sales, alongside their</a:t>
            </a:r>
          </a:p>
          <a:p/>
          <a:p>
            <a:r>
              <a:t>standalone economics. ● Maintain a rolling land and launch pipeline. ● Evaluate acquisitions separately from organic operating performance.</a:t>
            </a:r>
          </a:p>
          <a:p/>
          <a:p>
            <a:r>
              <a:t>Avoid copying prematurely: The scale of BSD’s infrastructure expenditure or the breadth of its portfolio.</a:t>
            </a:r>
          </a:p>
          <a:p/>
          <a:p>
            <a:r>
              <a:t>First test: Prepare one TANRISE project’s ten-year land, infrastructure, launch, collection, and funding schedule.</a:t>
            </a:r>
          </a:p>
          <a:p/>
          <a:p>
            <a:r>
              <a:t>Suggested visual: A phased development plan linking investment decisions to cash-generation milestones.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R11 — Lippo Karawaci: Company background and 5W1H</a:t>
            </a:r>
          </a:p>
          <a:p>
            <a:r>
              <a:t>Document pages: 70</a:t>
            </a:r>
          </a:p>
          <a:p/>
          <a:p>
            <a:r>
              <a:t>COMPLETE SOURCE TEXT</a:t>
            </a:r>
          </a:p>
          <a:p>
            <a:r>
              <a:t>● Who: PT Lippo Karawaci Tbk, a listed property platform associated with the</a:t>
            </a:r>
          </a:p>
          <a:p/>
          <a:p>
            <a:r>
              <a:t>broader Lippo Group. ● What: Property development and asset-related businesses, with a portfolio</a:t>
            </a:r>
          </a:p>
          <a:p/>
          <a:p>
            <a:r>
              <a:t>shaped by major corporate transactions. ● Where: Established township markets include Lippo Village and Lippo Cikarang,</a:t>
            </a:r>
          </a:p>
          <a:p/>
          <a:p>
            <a:r>
              <a:t>alongside other locations. ● When: Incorporated in 1990 under its original corporate name. ● Who is behind it: The Lippo business-group legacy associated with Mochtar</a:t>
            </a:r>
          </a:p>
          <a:p/>
          <a:p>
            <a:r>
              <a:t>Riady; issuer management and ownership must be distinguished from the broader family group. ● Why and how — analyst interpretation: Build residential demand through</a:t>
            </a:r>
          </a:p>
          <a:p/>
          <a:p>
            <a:r>
              <a:t>integrated urban services, then adapt product and capital allocation as market conditions change.</a:t>
            </a:r>
          </a:p>
          <a:p/>
          <a:p>
            <a:r>
              <a:t>Suggested visual: Lippo Group, LPKR, and associated businesses shown as distinct entities.</a:t>
            </a:r>
          </a:p>
          <a:p/>
          <a:p>
            <a:r>
              <a:t>Sources: Official corporate disclosure, annual reports.</a:t>
            </a:r>
          </a:p>
          <a:p/>
          <a:p>
            <a:r>
              <a:t>SOURCE HYPERLINKS (as embedded in Mario’s PDF; not independently reverified)</a:t>
            </a:r>
          </a:p>
          <a:p>
            <a:r>
              <a:t>https://www.lippokarawaci.co.id/uploads/file/KI-Penambahan-Kegiatan-Usaha-LPKR%202024_Eng.pdf</a:t>
            </a:r>
          </a:p>
          <a:p>
            <a:r>
              <a:t>https://www.lippokarawaci.co.id/investor-relations/reports-disclosures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R12 — Lippo Karawaci: Growth and portfolio reset</a:t>
            </a:r>
          </a:p>
          <a:p>
            <a:r>
              <a:t>Document pages: 70</a:t>
            </a:r>
          </a:p>
          <a:p/>
          <a:p>
            <a:r>
              <a:t>COMPLETE SOURCE TEXT</a:t>
            </a:r>
          </a:p>
          <a:p>
            <a:r>
              <a:t>Milestone sequence</a:t>
            </a:r>
          </a:p>
          <a:p/>
          <a:p>
            <a:r>
              <a:t>● 1990: Incorporation of the issuer’s predecessor. ● Subsequent decades: Expansion of township and associated urban-service</a:t>
            </a:r>
          </a:p>
          <a:p/>
          <a:p>
            <a:r>
              <a:t>businesses. ● Diversification period: Healthcare became an important part of the historical</a:t>
            </a:r>
          </a:p>
          <a:p/>
          <a:p>
            <a:r>
              <a:t>consolidated portfolio. ● 2024: Siloam-related divestment and deconsolidation changed the earnings and</a:t>
            </a:r>
          </a:p>
          <a:p/>
          <a:p>
            <a:r>
              <a:t>revenue comparison. ● 2025–2026: Greater emphasis on property execution, capital discipline, and</a:t>
            </a:r>
          </a:p>
          <a:p/>
          <a:p>
            <a:r>
              <a:t>portfolio optimisation. ● May 2026: Indra Yuwana appointed President Director.</a:t>
            </a:r>
          </a:p>
          <a:p/>
          <a:p>
            <a:r>
              <a:t>Analyst interpretation: Lippo is a case study in both ecosystem development and the need to simplify or reset a complex portfolio.</a:t>
            </a:r>
          </a:p>
          <a:p/>
          <a:p>
            <a:r>
              <a:t>Suggested visual: A timeline showing expansion, diversification, divestment, and refocusing.</a:t>
            </a:r>
          </a:p>
          <a:p/>
          <a:p>
            <a:r>
              <a:t>Sources: Siloam transaction disclosure, 2026 AGM announcement.</a:t>
            </a:r>
          </a:p>
          <a:p/>
          <a:p>
            <a:r>
              <a:t>SOURCE HYPERLINKS (as embedded in Mario’s PDF; not independently reverified)</a:t>
            </a:r>
          </a:p>
          <a:p>
            <a:r>
              <a:t>https://www.lippokarawaci.co.id/uploads/file/LPKR%20Keterbukaan%20Informasi%20Sight_English_Ver.pdf</a:t>
            </a:r>
          </a:p>
          <a:p>
            <a:r>
              <a:t>https://www.lippokarawaci.co.id/news/pt-lippo-karawaci-tbk-announces-new-board-of-directors-and-commissioners-at-2026-annual-general-meeting-of-shareholders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R13 — Lippo Karawaci: How the growth model works</a:t>
            </a:r>
          </a:p>
          <a:p>
            <a:r>
              <a:t>Document pages: 71</a:t>
            </a:r>
          </a:p>
          <a:p/>
          <a:p>
            <a:r>
              <a:t>COMPLETE SOURCE TEXT</a:t>
            </a:r>
          </a:p>
          <a:p>
            <a:r>
              <a:t>Analyst assessment</a:t>
            </a:r>
          </a:p>
          <a:p/>
          <a:p>
            <a:r>
              <a:t>The historical model sought to make large residential locations more attractive by combining housing with supporting urban functions.</a:t>
            </a:r>
          </a:p>
          <a:p/>
          <a:p>
            <a:r>
              <a:t>The operating challenge is to match three things:</a:t>
            </a:r>
          </a:p>
          <a:p/>
          <a:p>
            <a:r>
              <a:t>● Products that households can afford. ● Construction and handover capacity. ● Funding that remains available throughout development.</a:t>
            </a:r>
          </a:p>
          <a:p/>
          <a:p>
            <a:r>
              <a:t>Competitive advantage: Existing township infrastructure and customer recognition can support repeat launches.</a:t>
            </a:r>
          </a:p>
          <a:p/>
          <a:p>
            <a:r>
              <a:t>Strategic tension: A broad ecosystem can increase demand, but owning too many different businesses can also increase capital requirements and management complexity.</a:t>
            </a:r>
          </a:p>
          <a:p/>
          <a:p>
            <a:r>
              <a:t>Suggested diagram: Customer affordability → bookings → construction → handover → collections, with financing shown underneath.</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R13 — Lippo Karawaci: How the growth model works</a:t>
            </a:r>
          </a:p>
          <a:p>
            <a:r>
              <a:t>Document pages: 71</a:t>
            </a:r>
          </a:p>
          <a:p/>
          <a:p>
            <a:r>
              <a:t>COMPLETE SOURCE TEXT</a:t>
            </a:r>
          </a:p>
          <a:p>
            <a:r>
              <a:t>Analyst assessment</a:t>
            </a:r>
          </a:p>
          <a:p/>
          <a:p>
            <a:r>
              <a:t>The historical model sought to make large residential locations more attractive by combining housing with supporting urban functions.</a:t>
            </a:r>
          </a:p>
          <a:p/>
          <a:p>
            <a:r>
              <a:t>The operating challenge is to match three things:</a:t>
            </a:r>
          </a:p>
          <a:p/>
          <a:p>
            <a:r>
              <a:t>● Products that households can afford. ● Construction and handover capacity. ● Funding that remains available throughout development.</a:t>
            </a:r>
          </a:p>
          <a:p/>
          <a:p>
            <a:r>
              <a:t>Competitive advantage: Existing township infrastructure and customer recognition can support repeat launches.</a:t>
            </a:r>
          </a:p>
          <a:p/>
          <a:p>
            <a:r>
              <a:t>Strategic tension: A broad ecosystem can increase demand, but owning too many different businesses can also increase capital requirements and management complexity.</a:t>
            </a:r>
          </a:p>
          <a:p/>
          <a:p>
            <a:r>
              <a:t>Suggested diagram: Customer affordability → bookings → construction → handover → collections, with financing shown underneath.</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R14 — Lippo Karawaci: Financial comparison requires adjustment</a:t>
            </a:r>
          </a:p>
          <a:p>
            <a:r>
              <a:t>Document pages: 71, 72</a:t>
            </a:r>
          </a:p>
          <a:p/>
          <a:p>
            <a:r>
              <a:t>COMPLETE SOURCE TEXT</a:t>
            </a:r>
          </a:p>
          <a:p>
            <a:r>
              <a:t>FY2025 reported figures, rounded</a:t>
            </a:r>
          </a:p>
          <a:p/>
          <a:p>
            <a:r>
              <a:t>● Headline revenue: Rp9.03 trillion ● Revenue after final tax: Rp8.84 trillion ● Profit attributable to owners: Rp470 billion</a:t>
            </a:r>
          </a:p>
          <a:p/>
          <a:p>
            <a:r>
              <a:t>Critical interpretation</a:t>
            </a:r>
          </a:p>
          <a:p/>
          <a:p>
            <a:r>
              <a:t>FY2024 contained significant effects associated with the Siloam transaction. A simple profit-growth comparison would give a misleading picture of recurring property performance.</a:t>
            </a:r>
          </a:p>
          <a:p/>
          <a:p>
            <a:r>
              <a:t>Questions to examine separately</a:t>
            </a:r>
          </a:p>
          <a:p/>
          <a:p>
            <a:r>
              <a:t>● Continuing property revenue and margins. ● Cash collections and construction obligations. ● Financing expense and debt maturity.</a:t>
            </a:r>
          </a:p>
          <a:p/>
          <a:p>
            <a:r>
              <a:t>● Disposal proceeds versus repeatable operating cash flow.</a:t>
            </a:r>
          </a:p>
          <a:p/>
          <a:p>
            <a:r>
              <a:t>Suggested chart: A reconciliation graphic separating operating results, transaction effects, and changes in consolidation.</a:t>
            </a:r>
          </a:p>
          <a:p/>
          <a:p>
            <a:r>
              <a:t>Sources: Official results announcement, financial-report repository.</a:t>
            </a:r>
          </a:p>
          <a:p/>
          <a:p>
            <a:r>
              <a:t>SOURCE HYPERLINKS (as embedded in Mario’s PDF; not independently reverified)</a:t>
            </a:r>
          </a:p>
          <a:p>
            <a:r>
              <a:t>https://www.lippokarawaci.co.id/news/pt-lippo-karawaci-tbk-announces-new-board-of-directors-and-commissioners-at-2026-annual-general-meeting-of-shareholders</a:t>
            </a:r>
          </a:p>
          <a:p>
            <a:r>
              <a:t>https://www.lippokarawaci.co.id/investor-relations/reports-disclosures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R14 — Lippo Karawaci: Financial comparison requires adjustment</a:t>
            </a:r>
          </a:p>
          <a:p>
            <a:r>
              <a:t>Document pages: 71, 72</a:t>
            </a:r>
          </a:p>
          <a:p/>
          <a:p>
            <a:r>
              <a:t>COMPLETE SOURCE TEXT</a:t>
            </a:r>
          </a:p>
          <a:p>
            <a:r>
              <a:t>FY2025 reported figures, rounded</a:t>
            </a:r>
          </a:p>
          <a:p/>
          <a:p>
            <a:r>
              <a:t>● Headline revenue: Rp9.03 trillion ● Revenue after final tax: Rp8.84 trillion ● Profit attributable to owners: Rp470 billion</a:t>
            </a:r>
          </a:p>
          <a:p/>
          <a:p>
            <a:r>
              <a:t>Critical interpretation</a:t>
            </a:r>
          </a:p>
          <a:p/>
          <a:p>
            <a:r>
              <a:t>FY2024 contained significant effects associated with the Siloam transaction. A simple profit-growth comparison would give a misleading picture of recurring property performance.</a:t>
            </a:r>
          </a:p>
          <a:p/>
          <a:p>
            <a:r>
              <a:t>Questions to examine separately</a:t>
            </a:r>
          </a:p>
          <a:p/>
          <a:p>
            <a:r>
              <a:t>● Continuing property revenue and margins. ● Cash collections and construction obligations. ● Financing expense and debt maturity.</a:t>
            </a:r>
          </a:p>
          <a:p/>
          <a:p>
            <a:r>
              <a:t>● Disposal proceeds versus repeatable operating cash flow.</a:t>
            </a:r>
          </a:p>
          <a:p/>
          <a:p>
            <a:r>
              <a:t>Suggested chart: A reconciliation graphic separating operating results, transaction effects, and changes in consolidation.</a:t>
            </a:r>
          </a:p>
          <a:p/>
          <a:p>
            <a:r>
              <a:t>Sources: Official results announcement, financial-report repository.</a:t>
            </a:r>
          </a:p>
          <a:p/>
          <a:p>
            <a:r>
              <a:t>SOURCE HYPERLINKS (as embedded in Mario’s PDF; not independently reverified)</a:t>
            </a:r>
          </a:p>
          <a:p>
            <a:r>
              <a:t>https://www.lippokarawaci.co.id/news/pt-lippo-karawaci-tbk-announces-new-board-of-directors-and-commissioners-at-2026-annual-general-meeting-of-shareholders</a:t>
            </a:r>
          </a:p>
          <a:p>
            <a:r>
              <a:t>https://www.lippokarawaci.co.id/investor-relations/reports-disclosures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R15 — Lippo Karawaci: SWOT</a:t>
            </a:r>
          </a:p>
          <a:p>
            <a:r>
              <a:t>Document pages: 72, 73</a:t>
            </a:r>
          </a:p>
          <a:p/>
          <a:p>
            <a:r>
              <a:t>COMPLETE SOURCE TEXT</a:t>
            </a:r>
          </a:p>
          <a:p>
            <a:r>
              <a:t>Analyst assessment</a:t>
            </a:r>
          </a:p>
          <a:p/>
          <a:p>
            <a:r>
              <a:t>Strengths | Weaknesses / structural constraints</a:t>
            </a:r>
          </a:p>
          <a:p/>
          <a:p>
            <a:r>
              <a:t>Established township locations and market recognition | Legacy portfolio complexity</a:t>
            </a:r>
          </a:p>
          <a:p/>
          <a:p>
            <a:r>
              <a:t>Experience serving multiple residential segments | Financing costs can constrain operating flexibility</a:t>
            </a:r>
          </a:p>
          <a:p/>
          <a:p>
            <a:r>
              <a:t>Existing development infrastructure | Corporate transactions complicate performance assessment</a:t>
            </a:r>
          </a:p>
          <a:p/>
          <a:p>
            <a:r>
              <a:t>Opportunities | Threats</a:t>
            </a:r>
          </a:p>
          <a:p/>
          <a:p>
            <a:r>
              <a:t>More affordable, clearly segmented residential products | Mortgage rejection, cancellations, and affordability pressure</a:t>
            </a:r>
          </a:p>
          <a:p/>
          <a:p>
            <a:r>
              <a:t>Monetisation of underproductive assets | Competition from other suburban developers</a:t>
            </a:r>
          </a:p>
          <a:p/>
          <a:p>
            <a:r>
              <a:t>Simpler portfolio and stronger cash discipline | Refinancing, construction-cost, and execution risks</a:t>
            </a:r>
          </a:p>
          <a:p/>
          <a:p>
            <a:r>
              <a:t>Suggested visual: SWOT supported by a separate “operating business versus corporate actions” distinction.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R16 — Lippo Karawaci: Lessons for TANRISE</a:t>
            </a:r>
          </a:p>
          <a:p>
            <a:r>
              <a:t>Document pages: 73</a:t>
            </a:r>
          </a:p>
          <a:p/>
          <a:p>
            <a:r>
              <a:t>COMPLETE SOURCE TEXT</a:t>
            </a:r>
          </a:p>
          <a:p>
            <a:r>
              <a:t>Proposed applications</a:t>
            </a:r>
          </a:p>
          <a:p/>
          <a:p>
            <a:r>
              <a:t>● Treat affordability as a complete household-payment equation. ● Track bookings, mortgage approvals, cancellations, collections, and handovers</a:t>
            </a:r>
          </a:p>
          <a:p/>
          <a:p>
            <a:r>
              <a:t>separately. ● Measure the capital and management burden of each additional business line. ● Distinguish asset-sale gains from repeatable development earnings. ● Use portfolio simplification when it releases capital for stronger growth engines.</a:t>
            </a:r>
          </a:p>
          <a:p/>
          <a:p>
            <a:r>
              <a:t>Avoid copying prematurely: Broad diversification justified only by the appeal of an “integrated ecosystem.”</a:t>
            </a:r>
          </a:p>
          <a:p/>
          <a:p>
            <a:r>
              <a:t>First test: Compare TANRISE’s planned residential products against household income, deposit capacity, bank approval, and monthly payments.</a:t>
            </a:r>
          </a:p>
          <a:p/>
          <a:p>
            <a:r>
              <a:t>Suggested visual: An affordability funnel with points where potential buyers drop out.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R17 — Ciputra: Company background and 5W1H</a:t>
            </a:r>
          </a:p>
          <a:p>
            <a:r>
              <a:t>Document pages: 73, 74</a:t>
            </a:r>
          </a:p>
          <a:p/>
          <a:p>
            <a:r>
              <a:t>COMPLETE SOURCE TEXT</a:t>
            </a:r>
          </a:p>
          <a:p>
            <a:r>
              <a:t>● Who: PT Ciputra Development Tbk. ● What: A development platform combining residential projects with selected</a:t>
            </a:r>
          </a:p>
          <a:p/>
          <a:p>
            <a:r>
              <a:t>commercial and recurring-income assets. ● Where: A geographically distributed Indonesian portfolio. ● When: Established in 1981; listed in 1994. ● Who is behind it: Founder Ir. Ciputra and the Ciputra business-family legacy; the</a:t>
            </a:r>
          </a:p>
          <a:p/>
          <a:p>
            <a:r>
              <a:t>listed company institutionalised the founder’s development approach.</a:t>
            </a:r>
          </a:p>
          <a:p/>
          <a:p>
            <a:r>
              <a:t>● Why and how — analyst interpretation: Replicate a recognisable development</a:t>
            </a:r>
          </a:p>
          <a:p/>
          <a:p>
            <a:r>
              <a:t>capability across locations while adapting projects to local markets and partnerships.</a:t>
            </a:r>
          </a:p>
          <a:p/>
          <a:p>
            <a:r>
              <a:t>Core research question: How can a developer expand without purchasing and independently funding every land parcel?</a:t>
            </a:r>
          </a:p>
          <a:p/>
          <a:p>
            <a:r>
              <a:t>Suggested visual: National project map paired with a developer–landowner partnership model.</a:t>
            </a:r>
          </a:p>
          <a:p/>
          <a:p>
            <a:r>
              <a:t>Source: Ciputra annual report — company history and business model.</a:t>
            </a:r>
          </a:p>
          <a:p/>
          <a:p>
            <a:r>
              <a:t>SOURCE HYPERLINKS (as embedded in Mario’s PDF; not independently reverified)</a:t>
            </a:r>
          </a:p>
          <a:p>
            <a:r>
              <a:t>https://ciputradevelopment.com/rups2022/CTRA_Annual_Report_2021.pdf</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R17 — Ciputra: Company background and 5W1H</a:t>
            </a:r>
          </a:p>
          <a:p>
            <a:r>
              <a:t>Document pages: 73, 74</a:t>
            </a:r>
          </a:p>
          <a:p/>
          <a:p>
            <a:r>
              <a:t>COMPLETE SOURCE TEXT</a:t>
            </a:r>
          </a:p>
          <a:p>
            <a:r>
              <a:t>● Who: PT Ciputra Development Tbk. ● What: A development platform combining residential projects with selected</a:t>
            </a:r>
          </a:p>
          <a:p/>
          <a:p>
            <a:r>
              <a:t>commercial and recurring-income assets. ● Where: A geographically distributed Indonesian portfolio. ● When: Established in 1981; listed in 1994. ● Who is behind it: Founder Ir. Ciputra and the Ciputra business-family legacy; the</a:t>
            </a:r>
          </a:p>
          <a:p/>
          <a:p>
            <a:r>
              <a:t>listed company institutionalised the founder’s development approach.</a:t>
            </a:r>
          </a:p>
          <a:p/>
          <a:p>
            <a:r>
              <a:t>● Why and how — analyst interpretation: Replicate a recognisable development</a:t>
            </a:r>
          </a:p>
          <a:p/>
          <a:p>
            <a:r>
              <a:t>capability across locations while adapting projects to local markets and partnerships.</a:t>
            </a:r>
          </a:p>
          <a:p/>
          <a:p>
            <a:r>
              <a:t>Core research question: How can a developer expand without purchasing and independently funding every land parcel?</a:t>
            </a:r>
          </a:p>
          <a:p/>
          <a:p>
            <a:r>
              <a:t>Suggested visual: National project map paired with a developer–landowner partnership model.</a:t>
            </a:r>
          </a:p>
          <a:p/>
          <a:p>
            <a:r>
              <a:t>Source: Ciputra annual report — company history and business model.</a:t>
            </a:r>
          </a:p>
          <a:p/>
          <a:p>
            <a:r>
              <a:t>SOURCE HYPERLINKS (as embedded in Mario’s PDF; not independently reverified)</a:t>
            </a:r>
          </a:p>
          <a:p>
            <a:r>
              <a:t>https://ciputradevelopment.com/rups2022/CTRA_Annual_Report_2021.pdf</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R18 — Ciputra: Milestones in building a repeatable platform</a:t>
            </a:r>
          </a:p>
          <a:p>
            <a:r>
              <a:t>Document pages: 74, 75</a:t>
            </a:r>
          </a:p>
          <a:p/>
          <a:p>
            <a:r>
              <a:t>COMPLETE SOURCE TEXT</a:t>
            </a:r>
          </a:p>
          <a:p>
            <a:r>
              <a:t>Period | Milestone</a:t>
            </a:r>
          </a:p>
          <a:p/>
          <a:p>
            <a:r>
              <a:t>1981 | Establishment of the original development company</a:t>
            </a:r>
          </a:p>
          <a:p/>
          <a:p>
            <a:r>
              <a:t>1984 | Early CitraGarden City development</a:t>
            </a:r>
          </a:p>
          <a:p/>
          <a:p>
            <a:r>
              <a:t>1990s | Expansion of major residential and commercial projects</a:t>
            </a:r>
          </a:p>
          <a:p/>
          <a:p>
            <a:r>
              <a:t>1994 | Public listing</a:t>
            </a:r>
          </a:p>
          <a:p/>
          <a:p>
            <a:r>
              <a:t>1997–1998 and aftermath | Crisis management and restructuring period</a:t>
            </a:r>
          </a:p>
          <a:p/>
          <a:p>
            <a:r>
              <a:t>2017 | Merger of Ciputra Surya and Ciputra Property into CTRA</a:t>
            </a:r>
          </a:p>
          <a:p/>
          <a:p>
            <a:r>
              <a:t>FY2025 | Reported revenue approximately Rp12.62 trillion</a:t>
            </a:r>
          </a:p>
          <a:p/>
          <a:p>
            <a:r>
              <a:t>Analyst interpretation: The important transition was from founder-led projects to a repeatable, consolidated operating platform.</a:t>
            </a:r>
          </a:p>
          <a:p/>
          <a:p>
            <a:r>
              <a:t>Suggested visual: Timeline separating project expansion, capital-market access, and organisational consolidation.</a:t>
            </a:r>
          </a:p>
          <a:p/>
          <a:p>
            <a:r>
              <a:t>Sources: Historical results presentation, merger disclosure.</a:t>
            </a:r>
          </a:p>
          <a:p/>
          <a:p>
            <a:r>
              <a:t>SOURCE HYPERLINKS (as embedded in Mario’s PDF; not independently reverified)</a:t>
            </a:r>
          </a:p>
          <a:p>
            <a:r>
              <a:t>https://www.ciputradevelopment.com/files/CTRA_Results_Presentation_9M_2017.pdf</a:t>
            </a:r>
          </a:p>
          <a:p>
            <a:r>
              <a:t>https://www.ciputradevelopment.com/files/KI%20Rancangan%20Penggabungan%20CTRA%20dan%20atau%20CTRS%20dan%20atau%20CTRP_22%20Des_English.pdf</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R18 — Ciputra: Milestones in building a repeatable platform</a:t>
            </a:r>
          </a:p>
          <a:p>
            <a:r>
              <a:t>Document pages: 74, 75</a:t>
            </a:r>
          </a:p>
          <a:p/>
          <a:p>
            <a:r>
              <a:t>COMPLETE SOURCE TEXT</a:t>
            </a:r>
          </a:p>
          <a:p>
            <a:r>
              <a:t>Period | Milestone</a:t>
            </a:r>
          </a:p>
          <a:p/>
          <a:p>
            <a:r>
              <a:t>1981 | Establishment of the original development company</a:t>
            </a:r>
          </a:p>
          <a:p/>
          <a:p>
            <a:r>
              <a:t>1984 | Early CitraGarden City development</a:t>
            </a:r>
          </a:p>
          <a:p/>
          <a:p>
            <a:r>
              <a:t>1990s | Expansion of major residential and commercial projects</a:t>
            </a:r>
          </a:p>
          <a:p/>
          <a:p>
            <a:r>
              <a:t>1994 | Public listing</a:t>
            </a:r>
          </a:p>
          <a:p/>
          <a:p>
            <a:r>
              <a:t>1997–1998 and aftermath | Crisis management and restructuring period</a:t>
            </a:r>
          </a:p>
          <a:p/>
          <a:p>
            <a:r>
              <a:t>2017 | Merger of Ciputra Surya and Ciputra Property into CTRA</a:t>
            </a:r>
          </a:p>
          <a:p/>
          <a:p>
            <a:r>
              <a:t>FY2025 | Reported revenue approximately Rp12.62 trillion</a:t>
            </a:r>
          </a:p>
          <a:p/>
          <a:p>
            <a:r>
              <a:t>Analyst interpretation: The important transition was from founder-led projects to a repeatable, consolidated operating platform.</a:t>
            </a:r>
          </a:p>
          <a:p/>
          <a:p>
            <a:r>
              <a:t>Suggested visual: Timeline separating project expansion, capital-market access, and organisational consolidation.</a:t>
            </a:r>
          </a:p>
          <a:p/>
          <a:p>
            <a:r>
              <a:t>Sources: Historical results presentation, merger disclosure.</a:t>
            </a:r>
          </a:p>
          <a:p/>
          <a:p>
            <a:r>
              <a:t>SOURCE HYPERLINKS (as embedded in Mario’s PDF; not independently reverified)</a:t>
            </a:r>
          </a:p>
          <a:p>
            <a:r>
              <a:t>https://www.ciputradevelopment.com/files/CTRA_Results_Presentation_9M_2017.pdf</a:t>
            </a:r>
          </a:p>
          <a:p>
            <a:r>
              <a:t>https://www.ciputradevelopment.com/files/KI%20Rancangan%20Penggabungan%20CTRA%20dan%20atau%20CTRS%20dan%20atau%20CTRP_22%20Des_English.pdf</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R19 — Ciputra: How the growth model works</a:t>
            </a:r>
          </a:p>
          <a:p>
            <a:r>
              <a:t>Document pages: 75</a:t>
            </a:r>
          </a:p>
          <a:p/>
          <a:p>
            <a:r>
              <a:t>COMPLETE SOURCE TEXT</a:t>
            </a:r>
          </a:p>
          <a:p>
            <a:r>
              <a:t>Analyst assessment</a:t>
            </a:r>
          </a:p>
          <a:p/>
          <a:p>
            <a:r>
              <a:t>Ciputra’s partnership approach is especially relevant to developers whose expansion is constrained by land acquisition and capital.</a:t>
            </a:r>
          </a:p>
          <a:p/>
          <a:p>
            <a:r>
              <a:t>Operating logic</a:t>
            </a:r>
          </a:p>
          <a:p/>
          <a:p>
            <a:r>
              <a:t>● Combine development, branding, planning, and sales capabilities with access to</a:t>
            </a:r>
          </a:p>
          <a:p/>
          <a:p>
            <a:r>
              <a:t>local land. ● Adapt products and pricing to each city. ● Reuse operating knowledge across projects. ● Maintain central standards while allowing local commercial decisions.</a:t>
            </a:r>
          </a:p>
          <a:p/>
          <a:p>
            <a:r>
              <a:t>Competitive advantage: Replication of capabilities across multiple markets.</a:t>
            </a:r>
          </a:p>
          <a:p/>
          <a:p>
            <a:r>
              <a:t>Trade-off: Partnerships reduce some upfront burdens but create profit-sharing, governance, approval, and execution dependencies.</a:t>
            </a:r>
          </a:p>
          <a:p/>
          <a:p>
            <a:r>
              <a:t>Suggested diagram: Landowner contribution + developer capabilities + project funding → jointly governed development → shared proceeds.</a:t>
            </a:r>
          </a:p>
          <a:p/>
          <a:p>
            <a:r>
              <a:t>Evidence reference: Ciputra annual report.</a:t>
            </a:r>
          </a:p>
          <a:p/>
          <a:p>
            <a:r>
              <a:t>SOURCE HYPERLINKS (as embedded in Mario’s PDF; not independently reverified)</a:t>
            </a:r>
          </a:p>
          <a:p>
            <a:r>
              <a:t>https://ciputradevelopment.com/rups2022/CTRA_Annual_Report_2021.pdf</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R19 — Ciputra: How the growth model works</a:t>
            </a:r>
          </a:p>
          <a:p>
            <a:r>
              <a:t>Document pages: 75</a:t>
            </a:r>
          </a:p>
          <a:p/>
          <a:p>
            <a:r>
              <a:t>COMPLETE SOURCE TEXT</a:t>
            </a:r>
          </a:p>
          <a:p>
            <a:r>
              <a:t>Analyst assessment</a:t>
            </a:r>
          </a:p>
          <a:p/>
          <a:p>
            <a:r>
              <a:t>Ciputra’s partnership approach is especially relevant to developers whose expansion is constrained by land acquisition and capital.</a:t>
            </a:r>
          </a:p>
          <a:p/>
          <a:p>
            <a:r>
              <a:t>Operating logic</a:t>
            </a:r>
          </a:p>
          <a:p/>
          <a:p>
            <a:r>
              <a:t>● Combine development, branding, planning, and sales capabilities with access to</a:t>
            </a:r>
          </a:p>
          <a:p/>
          <a:p>
            <a:r>
              <a:t>local land. ● Adapt products and pricing to each city. ● Reuse operating knowledge across projects. ● Maintain central standards while allowing local commercial decisions.</a:t>
            </a:r>
          </a:p>
          <a:p/>
          <a:p>
            <a:r>
              <a:t>Competitive advantage: Replication of capabilities across multiple markets.</a:t>
            </a:r>
          </a:p>
          <a:p/>
          <a:p>
            <a:r>
              <a:t>Trade-off: Partnerships reduce some upfront burdens but create profit-sharing, governance, approval, and execution dependencies.</a:t>
            </a:r>
          </a:p>
          <a:p/>
          <a:p>
            <a:r>
              <a:t>Suggested diagram: Landowner contribution + developer capabilities + project funding → jointly governed development → shared proceeds.</a:t>
            </a:r>
          </a:p>
          <a:p/>
          <a:p>
            <a:r>
              <a:t>Evidence reference: Ciputra annual report.</a:t>
            </a:r>
          </a:p>
          <a:p/>
          <a:p>
            <a:r>
              <a:t>SOURCE HYPERLINKS (as embedded in Mario’s PDF; not independently reverified)</a:t>
            </a:r>
          </a:p>
          <a:p>
            <a:r>
              <a:t>https://ciputradevelopment.com/rups2022/CTRA_Annual_Report_2021.pdf</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R20 — Ciputra: Financial scale and operating momentum</a:t>
            </a:r>
          </a:p>
          <a:p>
            <a:r>
              <a:t>Document pages: 75, 76</a:t>
            </a:r>
          </a:p>
          <a:p/>
          <a:p>
            <a:r>
              <a:t>COMPLETE SOURCE TEXT</a:t>
            </a:r>
          </a:p>
          <a:p>
            <a:r>
              <a:t>FY2025 reported figures, rounded</a:t>
            </a:r>
          </a:p>
          <a:p/>
          <a:p>
            <a:r>
              <a:t>● Revenue: Rp12.62 trillion</a:t>
            </a:r>
          </a:p>
          <a:p/>
          <a:p>
            <a:r>
              <a:t>● Reported net profit: Rp2.66 trillion ● Marketing sales: approximately Rp9.46 trillion ● FY2024 revenue: Rp11.19 trillion</a:t>
            </a:r>
          </a:p>
          <a:p/>
          <a:p>
            <a:r>
              <a:t>Interpretation</a:t>
            </a:r>
          </a:p>
          <a:p/>
          <a:p>
            <a:r>
              <a:t>Revenue and marketing sales describe different stages of the business. FY2025 revenue can include handovers from sales made in earlier periods.</a:t>
            </a:r>
          </a:p>
          <a:p/>
          <a:p>
            <a:r>
              <a:t>Competitive significance: A broad launch and handover pipeline supports scale, but geographical breadth requires strong controls and local execution.</a:t>
            </a:r>
          </a:p>
          <a:p/>
          <a:p>
            <a:r>
              <a:t>Suggested chart: Separate revenue and marketing-sales series; do not combine them into one total.</a:t>
            </a:r>
          </a:p>
          <a:p/>
          <a:p>
            <a:r>
              <a:t>Source: Ciputra 2025 sustainability report — financial and operational performance.</a:t>
            </a:r>
          </a:p>
          <a:p/>
          <a:p>
            <a:r>
              <a:t>SOURCE HYPERLINKS (as embedded in Mario’s PDF; not independently reverified)</a:t>
            </a:r>
          </a:p>
          <a:p>
            <a:r>
              <a:t>https://ciputradevelopment.com/wp-content/uploads/2026/05/Laporan_Keberlanjutan_2025_CTRA.pdf</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R21 — Ciputra: SWOT</a:t>
            </a:r>
          </a:p>
          <a:p>
            <a:r>
              <a:t>Document pages: 76, 77</a:t>
            </a:r>
          </a:p>
          <a:p/>
          <a:p>
            <a:r>
              <a:t>COMPLETE SOURCE TEXT</a:t>
            </a:r>
          </a:p>
          <a:p>
            <a:r>
              <a:t>Analyst assessment</a:t>
            </a:r>
          </a:p>
          <a:p/>
          <a:p>
            <a:r>
              <a:t>Strengths | Weaknesses / structural constraints</a:t>
            </a:r>
          </a:p>
          <a:p/>
          <a:p>
            <a:r>
              <a:t>Replicable development capabilities and brand familiarity | Managing many locations increases organisational complexity</a:t>
            </a:r>
          </a:p>
          <a:p/>
          <a:p>
            <a:r>
              <a:t>Partnership experience | Shared economics and partner dependencies</a:t>
            </a:r>
          </a:p>
          <a:p/>
          <a:p>
            <a:r>
              <a:t>Geographic diversification | Local markets can behave differently</a:t>
            </a:r>
          </a:p>
          <a:p/>
          <a:p>
            <a:r>
              <a:t>Opportunities | Threats</a:t>
            </a:r>
          </a:p>
          <a:p/>
          <a:p>
            <a:r>
              <a:t>Selective expansion with suitable land partners | Weak local demand despite national housing need</a:t>
            </a:r>
          </a:p>
          <a:p/>
          <a:p>
            <a:r>
              <a:t>New phases within established projects | Inconsistent execution across locations</a:t>
            </a:r>
          </a:p>
          <a:p/>
          <a:p>
            <a:r>
              <a:t>Better product adaptation and operating systems | Land, approval, financing, and construction risks</a:t>
            </a:r>
          </a:p>
          <a:p/>
          <a:p>
            <a:r>
              <a:t>Suggested visual: SWOT with an accompanying map of “central standards versus local adaptation.”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R22 — Ciputra: Lessons for TANRISE</a:t>
            </a:r>
          </a:p>
          <a:p>
            <a:r>
              <a:t>Document pages: 77</a:t>
            </a:r>
          </a:p>
          <a:p/>
          <a:p>
            <a:r>
              <a:t>COMPLETE SOURCE TEXT</a:t>
            </a:r>
          </a:p>
          <a:p>
            <a:r>
              <a:t>Proposed applications</a:t>
            </a:r>
          </a:p>
          <a:p/>
          <a:p>
            <a:r>
              <a:t>● Build a formal land-partnership offer. ● Define what TANRISE contributes beyond its corporate name. ● Establish clear responsibilities for land readiness, permits, infrastructure,</a:t>
            </a:r>
          </a:p>
          <a:p/>
          <a:p>
            <a:r>
              <a:t>marketing, construction, and funding. ● Develop a repeatable residential delivery system before expanding widely. ● Select partners for governance quality as well as land location.</a:t>
            </a:r>
          </a:p>
          <a:p/>
          <a:p>
            <a:r>
              <a:t>Avoid copying prematurely: Entering many cities before project leadership and control systems are ready.</a:t>
            </a:r>
          </a:p>
          <a:p/>
          <a:p>
            <a:r>
              <a:t>First test: Screen a small number of potential land partnerships using one investment and governance template.</a:t>
            </a:r>
          </a:p>
          <a:p/>
          <a:p>
            <a:r>
              <a:t>Suggested visual: Partnership-screening funnel: location → legal readiness → demand → economics → governance.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R23 — Summarecon: Company background and 5W1H</a:t>
            </a:r>
          </a:p>
          <a:p>
            <a:r>
              <a:t>Document pages: 77, 78</a:t>
            </a:r>
          </a:p>
          <a:p/>
          <a:p>
            <a:r>
              <a:t>COMPLETE SOURCE TEXT</a:t>
            </a:r>
          </a:p>
          <a:p>
            <a:r>
              <a:t>● Who: PT Summarecon Agung Tbk.</a:t>
            </a:r>
          </a:p>
          <a:p/>
          <a:p>
            <a:r>
              <a:t>● What: Township development, investment-property management, and</a:t>
            </a:r>
          </a:p>
          <a:p/>
          <a:p>
            <a:r>
              <a:t>leisure/hospitality activities. ● Where: Originated in Kelapa Gading and expanded into additional township</a:t>
            </a:r>
          </a:p>
          <a:p/>
          <a:p>
            <a:r>
              <a:t>markets. ● When: Established in 1975; listed in 1990. ● Who is behind it: Soetjipto Nagaria and associates; the Nagaria family remains</a:t>
            </a:r>
          </a:p>
          <a:p/>
          <a:p>
            <a:r>
              <a:t>associated with the company’s development legacy. ● Why and how — analyst interpretation: Create neighbourhoods whose commercial</a:t>
            </a:r>
          </a:p>
          <a:p/>
          <a:p>
            <a:r>
              <a:t>and everyday functions strengthen residential demand over time.</a:t>
            </a:r>
          </a:p>
          <a:p/>
          <a:p>
            <a:r>
              <a:t>Core research question: How does a developer make a new location commercially credible before it is fully mature?</a:t>
            </a:r>
          </a:p>
          <a:p/>
          <a:p>
            <a:r>
              <a:t>Suggested visual: A township ecosystem linking residents, retail, education, access, and estate management.</a:t>
            </a:r>
          </a:p>
          <a:p/>
          <a:p>
            <a:r>
              <a:t>Sources: Official company overview, May 2026 investor presentation.</a:t>
            </a:r>
          </a:p>
          <a:p/>
          <a:p>
            <a:r>
              <a:t>SOURCE HYPERLINKS (as embedded in Mario’s PDF; not independently reverified)</a:t>
            </a:r>
          </a:p>
          <a:p>
            <a:r>
              <a:t>https://www.summarecon.com/id/profile/company-overview</a:t>
            </a:r>
          </a:p>
          <a:p>
            <a:r>
              <a:t>https://www.summarecon.com/files/article/SMRA%20Presentation%202026-05.pdf</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R24 — Summarecon: Growth through successive townships</a:t>
            </a:r>
          </a:p>
          <a:p>
            <a:r>
              <a:t>Document pages: 78</a:t>
            </a:r>
          </a:p>
          <a:p/>
          <a:p>
            <a:r>
              <a:t>COMPLETE SOURCE TEXT</a:t>
            </a:r>
          </a:p>
          <a:p>
            <a:r>
              <a:t>Milestone sequence</a:t>
            </a:r>
          </a:p>
          <a:p/>
          <a:p>
            <a:r>
              <a:t>● 1975: Establishment and early development in Kelapa Gading. ● 1990: Stock-market listing. ● Later expansion: Application of township capabilities to Serpong and other</a:t>
            </a:r>
          </a:p>
          <a:p/>
          <a:p>
            <a:r>
              <a:t>markets. ● Subsequent development: A broader portfolio including Bekasi, Bandung,</a:t>
            </a:r>
          </a:p>
          <a:p/>
          <a:p>
            <a:r>
              <a:t>Karawang, Makassar, Bogor, and other locations. ● Current platform: Development sales supported by retained commercial and</a:t>
            </a:r>
          </a:p>
          <a:p/>
          <a:p>
            <a:r>
              <a:t>supporting assets.</a:t>
            </a:r>
          </a:p>
          <a:p/>
          <a:p>
            <a:r>
              <a:t>Analyst interpretation: The capability being replicated is the coordination of a township—not simply a cluster design or a mall.</a:t>
            </a:r>
          </a:p>
          <a:p/>
          <a:p>
            <a:r>
              <a:t>Suggested visual: A chronological map showing township expansion, with dates taken directly from the investor presentation.</a:t>
            </a:r>
          </a:p>
          <a:p/>
          <a:p>
            <a:r>
              <a:t>Sources: Official company overview, investor presentation and township histories.</a:t>
            </a:r>
          </a:p>
          <a:p/>
          <a:p>
            <a:r>
              <a:t>SOURCE HYPERLINKS (as embedded in Mario’s PDF; not independently reverified)</a:t>
            </a:r>
          </a:p>
          <a:p>
            <a:r>
              <a:t>https://www.summarecon.com/id/profile/company-overview</a:t>
            </a:r>
          </a:p>
          <a:p>
            <a:r>
              <a:t>https://www.summarecon.com/files/article/SMRA%20Presentation%202026-05.pdf</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R25 — Summarecon: How the growth model works</a:t>
            </a:r>
          </a:p>
          <a:p>
            <a:r>
              <a:t>Document pages: 78, 79</a:t>
            </a:r>
          </a:p>
          <a:p/>
          <a:p>
            <a:r>
              <a:t>COMPLETE SOURCE TEXT</a:t>
            </a:r>
          </a:p>
          <a:p>
            <a:r>
              <a:t>Analyst assessment</a:t>
            </a:r>
          </a:p>
          <a:p/>
          <a:p>
            <a:r>
              <a:t>The model connects three activities:</a:t>
            </a:r>
          </a:p>
          <a:p/>
          <a:p>
            <a:r>
              <a:t>1. Residential development generates sales and an initial population. 2. Commercial and community functions make the location more useful. 3. Estate and asset management help preserve the experience after handover.</a:t>
            </a:r>
          </a:p>
          <a:p/>
          <a:p>
            <a:r>
              <a:t>Competitive advantage: Repeated coordination of physical development, commercial activity, and ongoing operations.</a:t>
            </a:r>
          </a:p>
          <a:p/>
          <a:p>
            <a:r>
              <a:t>Economic tension: A facility may help sell surrounding property while taking years to achieve attractive standalone returns.</a:t>
            </a:r>
          </a:p>
          <a:p/>
          <a:p>
            <a:r>
              <a:t>Suggested diagram: Residential occupancy ↔ everyday activity ↔ commercial demand ↔ stronger subsequent releases.</a:t>
            </a:r>
          </a:p>
          <a:p/>
          <a:p>
            <a:r>
              <a:t>Designer note: Show mutual relationships rather than implying that one mall automatically creates a successful township.</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R26 — Summarecon: Financial performance and profit definitions</a:t>
            </a:r>
          </a:p>
          <a:p>
            <a:r>
              <a:t>Document pages: 79</a:t>
            </a:r>
          </a:p>
          <a:p/>
          <a:p>
            <a:r>
              <a:t>COMPLETE SOURCE TEXT</a:t>
            </a:r>
          </a:p>
          <a:p>
            <a:r>
              <a:t>FY2025 reported figures, rounded</a:t>
            </a:r>
          </a:p>
          <a:p/>
          <a:p>
            <a:r>
              <a:t>● Revenue: Rp8.77 trillion ● Total profit for the year: Rp1.20 trillion ● Profit attributable to company owners: Rp767 billion ● FY2024 revenue: Rp10.62 trillion</a:t>
            </a:r>
          </a:p>
          <a:p/>
          <a:p>
            <a:r>
              <a:t>Interpretation</a:t>
            </a:r>
          </a:p>
          <a:p/>
          <a:p>
            <a:r>
              <a:t>The difference between total profit and attributable profit is material. The two figures must not be interchanged in a peer comparison.</a:t>
            </a:r>
          </a:p>
          <a:p/>
          <a:p>
            <a:r>
              <a:t>Lower annual revenue also demonstrates the importance of development recognition and project timing.</a:t>
            </a:r>
          </a:p>
          <a:p/>
          <a:p>
            <a:r>
              <a:t>Suggested chart: Revenue comparison plus a profit bridge separating owners and non-controlling interests.</a:t>
            </a:r>
          </a:p>
          <a:p/>
          <a:p>
            <a:r>
              <a:t>Source: Summarecon May 2026 presentation — consolidated income statements.</a:t>
            </a:r>
          </a:p>
          <a:p/>
          <a:p>
            <a:r>
              <a:t>SOURCE HYPERLINKS (as embedded in Mario’s PDF; not independently reverified)</a:t>
            </a:r>
          </a:p>
          <a:p>
            <a:r>
              <a:t>https://www.summarecon.com/files/article/SMRA%20Presentation%202026-05.pdf</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R27 — Summarecon: SWOT</a:t>
            </a:r>
          </a:p>
          <a:p>
            <a:r>
              <a:t>Document pages: 79, 80</a:t>
            </a:r>
          </a:p>
          <a:p/>
          <a:p>
            <a:r>
              <a:t>COMPLETE SOURCE TEXT</a:t>
            </a:r>
          </a:p>
          <a:p>
            <a:r>
              <a:t>Analyst assessment</a:t>
            </a:r>
          </a:p>
          <a:p/>
          <a:p>
            <a:r>
              <a:t>Strengths | Weaknesses / structural constraints</a:t>
            </a:r>
          </a:p>
          <a:p/>
          <a:p>
            <a:r>
              <a:t>Established township-development capabilities | Significant spending before township maturity</a:t>
            </a:r>
          </a:p>
          <a:p/>
          <a:p>
            <a:r>
              <a:t>Experience coordinating residential and commercial functions | Simultaneous projects compete for capital and management</a:t>
            </a:r>
          </a:p>
          <a:p/>
          <a:p>
            <a:r>
              <a:t>Recognisable development identity | Annual results remain sensitive to handovers</a:t>
            </a:r>
          </a:p>
          <a:p/>
          <a:p>
            <a:r>
              <a:t>Opportunities | Threats</a:t>
            </a:r>
          </a:p>
          <a:p/>
          <a:p>
            <a:r>
              <a:t>Further development within established townships | Buyers delaying purchases</a:t>
            </a:r>
          </a:p>
          <a:p/>
          <a:p>
            <a:r>
              <a:t>Better use of existing commercial infrastructure | Oversupply of similar suburban products</a:t>
            </a:r>
          </a:p>
          <a:p/>
          <a:p>
            <a:r>
              <a:t>Selective replication in suitable markets | Financing costs and delayed infrastructure</a:t>
            </a:r>
          </a:p>
          <a:p/>
          <a:p>
            <a:r>
              <a:t>Suggested visual: SWOT linked to a township maturity curve.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R28 — Summarecon: Lessons for TANRISE</a:t>
            </a:r>
          </a:p>
          <a:p>
            <a:r>
              <a:t>Document pages: 80, 81</a:t>
            </a:r>
          </a:p>
          <a:p/>
          <a:p>
            <a:r>
              <a:t>COMPLETE SOURCE TEXT</a:t>
            </a:r>
          </a:p>
          <a:p>
            <a:r>
              <a:t>Proposed applications</a:t>
            </a:r>
          </a:p>
          <a:p/>
          <a:p>
            <a:r>
              <a:t>● Define what makes each TANRISE location useful on an ordinary weekday. ● Sequence access, basic services, residential occupancy, and larger anchors. ● Give estate management a role in the development strategy. ● Set separate objectives for an anchor’s operating return and its contribution to</a:t>
            </a:r>
          </a:p>
          <a:p/>
          <a:p>
            <a:r>
              <a:t>surrounding property. ● Use smaller facilities to test demand before committing to major capital</a:t>
            </a:r>
          </a:p>
          <a:p/>
          <a:p>
            <a:r>
              <a:t>expenditure.</a:t>
            </a:r>
          </a:p>
          <a:p/>
          <a:p>
            <a:r>
              <a:t>First test: Create an activation and anchor plan for Sidoarjo, with timing tied to realistic occupancy.</a:t>
            </a:r>
          </a:p>
          <a:p/>
          <a:p>
            <a:r>
              <a:t>Avoid copying prematurely: Building a major retail anchor solely because mature competitors own malls.</a:t>
            </a:r>
          </a:p>
          <a:p/>
          <a:p>
            <a:r>
              <a:t>Suggested visual: Township phasing tied to resident numbers and verified demand.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R29 — Pakuwon: Company background and 5W1H</a:t>
            </a:r>
          </a:p>
          <a:p>
            <a:r>
              <a:t>Document pages: 81</a:t>
            </a:r>
          </a:p>
          <a:p/>
          <a:p>
            <a:r>
              <a:t>COMPLETE SOURCE TEXT</a:t>
            </a:r>
          </a:p>
          <a:p>
            <a:r>
              <a:t>● Who: PT Pakuwon Jati Tbk. ● What: Mixed-use development with a substantial retained commercial-property</a:t>
            </a:r>
          </a:p>
          <a:p/>
          <a:p>
            <a:r>
              <a:t>platform. ● Where: Originated in Surabaya and subsequently expanded, including into</a:t>
            </a:r>
          </a:p>
          <a:p/>
          <a:p>
            <a:r>
              <a:t>Jakarta. ● When: Established in 1982; listed in 1989. ● Who is behind it: Alexander Tedja and the founding business-family legacy. ● Why and how — analyst interpretation: Combine retained assets that generate</a:t>
            </a:r>
          </a:p>
          <a:p/>
          <a:p>
            <a:r>
              <a:t>recurring income with property development and sales.</a:t>
            </a:r>
          </a:p>
          <a:p/>
          <a:p>
            <a:r>
              <a:t>Relevant projects: Tunjungan City, Pakuwon Mall, Gandaria City, and Kota Kasablanka.</a:t>
            </a:r>
          </a:p>
          <a:p/>
          <a:p>
            <a:r>
              <a:t>Suggested visual: A mixed-use development diagram separating assets held for income from units developed for sale.</a:t>
            </a:r>
          </a:p>
          <a:p/>
          <a:p>
            <a:r>
              <a:t>Sources: Official history and portfolio, 2025 annual report.</a:t>
            </a:r>
          </a:p>
          <a:p/>
          <a:p>
            <a:r>
              <a:t>SOURCE HYPERLINKS (as embedded in Mario’s PDF; not independently reverified)</a:t>
            </a:r>
          </a:p>
          <a:p>
            <a:r>
              <a:t>https://www.pakuwonjati.com/id/pages/3/history</a:t>
            </a:r>
          </a:p>
          <a:p>
            <a:r>
              <a:t>https://www.pakuwonjati.com/upload/2026/04/69f2e5afd9760-ar-pakuwonjati-2025.pdf</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R30 — Pakuwon: Milestones in building recurring income</a:t>
            </a:r>
          </a:p>
          <a:p>
            <a:r>
              <a:t>Document pages: 82</a:t>
            </a:r>
          </a:p>
          <a:p/>
          <a:p>
            <a:r>
              <a:t>COMPLETE SOURCE TEXT</a:t>
            </a:r>
          </a:p>
          <a:p>
            <a:r>
              <a:t>Period | Milestone | Strategic meaning</a:t>
            </a:r>
          </a:p>
          <a:p/>
          <a:p>
            <a:r>
              <a:t>1982 | Company established | Beginning of the platform</a:t>
            </a:r>
          </a:p>
          <a:p/>
          <a:p>
            <a:r>
              <a:t>1986 | Tunjungan Plaza I | Foundational retained retail asset</a:t>
            </a:r>
          </a:p>
          <a:p/>
          <a:p>
            <a:r>
              <a:t>1989 | Public listing | Broader capital access</a:t>
            </a:r>
          </a:p>
          <a:p/>
          <a:p>
            <a:r>
              <a:t>2007 | Entry into Jakarta | Geographic expansion</a:t>
            </a:r>
          </a:p>
          <a:p/>
          <a:p>
            <a:r>
              <a:t>2010 | Gandaria City opened | Replication of mixed-use development</a:t>
            </a:r>
          </a:p>
          <a:p/>
          <a:p>
            <a:r>
              <a:t>2012 | Kota Kasablanka opened | Further expansion of retained commercial income</a:t>
            </a:r>
          </a:p>
          <a:p/>
          <a:p>
            <a:r>
              <a:t>FY2025 Revenue approximately Rp7.11</a:t>
            </a:r>
          </a:p>
          <a:p/>
          <a:p>
            <a:r>
              <a:t>trillion</a:t>
            </a:r>
          </a:p>
          <a:p/>
          <a:p>
            <a:r>
              <a:t>Scale supported by recurring operations</a:t>
            </a:r>
          </a:p>
          <a:p/>
          <a:p>
            <a:r>
              <a:t>Analyst interpretation: Retained assets became a cumulative income base, rather than being replaced each year through new sales.</a:t>
            </a:r>
          </a:p>
          <a:p/>
          <a:p>
            <a:r>
              <a:t>Suggested visual: Timeline with a second line tracking the accumulation of retained assets.</a:t>
            </a:r>
          </a:p>
          <a:p/>
          <a:p>
            <a:r>
              <a:t>Source: Pakuwon company history.</a:t>
            </a:r>
          </a:p>
          <a:p/>
          <a:p>
            <a:r>
              <a:t>SOURCE HYPERLINKS (as embedded in Mario’s PDF; not independently reverified)</a:t>
            </a:r>
          </a:p>
          <a:p>
            <a:r>
              <a:t>https://www.pakuwonjati.com/id/pages/3/history</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R30 — Pakuwon: Milestones in building recurring income</a:t>
            </a:r>
          </a:p>
          <a:p>
            <a:r>
              <a:t>Document pages: 82</a:t>
            </a:r>
          </a:p>
          <a:p/>
          <a:p>
            <a:r>
              <a:t>COMPLETE SOURCE TEXT</a:t>
            </a:r>
          </a:p>
          <a:p>
            <a:r>
              <a:t>Period | Milestone | Strategic meaning</a:t>
            </a:r>
          </a:p>
          <a:p/>
          <a:p>
            <a:r>
              <a:t>1982 | Company established | Beginning of the platform</a:t>
            </a:r>
          </a:p>
          <a:p/>
          <a:p>
            <a:r>
              <a:t>1986 | Tunjungan Plaza I | Foundational retained retail asset</a:t>
            </a:r>
          </a:p>
          <a:p/>
          <a:p>
            <a:r>
              <a:t>1989 | Public listing | Broader capital access</a:t>
            </a:r>
          </a:p>
          <a:p/>
          <a:p>
            <a:r>
              <a:t>2007 | Entry into Jakarta | Geographic expansion</a:t>
            </a:r>
          </a:p>
          <a:p/>
          <a:p>
            <a:r>
              <a:t>2010 | Gandaria City opened | Replication of mixed-use development</a:t>
            </a:r>
          </a:p>
          <a:p/>
          <a:p>
            <a:r>
              <a:t>2012 | Kota Kasablanka opened | Further expansion of retained commercial income</a:t>
            </a:r>
          </a:p>
          <a:p/>
          <a:p>
            <a:r>
              <a:t>FY2025 Revenue approximately Rp7.11</a:t>
            </a:r>
          </a:p>
          <a:p/>
          <a:p>
            <a:r>
              <a:t>trillion</a:t>
            </a:r>
          </a:p>
          <a:p/>
          <a:p>
            <a:r>
              <a:t>Scale supported by recurring operations</a:t>
            </a:r>
          </a:p>
          <a:p/>
          <a:p>
            <a:r>
              <a:t>Analyst interpretation: Retained assets became a cumulative income base, rather than being replaced each year through new sales.</a:t>
            </a:r>
          </a:p>
          <a:p/>
          <a:p>
            <a:r>
              <a:t>Suggested visual: Timeline with a second line tracking the accumulation of retained assets.</a:t>
            </a:r>
          </a:p>
          <a:p/>
          <a:p>
            <a:r>
              <a:t>Source: Pakuwon company history.</a:t>
            </a:r>
          </a:p>
          <a:p/>
          <a:p>
            <a:r>
              <a:t>SOURCE HYPERLINKS (as embedded in Mario’s PDF; not independently reverified)</a:t>
            </a:r>
          </a:p>
          <a:p>
            <a:r>
              <a:t>https://www.pakuwonjati.com/id/pages/3/history</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R31 — Pakuwon: How the growth model works</a:t>
            </a:r>
          </a:p>
          <a:p>
            <a:r>
              <a:t>Document pages: 82, 83</a:t>
            </a:r>
          </a:p>
          <a:p/>
          <a:p>
            <a:r>
              <a:t>COMPLETE SOURCE TEXT</a:t>
            </a:r>
          </a:p>
          <a:p>
            <a:r>
              <a:t>Analyst assessment</a:t>
            </a:r>
          </a:p>
          <a:p/>
          <a:p>
            <a:r>
              <a:t>● Retain selected commercial assets.</a:t>
            </a:r>
          </a:p>
          <a:p/>
          <a:p>
            <a:r>
              <a:t>● Develop an attractive tenant mix and visitor proposition. ● Maintain and improve the operating assets. ● Use adjacent residential, hotel, and office functions where commercially justified. ● Add further phases or locations when demand and funding support them.</a:t>
            </a:r>
          </a:p>
          <a:p/>
          <a:p>
            <a:r>
              <a:t>Competitive advantage: An operating asset can generate income repeatedly, reducing reliance on new development handovers.</a:t>
            </a:r>
          </a:p>
          <a:p/>
          <a:p>
            <a:r>
              <a:t>Trade-off: Retention ties up capital and creates continuing leasing, maintenance, refurbishment, and operating obligations.</a:t>
            </a:r>
          </a:p>
          <a:p/>
          <a:p>
            <a:r>
              <a:t>Suggested diagram: Retained asset → occupancy and tenant trading → rental income → maintenance and reinvestment → further capacity.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R31 — Pakuwon: How the growth model works</a:t>
            </a:r>
          </a:p>
          <a:p>
            <a:r>
              <a:t>Document pages: 82, 83</a:t>
            </a:r>
          </a:p>
          <a:p/>
          <a:p>
            <a:r>
              <a:t>COMPLETE SOURCE TEXT</a:t>
            </a:r>
          </a:p>
          <a:p>
            <a:r>
              <a:t>Analyst assessment</a:t>
            </a:r>
          </a:p>
          <a:p/>
          <a:p>
            <a:r>
              <a:t>● Retain selected commercial assets.</a:t>
            </a:r>
          </a:p>
          <a:p/>
          <a:p>
            <a:r>
              <a:t>● Develop an attractive tenant mix and visitor proposition. ● Maintain and improve the operating assets. ● Use adjacent residential, hotel, and office functions where commercially justified. ● Add further phases or locations when demand and funding support them.</a:t>
            </a:r>
          </a:p>
          <a:p/>
          <a:p>
            <a:r>
              <a:t>Competitive advantage: An operating asset can generate income repeatedly, reducing reliance on new development handovers.</a:t>
            </a:r>
          </a:p>
          <a:p/>
          <a:p>
            <a:r>
              <a:t>Trade-off: Retention ties up capital and creates continuing leasing, maintenance, refurbishment, and operating obligations.</a:t>
            </a:r>
          </a:p>
          <a:p/>
          <a:p>
            <a:r>
              <a:t>Suggested diagram: Retained asset → occupancy and tenant trading → rental income → maintenance and reinvestment → further capacity.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R32 — Pakuwon: Financial evidence of the model</a:t>
            </a:r>
          </a:p>
          <a:p>
            <a:r>
              <a:t>Document pages: 83</a:t>
            </a:r>
          </a:p>
          <a:p/>
          <a:p>
            <a:r>
              <a:t>COMPLETE SOURCE TEXT</a:t>
            </a:r>
          </a:p>
          <a:p>
            <a:r>
              <a:t>FY2025 reported figures, rounded</a:t>
            </a:r>
          </a:p>
          <a:p/>
          <a:p>
            <a:r>
              <a:t>● Revenue: Rp7.11 trillion ● Recurring revenue: approximately Rp5.62 trillion ● Recurring share of revenue: approximately 79% ● Profit attributable to owners: Rp2.35 trillion ● Total profit for the year: approximately Rp2.76 trillion</a:t>
            </a:r>
          </a:p>
          <a:p/>
          <a:p>
            <a:r>
              <a:t>Interpretation</a:t>
            </a:r>
          </a:p>
          <a:p/>
          <a:p>
            <a:r>
              <a:t>Pakuwon provides a useful example of a large recurring-income base. This is different from assuming that any hotel or commercial asset will deliver the same economics.</a:t>
            </a:r>
          </a:p>
          <a:p/>
          <a:p>
            <a:r>
              <a:t>Suggested charts: Revenue composition and a separate attributable-profit figure.</a:t>
            </a:r>
          </a:p>
          <a:p/>
          <a:p>
            <a:r>
              <a:t>Source: Pakuwon 2025 annual report — financial highlights and segment discussion.</a:t>
            </a:r>
          </a:p>
          <a:p/>
          <a:p>
            <a:r>
              <a:t>SOURCE HYPERLINKS (as embedded in Mario’s PDF; not independently reverified)</a:t>
            </a:r>
          </a:p>
          <a:p>
            <a:r>
              <a:t>https://www.pakuwonjati.com/upload/2026/04/69f2e5afd9760-ar-pakuwonjati-2025.pdf</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R33 — Pakuwon: SWOT</a:t>
            </a:r>
          </a:p>
          <a:p>
            <a:r>
              <a:t>Document pages: 83, 84</a:t>
            </a:r>
          </a:p>
          <a:p/>
          <a:p>
            <a:r>
              <a:t>COMPLETE SOURCE TEXT</a:t>
            </a:r>
          </a:p>
          <a:p>
            <a:r>
              <a:t>Analyst assessment</a:t>
            </a:r>
          </a:p>
          <a:p/>
          <a:p>
            <a:r>
              <a:t>Strengths | Weaknesses / structural constraints</a:t>
            </a:r>
          </a:p>
          <a:p/>
          <a:p>
            <a:r>
              <a:t>Significant recurring-income platform | Large amount of capital retained in physical assets</a:t>
            </a:r>
          </a:p>
          <a:p/>
          <a:p>
            <a:r>
              <a:t>Experience in retail operations and mixed-use development | Continuing refurbishment and operating expenditure</a:t>
            </a:r>
          </a:p>
          <a:p/>
          <a:p>
            <a:r>
              <a:t>Established destination assets | Exposure to retail and consumer activity</a:t>
            </a:r>
          </a:p>
          <a:p/>
          <a:p>
            <a:r>
              <a:t>Opportunities | Threats</a:t>
            </a:r>
          </a:p>
          <a:p/>
          <a:p>
            <a:r>
              <a:t>Improving productivity of existing space | Weaker tenant trading and household spending</a:t>
            </a:r>
          </a:p>
          <a:p/>
          <a:p>
            <a:r>
              <a:t>Selective extensions and redevelopment | New competing destinations</a:t>
            </a:r>
          </a:p>
          <a:p/>
          <a:p>
            <a:r>
              <a:t>Replication where demand is established | Financing costs, operating-cost inflation, and execution risk</a:t>
            </a:r>
          </a:p>
          <a:p/>
          <a:p>
            <a:r>
              <a:t>Suggested visual: SWOT with a separate distinction between asset ownership and asset-operating capability.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R34 — Pakuwon: Lessons for TANRISE</a:t>
            </a:r>
          </a:p>
          <a:p>
            <a:r>
              <a:t>Document pages: 84, 85</a:t>
            </a:r>
          </a:p>
          <a:p/>
          <a:p>
            <a:r>
              <a:t>COMPLETE SOURCE TEXT</a:t>
            </a:r>
          </a:p>
          <a:p>
            <a:r>
              <a:t>Proposed applications</a:t>
            </a:r>
          </a:p>
          <a:p/>
          <a:p>
            <a:r>
              <a:t>● Build recurring income only where there is demonstrable demand and operating</a:t>
            </a:r>
          </a:p>
          <a:p/>
          <a:p>
            <a:r>
              <a:t>capability.</a:t>
            </a:r>
          </a:p>
          <a:p/>
          <a:p>
            <a:r>
              <a:t>● Measure cash contribution after maintenance and necessary reinvestment. ● Separate an attractive building from an attractive investment. ● Improve the productivity of existing retained assets before expanding the</a:t>
            </a:r>
          </a:p>
          <a:p/>
          <a:p>
            <a:r>
              <a:t>category. ● Use specialist operators where they improve outcomes under clear contracts.</a:t>
            </a:r>
          </a:p>
          <a:p/>
          <a:p>
            <a:r>
              <a:t>First test: Review TANRISE’s retained assets by occupancy, cash contribution, required capital expenditure, and return on invested capital.</a:t>
            </a:r>
          </a:p>
          <a:p/>
          <a:p>
            <a:r>
              <a:t>Avoid copying prematurely: Attempting to build a Pakuwon-sized retail portfolio.</a:t>
            </a:r>
          </a:p>
          <a:p/>
          <a:p>
            <a:r>
              <a:t>Suggested visual: Hold, improve, partner, repurpose, or dispose decision matrix.</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R35 — Agung Podomoro Land: Company background and 5W1H</a:t>
            </a:r>
          </a:p>
          <a:p>
            <a:r>
              <a:t>Document pages: 85</a:t>
            </a:r>
          </a:p>
          <a:p/>
          <a:p>
            <a:r>
              <a:t>COMPLETE SOURCE TEXT</a:t>
            </a:r>
          </a:p>
          <a:p>
            <a:r>
              <a:t>● Who: PT Agung Podomoro Land Tbk. ● What: Residential and mixed-use development, with development sales and</a:t>
            </a:r>
          </a:p>
          <a:p/>
          <a:p>
            <a:r>
              <a:t>selected recurring assets. ● Where: A portfolio extending beyond its original Jakarta base. ● When: The group traces its origins to 1969; the listed issuer was established in</a:t>
            </a:r>
          </a:p>
          <a:p/>
          <a:p>
            <a:r>
              <a:t>2004 and listed in 2010. ● Who is behind it: Group founder Anton Haliman and subsequent leadership</a:t>
            </a:r>
          </a:p>
          <a:p/>
          <a:p>
            <a:r>
              <a:t>associated with Trihatma Kusuma Haliman. ● Why and how — analyst interpretation: Combine multiple uses within</a:t>
            </a:r>
          </a:p>
          <a:p/>
          <a:p>
            <a:r>
              <a:t>developments, supported by development execution and selective retention of operating assets.</a:t>
            </a:r>
          </a:p>
          <a:p/>
          <a:p>
            <a:r>
              <a:t>Key distinction: Group heritage is older than the listed company.</a:t>
            </a:r>
          </a:p>
          <a:p/>
          <a:p>
            <a:r>
              <a:t>Suggested visual: Two parallel timelines: group history and listed-issuer history.</a:t>
            </a:r>
          </a:p>
          <a:p/>
          <a:p>
            <a:r>
              <a:t>Sources: Group history, issuer overview.</a:t>
            </a:r>
          </a:p>
          <a:p/>
          <a:p>
            <a:r>
              <a:t>SOURCE HYPERLINKS (as embedded in Mario’s PDF; not independently reverified)</a:t>
            </a:r>
          </a:p>
          <a:p>
            <a:r>
              <a:t>https://www.agungpodomoroland.com/en/about-us/about/41/history</a:t>
            </a:r>
          </a:p>
          <a:p>
            <a:r>
              <a:t>https://www.agungpodomoroland.com/en/about-us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R36 — Agung Podomoro Land: Milestones and changing emphasis</a:t>
            </a:r>
          </a:p>
          <a:p>
            <a:r>
              <a:t>Document pages: 85, 86</a:t>
            </a:r>
          </a:p>
          <a:p/>
          <a:p>
            <a:r>
              <a:t>COMPLETE SOURCE TEXT</a:t>
            </a:r>
          </a:p>
          <a:p>
            <a:r>
              <a:t>● 1969: Agung Podomoro Group established. ● 1973: Early Simprug completion and Sunter development. ● 1986: Leadership transition to Trihatma Kusuma Haliman. ● 2004: Establishment of the entity that became APLN.</a:t>
            </a:r>
          </a:p>
          <a:p/>
          <a:p>
            <a:r>
              <a:t>● 2010: Asset consolidation and stock-market listing. ● Subsequent period: Expansion through urban mixed-use and residential projects. ● Recent period: Greater importance of asset monetisation, funding discipline, and</a:t>
            </a:r>
          </a:p>
          <a:p/>
          <a:p>
            <a:r>
              <a:t>selective development.</a:t>
            </a:r>
          </a:p>
          <a:p/>
          <a:p>
            <a:r>
              <a:t>Analyst interpretation: Large accumulated portfolios create both opportunities and capital-management obligations.</a:t>
            </a:r>
          </a:p>
          <a:p/>
          <a:p>
            <a:r>
              <a:t>Suggested visual: Timeline with transactions and development milestones clearly differentiated.</a:t>
            </a:r>
          </a:p>
          <a:p/>
          <a:p>
            <a:r>
              <a:t>Sources: Official history, 2025 annual report.</a:t>
            </a:r>
          </a:p>
          <a:p/>
          <a:p>
            <a:r>
              <a:t>SOURCE HYPERLINKS (as embedded in Mario’s PDF; not independently reverified)</a:t>
            </a:r>
          </a:p>
          <a:p>
            <a:r>
              <a:t>https://www.agungpodomoroland.com/en/about-us/about/41/history</a:t>
            </a:r>
          </a:p>
          <a:p>
            <a:r>
              <a:t>https://www.agungpodomoroland.com/en/investor-relation/download/908</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R37 — Agung Podomoro Land: How the model creates value</a:t>
            </a:r>
          </a:p>
          <a:p>
            <a:r>
              <a:t>Document pages: 86</a:t>
            </a:r>
          </a:p>
          <a:p/>
          <a:p>
            <a:r>
              <a:t>COMPLETE SOURCE TEXT</a:t>
            </a:r>
          </a:p>
          <a:p>
            <a:r>
              <a:t>Analyst assessment</a:t>
            </a:r>
          </a:p>
          <a:p/>
          <a:p>
            <a:r>
              <a:t>A mixed-use project can combine:</a:t>
            </a:r>
          </a:p>
          <a:p/>
          <a:p>
            <a:r>
              <a:t>● Units sold to customers. ● Retained space that produces operating income. ● Shared access, infrastructure, and public areas. ● Commercial activity that supports surrounding property.</a:t>
            </a:r>
          </a:p>
          <a:p/>
          <a:p>
            <a:r>
              <a:t>Potential advantage: Several uses can reinforce one another within a relatively concentrated site.</a:t>
            </a:r>
          </a:p>
          <a:p/>
          <a:p>
            <a:r>
              <a:t>Potential weakness: Complex projects increase construction, leasing, phasing, financing, and governance requirements.</a:t>
            </a:r>
          </a:p>
          <a:p/>
          <a:p>
            <a:r>
              <a:t>Research distinction: Selling a completed operating asset can release capital, but it may also reduce future recurring income.</a:t>
            </a:r>
          </a:p>
          <a:p/>
          <a:p>
            <a:r>
              <a:t>Suggested diagram: A mixed-use project with separate cash flows for sales, leases, operating costs, and asset disposals.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R37 — Agung Podomoro Land: How the model creates value</a:t>
            </a:r>
          </a:p>
          <a:p>
            <a:r>
              <a:t>Document pages: 86</a:t>
            </a:r>
          </a:p>
          <a:p/>
          <a:p>
            <a:r>
              <a:t>COMPLETE SOURCE TEXT</a:t>
            </a:r>
          </a:p>
          <a:p>
            <a:r>
              <a:t>Analyst assessment</a:t>
            </a:r>
          </a:p>
          <a:p/>
          <a:p>
            <a:r>
              <a:t>A mixed-use project can combine:</a:t>
            </a:r>
          </a:p>
          <a:p/>
          <a:p>
            <a:r>
              <a:t>● Units sold to customers. ● Retained space that produces operating income. ● Shared access, infrastructure, and public areas. ● Commercial activity that supports surrounding property.</a:t>
            </a:r>
          </a:p>
          <a:p/>
          <a:p>
            <a:r>
              <a:t>Potential advantage: Several uses can reinforce one another within a relatively concentrated site.</a:t>
            </a:r>
          </a:p>
          <a:p/>
          <a:p>
            <a:r>
              <a:t>Potential weakness: Complex projects increase construction, leasing, phasing, financing, and governance requirements.</a:t>
            </a:r>
          </a:p>
          <a:p/>
          <a:p>
            <a:r>
              <a:t>Research distinction: Selling a completed operating asset can release capital, but it may also reduce future recurring income.</a:t>
            </a:r>
          </a:p>
          <a:p/>
          <a:p>
            <a:r>
              <a:t>Suggested diagram: A mixed-use project with separate cash flows for sales, leases, operating costs, and asset disposals.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R38 — Agung Podomoro Land: Financial scale and variability</a:t>
            </a:r>
          </a:p>
          <a:p>
            <a:r>
              <a:t>Document pages: 86, 87</a:t>
            </a:r>
          </a:p>
          <a:p/>
          <a:p>
            <a:r>
              <a:t>COMPLETE SOURCE TEXT</a:t>
            </a:r>
          </a:p>
          <a:p>
            <a:r>
              <a:t>FY2025 reported figures, rounded</a:t>
            </a:r>
          </a:p>
          <a:p/>
          <a:p>
            <a:r>
              <a:t>● Revenue: Rp3.57 trillion ● FY2024 revenue: Rp5.58 trillion</a:t>
            </a:r>
          </a:p>
          <a:p/>
          <a:p>
            <a:r>
              <a:t>● Recurring revenue: approximately Rp1.36 trillion ● Profit attributable to owners: approximately Rp113 billion ● Total profit for the year: approximately Rp239 billion</a:t>
            </a:r>
          </a:p>
          <a:p/>
          <a:p>
            <a:r>
              <a:t>Interpretation</a:t>
            </a:r>
          </a:p>
          <a:p/>
          <a:p>
            <a:r>
              <a:t>A sizeable physical portfolio does not automatically produce high attributable earnings.</a:t>
            </a:r>
          </a:p>
          <a:p/>
          <a:p>
            <a:r>
              <a:t>The year-to-year decline requires examination of handovers, asset disposals, financing, and operating mix—not a conclusion that the brand alone weakened.</a:t>
            </a:r>
          </a:p>
          <a:p/>
          <a:p>
            <a:r>
              <a:t>Suggested chart: Revenue composition alongside a revenue-to-attributable-profit bridge.</a:t>
            </a:r>
          </a:p>
          <a:p/>
          <a:p>
            <a:r>
              <a:t>Source: APLN 2025 annual report — financial highlights and operating review.</a:t>
            </a:r>
          </a:p>
          <a:p/>
          <a:p>
            <a:r>
              <a:t>SOURCE HYPERLINKS (as embedded in Mario’s PDF; not independently reverified)</a:t>
            </a:r>
          </a:p>
          <a:p>
            <a:r>
              <a:t>https://www.agungpodomoroland.com/en/investor-relation/download/908</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R38 — Agung Podomoro Land: Financial scale and variability</a:t>
            </a:r>
          </a:p>
          <a:p>
            <a:r>
              <a:t>Document pages: 86, 87</a:t>
            </a:r>
          </a:p>
          <a:p/>
          <a:p>
            <a:r>
              <a:t>COMPLETE SOURCE TEXT</a:t>
            </a:r>
          </a:p>
          <a:p>
            <a:r>
              <a:t>FY2025 reported figures, rounded</a:t>
            </a:r>
          </a:p>
          <a:p/>
          <a:p>
            <a:r>
              <a:t>● Revenue: Rp3.57 trillion ● FY2024 revenue: Rp5.58 trillion</a:t>
            </a:r>
          </a:p>
          <a:p/>
          <a:p>
            <a:r>
              <a:t>● Recurring revenue: approximately Rp1.36 trillion ● Profit attributable to owners: approximately Rp113 billion ● Total profit for the year: approximately Rp239 billion</a:t>
            </a:r>
          </a:p>
          <a:p/>
          <a:p>
            <a:r>
              <a:t>Interpretation</a:t>
            </a:r>
          </a:p>
          <a:p/>
          <a:p>
            <a:r>
              <a:t>A sizeable physical portfolio does not automatically produce high attributable earnings.</a:t>
            </a:r>
          </a:p>
          <a:p/>
          <a:p>
            <a:r>
              <a:t>The year-to-year decline requires examination of handovers, asset disposals, financing, and operating mix—not a conclusion that the brand alone weakened.</a:t>
            </a:r>
          </a:p>
          <a:p/>
          <a:p>
            <a:r>
              <a:t>Suggested chart: Revenue composition alongside a revenue-to-attributable-profit bridge.</a:t>
            </a:r>
          </a:p>
          <a:p/>
          <a:p>
            <a:r>
              <a:t>Source: APLN 2025 annual report — financial highlights and operating review.</a:t>
            </a:r>
          </a:p>
          <a:p/>
          <a:p>
            <a:r>
              <a:t>SOURCE HYPERLINKS (as embedded in Mario’s PDF; not independently reverified)</a:t>
            </a:r>
          </a:p>
          <a:p>
            <a:r>
              <a:t>https://www.agungpodomoroland.com/en/investor-relation/download/908</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R39 — Agung Podomoro Land: SWOT</a:t>
            </a:r>
          </a:p>
          <a:p>
            <a:r>
              <a:t>Document pages: 87, 88</a:t>
            </a:r>
          </a:p>
          <a:p/>
          <a:p>
            <a:r>
              <a:t>COMPLETE SOURCE TEXT</a:t>
            </a:r>
          </a:p>
          <a:p>
            <a:r>
              <a:t>Analyst assessment</a:t>
            </a:r>
          </a:p>
          <a:p/>
          <a:p>
            <a:r>
              <a:t>Strengths | Weaknesses / structural constraints</a:t>
            </a:r>
          </a:p>
          <a:p/>
          <a:p>
            <a:r>
              <a:t>Mixed-use development experience | Complex development and financing requirements</a:t>
            </a:r>
          </a:p>
          <a:p/>
          <a:p>
            <a:r>
              <a:t>Recognisable projects and accumulated assets | Asset monetisation may reduce future operating income</a:t>
            </a:r>
          </a:p>
          <a:p/>
          <a:p>
            <a:r>
              <a:t>Ability to combine sale and retained components | Portfolio size can exceed available capital or management capacity</a:t>
            </a:r>
          </a:p>
          <a:p/>
          <a:p>
            <a:r>
              <a:t>Opportunities | Threats</a:t>
            </a:r>
          </a:p>
          <a:p/>
          <a:p>
            <a:r>
              <a:t>More focused allocation of capital | Slow absorption of high-rise inventory</a:t>
            </a:r>
          </a:p>
          <a:p/>
          <a:p>
            <a:r>
              <a:t>Partnerships and asset recycling | Refinancing and construction-cost pressures</a:t>
            </a:r>
          </a:p>
          <a:p/>
          <a:p>
            <a:r>
              <a:t>Selective growth in suitable residential locations | Retail, office, or residential oversupply in individual markets</a:t>
            </a:r>
          </a:p>
          <a:p/>
          <a:p>
            <a:r>
              <a:t>Suggested visual: SWOT with capital allocation at its centre.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R40 — Agung Podomoro Land: Lessons for TANRISE</a:t>
            </a:r>
          </a:p>
          <a:p>
            <a:r>
              <a:t>Document pages: 88</a:t>
            </a:r>
          </a:p>
          <a:p/>
          <a:p>
            <a:r>
              <a:t>COMPLETE SOURCE TEXT</a:t>
            </a:r>
          </a:p>
          <a:p>
            <a:r>
              <a:t>Proposed applications</a:t>
            </a:r>
          </a:p>
          <a:p/>
          <a:p>
            <a:r>
              <a:t>● Give every major development a complete funding plan. ● Evaluate retained components separately from saleable inventory. ● Track capital tied up in completed but unproductive assets. ● Use partnerships or asset recycling where they improve returns. ● Match portfolio complexity to management capacity.</a:t>
            </a:r>
          </a:p>
          <a:p/>
          <a:p>
            <a:r>
              <a:t>First test: Establish a capital-productivity review for Voza Tower and other material inventory or retained assets, using client-confirmed ownership and operating data.</a:t>
            </a:r>
          </a:p>
          <a:p/>
          <a:p>
            <a:r>
              <a:t>Avoid copying prematurely: Complex mixed-use development without a clear sequence of demand, delivery, and financing.</a:t>
            </a:r>
          </a:p>
          <a:p/>
          <a:p>
            <a:r>
              <a:t>Suggested visual: Capital deployed versus cash generated by asset.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R41 — Duta Pertiwi: Company background and 5W1H</a:t>
            </a:r>
          </a:p>
          <a:p>
            <a:r>
              <a:t>Document pages: 88, 89</a:t>
            </a:r>
          </a:p>
          <a:p/>
          <a:p>
            <a:r>
              <a:t>COMPLETE SOURCE TEXT</a:t>
            </a:r>
          </a:p>
          <a:p>
            <a:r>
              <a:t>● Who: PT Duta Pertiwi Tbk, a listed company within the BSDE/Sinar Mas Land</a:t>
            </a:r>
          </a:p>
          <a:p/>
          <a:p>
            <a:r>
              <a:t>structure. ● What: Township, residential, commercial, and managed-property activities. ● Where: Greater Jakarta and selected other Indonesian locations. ● When: Established in 1972; listed in 1994.</a:t>
            </a:r>
          </a:p>
          <a:p/>
          <a:p>
            <a:r>
              <a:t>● Who is behind it: Its present group context is Sinar Mas Land through BSDE. Do</a:t>
            </a:r>
          </a:p>
          <a:p/>
          <a:p>
            <a:r>
              <a:t>not invent an individual founder where the reviewed evidence does not establish one. ● Why and how — analyst interpretation: Build on commercial-development</a:t>
            </a:r>
          </a:p>
          <a:p/>
          <a:p>
            <a:r>
              <a:t>experience while expanding into residential and township activities.</a:t>
            </a:r>
          </a:p>
          <a:p/>
          <a:p>
            <a:r>
              <a:t>Critical distinction: DUTI’s financial results are consolidated within BSDE.</a:t>
            </a:r>
          </a:p>
          <a:p/>
          <a:p>
            <a:r>
              <a:t>Suggested visual: Ownership structure with a prominent consolidation boundary.</a:t>
            </a:r>
          </a:p>
          <a:p/>
          <a:p>
            <a:r>
              <a:t>Source: DUTI 2025 annual report — company profile and ownership.</a:t>
            </a:r>
          </a:p>
          <a:p/>
          <a:p>
            <a:r>
              <a:t>SOURCE HYPERLINKS (as embedded in Mario’s PDF; not independently reverified)</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R42 — Duta Pertiwi: Milestones</a:t>
            </a:r>
          </a:p>
          <a:p>
            <a:r>
              <a:t>Document pages: 89, 90</a:t>
            </a:r>
          </a:p>
          <a:p/>
          <a:p>
            <a:r>
              <a:t>COMPLETE SOURCE TEXT</a:t>
            </a:r>
          </a:p>
          <a:p>
            <a:r>
              <a:t>Period | Milestone</a:t>
            </a:r>
          </a:p>
          <a:p/>
          <a:p>
            <a:r>
              <a:t>1972 | Company established</a:t>
            </a:r>
          </a:p>
          <a:p/>
          <a:p>
            <a:r>
              <a:t>1987 | Early commercial and residential development</a:t>
            </a:r>
          </a:p>
          <a:p/>
          <a:p>
            <a:r>
              <a:t>1989 | Development of the Mangga Dua commercial concept</a:t>
            </a:r>
          </a:p>
          <a:p/>
          <a:p>
            <a:r>
              <a:t>1994 | Public listing</a:t>
            </a:r>
          </a:p>
          <a:p/>
          <a:p>
            <a:r>
              <a:t>1996–1997 | Kota Wisata and Legenda Wisata development milestones</a:t>
            </a:r>
          </a:p>
          <a:p/>
          <a:p>
            <a:r>
              <a:t>2010 | Acquisition into BSDE’s consolidated platform</a:t>
            </a:r>
          </a:p>
          <a:p/>
          <a:p>
            <a:r>
              <a:t>Subsequent period | Further township and commercial-asset development</a:t>
            </a:r>
          </a:p>
          <a:p/>
          <a:p>
            <a:r>
              <a:t>Research caution: An official group webpage compresses the establishment and later ownership chronology. The presentation should not imply that DUTI was founded in 1972 as a subsidiary of BSDE, which was established later.</a:t>
            </a:r>
          </a:p>
          <a:p/>
          <a:p>
            <a:r>
              <a:t>Suggested visual: Timeline separating establishment from changes in ownership.</a:t>
            </a:r>
          </a:p>
          <a:p/>
          <a:p>
            <a:r>
              <a:t>Sources: DUTI history, BSDE history.</a:t>
            </a:r>
          </a:p>
          <a:p/>
          <a:p>
            <a:r>
              <a:t>SOURCE HYPERLINKS (as embedded in Mario’s PDF; not independently reverified)</a:t>
            </a:r>
          </a:p>
          <a:p>
            <a:r>
              <a:t>https://www.sinarmasland.com/about-us/history-duta-pertiwi</a:t>
            </a:r>
          </a:p>
          <a:p>
            <a:r>
              <a:t>https://www.sinarmasland.com/about-us/history-bumi-serpong-damai</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R42 — Duta Pertiwi: Milestones</a:t>
            </a:r>
          </a:p>
          <a:p>
            <a:r>
              <a:t>Document pages: 89, 90</a:t>
            </a:r>
          </a:p>
          <a:p/>
          <a:p>
            <a:r>
              <a:t>COMPLETE SOURCE TEXT</a:t>
            </a:r>
          </a:p>
          <a:p>
            <a:r>
              <a:t>Period | Milestone</a:t>
            </a:r>
          </a:p>
          <a:p/>
          <a:p>
            <a:r>
              <a:t>1972 | Company established</a:t>
            </a:r>
          </a:p>
          <a:p/>
          <a:p>
            <a:r>
              <a:t>1987 | Early commercial and residential development</a:t>
            </a:r>
          </a:p>
          <a:p/>
          <a:p>
            <a:r>
              <a:t>1989 | Development of the Mangga Dua commercial concept</a:t>
            </a:r>
          </a:p>
          <a:p/>
          <a:p>
            <a:r>
              <a:t>1994 | Public listing</a:t>
            </a:r>
          </a:p>
          <a:p/>
          <a:p>
            <a:r>
              <a:t>1996–1997 | Kota Wisata and Legenda Wisata development milestones</a:t>
            </a:r>
          </a:p>
          <a:p/>
          <a:p>
            <a:r>
              <a:t>2010 | Acquisition into BSDE’s consolidated platform</a:t>
            </a:r>
          </a:p>
          <a:p/>
          <a:p>
            <a:r>
              <a:t>Subsequent period | Further township and commercial-asset development</a:t>
            </a:r>
          </a:p>
          <a:p/>
          <a:p>
            <a:r>
              <a:t>Research caution: An official group webpage compresses the establishment and later ownership chronology. The presentation should not imply that DUTI was founded in 1972 as a subsidiary of BSDE, which was established later.</a:t>
            </a:r>
          </a:p>
          <a:p/>
          <a:p>
            <a:r>
              <a:t>Suggested visual: Timeline separating establishment from changes in ownership.</a:t>
            </a:r>
          </a:p>
          <a:p/>
          <a:p>
            <a:r>
              <a:t>Sources: DUTI history, BSDE history.</a:t>
            </a:r>
          </a:p>
          <a:p/>
          <a:p>
            <a:r>
              <a:t>SOURCE HYPERLINKS (as embedded in Mario’s PDF; not independently reverified)</a:t>
            </a:r>
          </a:p>
          <a:p>
            <a:r>
              <a:t>https://www.sinarmasland.com/about-us/history-duta-pertiwi</a:t>
            </a:r>
          </a:p>
          <a:p>
            <a:r>
              <a:t>https://www.sinarmasland.com/about-us/history-bumi-serpong-damai</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R43 — Duta Pertiwi: How the model works</a:t>
            </a:r>
          </a:p>
          <a:p>
            <a:r>
              <a:t>Document pages: 90</a:t>
            </a:r>
          </a:p>
          <a:p/>
          <a:p>
            <a:r>
              <a:t>COMPLETE SOURCE TEXT</a:t>
            </a:r>
          </a:p>
          <a:p>
            <a:r>
              <a:t>Analyst assessment</a:t>
            </a:r>
          </a:p>
          <a:p/>
          <a:p>
            <a:r>
              <a:t>DUTI illustrates the interaction between:</a:t>
            </a:r>
          </a:p>
          <a:p/>
          <a:p>
            <a:r>
              <a:t>● Property developed for sale. ● Commercial properties and related activities. ● Township expansion. ● Capabilities and resources available within a larger group.</a:t>
            </a:r>
          </a:p>
          <a:p/>
          <a:p>
            <a:r>
              <a:t>Competitive advantage: Experience accumulated across different property formats can support new development phases.</a:t>
            </a:r>
          </a:p>
          <a:p/>
          <a:p>
            <a:r>
              <a:t>Important qualification: Affiliation does not make capital free, eliminate minority-shareholder interests, or guarantee equal profitability across projects.</a:t>
            </a:r>
          </a:p>
          <a:p/>
          <a:p>
            <a:r>
              <a:t>Suggested diagram: DUTI’s operating activities inside the BSDE consolidation boundary, with parent and subsidiary cash flows kept distinct.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R43 — Duta Pertiwi: How the model works</a:t>
            </a:r>
          </a:p>
          <a:p>
            <a:r>
              <a:t>Document pages: 90</a:t>
            </a:r>
          </a:p>
          <a:p/>
          <a:p>
            <a:r>
              <a:t>COMPLETE SOURCE TEXT</a:t>
            </a:r>
          </a:p>
          <a:p>
            <a:r>
              <a:t>Analyst assessment</a:t>
            </a:r>
          </a:p>
          <a:p/>
          <a:p>
            <a:r>
              <a:t>DUTI illustrates the interaction between:</a:t>
            </a:r>
          </a:p>
          <a:p/>
          <a:p>
            <a:r>
              <a:t>● Property developed for sale. ● Commercial properties and related activities. ● Township expansion. ● Capabilities and resources available within a larger group.</a:t>
            </a:r>
          </a:p>
          <a:p/>
          <a:p>
            <a:r>
              <a:t>Competitive advantage: Experience accumulated across different property formats can support new development phases.</a:t>
            </a:r>
          </a:p>
          <a:p/>
          <a:p>
            <a:r>
              <a:t>Important qualification: Affiliation does not make capital free, eliminate minority-shareholder interests, or guarantee equal profitability across projects.</a:t>
            </a:r>
          </a:p>
          <a:p/>
          <a:p>
            <a:r>
              <a:t>Suggested diagram: DUTI’s operating activities inside the BSDE consolidation boundary, with parent and subsidiary cash flows kept distinct.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R44 — Duta Pertiwi: Financial scale and consolidation</a:t>
            </a:r>
          </a:p>
          <a:p>
            <a:r>
              <a:t>Document pages: 90, 91</a:t>
            </a:r>
          </a:p>
          <a:p/>
          <a:p>
            <a:r>
              <a:t>COMPLETE SOURCE TEXT</a:t>
            </a:r>
          </a:p>
          <a:p>
            <a:r>
              <a:t>FY2025 reported figures, rounded</a:t>
            </a:r>
          </a:p>
          <a:p/>
          <a:p>
            <a:r>
              <a:t>● Revenue: Rp2.73 trillion ● FY2024 revenue: Rp4.42 trillion ● Profit attributable to owners: approximately Rp422 billion ● Total profit for the year: approximately Rp624 billion</a:t>
            </a:r>
          </a:p>
          <a:p/>
          <a:p>
            <a:r>
              <a:t>Interpretation</a:t>
            </a:r>
          </a:p>
          <a:p/>
          <a:p>
            <a:r>
              <a:t>DUTI is a useful operating case, but counting it independently alongside BSDE creates an overlap when assessing developer groups.</a:t>
            </a:r>
          </a:p>
          <a:p/>
          <a:p>
            <a:r>
              <a:t>Comparison rule: Choose either an issuer-based comparison or a group-based comparison, then apply the rule consistently.</a:t>
            </a:r>
          </a:p>
          <a:p/>
          <a:p>
            <a:r>
              <a:t>Suggested visual: A consolidation diagram showing why BSDE revenue plus DUTI revenue is not an independent group total.</a:t>
            </a:r>
          </a:p>
          <a:p/>
          <a:p>
            <a:r>
              <a:t>Source: DUTI 2025 annual report — financial highlights.</a:t>
            </a:r>
          </a:p>
          <a:p/>
          <a:p>
            <a:r>
              <a:t>SOURCE HYPERLINKS (as embedded in Mario’s PDF; not independently reverified)</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R45 — Duta Pertiwi: SWOT</a:t>
            </a:r>
          </a:p>
          <a:p>
            <a:r>
              <a:t>Document pages: 91, 92</a:t>
            </a:r>
          </a:p>
          <a:p/>
          <a:p>
            <a:r>
              <a:t>COMPLETE SOURCE TEXT</a:t>
            </a:r>
          </a:p>
          <a:p>
            <a:r>
              <a:t>Analyst assessment</a:t>
            </a:r>
          </a:p>
          <a:p/>
          <a:p>
            <a:r>
              <a:t>Strengths | Weaknesses / structural constraints</a:t>
            </a:r>
          </a:p>
          <a:p/>
          <a:p>
            <a:r>
              <a:t>Established development experience | Complex group and subsidiary comparisons</a:t>
            </a:r>
          </a:p>
          <a:p/>
          <a:p>
            <a:r>
              <a:t>Mix of development and managed assets | Development revenue remains sensitive to timing</a:t>
            </a:r>
          </a:p>
          <a:p/>
          <a:p>
            <a:r>
              <a:t>Access to a broader group platform | Different asset formats require different operating capabilities</a:t>
            </a:r>
          </a:p>
          <a:p/>
          <a:p>
            <a:r>
              <a:t>Opportunities | Threats</a:t>
            </a:r>
          </a:p>
          <a:p/>
          <a:p>
            <a:r>
              <a:t>New phases within established locations | Changes in retail and commercial demand</a:t>
            </a:r>
          </a:p>
          <a:p/>
          <a:p>
            <a:r>
              <a:t>Better productivity of existing assets | Competition from newer destinations</a:t>
            </a:r>
          </a:p>
          <a:p/>
          <a:p>
            <a:r>
              <a:t>Selective reuse or repositioning of mature properties | Affordability, construction, and financing pressures</a:t>
            </a:r>
          </a:p>
          <a:p/>
          <a:p>
            <a:r>
              <a:t>Suggested visual: SWOT with distinct icons for development, asset management, and group structure.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R46 — Duta Pertiwi: Lessons for TANRISE</a:t>
            </a:r>
          </a:p>
          <a:p>
            <a:r>
              <a:t>Document pages: 92</a:t>
            </a:r>
          </a:p>
          <a:p/>
          <a:p>
            <a:r>
              <a:t>COMPLETE SOURCE TEXT</a:t>
            </a:r>
          </a:p>
          <a:p>
            <a:r>
              <a:t>Proposed applications</a:t>
            </a:r>
          </a:p>
          <a:p/>
          <a:p>
            <a:r>
              <a:t>● Make ownership, operation, and brand endorsement explicit. ● Establish a single project register across the relevant TANRISE reporting</a:t>
            </a:r>
          </a:p>
          <a:p/>
          <a:p>
            <a:r>
              <a:t>perimeter. ● Separate management arrangements from asset ownership. ● Report project economics before and after minority interests. ● Avoid double counting projects, revenue, or earnings across related platforms.</a:t>
            </a:r>
          </a:p>
          <a:p/>
          <a:p>
            <a:r>
              <a:t>First test: Produce a verified map of TANRISE entities, project companies, assets, operators, and reporting treatment.</a:t>
            </a:r>
          </a:p>
          <a:p/>
          <a:p>
            <a:r>
              <a:t>Avoid copying prematurely: A complicated corporate architecture without a clear commercial or financing purpose.</a:t>
            </a:r>
          </a:p>
          <a:p/>
          <a:p>
            <a:r>
              <a:t>Suggested visual: Legal entity → asset owner → operator → customer-facing brand.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R47 — Alam Sutera: Company background and 5W1H</a:t>
            </a:r>
          </a:p>
          <a:p>
            <a:r>
              <a:t>Document pages: 92, 93</a:t>
            </a:r>
          </a:p>
          <a:p/>
          <a:p>
            <a:r>
              <a:t>COMPLETE SOURCE TEXT</a:t>
            </a:r>
          </a:p>
          <a:p>
            <a:r>
              <a:t>● Who: PT Alam Sutera Realty Tbk. ● What: Integrated residential and commercial development with selected operating</a:t>
            </a:r>
          </a:p>
          <a:p/>
          <a:p>
            <a:r>
              <a:t>assets. ● Where: Principal township identities include Alam Sutera and Suvarna Sutera; the</a:t>
            </a:r>
          </a:p>
          <a:p/>
          <a:p>
            <a:r>
              <a:t>portfolio also includes GWK Cultural Park in Bali.</a:t>
            </a:r>
          </a:p>
          <a:p/>
          <a:p>
            <a:r>
              <a:t>● When: The corporate entity predates the Alam Sutera development, which began</a:t>
            </a:r>
          </a:p>
          <a:p/>
          <a:p>
            <a:r>
              <a:t>in 1994; public listing followed in 2007. ● Who is behind it: Haryanto Tirtohadiguno and the founding business-family</a:t>
            </a:r>
          </a:p>
          <a:p/>
          <a:p>
            <a:r>
              <a:t>legacy. ● Why and how — analyst interpretation: Build residential appeal through a</a:t>
            </a:r>
          </a:p>
          <a:p/>
          <a:p>
            <a:r>
              <a:t>coordinated environment and supporting commercial functions.</a:t>
            </a:r>
          </a:p>
          <a:p/>
          <a:p>
            <a:r>
              <a:t>Suggested visual: Portfolio map distinguishing townships, commercial assets, and tourism exposure.</a:t>
            </a:r>
          </a:p>
          <a:p/>
          <a:p>
            <a:r>
              <a:t>Sources: Official portfolio overview, 2025 annual report.</a:t>
            </a:r>
          </a:p>
          <a:p/>
          <a:p>
            <a:r>
              <a:t>SOURCE HYPERLINKS (as embedded in Mario’s PDF; not independently reverified)</a:t>
            </a:r>
          </a:p>
          <a:p>
            <a:r>
              <a:t>https://alamsuterarealty.co.id/overview</a:t>
            </a:r>
          </a:p>
          <a:p>
            <a:r>
              <a:t>https://alamsuterarealty.co.id/public/assets/annualreport/Annual%20Report%20ASRI%202025.pdf</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R48 — Alam Sutera: Development milestones</a:t>
            </a:r>
          </a:p>
          <a:p>
            <a:r>
              <a:t>Document pages: 93</a:t>
            </a:r>
          </a:p>
          <a:p/>
          <a:p>
            <a:r>
              <a:t>COMPLETE SOURCE TEXT</a:t>
            </a:r>
          </a:p>
          <a:p>
            <a:r>
              <a:t>Milestone sequence</a:t>
            </a:r>
          </a:p>
          <a:p/>
          <a:p>
            <a:r>
              <a:t>● 1994: Alam Sutera township development began. ● 2007: Public listing. ● 2010s: Additional commercial and office functions developed. ● 2012: Mall @ Alam Sutera. ● Subsequent period: Further development of Suvarna Sutera and operating assets. ● Current portfolio: Township development combined with commercial and</a:t>
            </a:r>
          </a:p>
          <a:p/>
          <a:p>
            <a:r>
              <a:t>tourism-related activities.</a:t>
            </a:r>
          </a:p>
          <a:p/>
          <a:p>
            <a:r>
              <a:t>Analyst interpretation: The company demonstrates both the value of a coherent township identity and the additional complexity created by diversification.</a:t>
            </a:r>
          </a:p>
          <a:p/>
          <a:p>
            <a:r>
              <a:t>Suggested visual: A timeline with separate township, commercial, and tourism tracks.</a:t>
            </a:r>
          </a:p>
          <a:p/>
          <a:p>
            <a:r>
              <a:t>Source: Official Alam Sutera overview and portfolio.</a:t>
            </a:r>
          </a:p>
          <a:p/>
          <a:p>
            <a:r>
              <a:t>SOURCE HYPERLINKS (as embedded in Mario’s PDF; not independently reverified)</a:t>
            </a:r>
          </a:p>
          <a:p>
            <a:r>
              <a:t>https://alamsuterarealty.co.id/overview</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R49 — Alam Sutera: How the growth model works</a:t>
            </a:r>
          </a:p>
          <a:p>
            <a:r>
              <a:t>Document pages: 93, 94</a:t>
            </a:r>
          </a:p>
          <a:p/>
          <a:p>
            <a:r>
              <a:t>COMPLETE SOURCE TEXT</a:t>
            </a:r>
          </a:p>
          <a:p>
            <a:r>
              <a:t>Analyst assessment</a:t>
            </a:r>
          </a:p>
          <a:p/>
          <a:p>
            <a:r>
              <a:t>The township model depends on creating confidence in a location through:</a:t>
            </a:r>
          </a:p>
          <a:p/>
          <a:p>
            <a:r>
              <a:t>● Access and infrastructure. ● Residential delivery. ● Supporting facilities. ● Commercial activity. ● Continuing estate quality.</a:t>
            </a:r>
          </a:p>
          <a:p/>
          <a:p>
            <a:r>
              <a:t>Competitive advantage: A recognisable environment can support customer preference across development phases.</a:t>
            </a:r>
          </a:p>
          <a:p/>
          <a:p>
            <a:r>
              <a:t>Strategic tension: Diversification can introduce different demand cycles and operating requirements. Tourism assets, offices, retail, and residential projects should not be assessed using the same performance measures.</a:t>
            </a:r>
          </a:p>
          <a:p/>
          <a:p>
            <a:r>
              <a:t>Suggested diagram: Separate operating models feeding into one corporate capital-allocation process.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R49 — Alam Sutera: How the growth model works</a:t>
            </a:r>
          </a:p>
          <a:p>
            <a:r>
              <a:t>Document pages: 93, 94</a:t>
            </a:r>
          </a:p>
          <a:p/>
          <a:p>
            <a:r>
              <a:t>COMPLETE SOURCE TEXT</a:t>
            </a:r>
          </a:p>
          <a:p>
            <a:r>
              <a:t>Analyst assessment</a:t>
            </a:r>
          </a:p>
          <a:p/>
          <a:p>
            <a:r>
              <a:t>The township model depends on creating confidence in a location through:</a:t>
            </a:r>
          </a:p>
          <a:p/>
          <a:p>
            <a:r>
              <a:t>● Access and infrastructure. ● Residential delivery. ● Supporting facilities. ● Commercial activity. ● Continuing estate quality.</a:t>
            </a:r>
          </a:p>
          <a:p/>
          <a:p>
            <a:r>
              <a:t>Competitive advantage: A recognisable environment can support customer preference across development phases.</a:t>
            </a:r>
          </a:p>
          <a:p/>
          <a:p>
            <a:r>
              <a:t>Strategic tension: Diversification can introduce different demand cycles and operating requirements. Tourism assets, offices, retail, and residential projects should not be assessed using the same performance measures.</a:t>
            </a:r>
          </a:p>
          <a:p/>
          <a:p>
            <a:r>
              <a:t>Suggested diagram: Separate operating models feeding into one corporate capital-allocation process.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R50 — Alam Sutera: Financial results and earnings quality</a:t>
            </a:r>
          </a:p>
          <a:p>
            <a:r>
              <a:t>Document pages: 94</a:t>
            </a:r>
          </a:p>
          <a:p/>
          <a:p>
            <a:r>
              <a:t>COMPLETE SOURCE TEXT</a:t>
            </a:r>
          </a:p>
          <a:p>
            <a:r>
              <a:t>FY2025 reported figures, rounded</a:t>
            </a:r>
          </a:p>
          <a:p/>
          <a:p>
            <a:r>
              <a:t>● Revenue: Rp2.93 trillion ● FY2024 revenue: Rp3.43 trillion ● Profit attributable to owners: approximately Rp313 billion ● FY2024 attributable profit: approximately Rp55 billion</a:t>
            </a:r>
          </a:p>
          <a:p/>
          <a:p>
            <a:r>
              <a:t>Interpretation</a:t>
            </a:r>
          </a:p>
          <a:p/>
          <a:p>
            <a:r>
              <a:t>Attributable profit increased despite lower revenue. This requires examination of margins, financing, and other income or expenses before attributing the improvement to sales growth.</a:t>
            </a:r>
          </a:p>
          <a:p/>
          <a:p>
            <a:r>
              <a:t>Data rule: Do not substitute comprehensive income for net profit.</a:t>
            </a:r>
          </a:p>
          <a:p/>
          <a:p>
            <a:r>
              <a:t>Suggested chart: Revenue and attributable profit in separate panels.</a:t>
            </a:r>
          </a:p>
          <a:p/>
          <a:p>
            <a:r>
              <a:t>Source: ASRI 2025 annual report — audited financial statements.</a:t>
            </a:r>
          </a:p>
          <a:p/>
          <a:p>
            <a:r>
              <a:t>SOURCE HYPERLINKS (as embedded in Mario’s PDF; not independently reverified)</a:t>
            </a:r>
          </a:p>
          <a:p>
            <a:r>
              <a:t>https://alamsuterarealty.co.id/public/assets/annualreport/Annual%20Report%20ASRI%202025.pdf</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R51 — Alam Sutera: SWOT</a:t>
            </a:r>
          </a:p>
          <a:p>
            <a:r>
              <a:t>Document pages: 94, 95</a:t>
            </a:r>
          </a:p>
          <a:p/>
          <a:p>
            <a:r>
              <a:t>COMPLETE SOURCE TEXT</a:t>
            </a:r>
          </a:p>
          <a:p>
            <a:r>
              <a:t>Analyst assessment</a:t>
            </a:r>
          </a:p>
          <a:p/>
          <a:p>
            <a:r>
              <a:t>Strengths | Weaknesses / structural constraints</a:t>
            </a:r>
          </a:p>
          <a:p/>
          <a:p>
            <a:r>
              <a:t>Established township identity | Capital committed across different business formats</a:t>
            </a:r>
          </a:p>
          <a:p/>
          <a:p>
            <a:r>
              <a:t>Integrated residential and commercial environment | Financing can reduce flexibility</a:t>
            </a:r>
          </a:p>
          <a:p/>
          <a:p>
            <a:r>
              <a:t>Experience in long-term area development | Mature areas require future pipeline replenishment</a:t>
            </a:r>
          </a:p>
          <a:p/>
          <a:p>
            <a:r>
              <a:t>Opportunities | Threats</a:t>
            </a:r>
          </a:p>
          <a:p/>
          <a:p>
            <a:r>
              <a:t>Additional phases in suitable locations | Competing residential products</a:t>
            </a:r>
          </a:p>
          <a:p/>
          <a:p>
            <a:r>
              <a:t>Greater productivity of existing assets | Interest-rate and refinancing pressures</a:t>
            </a:r>
          </a:p>
          <a:p/>
          <a:p>
            <a:r>
              <a:t>Better alignment of product and local demand | Tourism volatility and environmental risks</a:t>
            </a:r>
          </a:p>
          <a:p/>
          <a:p>
            <a:r>
              <a:t>Suggested visual: SWOT with a portfolio-concentration and funding lens.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R52 — Alam Sutera: Lessons for TANRISE</a:t>
            </a:r>
          </a:p>
          <a:p>
            <a:r>
              <a:t>Document pages: 95, 96</a:t>
            </a:r>
          </a:p>
          <a:p/>
          <a:p>
            <a:r>
              <a:t>COMPLETE SOURCE TEXT</a:t>
            </a:r>
          </a:p>
          <a:p>
            <a:r>
              <a:t>Proposed applications</a:t>
            </a:r>
          </a:p>
          <a:p/>
          <a:p>
            <a:r>
              <a:t>● Make each development’s promise visible in its physical environment. ● Protect basic delivery and estate standards. ● Replenish the pipeline before mature projects run short of suitable inventory. ● Evaluate diversification against capital availability and operating capability. ● Test whether a destination attracts repeat use rather than occasional visits.</a:t>
            </a:r>
          </a:p>
          <a:p/>
          <a:p>
            <a:r>
              <a:t>First test: For Taman Dayu, distinguish permanent residents, weekday users, weekend visitors, and event-driven demand.</a:t>
            </a:r>
          </a:p>
          <a:p/>
          <a:p>
            <a:r>
              <a:t>Avoid copying prematurely: Diversification justified by the appeal of a destination concept without validated economics.</a:t>
            </a:r>
          </a:p>
          <a:p/>
          <a:p>
            <a:r>
              <a:t>Suggested visual: A weekly activity calendar showing resident and visitor demand separately.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R53 — Jaya Real Property: Company background and 5W1H</a:t>
            </a:r>
          </a:p>
          <a:p>
            <a:r>
              <a:t>Document pages: 96</a:t>
            </a:r>
          </a:p>
          <a:p/>
          <a:p>
            <a:r>
              <a:t>COMPLETE SOURCE TEXT</a:t>
            </a:r>
          </a:p>
          <a:p>
            <a:r>
              <a:t>● Who: PT Jaya Real Property Tbk, part of Pembangunan Jaya Group. ● What: Residential development, commercial property, and supporting urban</a:t>
            </a:r>
          </a:p>
          <a:p/>
          <a:p>
            <a:r>
              <a:t>businesses. ● Where: Primarily South Jakarta and Tangerang, with Bintaro Jaya as its</a:t>
            </a:r>
          </a:p>
          <a:p/>
          <a:p>
            <a:r>
              <a:t>foundational development. ● When: Established as PT Bintaro Raya in 1979; listed in 1994. ● Who is behind it: Pembangunan Jaya Group. Its broader group history must not</a:t>
            </a:r>
          </a:p>
          <a:p/>
          <a:p>
            <a:r>
              <a:t>be substituted for the issuer’s own establishment story. ● Why and how — analyst interpretation: Serve residential demand through livable</a:t>
            </a:r>
          </a:p>
          <a:p/>
          <a:p>
            <a:r>
              <a:t>communities, useful amenities, and connectivity.</a:t>
            </a:r>
          </a:p>
          <a:p/>
          <a:p>
            <a:r>
              <a:t>Suggested visual: A Bintaro-area ecosystem map.</a:t>
            </a:r>
          </a:p>
          <a:p/>
          <a:p>
            <a:r>
              <a:t>Sources: Official corporate profile, historical annual report.</a:t>
            </a:r>
          </a:p>
          <a:p/>
          <a:p>
            <a:r>
              <a:t>SOURCE HYPERLINKS (as embedded in Mario’s PDF; not independently reverified)</a:t>
            </a:r>
          </a:p>
          <a:p>
            <a:r>
              <a:t>https://jayaproperty.com/aboutus</a:t>
            </a:r>
          </a:p>
          <a:p>
            <a:r>
              <a:t>https://www.jayaproperty.com/frontend/annual_report/JRPT%20AR%202020.pdf</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R54 — Jaya Real Property: Milestones in community development</a:t>
            </a:r>
          </a:p>
          <a:p>
            <a:r>
              <a:t>Document pages: 96, 97</a:t>
            </a:r>
          </a:p>
          <a:p/>
          <a:p>
            <a:r>
              <a:t>COMPLETE SOURCE TEXT</a:t>
            </a:r>
          </a:p>
          <a:p>
            <a:r>
              <a:t>● 1979: Establishment as PT Bintaro Raya. ● Subsequent development: Progressive expansion of Bintaro Jaya. ● 1992: Change to the Jaya Real Property name. ● 1994: Public listing. ● Later phases: Additional commercial, leisure, and supporting urban functions. ● 2024: DoubleTree by Hilton Jakarta Bintaro Jaya opening and Jurangmangu</a:t>
            </a:r>
          </a:p>
          <a:p/>
          <a:p>
            <a:r>
              <a:t>station service improvements. ● FY2025: Reported revenue approximately Rp3.27 trillion.</a:t>
            </a:r>
          </a:p>
          <a:p/>
          <a:p>
            <a:r>
              <a:t>Analyst interpretation: The case illustrates the cumulative value of a location becoming more convenient and useful over decades.</a:t>
            </a:r>
          </a:p>
          <a:p/>
          <a:p>
            <a:r>
              <a:t>Suggested visual: Development timeline paired with access and amenity milestones.</a:t>
            </a:r>
          </a:p>
          <a:p/>
          <a:p>
            <a:r>
              <a:t>Sources: Historical annual report, official results and announcements.</a:t>
            </a:r>
          </a:p>
          <a:p/>
          <a:p>
            <a:r>
              <a:t>SOURCE HYPERLINKS (as embedded in Mario’s PDF; not independently reverified)</a:t>
            </a:r>
          </a:p>
          <a:p>
            <a:r>
              <a:t>https://www.jayaproperty.com/frontend/annual_report/JRPT%20AR%202020.pdf</a:t>
            </a:r>
          </a:p>
          <a:p>
            <a:r>
              <a:t>https://jayaproperty.com/</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R55 — Jaya Real Property: How the growth model works</a:t>
            </a:r>
          </a:p>
          <a:p>
            <a:r>
              <a:t>Document pages: 97</a:t>
            </a:r>
          </a:p>
          <a:p/>
          <a:p>
            <a:r>
              <a:t>COMPLETE SOURCE TEXT</a:t>
            </a:r>
          </a:p>
          <a:p>
            <a:r>
              <a:t>Analyst assessment</a:t>
            </a:r>
          </a:p>
          <a:p/>
          <a:p>
            <a:r>
              <a:t>● Develop residential communities in successive phases. ● Improve the practical experience of living in the area. ● Add commercial functions as the population and catchment support them. ● Strengthen access and connectivity. ● Manage the area to preserve its appeal.</a:t>
            </a:r>
          </a:p>
          <a:p/>
          <a:p>
            <a:r>
              <a:t>Competitive advantage: Everyday usefulness can be more durable than a launch campaign.</a:t>
            </a:r>
          </a:p>
          <a:p/>
          <a:p>
            <a:r>
              <a:t>Strategic qualification: A successful mature township does not mean every supporting facility should be built immediately in a new location.</a:t>
            </a:r>
          </a:p>
          <a:p/>
          <a:p>
            <a:r>
              <a:t>Suggested diagram: Resident population → everyday demand → viable amenities → stronger livability → subsequent housing demand.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R56 — Jaya Real Property: Financial scale and disclosure caution</a:t>
            </a:r>
          </a:p>
          <a:p>
            <a:r>
              <a:t>Document pages: 97, 98</a:t>
            </a:r>
          </a:p>
          <a:p/>
          <a:p>
            <a:r>
              <a:t>COMPLETE SOURCE TEXT</a:t>
            </a:r>
          </a:p>
          <a:p>
            <a:r>
              <a:t>FY2025 figures displayed by the company</a:t>
            </a:r>
          </a:p>
          <a:p/>
          <a:p>
            <a:r>
              <a:t>● Revenue: approximately Rp3.27 trillion ● Income for the year: approximately Rp1.32 trillion ● Marketing sales: approximately Rp2.47 trillion</a:t>
            </a:r>
          </a:p>
          <a:p/>
          <a:p>
            <a:r>
              <a:t>Important distinction</a:t>
            </a:r>
          </a:p>
          <a:p/>
          <a:p>
            <a:r>
              <a:t>The headline income figure should not automatically be treated as profit attributable to owners. The audited attributable-profit line must be used before building a uniform profit-ranking chart.</a:t>
            </a:r>
          </a:p>
          <a:p/>
          <a:p>
            <a:r>
              <a:t>Analyst interpretation: This case is useful for studying disciplined community development, rather than simply pursuing maximum reported revenue.</a:t>
            </a:r>
          </a:p>
          <a:p/>
          <a:p>
            <a:r>
              <a:t>Suggested chart: Revenue and marketing sales shown separately; total income clearly labelled.</a:t>
            </a:r>
          </a:p>
          <a:p/>
          <a:p>
            <a:r>
              <a:t>Source: Jaya Real Property — official latest results.</a:t>
            </a:r>
          </a:p>
          <a:p/>
          <a:p>
            <a:r>
              <a:t>SOURCE HYPERLINKS (as embedded in Mario’s PDF; not independently reverified)</a:t>
            </a:r>
          </a:p>
          <a:p>
            <a:r>
              <a:t>https://jayaproperty.com/</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R57 — Jaya Real Property: SWOT</a:t>
            </a:r>
          </a:p>
          <a:p>
            <a:r>
              <a:t>Document pages: 98, 99</a:t>
            </a:r>
          </a:p>
          <a:p/>
          <a:p>
            <a:r>
              <a:t>COMPLETE SOURCE TEXT</a:t>
            </a:r>
          </a:p>
          <a:p>
            <a:r>
              <a:t>Analyst assessment</a:t>
            </a:r>
          </a:p>
          <a:p/>
          <a:p>
            <a:r>
              <a:t>Strengths | Weaknesses / structural constraints</a:t>
            </a:r>
          </a:p>
          <a:p/>
          <a:p>
            <a:r>
              <a:t>Established community and location identity | Concentration in a limited number of geographic markets</a:t>
            </a:r>
          </a:p>
          <a:p/>
          <a:p>
            <a:r>
              <a:t>Integrated residential and commercial functions | Mature areas require careful pipeline planning</a:t>
            </a:r>
          </a:p>
          <a:p/>
          <a:p>
            <a:r>
              <a:t>Connectivity and accumulated amenities | Long development periods tie up capital</a:t>
            </a:r>
          </a:p>
          <a:p/>
          <a:p>
            <a:r>
              <a:t>Opportunities | Threats</a:t>
            </a:r>
          </a:p>
          <a:p/>
          <a:p>
            <a:r>
              <a:t>Better use of established catchments | New competing townships</a:t>
            </a:r>
          </a:p>
          <a:p/>
          <a:p>
            <a:r>
              <a:t>Additional services supported by resident demand | Infrastructure congestion</a:t>
            </a:r>
          </a:p>
          <a:p/>
          <a:p>
            <a:r>
              <a:t>Selective development and asset improvements | Affordability and mortgage constraints</a:t>
            </a:r>
          </a:p>
          <a:p/>
          <a:p>
            <a:r>
              <a:t>Suggested visual: SWOT with geographic concentration explicitly identified as a trade-off, not automatically a failure.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R58 — Jaya Real Property: Lessons for TANRISE</a:t>
            </a:r>
          </a:p>
          <a:p>
            <a:r>
              <a:t>Document pages: 99</a:t>
            </a:r>
          </a:p>
          <a:p/>
          <a:p>
            <a:r>
              <a:t>COMPLETE SOURCE TEXT</a:t>
            </a:r>
          </a:p>
          <a:p>
            <a:r>
              <a:t>Proposed applications</a:t>
            </a:r>
          </a:p>
          <a:p/>
          <a:p>
            <a:r>
              <a:t>● Sell a credible daily-life proposition. ● Translate “best concept” into local needs, access, services, and price. ● Sequence commercial development around actual resident demand. ● Make connectivity a measurable part of product selection. ● Treat estate management as part of long-term value creation.</a:t>
            </a:r>
          </a:p>
          <a:p/>
          <a:p>
            <a:r>
              <a:t>First test: Develop a customer journey for a Sidoarjo household covering work, school, shopping, healthcare, travel time, and monthly housing cost.</a:t>
            </a:r>
          </a:p>
          <a:p/>
          <a:p>
            <a:r>
              <a:t>Avoid copying prematurely: Assuming that a new township can immediately reproduce the amenity depth of a mature community.</a:t>
            </a:r>
          </a:p>
          <a:p/>
          <a:p>
            <a:r>
              <a:t>Suggested visual: A weekday household journey through the proposed location.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R58 — Jaya Real Property: Lessons for TANRISE</a:t>
            </a:r>
          </a:p>
          <a:p>
            <a:r>
              <a:t>Document pages: 99</a:t>
            </a:r>
          </a:p>
          <a:p/>
          <a:p>
            <a:r>
              <a:t>COMPLETE SOURCE TEXT</a:t>
            </a:r>
          </a:p>
          <a:p>
            <a:r>
              <a:t>Proposed applications</a:t>
            </a:r>
          </a:p>
          <a:p/>
          <a:p>
            <a:r>
              <a:t>● Sell a credible daily-life proposition. ● Translate “best concept” into local needs, access, services, and price. ● Sequence commercial development around actual resident demand. ● Make connectivity a measurable part of product selection. ● Treat estate management as part of long-term value creation.</a:t>
            </a:r>
          </a:p>
          <a:p/>
          <a:p>
            <a:r>
              <a:t>First test: Develop a customer journey for a Sidoarjo household covering work, school, shopping, healthcare, travel time, and monthly housing cost.</a:t>
            </a:r>
          </a:p>
          <a:p/>
          <a:p>
            <a:r>
              <a:t>Avoid copying prematurely: Assuming that a new township can immediately reproduce the amenity depth of a mature community.</a:t>
            </a:r>
          </a:p>
          <a:p/>
          <a:p>
            <a:r>
              <a:t>Suggested visual: A weekday household journey through the proposed location.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R59 — PANI: Company background and 5W1H</a:t>
            </a:r>
          </a:p>
          <a:p>
            <a:r>
              <a:t>Document pages: 99</a:t>
            </a:r>
          </a:p>
          <a:p/>
          <a:p>
            <a:r>
              <a:t>COMPLETE SOURCE TEXT</a:t>
            </a:r>
          </a:p>
          <a:p>
            <a:r>
              <a:t>● Who: PT Pantai Indah Kapuk Dua Tbk. ● What: A listed property-development platform associated with the PIK2 area. ● Where: The northern Jakarta–Tangerang/Banten coastal development corridor. ● When: The issuer originated in another industry and listed in 2018; its property</a:t>
            </a:r>
          </a:p>
          <a:p/>
          <a:p>
            <a:r>
              <a:t>transformation followed a controlling-shareholder change in 2021. ● Who is behind it: PT Multi Artha Pratama, with sponsorship associated with</a:t>
            </a:r>
          </a:p>
          <a:p/>
          <a:p>
            <a:r>
              <a:t>Agung Sedayu Group and Salim Group. ● Why and how — analyst interpretation: Combine a large development pipeline,</a:t>
            </a:r>
          </a:p>
          <a:p/>
          <a:p>
            <a:r>
              <a:t>sponsor capabilities, corporate transactions, and capital-market funding.</a:t>
            </a:r>
          </a:p>
          <a:p/>
          <a:p>
            <a:r>
              <a:t>Key distinction: PANI is not the entirety of either sponsor group or every asset carrying the PIK identity.</a:t>
            </a:r>
          </a:p>
          <a:p/>
          <a:p>
            <a:r>
              <a:t>Suggested visual: Sponsors → listed platform → project subsidiaries.</a:t>
            </a:r>
          </a:p>
          <a:p/>
          <a:p>
            <a:r>
              <a:t>Source: Official company history.</a:t>
            </a:r>
          </a:p>
          <a:p/>
          <a:p>
            <a:r>
              <a:t>SOURCE HYPERLINKS (as embedded in Mario’s PDF; not independently reverified)</a:t>
            </a:r>
          </a:p>
          <a:p>
            <a:r>
              <a:t>https://www.pantaiindahkapukdua.com/historycompany.html</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R60 — PANI: The transformation was accelerated by corporate actions</a:t>
            </a:r>
          </a:p>
          <a:p>
            <a:r>
              <a:t>Document pages: 100</a:t>
            </a:r>
          </a:p>
          <a:p/>
          <a:p>
            <a:r>
              <a:t>COMPLETE SOURCE TEXT</a:t>
            </a:r>
          </a:p>
          <a:p>
            <a:r>
              <a:t>Period | Milestone</a:t>
            </a:r>
          </a:p>
          <a:p/>
          <a:p>
            <a:r>
              <a:t>2001 | Commercial operations in can packaging</a:t>
            </a:r>
          </a:p>
          <a:p/>
          <a:p>
            <a:r>
              <a:t>2018 | Public listing</a:t>
            </a:r>
          </a:p>
          <a:p/>
          <a:p>
            <a:r>
              <a:t>2021 | Change in controlling shareholder</a:t>
            </a:r>
          </a:p>
          <a:p/>
          <a:p>
            <a:r>
              <a:t>2022 | Rights issue and property-platform expansion</a:t>
            </a:r>
          </a:p>
          <a:p/>
          <a:p>
            <a:r>
              <a:t>2023 | Further rights issue of approximately Rp10.5 trillion</a:t>
            </a:r>
          </a:p>
          <a:p/>
          <a:p>
            <a:r>
              <a:t>2024 | Private placements raising approximately Rp6.5 trillion</a:t>
            </a:r>
          </a:p>
          <a:p/>
          <a:p>
            <a:r>
              <a:t>2025 | CBDK subsidiary listing and further development of the operating platform</a:t>
            </a:r>
          </a:p>
          <a:p/>
          <a:p>
            <a:r>
              <a:t>Analyst interpretation: This is not a simple story of a small developer growing exclusively through retained profits. Capital raising and asset acquisition are central to the case.</a:t>
            </a:r>
          </a:p>
          <a:p/>
          <a:p>
            <a:r>
              <a:t>Suggested visual: A timeline separating operating development from equity funding and acquisitions.</a:t>
            </a:r>
          </a:p>
          <a:p/>
          <a:p>
            <a:r>
              <a:t>Source: PANI official history and corporate-action chronology.</a:t>
            </a:r>
          </a:p>
          <a:p/>
          <a:p>
            <a:r>
              <a:t>SOURCE HYPERLINKS (as embedded in Mario’s PDF; not independently reverified)</a:t>
            </a:r>
          </a:p>
          <a:p>
            <a:r>
              <a:t>https://www.pantaiindahkapukdua.com/historycompany.html</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R60 — PANI: The transformation was accelerated by corporate actions</a:t>
            </a:r>
          </a:p>
          <a:p>
            <a:r>
              <a:t>Document pages: 100</a:t>
            </a:r>
          </a:p>
          <a:p/>
          <a:p>
            <a:r>
              <a:t>COMPLETE SOURCE TEXT</a:t>
            </a:r>
          </a:p>
          <a:p>
            <a:r>
              <a:t>Period | Milestone</a:t>
            </a:r>
          </a:p>
          <a:p/>
          <a:p>
            <a:r>
              <a:t>2001 | Commercial operations in can packaging</a:t>
            </a:r>
          </a:p>
          <a:p/>
          <a:p>
            <a:r>
              <a:t>2018 | Public listing</a:t>
            </a:r>
          </a:p>
          <a:p/>
          <a:p>
            <a:r>
              <a:t>2021 | Change in controlling shareholder</a:t>
            </a:r>
          </a:p>
          <a:p/>
          <a:p>
            <a:r>
              <a:t>2022 | Rights issue and property-platform expansion</a:t>
            </a:r>
          </a:p>
          <a:p/>
          <a:p>
            <a:r>
              <a:t>2023 | Further rights issue of approximately Rp10.5 trillion</a:t>
            </a:r>
          </a:p>
          <a:p/>
          <a:p>
            <a:r>
              <a:t>2024 | Private placements raising approximately Rp6.5 trillion</a:t>
            </a:r>
          </a:p>
          <a:p/>
          <a:p>
            <a:r>
              <a:t>2025 | CBDK subsidiary listing and further development of the operating platform</a:t>
            </a:r>
          </a:p>
          <a:p/>
          <a:p>
            <a:r>
              <a:t>Analyst interpretation: This is not a simple story of a small developer growing exclusively through retained profits. Capital raising and asset acquisition are central to the case.</a:t>
            </a:r>
          </a:p>
          <a:p/>
          <a:p>
            <a:r>
              <a:t>Suggested visual: A timeline separating operating development from equity funding and acquisitions.</a:t>
            </a:r>
          </a:p>
          <a:p/>
          <a:p>
            <a:r>
              <a:t>Source: PANI official history and corporate-action chronology.</a:t>
            </a:r>
          </a:p>
          <a:p/>
          <a:p>
            <a:r>
              <a:t>SOURCE HYPERLINKS (as embedded in Mario’s PDF; not independently reverified)</a:t>
            </a:r>
          </a:p>
          <a:p>
            <a:r>
              <a:t>https://www.pantaiindahkapukdua.com/historycompany.html</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R61 — PANI: How the growth model works</a:t>
            </a:r>
          </a:p>
          <a:p>
            <a:r>
              <a:t>Document pages: 101</a:t>
            </a:r>
          </a:p>
          <a:p/>
          <a:p>
            <a:r>
              <a:t>COMPLETE SOURCE TEXT</a:t>
            </a:r>
          </a:p>
          <a:p>
            <a:r>
              <a:t>Analyst assessment</a:t>
            </a:r>
          </a:p>
          <a:p/>
          <a:p>
            <a:r>
              <a:t>The model connects:</a:t>
            </a:r>
          </a:p>
          <a:p/>
          <a:p>
            <a:r>
              <a:t>● Sponsor development experience. ● Access to a substantial project pipeline. ● Capital raised through listed entities. ● Residential and commercial handovers. ● Destination and connectivity investments intended to strengthen area demand.</a:t>
            </a:r>
          </a:p>
          <a:p/>
          <a:p>
            <a:r>
              <a:t>Competitive advantage: Funding capacity and coordinated development can accelerate the scale of a platform.</a:t>
            </a:r>
          </a:p>
          <a:p/>
          <a:p>
            <a:r>
              <a:t>Trade-offs: Dilution, transaction governance, land readiness, infrastructure delivery, and concentration all require close attention.</a:t>
            </a:r>
          </a:p>
          <a:p/>
          <a:p>
            <a:r>
              <a:t>Suggested diagram: Sponsor resources + equity funding + land pipeline → development and infrastructure → handovers and operating assets.</a:t>
            </a:r>
          </a:p>
          <a:p/>
          <a:p>
            <a:r>
              <a:t>Evidence reference: PANI financial-results release.</a:t>
            </a:r>
          </a:p>
          <a:p/>
          <a:p>
            <a:r>
              <a:t>SOURCE HYPERLINKS (as embedded in Mario’s PDF; not independently reverified)</a:t>
            </a:r>
          </a:p>
          <a:p>
            <a:r>
              <a:t>https://storage.googleapis.com/panifiles/pdf/PANI_Press_Release_Financial_Results_FY2025.pdf</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R61 — PANI: How the growth model works</a:t>
            </a:r>
          </a:p>
          <a:p>
            <a:r>
              <a:t>Document pages: 101</a:t>
            </a:r>
          </a:p>
          <a:p/>
          <a:p>
            <a:r>
              <a:t>COMPLETE SOURCE TEXT</a:t>
            </a:r>
          </a:p>
          <a:p>
            <a:r>
              <a:t>Analyst assessment</a:t>
            </a:r>
          </a:p>
          <a:p/>
          <a:p>
            <a:r>
              <a:t>The model connects:</a:t>
            </a:r>
          </a:p>
          <a:p/>
          <a:p>
            <a:r>
              <a:t>● Sponsor development experience. ● Access to a substantial project pipeline. ● Capital raised through listed entities. ● Residential and commercial handovers. ● Destination and connectivity investments intended to strengthen area demand.</a:t>
            </a:r>
          </a:p>
          <a:p/>
          <a:p>
            <a:r>
              <a:t>Competitive advantage: Funding capacity and coordinated development can accelerate the scale of a platform.</a:t>
            </a:r>
          </a:p>
          <a:p/>
          <a:p>
            <a:r>
              <a:t>Trade-offs: Dilution, transaction governance, land readiness, infrastructure delivery, and concentration all require close attention.</a:t>
            </a:r>
          </a:p>
          <a:p/>
          <a:p>
            <a:r>
              <a:t>Suggested diagram: Sponsor resources + equity funding + land pipeline → development and infrastructure → handovers and operating assets.</a:t>
            </a:r>
          </a:p>
          <a:p/>
          <a:p>
            <a:r>
              <a:t>Evidence reference: PANI financial-results release.</a:t>
            </a:r>
          </a:p>
          <a:p/>
          <a:p>
            <a:r>
              <a:t>SOURCE HYPERLINKS (as embedded in Mario’s PDF; not independently reverified)</a:t>
            </a:r>
          </a:p>
          <a:p>
            <a:r>
              <a:t>https://storage.googleapis.com/panifiles/pdf/PANI_Press_Release_Financial_Results_FY2025.pdf</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R62 — PANI: Financial scale and the limits of headline growth</a:t>
            </a:r>
          </a:p>
          <a:p>
            <a:r>
              <a:t>Document pages: 101</a:t>
            </a:r>
          </a:p>
          <a:p/>
          <a:p>
            <a:r>
              <a:t>COMPLETE SOURCE TEXT</a:t>
            </a:r>
          </a:p>
          <a:p>
            <a:r>
              <a:t>FY2025 reported figures, rounded</a:t>
            </a:r>
          </a:p>
          <a:p/>
          <a:p>
            <a:r>
              <a:t>● Revenue: approximately Rp4.3 trillion ● Profit attributable to the parent: approximately Rp1.1 trillion ● Reported revenue growth: approximately 52% ● Reported attributable-profit growth: approximately 83%</a:t>
            </a:r>
          </a:p>
          <a:p/>
          <a:p>
            <a:r>
              <a:t>Interpretation</a:t>
            </a:r>
          </a:p>
          <a:p/>
          <a:p>
            <a:r>
              <a:t>These results demonstrate expansion of the listed platform. They do not, by themselves, separate organic development growth from the effects of acquired assets, funding, or changes in the reporting perimeter.</a:t>
            </a:r>
          </a:p>
          <a:p/>
          <a:p>
            <a:r>
              <a:t>Suggested chart: Revenue and attributable-profit growth, accompanied by a corporate-actions timeline.</a:t>
            </a:r>
          </a:p>
          <a:p/>
          <a:p>
            <a:r>
              <a:t>Source: PANI FY2025 financial-results release.</a:t>
            </a:r>
          </a:p>
          <a:p/>
          <a:p>
            <a:r>
              <a:t>SOURCE HYPERLINKS (as embedded in Mario’s PDF; not independently reverified)</a:t>
            </a:r>
          </a:p>
          <a:p>
            <a:r>
              <a:t>https://storage.googleapis.com/panifiles/pdf/PANI_Press_Release_Financial_Results_FY2025.pdf</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R63 — PANI: SWOT</a:t>
            </a:r>
          </a:p>
          <a:p>
            <a:r>
              <a:t>Document pages: 102</a:t>
            </a:r>
          </a:p>
          <a:p/>
          <a:p>
            <a:r>
              <a:t>COMPLETE SOURCE TEXT</a:t>
            </a:r>
          </a:p>
          <a:p>
            <a:r>
              <a:t>Analyst assessment</a:t>
            </a:r>
          </a:p>
          <a:p/>
          <a:p>
            <a:r>
              <a:t>Strengths | Weaknesses / structural constraints</a:t>
            </a:r>
          </a:p>
          <a:p/>
          <a:p>
            <a:r>
              <a:t>Sponsor capabilities and capital-market access | Geographic concentration</a:t>
            </a:r>
          </a:p>
          <a:p/>
          <a:p>
            <a:r>
              <a:t>Large coordinated development opportunity | Dependence on infrastructure and staged delivery</a:t>
            </a:r>
          </a:p>
          <a:p/>
          <a:p>
            <a:r>
              <a:t>Ability to combine residential and commercial activity | Corporate actions complicate organic-growth assessment</a:t>
            </a:r>
          </a:p>
          <a:p/>
          <a:p>
            <a:r>
              <a:t>Opportunities | Threats</a:t>
            </a:r>
          </a:p>
          <a:p/>
          <a:p>
            <a:r>
              <a:t>More activity within the development corridor | Affordability and speculative-demand cycles</a:t>
            </a:r>
          </a:p>
          <a:p/>
          <a:p>
            <a:r>
              <a:t>Additional employment and destination functions | Land, permitting, and infrastructure execution risks</a:t>
            </a:r>
          </a:p>
          <a:p/>
          <a:p>
            <a:r>
              <a:t>Development of selected operating income | Coastal physical risks and environmental obligations</a:t>
            </a:r>
          </a:p>
          <a:p/>
          <a:p>
            <a:r>
              <a:t>Suggested visual: SWOT with funding, execution, and coastal resilience treated as separate subjects.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R64 — PANI: Lessons for TANRISE</a:t>
            </a:r>
          </a:p>
          <a:p>
            <a:r>
              <a:t>Document pages: 103</a:t>
            </a:r>
          </a:p>
          <a:p/>
          <a:p>
            <a:r>
              <a:t>COMPLETE SOURCE TEXT</a:t>
            </a:r>
          </a:p>
          <a:p>
            <a:r>
              <a:t>Proposed applications</a:t>
            </a:r>
          </a:p>
          <a:p/>
          <a:p>
            <a:r>
              <a:t>● Consider strategic investors, partnerships, and capital raising as possible tools. ● Match funding commitments to a verified development pipeline. ● Evaluate acquisitions using cash flow, legal readiness, and management capacity. ● Distinguish growth created through operations from growth created through</a:t>
            </a:r>
          </a:p>
          <a:p/>
          <a:p>
            <a:r>
              <a:t>transactions. ● Preserve shareholder economics when seeking scale.</a:t>
            </a:r>
          </a:p>
          <a:p/>
          <a:p>
            <a:r>
              <a:t>First test: Compare organic growth, land partnerships, and acquisition-led growth under one funding and return framework.</a:t>
            </a:r>
          </a:p>
          <a:p/>
          <a:p>
            <a:r>
              <a:t>Avoid copying prematurely: Assuming that public-market capital will be available on favourable terms whenever needed.</a:t>
            </a:r>
          </a:p>
          <a:p/>
          <a:p>
            <a:r>
              <a:t>Suggested visual: Three routes to scale with capital requirements, control, dilution, and execution risk.</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R65 — Ten companies, different sources of competitive advantage</a:t>
            </a:r>
          </a:p>
          <a:p>
            <a:r>
              <a:t>Document pages: 103, 104</a:t>
            </a:r>
          </a:p>
          <a:p/>
          <a:p>
            <a:r>
              <a:t>COMPLETE SOURCE TEXT</a:t>
            </a:r>
          </a:p>
          <a:p>
            <a:r>
              <a:t>Analyst synthesis</a:t>
            </a:r>
          </a:p>
          <a:p/>
          <a:p>
            <a:r>
              <a:t>Developer | Most useful capability to study</a:t>
            </a:r>
          </a:p>
          <a:p/>
          <a:p>
            <a:r>
              <a:t>BSDE | Long-term township development and pipeline coordination</a:t>
            </a:r>
          </a:p>
          <a:p/>
          <a:p>
            <a:r>
              <a:t>LPKR | Affordability, portfolio complexity, and strategic refocusing</a:t>
            </a:r>
          </a:p>
          <a:p/>
          <a:p>
            <a:r>
              <a:t>CTRA | Partnership-based replication across markets</a:t>
            </a:r>
          </a:p>
          <a:p/>
          <a:p>
            <a:r>
              <a:t>SMRA | Township sequencing and activation</a:t>
            </a:r>
          </a:p>
          <a:p/>
          <a:p>
            <a:r>
              <a:t>PWON | Retained-asset operations and recurring income</a:t>
            </a:r>
          </a:p>
          <a:p/>
          <a:p>
            <a:r>
              <a:t>APLN | Mixed-use economics and capital allocation</a:t>
            </a:r>
          </a:p>
          <a:p/>
          <a:p>
            <a:r>
              <a:t>DUTI | Project platforms within a consolidated group</a:t>
            </a:r>
          </a:p>
          <a:p/>
          <a:p>
            <a:r>
              <a:t>ASRI | Township identity, diversification, and funding discipline</a:t>
            </a:r>
          </a:p>
          <a:p/>
          <a:p>
            <a:r>
              <a:t>JRPT | Community usefulness and connectivity</a:t>
            </a:r>
          </a:p>
          <a:p/>
          <a:p>
            <a:r>
              <a:t>PANI | Sponsor-backed expansion and capital-market transactions</a:t>
            </a:r>
          </a:p>
          <a:p/>
          <a:p>
            <a:r>
              <a:t>Key conclusion: No single competitor provides a complete model for TANRISE.</a:t>
            </a:r>
          </a:p>
          <a:p/>
          <a:p>
            <a:r>
              <a:t>Suggested visual: Capability matrix. Avoid unsupported numerical scores or a “best developer” ranking.</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R65 — Ten companies, different sources of competitive advantage</a:t>
            </a:r>
          </a:p>
          <a:p>
            <a:r>
              <a:t>Document pages: 103, 104</a:t>
            </a:r>
          </a:p>
          <a:p/>
          <a:p>
            <a:r>
              <a:t>COMPLETE SOURCE TEXT</a:t>
            </a:r>
          </a:p>
          <a:p>
            <a:r>
              <a:t>Analyst synthesis</a:t>
            </a:r>
          </a:p>
          <a:p/>
          <a:p>
            <a:r>
              <a:t>Developer | Most useful capability to study</a:t>
            </a:r>
          </a:p>
          <a:p/>
          <a:p>
            <a:r>
              <a:t>BSDE | Long-term township development and pipeline coordination</a:t>
            </a:r>
          </a:p>
          <a:p/>
          <a:p>
            <a:r>
              <a:t>LPKR | Affordability, portfolio complexity, and strategic refocusing</a:t>
            </a:r>
          </a:p>
          <a:p/>
          <a:p>
            <a:r>
              <a:t>CTRA | Partnership-based replication across markets</a:t>
            </a:r>
          </a:p>
          <a:p/>
          <a:p>
            <a:r>
              <a:t>SMRA | Township sequencing and activation</a:t>
            </a:r>
          </a:p>
          <a:p/>
          <a:p>
            <a:r>
              <a:t>PWON | Retained-asset operations and recurring income</a:t>
            </a:r>
          </a:p>
          <a:p/>
          <a:p>
            <a:r>
              <a:t>APLN | Mixed-use economics and capital allocation</a:t>
            </a:r>
          </a:p>
          <a:p/>
          <a:p>
            <a:r>
              <a:t>DUTI | Project platforms within a consolidated group</a:t>
            </a:r>
          </a:p>
          <a:p/>
          <a:p>
            <a:r>
              <a:t>ASRI | Township identity, diversification, and funding discipline</a:t>
            </a:r>
          </a:p>
          <a:p/>
          <a:p>
            <a:r>
              <a:t>JRPT | Community usefulness and connectivity</a:t>
            </a:r>
          </a:p>
          <a:p/>
          <a:p>
            <a:r>
              <a:t>PANI | Sponsor-backed expansion and capital-market transactions</a:t>
            </a:r>
          </a:p>
          <a:p/>
          <a:p>
            <a:r>
              <a:t>Key conclusion: No single competitor provides a complete model for TANRISE.</a:t>
            </a:r>
          </a:p>
          <a:p/>
          <a:p>
            <a:r>
              <a:t>Suggested visual: Capability matrix. Avoid unsupported numerical scores or a “best developer” ranking.</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R66 — What TANRISE can adopt, adapt, or defer</a:t>
            </a:r>
          </a:p>
          <a:p>
            <a:r>
              <a:t>Document pages: 104, 105</a:t>
            </a:r>
          </a:p>
          <a:p/>
          <a:p>
            <a:r>
              <a:t>COMPLETE SOURCE TEXT</a:t>
            </a:r>
          </a:p>
          <a:p>
            <a:r>
              <a:t>Proposed application</a:t>
            </a:r>
          </a:p>
          <a:p/>
          <a:p>
            <a:r>
              <a:t>Adopt as operating discipline | Adapt through pilots | Defer until prerequisites exist</a:t>
            </a:r>
          </a:p>
          <a:p/>
          <a:p>
            <a:r>
              <a:t>Verified project and land register | Landowner partnerships | Very large speculative anchors</a:t>
            </a:r>
          </a:p>
          <a:p/>
          <a:p>
            <a:r>
              <a:t>Affordability and customer research | Employer-linked residential demand | Broad geographic expansion</a:t>
            </a:r>
          </a:p>
          <a:p/>
          <a:p>
            <a:r>
              <a:t>Phased development and cash planning | Smaller community and commercial facilities | Major acquisitions without integration capacity</a:t>
            </a:r>
          </a:p>
          <a:p/>
          <a:p>
            <a:r>
              <a:t>Inventory and asset-productivity reviews | Selective recurring-income investments | Complex mixed-use development without funding</a:t>
            </a:r>
          </a:p>
          <a:p/>
          <a:p>
            <a:r>
              <a:t>Clear owner/operator responsibilities | New locations after repeatable delivery | Diversification driven mainly by image</a:t>
            </a:r>
          </a:p>
          <a:p/>
          <a:p>
            <a:r>
              <a:t>Key message: TANRISE should copy decision quality before copying portfolio breadth.</a:t>
            </a:r>
          </a:p>
          <a:p/>
          <a:p>
            <a:r>
              <a:t>Suggested visual: Three-column prioritisation framework with explicit prerequisites.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R66 — What TANRISE can adopt, adapt, or defer</a:t>
            </a:r>
          </a:p>
          <a:p>
            <a:r>
              <a:t>Document pages: 104, 105</a:t>
            </a:r>
          </a:p>
          <a:p/>
          <a:p>
            <a:r>
              <a:t>COMPLETE SOURCE TEXT</a:t>
            </a:r>
          </a:p>
          <a:p>
            <a:r>
              <a:t>Proposed application</a:t>
            </a:r>
          </a:p>
          <a:p/>
          <a:p>
            <a:r>
              <a:t>Adopt as operating discipline | Adapt through pilots | Defer until prerequisites exist</a:t>
            </a:r>
          </a:p>
          <a:p/>
          <a:p>
            <a:r>
              <a:t>Verified project and land register | Landowner partnerships | Very large speculative anchors</a:t>
            </a:r>
          </a:p>
          <a:p/>
          <a:p>
            <a:r>
              <a:t>Affordability and customer research | Employer-linked residential demand | Broad geographic expansion</a:t>
            </a:r>
          </a:p>
          <a:p/>
          <a:p>
            <a:r>
              <a:t>Phased development and cash planning | Smaller community and commercial facilities | Major acquisitions without integration capacity</a:t>
            </a:r>
          </a:p>
          <a:p/>
          <a:p>
            <a:r>
              <a:t>Inventory and asset-productivity reviews | Selective recurring-income investments | Complex mixed-use development without funding</a:t>
            </a:r>
          </a:p>
          <a:p/>
          <a:p>
            <a:r>
              <a:t>Clear owner/operator responsibilities | New locations after repeatable delivery | Diversification driven mainly by image</a:t>
            </a:r>
          </a:p>
          <a:p/>
          <a:p>
            <a:r>
              <a:t>Key message: TANRISE should copy decision quality before copying portfolio breadth.</a:t>
            </a:r>
          </a:p>
          <a:p/>
          <a:p>
            <a:r>
              <a:t>Suggested visual: Three-column prioritisation framework with explicit prerequisites.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R67 — TANRISE’s current economics should shape the growth plan</a:t>
            </a:r>
          </a:p>
          <a:p>
            <a:r>
              <a:t>Document pages: 105, 106</a:t>
            </a:r>
          </a:p>
          <a:p/>
          <a:p>
            <a:r>
              <a:t>COMPLETE SOURCE TEXT</a:t>
            </a:r>
          </a:p>
          <a:p>
            <a:r>
              <a:t>FY2025 audited baseline</a:t>
            </a:r>
          </a:p>
          <a:p/>
          <a:p>
            <a:r>
              <a:t>● Consolidated revenue: approximately Rp410.7 billion ● Profit attributable to owners: approximately Rp87.2 billion ● Hotel revenue: approximately Rp180.5 billion ● Apartment sales: approximately Rp151.4 billion</a:t>
            </a:r>
          </a:p>
          <a:p/>
          <a:p>
            <a:r>
              <a:t>Analyst interpretation</a:t>
            </a:r>
          </a:p>
          <a:p/>
          <a:p>
            <a:r>
              <a:t>The existing revenue mix differs from the leadership ambition to make residential and industrial/warehousing the main growth engines.</a:t>
            </a:r>
          </a:p>
          <a:p/>
          <a:p>
            <a:r>
              <a:t>That creates a practical transition question: how will TANRISE fund and execute new growth while maintaining or improving the productivity of existing assets?</a:t>
            </a:r>
          </a:p>
          <a:p/>
          <a:p>
            <a:r>
              <a:t>Suggested chart: Current revenue composition beside the proposed future growth-engine structure. The future structure must remain unquantified until approved.</a:t>
            </a:r>
          </a:p>
          <a:p/>
          <a:p>
            <a:r>
              <a:t>Source: TANRISE FY2025 audited statements — revenue note 27 and profit-attribution statement.</a:t>
            </a:r>
          </a:p>
          <a:p/>
          <a:p>
            <a:r>
              <a:t>SOURCE HYPERLINKS (as embedded in Mario’s PDF; not independently reverified)</a:t>
            </a:r>
          </a:p>
          <a:p>
            <a:r>
              <a:t>https://tanrise.com/wp-content/uploads/2026/03/LAPORAN-KEUANGAN-KONSOLIDASIAN-31-DESEMBER-2025.pdf</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R68 — The 2035 ambition requires a moving-target calculation</a:t>
            </a:r>
          </a:p>
          <a:p>
            <a:r>
              <a:t>Document pages: 106, 107</a:t>
            </a:r>
          </a:p>
          <a:p/>
          <a:p>
            <a:r>
              <a:t>COMPLETE SOURCE TEXT</a:t>
            </a:r>
          </a:p>
          <a:p>
            <a:r>
              <a:t>Illustrative revenue scenarios, not forecasts</a:t>
            </a:r>
          </a:p>
          <a:p/>
          <a:p>
            <a:r>
              <a:t>PWON’s FY2025 revenue of approximately Rp7.11 trillion is the fifth-highest within this selected cohort.</a:t>
            </a:r>
          </a:p>
          <a:p/>
          <a:p>
            <a:r>
              <a:t>Starting from TANRISE’s FY2025 revenue of approximately Rp0.411 trillion:</a:t>
            </a:r>
          </a:p>
          <a:p/>
          <a:p>
            <a:r>
              <a:t>Assumed annual growth of that benchmark | Illustrative benchmark in 2035 | TANRISE revenue CAGR required, 2025–2035</a:t>
            </a:r>
          </a:p>
          <a:p/>
          <a:p>
            <a:r>
              <a:t>0% | Rp7.11 trillion | 33.0%</a:t>
            </a:r>
          </a:p>
          <a:p/>
          <a:p>
            <a:r>
              <a:t>3% | Rp9.56 trillion | 37.0%</a:t>
            </a:r>
          </a:p>
          <a:p/>
          <a:p>
            <a:r>
              <a:t>5% | Rp11.58 trillion | 39.6%</a:t>
            </a:r>
          </a:p>
          <a:p/>
          <a:p>
            <a:r>
              <a:t>8% | Rp15.35 trillion | 43.6%</a:t>
            </a:r>
          </a:p>
          <a:p/>
          <a:p>
            <a:r>
              <a:t>Interpretation</a:t>
            </a:r>
          </a:p>
          <a:p/>
          <a:p>
            <a:r>
              <a:t>Reaching the current benchmark requires approximately 17.3 times TANRISE’s FY2025 revenue. Competitors may grow, decline, merge, or change their portfolios.</a:t>
            </a:r>
          </a:p>
          <a:p/>
          <a:p>
            <a:r>
              <a:t>This calculation does not prove national Top Five status or address the separate profit ambition.</a:t>
            </a:r>
          </a:p>
          <a:p/>
          <a:p>
            <a:r>
              <a:t>Suggested chart: Four scenario lines, explicitly labelled “illustrative.”</a:t>
            </a:r>
          </a:p>
          <a:p/>
          <a:p>
            <a:r>
              <a:t>Calculation: Benchmark × (1 + assumed growth)¹⁰; required CAGR = (2035 benchmark ÷ TANRISE baseline)¹⁄¹⁰ − 1.</a:t>
            </a:r>
          </a:p>
          <a:p/>
          <a:p>
            <a:r>
              <a:t>Sources: PWON audited baseline, TANRISE audited baseline. Calculations are analyst-derived.</a:t>
            </a:r>
          </a:p>
          <a:p/>
          <a:p>
            <a:r>
              <a:t>SOURCE HYPERLINKS (as embedded in Mario’s PDF; not independently reverified)</a:t>
            </a:r>
          </a:p>
          <a:p>
            <a:r>
              <a:t>https://www.pakuwonjati.com/upload/2026/04/69f2e5afd9760-ar-pakuwonjati-2025.pdf</a:t>
            </a:r>
          </a:p>
          <a:p>
            <a:r>
              <a:t>https://tanrise.com/wp-content/uploads/2026/03/LAPORAN-KEUANGAN-KONSOLIDASIAN-31-DESEMBER-2025.pdf</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R68 — The 2035 ambition requires a moving-target calculation</a:t>
            </a:r>
          </a:p>
          <a:p>
            <a:r>
              <a:t>Document pages: 106, 107</a:t>
            </a:r>
          </a:p>
          <a:p/>
          <a:p>
            <a:r>
              <a:t>COMPLETE SOURCE TEXT</a:t>
            </a:r>
          </a:p>
          <a:p>
            <a:r>
              <a:t>Illustrative revenue scenarios, not forecasts</a:t>
            </a:r>
          </a:p>
          <a:p/>
          <a:p>
            <a:r>
              <a:t>PWON’s FY2025 revenue of approximately Rp7.11 trillion is the fifth-highest within this selected cohort.</a:t>
            </a:r>
          </a:p>
          <a:p/>
          <a:p>
            <a:r>
              <a:t>Starting from TANRISE’s FY2025 revenue of approximately Rp0.411 trillion:</a:t>
            </a:r>
          </a:p>
          <a:p/>
          <a:p>
            <a:r>
              <a:t>Assumed annual growth of that benchmark | Illustrative benchmark in 2035 | TANRISE revenue CAGR required, 2025–2035</a:t>
            </a:r>
          </a:p>
          <a:p/>
          <a:p>
            <a:r>
              <a:t>0% | Rp7.11 trillion | 33.0%</a:t>
            </a:r>
          </a:p>
          <a:p/>
          <a:p>
            <a:r>
              <a:t>3% | Rp9.56 trillion | 37.0%</a:t>
            </a:r>
          </a:p>
          <a:p/>
          <a:p>
            <a:r>
              <a:t>5% | Rp11.58 trillion | 39.6%</a:t>
            </a:r>
          </a:p>
          <a:p/>
          <a:p>
            <a:r>
              <a:t>8% | Rp15.35 trillion | 43.6%</a:t>
            </a:r>
          </a:p>
          <a:p/>
          <a:p>
            <a:r>
              <a:t>Interpretation</a:t>
            </a:r>
          </a:p>
          <a:p/>
          <a:p>
            <a:r>
              <a:t>Reaching the current benchmark requires approximately 17.3 times TANRISE’s FY2025 revenue. Competitors may grow, decline, merge, or change their portfolios.</a:t>
            </a:r>
          </a:p>
          <a:p/>
          <a:p>
            <a:r>
              <a:t>This calculation does not prove national Top Five status or address the separate profit ambition.</a:t>
            </a:r>
          </a:p>
          <a:p/>
          <a:p>
            <a:r>
              <a:t>Suggested chart: Four scenario lines, explicitly labelled “illustrative.”</a:t>
            </a:r>
          </a:p>
          <a:p/>
          <a:p>
            <a:r>
              <a:t>Calculation: Benchmark × (1 + assumed growth)¹⁰; required CAGR = (2035 benchmark ÷ TANRISE baseline)¹⁄¹⁰ − 1.</a:t>
            </a:r>
          </a:p>
          <a:p/>
          <a:p>
            <a:r>
              <a:t>Sources: PWON audited baseline, TANRISE audited baseline. Calculations are analyst-derived.</a:t>
            </a:r>
          </a:p>
          <a:p/>
          <a:p>
            <a:r>
              <a:t>SOURCE HYPERLINKS (as embedded in Mario’s PDF; not independently reverified)</a:t>
            </a:r>
          </a:p>
          <a:p>
            <a:r>
              <a:t>https://www.pakuwonjati.com/upload/2026/04/69f2e5afd9760-ar-pakuwonjati-2025.pdf</a:t>
            </a:r>
          </a:p>
          <a:p>
            <a:r>
              <a:t>https://tanrise.com/wp-content/uploads/2026/03/LAPORAN-KEUANGAN-KONSOLIDASIAN-31-DESEMBER-2025.pdf</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R69 — Proposed TANRISE capability roadmap</a:t>
            </a:r>
          </a:p>
          <a:p>
            <a:r>
              <a:t>Document pages: 107</a:t>
            </a:r>
          </a:p>
          <a:p/>
          <a:p>
            <a:r>
              <a:t>COMPLETE SOURCE TEXT</a:t>
            </a:r>
          </a:p>
          <a:p>
            <a:r>
              <a:t>2026–2027: Establish the operating foundation</a:t>
            </a:r>
          </a:p>
          <a:p/>
          <a:p>
            <a:r>
              <a:t>● Verify land, projects, ownership, and pipeline readiness. ● Validate priority customer segments. ● Improve capital productivity in existing assets. ● Strengthen project leadership and financial controls.</a:t>
            </a:r>
          </a:p>
          <a:p/>
          <a:p>
            <a:r>
              <a:t>2028–2030: Demonstrate repeatability</a:t>
            </a:r>
          </a:p>
          <a:p/>
          <a:p>
            <a:r>
              <a:t>● Deliver successive residential phases. ● Expand industrial/warehousing activity where demand is evidenced. ● Prove partnership governance and project economics. ● Add recurring assets selectively.</a:t>
            </a:r>
          </a:p>
          <a:p/>
          <a:p>
            <a:r>
              <a:t>2031–2033: Scale proven capabilities</a:t>
            </a:r>
          </a:p>
          <a:p/>
          <a:p>
            <a:r>
              <a:t>● Replicate successful models in suitable markets. ● Consider acquisitions only with funding and integration capacity. ● Expand organisational capacity alongside the pipeline.</a:t>
            </a:r>
          </a:p>
          <a:p/>
          <a:p>
            <a:r>
              <a:t>2034–2035: Assess competitive position</a:t>
            </a:r>
          </a:p>
          <a:p/>
          <a:p>
            <a:r>
              <a:t>● Recalculate the market benchmark. ● Compare revenue and attributable profit separately. ● Test cash generation, returns, and resilience.</a:t>
            </a:r>
          </a:p>
          <a:p/>
          <a:p>
            <a:r>
              <a:t>Suggested visual: Roadmap with decision gates rather than unconditional launch commitments.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R69 — Proposed TANRISE capability roadmap</a:t>
            </a:r>
          </a:p>
          <a:p>
            <a:r>
              <a:t>Document pages: 107</a:t>
            </a:r>
          </a:p>
          <a:p/>
          <a:p>
            <a:r>
              <a:t>COMPLETE SOURCE TEXT</a:t>
            </a:r>
          </a:p>
          <a:p>
            <a:r>
              <a:t>2026–2027: Establish the operating foundation</a:t>
            </a:r>
          </a:p>
          <a:p/>
          <a:p>
            <a:r>
              <a:t>● Verify land, projects, ownership, and pipeline readiness. ● Validate priority customer segments. ● Improve capital productivity in existing assets. ● Strengthen project leadership and financial controls.</a:t>
            </a:r>
          </a:p>
          <a:p/>
          <a:p>
            <a:r>
              <a:t>2028–2030: Demonstrate repeatability</a:t>
            </a:r>
          </a:p>
          <a:p/>
          <a:p>
            <a:r>
              <a:t>● Deliver successive residential phases. ● Expand industrial/warehousing activity where demand is evidenced. ● Prove partnership governance and project economics. ● Add recurring assets selectively.</a:t>
            </a:r>
          </a:p>
          <a:p/>
          <a:p>
            <a:r>
              <a:t>2031–2033: Scale proven capabilities</a:t>
            </a:r>
          </a:p>
          <a:p/>
          <a:p>
            <a:r>
              <a:t>● Replicate successful models in suitable markets. ● Consider acquisitions only with funding and integration capacity. ● Expand organisational capacity alongside the pipeline.</a:t>
            </a:r>
          </a:p>
          <a:p/>
          <a:p>
            <a:r>
              <a:t>2034–2035: Assess competitive position</a:t>
            </a:r>
          </a:p>
          <a:p/>
          <a:p>
            <a:r>
              <a:t>● Recalculate the market benchmark. ● Compare revenue and attributable profit separately. ● Test cash generation, returns, and resilience.</a:t>
            </a:r>
          </a:p>
          <a:p/>
          <a:p>
            <a:r>
              <a:t>Suggested visual: Roadmap with decision gates rather than unconditional launch commitments.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R70 — Measures that connect ambition to execution</a:t>
            </a:r>
          </a:p>
          <a:p>
            <a:r>
              <a:t>Document pages: 107, 108</a:t>
            </a:r>
          </a:p>
          <a:p/>
          <a:p>
            <a:r>
              <a:t>COMPLETE SOURCE TEXT</a:t>
            </a:r>
          </a:p>
          <a:p>
            <a:r>
              <a:t>Proposed management scorecard</a:t>
            </a:r>
          </a:p>
          <a:p/>
          <a:p>
            <a:r>
              <a:t>Area | Measures</a:t>
            </a:r>
          </a:p>
          <a:p/>
          <a:p>
            <a:r>
              <a:t>Market position | Revenue and attributable-profit position within a defined peer universe</a:t>
            </a:r>
          </a:p>
          <a:p/>
          <a:p>
            <a:r>
              <a:t>Demand | Qualified leads, conversion, mortgage approval, cancellations</a:t>
            </a:r>
          </a:p>
          <a:p/>
          <a:p>
            <a:r>
              <a:t>Development | Launch readiness, absorption, construction progress, handover timeliness</a:t>
            </a:r>
          </a:p>
          <a:p/>
          <a:p>
            <a:r>
              <a:t>Cash | Collections, project cash requirements, liquidity headroom</a:t>
            </a:r>
          </a:p>
          <a:p/>
          <a:p>
            <a:r>
              <a:t>Land | Legally ready pipeline, replenishment, infrastructure readiness</a:t>
            </a:r>
          </a:p>
          <a:p/>
          <a:p>
            <a:r>
              <a:t>Capital productivity | Inventory age, asset cash contribution, return on invested capital</a:t>
            </a:r>
          </a:p>
          <a:p/>
          <a:p>
            <a:r>
              <a:t>Recurring operations | Occupancy, income collection, operating cash contribution, maintenance requirements</a:t>
            </a:r>
          </a:p>
          <a:p/>
          <a:p>
            <a:r>
              <a:t>Organisation | Project leadership capacity, delivery workload, reporting reliability</a:t>
            </a:r>
          </a:p>
          <a:p/>
          <a:p>
            <a:r>
              <a:t>Key message: Revenue rank is an outcome. These measures show whether the business can sustain it.</a:t>
            </a:r>
          </a:p>
          <a:p/>
          <a:p>
            <a:r>
              <a:t>Suggested visual: Strategy → operating measures → financial outcomes.</a:t>
            </a:r>
          </a:p>
          <a:p/>
          <a:p>
            <a:r>
              <a:t>Status: Proposed framework; numerical targets require TANRISE baseline data and approval.</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R70 — Measures that connect ambition to execution</a:t>
            </a:r>
          </a:p>
          <a:p>
            <a:r>
              <a:t>Document pages: 107, 108</a:t>
            </a:r>
          </a:p>
          <a:p/>
          <a:p>
            <a:r>
              <a:t>COMPLETE SOURCE TEXT</a:t>
            </a:r>
          </a:p>
          <a:p>
            <a:r>
              <a:t>Proposed management scorecard</a:t>
            </a:r>
          </a:p>
          <a:p/>
          <a:p>
            <a:r>
              <a:t>Area | Measures</a:t>
            </a:r>
          </a:p>
          <a:p/>
          <a:p>
            <a:r>
              <a:t>Market position | Revenue and attributable-profit position within a defined peer universe</a:t>
            </a:r>
          </a:p>
          <a:p/>
          <a:p>
            <a:r>
              <a:t>Demand | Qualified leads, conversion, mortgage approval, cancellations</a:t>
            </a:r>
          </a:p>
          <a:p/>
          <a:p>
            <a:r>
              <a:t>Development | Launch readiness, absorption, construction progress, handover timeliness</a:t>
            </a:r>
          </a:p>
          <a:p/>
          <a:p>
            <a:r>
              <a:t>Cash | Collections, project cash requirements, liquidity headroom</a:t>
            </a:r>
          </a:p>
          <a:p/>
          <a:p>
            <a:r>
              <a:t>Land | Legally ready pipeline, replenishment, infrastructure readiness</a:t>
            </a:r>
          </a:p>
          <a:p/>
          <a:p>
            <a:r>
              <a:t>Capital productivity | Inventory age, asset cash contribution, return on invested capital</a:t>
            </a:r>
          </a:p>
          <a:p/>
          <a:p>
            <a:r>
              <a:t>Recurring operations | Occupancy, income collection, operating cash contribution, maintenance requirements</a:t>
            </a:r>
          </a:p>
          <a:p/>
          <a:p>
            <a:r>
              <a:t>Organisation | Project leadership capacity, delivery workload, reporting reliability</a:t>
            </a:r>
          </a:p>
          <a:p/>
          <a:p>
            <a:r>
              <a:t>Key message: Revenue rank is an outcome. These measures show whether the business can sustain it.</a:t>
            </a:r>
          </a:p>
          <a:p/>
          <a:p>
            <a:r>
              <a:t>Suggested visual: Strategy → operating measures → financial outcomes.</a:t>
            </a:r>
          </a:p>
          <a:p/>
          <a:p>
            <a:r>
              <a:t>Status: Proposed framework; numerical targets require TANRISE baseline data and approval.</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R71 — Research gaps before committing to a Top Five plan</a:t>
            </a:r>
          </a:p>
          <a:p>
            <a:r>
              <a:t>Document pages: 109</a:t>
            </a:r>
          </a:p>
          <a:p/>
          <a:p>
            <a:r>
              <a:t>COMPLETE SOURCE TEXT</a:t>
            </a:r>
          </a:p>
          <a:p>
            <a:r>
              <a:t>Market-definition gaps</a:t>
            </a:r>
          </a:p>
          <a:p/>
          <a:p>
            <a:r>
              <a:t>● Is the ambition based on listed issuers, consolidated groups, or all Indonesian</a:t>
            </a:r>
          </a:p>
          <a:p/>
          <a:p>
            <a:r>
              <a:t>developers? ● Are private developers included? ● What treatment applies to subsidiaries and mixed-sector businesses?</a:t>
            </a:r>
          </a:p>
          <a:p/>
          <a:p>
            <a:r>
              <a:t>Financial gaps</a:t>
            </a:r>
          </a:p>
          <a:p/>
          <a:p>
            <a:r>
              <a:t>● A complete attributable-profit comparison using consistent definitions. ● Normalisation of material disposals and other exceptional transactions. ● Project-level cash requirements and available funding.</a:t>
            </a:r>
          </a:p>
          <a:p/>
          <a:p>
            <a:r>
              <a:t>TANRISE-specific gaps</a:t>
            </a:r>
          </a:p>
          <a:p/>
          <a:p>
            <a:r>
              <a:t>● Verified land and project pipeline. ● Capacity of each project to support the required revenue scale. ● Household and employer demand for Sidoarjo. ● Industrial/warehousing tenant requirements. ● Asset-productivity options for existing holdings. ● Management and delivery capacity.</a:t>
            </a:r>
          </a:p>
          <a:p/>
          <a:p>
            <a:r>
              <a:t>Suggested visual: Evidence-gap register with owner, required data, decision affected, and completion date.</a:t>
            </a:r>
          </a:p>
          <a:p/>
          <a:p>
            <a:r>
              <a:t>Key message: The ambition becomes actionable when the missing operating and financial evidence is resolved.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R71 — Research gaps before committing to a Top Five plan</a:t>
            </a:r>
          </a:p>
          <a:p>
            <a:r>
              <a:t>Document pages: 109</a:t>
            </a:r>
          </a:p>
          <a:p/>
          <a:p>
            <a:r>
              <a:t>COMPLETE SOURCE TEXT</a:t>
            </a:r>
          </a:p>
          <a:p>
            <a:r>
              <a:t>Market-definition gaps</a:t>
            </a:r>
          </a:p>
          <a:p/>
          <a:p>
            <a:r>
              <a:t>● Is the ambition based on listed issuers, consolidated groups, or all Indonesian</a:t>
            </a:r>
          </a:p>
          <a:p/>
          <a:p>
            <a:r>
              <a:t>developers? ● Are private developers included? ● What treatment applies to subsidiaries and mixed-sector businesses?</a:t>
            </a:r>
          </a:p>
          <a:p/>
          <a:p>
            <a:r>
              <a:t>Financial gaps</a:t>
            </a:r>
          </a:p>
          <a:p/>
          <a:p>
            <a:r>
              <a:t>● A complete attributable-profit comparison using consistent definitions. ● Normalisation of material disposals and other exceptional transactions. ● Project-level cash requirements and available funding.</a:t>
            </a:r>
          </a:p>
          <a:p/>
          <a:p>
            <a:r>
              <a:t>TANRISE-specific gaps</a:t>
            </a:r>
          </a:p>
          <a:p/>
          <a:p>
            <a:r>
              <a:t>● Verified land and project pipeline. ● Capacity of each project to support the required revenue scale. ● Household and employer demand for Sidoarjo. ● Industrial/warehousing tenant requirements. ● Asset-productivity options for existing holdings. ● Management and delivery capacity.</a:t>
            </a:r>
          </a:p>
          <a:p/>
          <a:p>
            <a:r>
              <a:t>Suggested visual: Evidence-gap register with owner, required data, decision affected, and completion date.</a:t>
            </a:r>
          </a:p>
          <a:p/>
          <a:p>
            <a:r>
              <a:t>Key message: The ambition becomes actionable when the missing operating and financial evidence is resolved.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R72 — Designer research and asset brief</a:t>
            </a:r>
          </a:p>
          <a:p>
            <a:r>
              <a:t>Document pages: 109, 110, 111</a:t>
            </a:r>
          </a:p>
          <a:p/>
          <a:p>
            <a:r>
              <a:t>COMPLETE SOURCE TEXT</a:t>
            </a:r>
          </a:p>
          <a:p>
            <a:r>
              <a:t>Recommended visual materials</a:t>
            </a:r>
          </a:p>
          <a:p/>
          <a:p>
            <a:r>
              <a:t>1. Ownership diagrams: Distinguish group, issuer, subsidiary, project owner, and</a:t>
            </a:r>
          </a:p>
          <a:p/>
          <a:p>
            <a:r>
              <a:t>operator. 2. Company timelines: Separate operating milestones from corporate transactions. 3. Project maps: Use verified locations and label selected examples rather than</a:t>
            </a:r>
          </a:p>
          <a:p/>
          <a:p>
            <a:r>
              <a:t>implying exhaustive coverage. 4. Financial charts: Preserve reporting period, units, profit definition, and</a:t>
            </a:r>
          </a:p>
          <a:p/>
          <a:p>
            <a:r>
              <a:t>consolidation caveats. 5. Business-model diagrams: Label these as analytical interpretations. 6. SWOT matrices: Label as analyst assessment. 7. TANRISE roadmap: Label as proposed.</a:t>
            </a:r>
          </a:p>
          <a:p/>
          <a:p>
            <a:r>
              <a:t>8. Project imagery: Use official photographs, masterplans, or annual-report images</a:t>
            </a:r>
          </a:p>
          <a:p/>
          <a:p>
            <a:r>
              <a:t>with permission where required.</a:t>
            </a:r>
          </a:p>
          <a:p/>
          <a:p>
            <a:r>
              <a:t>Suggested company imagery</a:t>
            </a:r>
          </a:p>
          <a:p/>
          <a:p>
            <a:r>
              <a:t>Company | Useful visual subjects</a:t>
            </a:r>
          </a:p>
          <a:p/>
          <a:p>
            <a:r>
              <a:t>BSDE | BSD City masterplan and township infrastructure</a:t>
            </a:r>
          </a:p>
          <a:p/>
          <a:p>
            <a:r>
              <a:t>LPKR | Lippo Village and residential product examples</a:t>
            </a:r>
          </a:p>
          <a:p/>
          <a:p>
            <a:r>
              <a:t>CTRA | Examples of projects in different cities</a:t>
            </a:r>
          </a:p>
          <a:p/>
          <a:p>
            <a:r>
              <a:t>SMRA | Township phasing and functioning commercial anchors</a:t>
            </a:r>
          </a:p>
          <a:p/>
          <a:p>
            <a:r>
              <a:t>PWON | Tunjungan City, Gandaria City, Kota Kasablanka</a:t>
            </a:r>
          </a:p>
          <a:p/>
          <a:p>
            <a:r>
              <a:t>APLN | Mixed-use developments and contrasting asset formats</a:t>
            </a:r>
          </a:p>
          <a:p/>
          <a:p>
            <a:r>
              <a:t>DUTI | Mangga Dua and township examples</a:t>
            </a:r>
          </a:p>
          <a:p/>
          <a:p>
            <a:r>
              <a:t>ASRI | Alam Sutera, Suvarna Sutera, and separately labelled GWK</a:t>
            </a:r>
          </a:p>
          <a:p/>
          <a:p>
            <a:r>
              <a:t>JRPT | Bintaro Jaya, everyday amenities, and connectivity</a:t>
            </a:r>
          </a:p>
          <a:p/>
          <a:p>
            <a:r>
              <a:t>PANI | PIK2 development area and corporate-action chronology</a:t>
            </a:r>
          </a:p>
          <a:p/>
          <a:p>
            <a:r>
              <a:t>Image-use instruction</a:t>
            </a:r>
          </a:p>
          <a:p/>
          <a:p>
            <a:r>
              <a:t>Official website availability does not establish an open licence. Record the image owner, source, publication date, and permission or licence status. Keep architectural renderings clearly labelled as renderings.</a:t>
            </a:r>
          </a:p>
          <a:p/>
          <a:p>
            <a:r>
              <a:t>Final research principle</a:t>
            </a:r>
          </a:p>
          <a:p/>
          <a:p>
            <a:r>
              <a:t>TANRISE’s advantage should come from a focused growth model that it can fund, deliver, and repeat—supported by a credible brand and measurable customer value.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R72 — Designer research and asset brief</a:t>
            </a:r>
          </a:p>
          <a:p>
            <a:r>
              <a:t>Document pages: 109, 110, 111</a:t>
            </a:r>
          </a:p>
          <a:p/>
          <a:p>
            <a:r>
              <a:t>COMPLETE SOURCE TEXT</a:t>
            </a:r>
          </a:p>
          <a:p>
            <a:r>
              <a:t>Recommended visual materials</a:t>
            </a:r>
          </a:p>
          <a:p/>
          <a:p>
            <a:r>
              <a:t>1. Ownership diagrams: Distinguish group, issuer, subsidiary, project owner, and</a:t>
            </a:r>
          </a:p>
          <a:p/>
          <a:p>
            <a:r>
              <a:t>operator. 2. Company timelines: Separate operating milestones from corporate transactions. 3. Project maps: Use verified locations and label selected examples rather than</a:t>
            </a:r>
          </a:p>
          <a:p/>
          <a:p>
            <a:r>
              <a:t>implying exhaustive coverage. 4. Financial charts: Preserve reporting period, units, profit definition, and</a:t>
            </a:r>
          </a:p>
          <a:p/>
          <a:p>
            <a:r>
              <a:t>consolidation caveats. 5. Business-model diagrams: Label these as analytical interpretations. 6. SWOT matrices: Label as analyst assessment. 7. TANRISE roadmap: Label as proposed.</a:t>
            </a:r>
          </a:p>
          <a:p/>
          <a:p>
            <a:r>
              <a:t>8. Project imagery: Use official photographs, masterplans, or annual-report images</a:t>
            </a:r>
          </a:p>
          <a:p/>
          <a:p>
            <a:r>
              <a:t>with permission where required.</a:t>
            </a:r>
          </a:p>
          <a:p/>
          <a:p>
            <a:r>
              <a:t>Suggested company imagery</a:t>
            </a:r>
          </a:p>
          <a:p/>
          <a:p>
            <a:r>
              <a:t>Company | Useful visual subjects</a:t>
            </a:r>
          </a:p>
          <a:p/>
          <a:p>
            <a:r>
              <a:t>BSDE | BSD City masterplan and township infrastructure</a:t>
            </a:r>
          </a:p>
          <a:p/>
          <a:p>
            <a:r>
              <a:t>LPKR | Lippo Village and residential product examples</a:t>
            </a:r>
          </a:p>
          <a:p/>
          <a:p>
            <a:r>
              <a:t>CTRA | Examples of projects in different cities</a:t>
            </a:r>
          </a:p>
          <a:p/>
          <a:p>
            <a:r>
              <a:t>SMRA | Township phasing and functioning commercial anchors</a:t>
            </a:r>
          </a:p>
          <a:p/>
          <a:p>
            <a:r>
              <a:t>PWON | Tunjungan City, Gandaria City, Kota Kasablanka</a:t>
            </a:r>
          </a:p>
          <a:p/>
          <a:p>
            <a:r>
              <a:t>APLN | Mixed-use developments and contrasting asset formats</a:t>
            </a:r>
          </a:p>
          <a:p/>
          <a:p>
            <a:r>
              <a:t>DUTI | Mangga Dua and township examples</a:t>
            </a:r>
          </a:p>
          <a:p/>
          <a:p>
            <a:r>
              <a:t>ASRI | Alam Sutera, Suvarna Sutera, and separately labelled GWK</a:t>
            </a:r>
          </a:p>
          <a:p/>
          <a:p>
            <a:r>
              <a:t>JRPT | Bintaro Jaya, everyday amenities, and connectivity</a:t>
            </a:r>
          </a:p>
          <a:p/>
          <a:p>
            <a:r>
              <a:t>PANI | PIK2 development area and corporate-action chronology</a:t>
            </a:r>
          </a:p>
          <a:p/>
          <a:p>
            <a:r>
              <a:t>Image-use instruction</a:t>
            </a:r>
          </a:p>
          <a:p/>
          <a:p>
            <a:r>
              <a:t>Official website availability does not establish an open licence. Record the image owner, source, publication date, and permission or licence status. Keep architectural renderings clearly labelled as renderings.</a:t>
            </a:r>
          </a:p>
          <a:p/>
          <a:p>
            <a:r>
              <a:t>Final research principle</a:t>
            </a:r>
          </a:p>
          <a:p/>
          <a:p>
            <a:r>
              <a:t>TANRISE’s advantage should come from a focused growth model that it can fund, deliver, and repeat—supported by a credible brand and measurable customer value.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R72 — Designer research and asset brief</a:t>
            </a:r>
          </a:p>
          <a:p>
            <a:r>
              <a:t>Document pages: 109, 110, 111</a:t>
            </a:r>
          </a:p>
          <a:p/>
          <a:p>
            <a:r>
              <a:t>COMPLETE SOURCE TEXT</a:t>
            </a:r>
          </a:p>
          <a:p>
            <a:r>
              <a:t>Recommended visual materials</a:t>
            </a:r>
          </a:p>
          <a:p/>
          <a:p>
            <a:r>
              <a:t>1. Ownership diagrams: Distinguish group, issuer, subsidiary, project owner, and</a:t>
            </a:r>
          </a:p>
          <a:p/>
          <a:p>
            <a:r>
              <a:t>operator. 2. Company timelines: Separate operating milestones from corporate transactions. 3. Project maps: Use verified locations and label selected examples rather than</a:t>
            </a:r>
          </a:p>
          <a:p/>
          <a:p>
            <a:r>
              <a:t>implying exhaustive coverage. 4. Financial charts: Preserve reporting period, units, profit definition, and</a:t>
            </a:r>
          </a:p>
          <a:p/>
          <a:p>
            <a:r>
              <a:t>consolidation caveats. 5. Business-model diagrams: Label these as analytical interpretations. 6. SWOT matrices: Label as analyst assessment. 7. TANRISE roadmap: Label as proposed.</a:t>
            </a:r>
          </a:p>
          <a:p/>
          <a:p>
            <a:r>
              <a:t>8. Project imagery: Use official photographs, masterplans, or annual-report images</a:t>
            </a:r>
          </a:p>
          <a:p/>
          <a:p>
            <a:r>
              <a:t>with permission where required.</a:t>
            </a:r>
          </a:p>
          <a:p/>
          <a:p>
            <a:r>
              <a:t>Suggested company imagery</a:t>
            </a:r>
          </a:p>
          <a:p/>
          <a:p>
            <a:r>
              <a:t>Company | Useful visual subjects</a:t>
            </a:r>
          </a:p>
          <a:p/>
          <a:p>
            <a:r>
              <a:t>BSDE | BSD City masterplan and township infrastructure</a:t>
            </a:r>
          </a:p>
          <a:p/>
          <a:p>
            <a:r>
              <a:t>LPKR | Lippo Village and residential product examples</a:t>
            </a:r>
          </a:p>
          <a:p/>
          <a:p>
            <a:r>
              <a:t>CTRA | Examples of projects in different cities</a:t>
            </a:r>
          </a:p>
          <a:p/>
          <a:p>
            <a:r>
              <a:t>SMRA | Township phasing and functioning commercial anchors</a:t>
            </a:r>
          </a:p>
          <a:p/>
          <a:p>
            <a:r>
              <a:t>PWON | Tunjungan City, Gandaria City, Kota Kasablanka</a:t>
            </a:r>
          </a:p>
          <a:p/>
          <a:p>
            <a:r>
              <a:t>APLN | Mixed-use developments and contrasting asset formats</a:t>
            </a:r>
          </a:p>
          <a:p/>
          <a:p>
            <a:r>
              <a:t>DUTI | Mangga Dua and township examples</a:t>
            </a:r>
          </a:p>
          <a:p/>
          <a:p>
            <a:r>
              <a:t>ASRI | Alam Sutera, Suvarna Sutera, and separately labelled GWK</a:t>
            </a:r>
          </a:p>
          <a:p/>
          <a:p>
            <a:r>
              <a:t>JRPT | Bintaro Jaya, everyday amenities, and connectivity</a:t>
            </a:r>
          </a:p>
          <a:p/>
          <a:p>
            <a:r>
              <a:t>PANI | PIK2 development area and corporate-action chronology</a:t>
            </a:r>
          </a:p>
          <a:p/>
          <a:p>
            <a:r>
              <a:t>Image-use instruction</a:t>
            </a:r>
          </a:p>
          <a:p/>
          <a:p>
            <a:r>
              <a:t>Official website availability does not establish an open licence. Record the image owner, source, publication date, and permission or licence status. Keep architectural renderings clearly labelled as renderings.</a:t>
            </a:r>
          </a:p>
          <a:p/>
          <a:p>
            <a:r>
              <a:t>Final research principle</a:t>
            </a:r>
          </a:p>
          <a:p/>
          <a:p>
            <a:r>
              <a:t>TANRISE’s advantage should come from a focused growth model that it can fund, deliver, and repeat—supported by a credible brand and measurable customer value.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R72 — Designer research and asset brief</a:t>
            </a:r>
          </a:p>
          <a:p>
            <a:r>
              <a:t>Document pages: 109, 110, 111</a:t>
            </a:r>
          </a:p>
          <a:p/>
          <a:p>
            <a:r>
              <a:t>COMPLETE SOURCE TEXT</a:t>
            </a:r>
          </a:p>
          <a:p>
            <a:r>
              <a:t>Recommended visual materials</a:t>
            </a:r>
          </a:p>
          <a:p/>
          <a:p>
            <a:r>
              <a:t>1. Ownership diagrams: Distinguish group, issuer, subsidiary, project owner, and</a:t>
            </a:r>
          </a:p>
          <a:p/>
          <a:p>
            <a:r>
              <a:t>operator. 2. Company timelines: Separate operating milestones from corporate transactions. 3. Project maps: Use verified locations and label selected examples rather than</a:t>
            </a:r>
          </a:p>
          <a:p/>
          <a:p>
            <a:r>
              <a:t>implying exhaustive coverage. 4. Financial charts: Preserve reporting period, units, profit definition, and</a:t>
            </a:r>
          </a:p>
          <a:p/>
          <a:p>
            <a:r>
              <a:t>consolidation caveats. 5. Business-model diagrams: Label these as analytical interpretations. 6. SWOT matrices: Label as analyst assessment. 7. TANRISE roadmap: Label as proposed.</a:t>
            </a:r>
          </a:p>
          <a:p/>
          <a:p>
            <a:r>
              <a:t>8. Project imagery: Use official photographs, masterplans, or annual-report images</a:t>
            </a:r>
          </a:p>
          <a:p/>
          <a:p>
            <a:r>
              <a:t>with permission where required.</a:t>
            </a:r>
          </a:p>
          <a:p/>
          <a:p>
            <a:r>
              <a:t>Suggested company imagery</a:t>
            </a:r>
          </a:p>
          <a:p/>
          <a:p>
            <a:r>
              <a:t>Company | Useful visual subjects</a:t>
            </a:r>
          </a:p>
          <a:p/>
          <a:p>
            <a:r>
              <a:t>BSDE | BSD City masterplan and township infrastructure</a:t>
            </a:r>
          </a:p>
          <a:p/>
          <a:p>
            <a:r>
              <a:t>LPKR | Lippo Village and residential product examples</a:t>
            </a:r>
          </a:p>
          <a:p/>
          <a:p>
            <a:r>
              <a:t>CTRA | Examples of projects in different cities</a:t>
            </a:r>
          </a:p>
          <a:p/>
          <a:p>
            <a:r>
              <a:t>SMRA | Township phasing and functioning commercial anchors</a:t>
            </a:r>
          </a:p>
          <a:p/>
          <a:p>
            <a:r>
              <a:t>PWON | Tunjungan City, Gandaria City, Kota Kasablanka</a:t>
            </a:r>
          </a:p>
          <a:p/>
          <a:p>
            <a:r>
              <a:t>APLN | Mixed-use developments and contrasting asset formats</a:t>
            </a:r>
          </a:p>
          <a:p/>
          <a:p>
            <a:r>
              <a:t>DUTI | Mangga Dua and township examples</a:t>
            </a:r>
          </a:p>
          <a:p/>
          <a:p>
            <a:r>
              <a:t>ASRI | Alam Sutera, Suvarna Sutera, and separately labelled GWK</a:t>
            </a:r>
          </a:p>
          <a:p/>
          <a:p>
            <a:r>
              <a:t>JRPT | Bintaro Jaya, everyday amenities, and connectivity</a:t>
            </a:r>
          </a:p>
          <a:p/>
          <a:p>
            <a:r>
              <a:t>PANI | PIK2 development area and corporate-action chronology</a:t>
            </a:r>
          </a:p>
          <a:p/>
          <a:p>
            <a:r>
              <a:t>Image-use instruction</a:t>
            </a:r>
          </a:p>
          <a:p/>
          <a:p>
            <a:r>
              <a:t>Official website availability does not establish an open licence. Record the image owner, source, publication date, and permission or licence status. Keep architectural renderings clearly labelled as renderings.</a:t>
            </a:r>
          </a:p>
          <a:p/>
          <a:p>
            <a:r>
              <a:t>Final research principle</a:t>
            </a:r>
          </a:p>
          <a:p/>
          <a:p>
            <a:r>
              <a:t>TANRISE’s advantage should come from a focused growth model that it can fund, deliver, and repeat—supported by a credible brand and measurable customer value.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D01 — What makes a developer’s strategy effective?</a:t>
            </a:r>
          </a:p>
          <a:p>
            <a:r>
              <a:t>Document pages: 111, 112</a:t>
            </a:r>
          </a:p>
          <a:p/>
          <a:p>
            <a:r>
              <a:t>COMPLETE SOURCE TEXT</a:t>
            </a:r>
          </a:p>
          <a:p>
            <a:r>
              <a:t>A developer’s competitive advantage comes from how several decisions reinforce one another:</a:t>
            </a:r>
          </a:p>
          <a:p/>
          <a:p>
            <a:r>
              <a:t>1. Market selection: Which customers and locations does it prioritise? 2. Product economics: What can those customers afford, and what can the</a:t>
            </a:r>
          </a:p>
          <a:p/>
          <a:p>
            <a:r>
              <a:t>developer deliver profitably? 3. Brand strategy: What gives customers, landowners, banks, and tenants</a:t>
            </a:r>
          </a:p>
          <a:p/>
          <a:p>
            <a:r>
              <a:t>confidence? 4. Demand creation: Why would people want to live, work, or operate there? 5. Sales conversion: How does the developer remove obstacles between interest and</a:t>
            </a:r>
          </a:p>
          <a:p/>
          <a:p>
            <a:r>
              <a:t>purchase? 6. Capital strategy: How does it fund the next phase without exhausting cash? 7. Delivery: Does the completed experience support the next launch?</a:t>
            </a:r>
          </a:p>
          <a:p/>
          <a:p>
            <a:r>
              <a:t>Analytical principle: A strong campaign cannot permanently compensate for an unsuitable location, unaffordable product, or unreliable delivery.</a:t>
            </a:r>
          </a:p>
          <a:p/>
          <a:p>
            <a:r>
              <a:t>Suggested diagram: These seven decisions arranged as a reinforcing system, with delivery feeding back into reputation and future demand.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D01 — What makes a developer’s strategy effective?</a:t>
            </a:r>
          </a:p>
          <a:p>
            <a:r>
              <a:t>Document pages: 111, 112</a:t>
            </a:r>
          </a:p>
          <a:p/>
          <a:p>
            <a:r>
              <a:t>COMPLETE SOURCE TEXT</a:t>
            </a:r>
          </a:p>
          <a:p>
            <a:r>
              <a:t>A developer’s competitive advantage comes from how several decisions reinforce one another:</a:t>
            </a:r>
          </a:p>
          <a:p/>
          <a:p>
            <a:r>
              <a:t>1. Market selection: Which customers and locations does it prioritise? 2. Product economics: What can those customers afford, and what can the</a:t>
            </a:r>
          </a:p>
          <a:p/>
          <a:p>
            <a:r>
              <a:t>developer deliver profitably? 3. Brand strategy: What gives customers, landowners, banks, and tenants</a:t>
            </a:r>
          </a:p>
          <a:p/>
          <a:p>
            <a:r>
              <a:t>confidence? 4. Demand creation: Why would people want to live, work, or operate there? 5. Sales conversion: How does the developer remove obstacles between interest and</a:t>
            </a:r>
          </a:p>
          <a:p/>
          <a:p>
            <a:r>
              <a:t>purchase? 6. Capital strategy: How does it fund the next phase without exhausting cash? 7. Delivery: Does the completed experience support the next launch?</a:t>
            </a:r>
          </a:p>
          <a:p/>
          <a:p>
            <a:r>
              <a:t>Analytical principle: A strong campaign cannot permanently compensate for an unsuitable location, unaffordable product, or unreliable delivery.</a:t>
            </a:r>
          </a:p>
          <a:p/>
          <a:p>
            <a:r>
              <a:t>Suggested diagram: These seven decisions arranged as a reinforcing system, with delivery feeding back into reputation and future demand.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D02 — The brands operate at different levels</a:t>
            </a:r>
          </a:p>
          <a:p>
            <a:r>
              <a:t>Document pages: 112, 113</a:t>
            </a:r>
          </a:p>
          <a:p/>
          <a:p>
            <a:r>
              <a:t>COMPLETE SOURCE TEXT</a:t>
            </a:r>
          </a:p>
          <a:p>
            <a:r>
              <a:t>Analytical interpretation of the observed portfolios</a:t>
            </a:r>
          </a:p>
          <a:p/>
          <a:p>
            <a:r>
              <a:t>Developer | Most useful brand mechanism to examine | Commercial purpose</a:t>
            </a:r>
          </a:p>
          <a:p/>
          <a:p>
            <a:r>
              <a:t>BSDE / Sinar Mas Land | Corporate endorsement + BSD destination identity + cluster brands | Combine delivery confidence with different product propositions</a:t>
            </a:r>
          </a:p>
          <a:p/>
          <a:p>
            <a:r>
              <a:t>Lippo Karawaci | Township identity + clearly differentiated housing series | Make products relevant to distinct budgets and household needs</a:t>
            </a:r>
          </a:p>
          <a:p/>
          <a:p>
            <a:r>
              <a:t>Ciputra | Recognisable development identity across locally adapted projects | Transfer confidence across cities and attract land partners</a:t>
            </a:r>
          </a:p>
          <a:p/>
          <a:p>
            <a:r>
              <a:t>Summarecon | Corporate name closely attached to township names | Transfer expectations from established places to new developments</a:t>
            </a:r>
          </a:p>
          <a:p/>
          <a:p>
            <a:r>
              <a:t>Pakuwon | Strong destination brands within an operating portfolio | Attract visitors, tenants, residents, and hotel customers</a:t>
            </a:r>
          </a:p>
          <a:p/>
          <a:p>
            <a:r>
              <a:t>Agung Podomoro | Developer endorsement + project identity + tangible design propositions | Make products recognisable and easier to evaluate</a:t>
            </a:r>
          </a:p>
          <a:p/>
          <a:p>
            <a:r>
              <a:t>Duta Pertiwi | Township brands combined with specialist partner brands | Add credible capabilities to existing locations</a:t>
            </a:r>
          </a:p>
          <a:p/>
          <a:p>
            <a:r>
              <a:t>Alam Sutera | Place identity supported by a range of project and cluster propositions | Serve different purchasing capacities without one uniform offer</a:t>
            </a:r>
          </a:p>
          <a:p/>
          <a:p>
            <a:r>
              <a:t>Jaya Real Property | Established place brands supported by practical livability | Sell an everyday living environment</a:t>
            </a:r>
          </a:p>
          <a:p/>
          <a:p>
            <a:r>
              <a:t>PANI | PIK2 destination identity supporting multiple product categories | Connect residential and commercial demand to an expanding location</a:t>
            </a:r>
          </a:p>
          <a:p/>
          <a:p>
            <a:r>
              <a:t>These are analytical descriptions, not claims that the companies formally use these exact brand-strategy terms.</a:t>
            </a:r>
          </a:p>
          <a:p/>
          <a:p>
            <a:r>
              <a:t>Suggested visual: Corporate brand → township/destination → cluster/product, with different emphasis for each developer.</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D02 — The brands operate at different levels</a:t>
            </a:r>
          </a:p>
          <a:p>
            <a:r>
              <a:t>Document pages: 112, 113</a:t>
            </a:r>
          </a:p>
          <a:p/>
          <a:p>
            <a:r>
              <a:t>COMPLETE SOURCE TEXT</a:t>
            </a:r>
          </a:p>
          <a:p>
            <a:r>
              <a:t>Analytical interpretation of the observed portfolios</a:t>
            </a:r>
          </a:p>
          <a:p/>
          <a:p>
            <a:r>
              <a:t>Developer | Most useful brand mechanism to examine | Commercial purpose</a:t>
            </a:r>
          </a:p>
          <a:p/>
          <a:p>
            <a:r>
              <a:t>BSDE / Sinar Mas Land | Corporate endorsement + BSD destination identity + cluster brands | Combine delivery confidence with different product propositions</a:t>
            </a:r>
          </a:p>
          <a:p/>
          <a:p>
            <a:r>
              <a:t>Lippo Karawaci | Township identity + clearly differentiated housing series | Make products relevant to distinct budgets and household needs</a:t>
            </a:r>
          </a:p>
          <a:p/>
          <a:p>
            <a:r>
              <a:t>Ciputra | Recognisable development identity across locally adapted projects | Transfer confidence across cities and attract land partners</a:t>
            </a:r>
          </a:p>
          <a:p/>
          <a:p>
            <a:r>
              <a:t>Summarecon | Corporate name closely attached to township names | Transfer expectations from established places to new developments</a:t>
            </a:r>
          </a:p>
          <a:p/>
          <a:p>
            <a:r>
              <a:t>Pakuwon | Strong destination brands within an operating portfolio | Attract visitors, tenants, residents, and hotel customers</a:t>
            </a:r>
          </a:p>
          <a:p/>
          <a:p>
            <a:r>
              <a:t>Agung Podomoro | Developer endorsement + project identity + tangible design propositions | Make products recognisable and easier to evaluate</a:t>
            </a:r>
          </a:p>
          <a:p/>
          <a:p>
            <a:r>
              <a:t>Duta Pertiwi | Township brands combined with specialist partner brands | Add credible capabilities to existing locations</a:t>
            </a:r>
          </a:p>
          <a:p/>
          <a:p>
            <a:r>
              <a:t>Alam Sutera | Place identity supported by a range of project and cluster propositions | Serve different purchasing capacities without one uniform offer</a:t>
            </a:r>
          </a:p>
          <a:p/>
          <a:p>
            <a:r>
              <a:t>Jaya Real Property | Established place brands supported by practical livability | Sell an everyday living environment</a:t>
            </a:r>
          </a:p>
          <a:p/>
          <a:p>
            <a:r>
              <a:t>PANI | PIK2 destination identity supporting multiple product categories | Connect residential and commercial demand to an expanding location</a:t>
            </a:r>
          </a:p>
          <a:p/>
          <a:p>
            <a:r>
              <a:t>These are analytical descriptions, not claims that the companies formally use these exact brand-strategy terms.</a:t>
            </a:r>
          </a:p>
          <a:p/>
          <a:p>
            <a:r>
              <a:t>Suggested visual: Corporate brand → township/destination → cluster/product, with different emphasis for each developer.</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D02 — The brands operate at different levels</a:t>
            </a:r>
          </a:p>
          <a:p>
            <a:r>
              <a:t>Document pages: 112, 113</a:t>
            </a:r>
          </a:p>
          <a:p/>
          <a:p>
            <a:r>
              <a:t>COMPLETE SOURCE TEXT</a:t>
            </a:r>
          </a:p>
          <a:p>
            <a:r>
              <a:t>Analytical interpretation of the observed portfolios</a:t>
            </a:r>
          </a:p>
          <a:p/>
          <a:p>
            <a:r>
              <a:t>Developer | Most useful brand mechanism to examine | Commercial purpose</a:t>
            </a:r>
          </a:p>
          <a:p/>
          <a:p>
            <a:r>
              <a:t>BSDE / Sinar Mas Land | Corporate endorsement + BSD destination identity + cluster brands | Combine delivery confidence with different product propositions</a:t>
            </a:r>
          </a:p>
          <a:p/>
          <a:p>
            <a:r>
              <a:t>Lippo Karawaci | Township identity + clearly differentiated housing series | Make products relevant to distinct budgets and household needs</a:t>
            </a:r>
          </a:p>
          <a:p/>
          <a:p>
            <a:r>
              <a:t>Ciputra | Recognisable development identity across locally adapted projects | Transfer confidence across cities and attract land partners</a:t>
            </a:r>
          </a:p>
          <a:p/>
          <a:p>
            <a:r>
              <a:t>Summarecon | Corporate name closely attached to township names | Transfer expectations from established places to new developments</a:t>
            </a:r>
          </a:p>
          <a:p/>
          <a:p>
            <a:r>
              <a:t>Pakuwon | Strong destination brands within an operating portfolio | Attract visitors, tenants, residents, and hotel customers</a:t>
            </a:r>
          </a:p>
          <a:p/>
          <a:p>
            <a:r>
              <a:t>Agung Podomoro | Developer endorsement + project identity + tangible design propositions | Make products recognisable and easier to evaluate</a:t>
            </a:r>
          </a:p>
          <a:p/>
          <a:p>
            <a:r>
              <a:t>Duta Pertiwi | Township brands combined with specialist partner brands | Add credible capabilities to existing locations</a:t>
            </a:r>
          </a:p>
          <a:p/>
          <a:p>
            <a:r>
              <a:t>Alam Sutera | Place identity supported by a range of project and cluster propositions | Serve different purchasing capacities without one uniform offer</a:t>
            </a:r>
          </a:p>
          <a:p/>
          <a:p>
            <a:r>
              <a:t>Jaya Real Property | Established place brands supported by practical livability | Sell an everyday living environment</a:t>
            </a:r>
          </a:p>
          <a:p/>
          <a:p>
            <a:r>
              <a:t>PANI | PIK2 destination identity supporting multiple product categories | Connect residential and commercial demand to an expanding location</a:t>
            </a:r>
          </a:p>
          <a:p/>
          <a:p>
            <a:r>
              <a:t>These are analytical descriptions, not claims that the companies formally use these exact brand-strategy terms.</a:t>
            </a:r>
          </a:p>
          <a:p/>
          <a:p>
            <a:r>
              <a:t>Suggested visual: Corporate brand → township/destination → cluster/product, with different emphasis for each developer.</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D03 — BSDE: Building an economic identity for the location</a:t>
            </a:r>
          </a:p>
          <a:p>
            <a:r>
              <a:t>Document pages: 113, 114</a:t>
            </a:r>
          </a:p>
          <a:p/>
          <a:p>
            <a:r>
              <a:t>COMPLETE SOURCE TEXT</a:t>
            </a:r>
          </a:p>
          <a:p>
            <a:r>
              <a:t>Documented strategic decision</a:t>
            </a:r>
          </a:p>
          <a:p/>
          <a:p>
            <a:r>
              <a:t>BSD’s Digital Hub was introduced in 2017 as a dedicated technology and digital-business area. An official 2021 disclosure identified an ecosystem including Apple Developer Academy, Traveloka, NTT, SIRCLO, and other businesses. These are different forms of participation; they should not all be described as identical tenants or investments. Source: Sinar Mas Land’s Digital Hub disclosure.</a:t>
            </a:r>
          </a:p>
          <a:p/>
          <a:p>
            <a:r>
              <a:t>Brand strategy — analytical interpretation</a:t>
            </a:r>
          </a:p>
          <a:p/>
          <a:p>
            <a:r>
              <a:t>BSD is being positioned as a place with an economic purpose, beyond its residential inventory. Technology businesses and education provide tangible support for that identity.</a:t>
            </a:r>
          </a:p>
          <a:p/>
          <a:p>
            <a:r>
              <a:t>Business mechanism</a:t>
            </a:r>
          </a:p>
          <a:p/>
          <a:p>
            <a:r>
              <a:t>● Employers create reasons to travel to the area. ● Education and talent activity make the location more relevant to businesses. ● Workers, students, and visitors can support surrounding services. ● The broader activity base can improve the proposition for residential and</a:t>
            </a:r>
          </a:p>
          <a:p/>
          <a:p>
            <a:r>
              <a:t>commercial property.</a:t>
            </a:r>
          </a:p>
          <a:p/>
          <a:p>
            <a:r>
              <a:t>The important strategic move is recruiting the organisations that make the destination promise credible.</a:t>
            </a:r>
          </a:p>
          <a:p/>
          <a:p>
            <a:r>
              <a:t>Why this can be effective</a:t>
            </a:r>
          </a:p>
          <a:p/>
          <a:p>
            <a:r>
              <a:t>A location connected to employment and education can address a more enduring need than a residential theme alone.</a:t>
            </a:r>
          </a:p>
          <a:p/>
          <a:p>
            <a:r>
              <a:t>Evidence limit</a:t>
            </a:r>
          </a:p>
          <a:p/>
          <a:p>
            <a:r>
              <a:t>The reviewed disclosure does not quantify how much Digital Hub increased housing prices, absorption, or profit.</a:t>
            </a:r>
          </a:p>
          <a:p/>
          <a:p>
            <a:r>
              <a:t>Suggested diagram: Institutional anchors → employment and talent → daily activity → demand for housing and services.</a:t>
            </a:r>
          </a:p>
          <a:p/>
          <a:p>
            <a:r>
              <a:t>SOURCE HYPERLINKS (as embedded in Mario’s PDF; not independently reverified)</a:t>
            </a:r>
          </a:p>
          <a:p>
            <a:r>
              <a:t>https://www.sinarmasland.com/news/perusahaan-ti-dari-as-lengkapi-ekosistem-digital-hub-bsd-city</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D03 — BSDE: Building an economic identity for the location</a:t>
            </a:r>
          </a:p>
          <a:p>
            <a:r>
              <a:t>Document pages: 113, 114</a:t>
            </a:r>
          </a:p>
          <a:p/>
          <a:p>
            <a:r>
              <a:t>COMPLETE SOURCE TEXT</a:t>
            </a:r>
          </a:p>
          <a:p>
            <a:r>
              <a:t>Documented strategic decision</a:t>
            </a:r>
          </a:p>
          <a:p/>
          <a:p>
            <a:r>
              <a:t>BSD’s Digital Hub was introduced in 2017 as a dedicated technology and digital-business area. An official 2021 disclosure identified an ecosystem including Apple Developer Academy, Traveloka, NTT, SIRCLO, and other businesses. These are different forms of participation; they should not all be described as identical tenants or investments. Source: Sinar Mas Land’s Digital Hub disclosure.</a:t>
            </a:r>
          </a:p>
          <a:p/>
          <a:p>
            <a:r>
              <a:t>Brand strategy — analytical interpretation</a:t>
            </a:r>
          </a:p>
          <a:p/>
          <a:p>
            <a:r>
              <a:t>BSD is being positioned as a place with an economic purpose, beyond its residential inventory. Technology businesses and education provide tangible support for that identity.</a:t>
            </a:r>
          </a:p>
          <a:p/>
          <a:p>
            <a:r>
              <a:t>Business mechanism</a:t>
            </a:r>
          </a:p>
          <a:p/>
          <a:p>
            <a:r>
              <a:t>● Employers create reasons to travel to the area. ● Education and talent activity make the location more relevant to businesses. ● Workers, students, and visitors can support surrounding services. ● The broader activity base can improve the proposition for residential and</a:t>
            </a:r>
          </a:p>
          <a:p/>
          <a:p>
            <a:r>
              <a:t>commercial property.</a:t>
            </a:r>
          </a:p>
          <a:p/>
          <a:p>
            <a:r>
              <a:t>The important strategic move is recruiting the organisations that make the destination promise credible.</a:t>
            </a:r>
          </a:p>
          <a:p/>
          <a:p>
            <a:r>
              <a:t>Why this can be effective</a:t>
            </a:r>
          </a:p>
          <a:p/>
          <a:p>
            <a:r>
              <a:t>A location connected to employment and education can address a more enduring need than a residential theme alone.</a:t>
            </a:r>
          </a:p>
          <a:p/>
          <a:p>
            <a:r>
              <a:t>Evidence limit</a:t>
            </a:r>
          </a:p>
          <a:p/>
          <a:p>
            <a:r>
              <a:t>The reviewed disclosure does not quantify how much Digital Hub increased housing prices, absorption, or profit.</a:t>
            </a:r>
          </a:p>
          <a:p/>
          <a:p>
            <a:r>
              <a:t>Suggested diagram: Institutional anchors → employment and talent → daily activity → demand for housing and services.</a:t>
            </a:r>
          </a:p>
          <a:p/>
          <a:p>
            <a:r>
              <a:t>SOURCE HYPERLINKS (as embedded in Mario’s PDF; not independently reverified)</a:t>
            </a:r>
          </a:p>
          <a:p>
            <a:r>
              <a:t>https://www.sinarmasland.com/news/perusahaan-ti-dari-as-lengkapi-ekosistem-digital-hub-bsd-city</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D04 — BSDE: Combining brand confidence with purchase-friction removal</a:t>
            </a:r>
          </a:p>
          <a:p>
            <a:r>
              <a:t>Document pages: 114, 115</a:t>
            </a:r>
          </a:p>
          <a:p/>
          <a:p>
            <a:r>
              <a:t>COMPLETE SOURCE TEXT</a:t>
            </a:r>
          </a:p>
          <a:p>
            <a:r>
              <a:t>Documented marketing execution</a:t>
            </a:r>
          </a:p>
          <a:p/>
          <a:p>
            <a:r>
              <a:t>The 2025 Move in Quickly programme used three sales periods and product-dependent incentives, including price reductions, down-payment support, transaction-cost relief, and other benefits. Separate participation in BCA Expo placed property offers alongside a financing-related customer occasion. These were historical offers subject to conditions, not current universal prices. Sources: programme structure, BCA Expo campaign.</a:t>
            </a:r>
          </a:p>
          <a:p/>
          <a:p>
            <a:r>
              <a:t>Why the mechanism matters — analysis</a:t>
            </a:r>
          </a:p>
          <a:p/>
          <a:p>
            <a:r>
              <a:t>A customer can trust a developer and want its product while still being unable to transact.</a:t>
            </a:r>
          </a:p>
          <a:p/>
          <a:p>
            <a:r>
              <a:t>Different incentives address different obstacles:</a:t>
            </a:r>
          </a:p>
          <a:p/>
          <a:p>
            <a:r>
              <a:t>Obstacle | Relevant commercial response</a:t>
            </a:r>
          </a:p>
          <a:p/>
          <a:p>
            <a:r>
              <a:t>Insufficient initial cash | Down-payment support</a:t>
            </a:r>
          </a:p>
          <a:p/>
          <a:p>
            <a:r>
              <a:t>High all-in acquisition cost | Tax or transaction-fee assistance</a:t>
            </a:r>
          </a:p>
          <a:p/>
          <a:p>
            <a:r>
              <a:t>Uncertainty about financing | Bank-linked sales channels</a:t>
            </a:r>
          </a:p>
          <a:p/>
          <a:p>
            <a:r>
              <a:t>Delayed decision | Clearly defined campaign periods</a:t>
            </a:r>
          </a:p>
          <a:p/>
          <a:p>
            <a:r>
              <a:t>Difficulty comparing inventory | Searchable product information and sales support</a:t>
            </a:r>
          </a:p>
          <a:p/>
          <a:p>
            <a:r>
              <a:t>Business implication</a:t>
            </a:r>
          </a:p>
          <a:p/>
          <a:p>
            <a:r>
              <a:t>Marketing is coordinating inventory, financing, timing, and communication—not merely generating awareness.</a:t>
            </a:r>
          </a:p>
          <a:p/>
          <a:p>
            <a:r>
              <a:t>TANRISE application</a:t>
            </a:r>
          </a:p>
          <a:p/>
          <a:p>
            <a:r>
              <a:t>Identify the actual barrier for each priority segment before designing a promotion. Track the net realised selling price and collections after incentives, rather than celebrating bookings alone.</a:t>
            </a:r>
          </a:p>
          <a:p/>
          <a:p>
            <a:r>
              <a:t>Suggested visual: Buyer obstacle → offer → conversion measure → margin impact.</a:t>
            </a:r>
          </a:p>
          <a:p/>
          <a:p>
            <a:r>
              <a:t>SOURCE HYPERLINKS (as embedded in Mario’s PDF; not independently reverified)</a:t>
            </a:r>
          </a:p>
          <a:p>
            <a:r>
              <a:t>https://hrsmile.sinarmasland.com/news-events/kemudahan-miliki-properti-program-move-in-quickly-hadir-kembali/</a:t>
            </a:r>
          </a:p>
          <a:p>
            <a:r>
              <a:t>https://www.sinarmasland.com/news/keuntungan-dari-sinar-mas-land-di-bca-expoversary-2025-ice-bsd-city</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D04 — BSDE: Combining brand confidence with purchase-friction removal</a:t>
            </a:r>
          </a:p>
          <a:p>
            <a:r>
              <a:t>Document pages: 114, 115</a:t>
            </a:r>
          </a:p>
          <a:p/>
          <a:p>
            <a:r>
              <a:t>COMPLETE SOURCE TEXT</a:t>
            </a:r>
          </a:p>
          <a:p>
            <a:r>
              <a:t>Documented marketing execution</a:t>
            </a:r>
          </a:p>
          <a:p/>
          <a:p>
            <a:r>
              <a:t>The 2025 Move in Quickly programme used three sales periods and product-dependent incentives, including price reductions, down-payment support, transaction-cost relief, and other benefits. Separate participation in BCA Expo placed property offers alongside a financing-related customer occasion. These were historical offers subject to conditions, not current universal prices. Sources: programme structure, BCA Expo campaign.</a:t>
            </a:r>
          </a:p>
          <a:p/>
          <a:p>
            <a:r>
              <a:t>Why the mechanism matters — analysis</a:t>
            </a:r>
          </a:p>
          <a:p/>
          <a:p>
            <a:r>
              <a:t>A customer can trust a developer and want its product while still being unable to transact.</a:t>
            </a:r>
          </a:p>
          <a:p/>
          <a:p>
            <a:r>
              <a:t>Different incentives address different obstacles:</a:t>
            </a:r>
          </a:p>
          <a:p/>
          <a:p>
            <a:r>
              <a:t>Obstacle | Relevant commercial response</a:t>
            </a:r>
          </a:p>
          <a:p/>
          <a:p>
            <a:r>
              <a:t>Insufficient initial cash | Down-payment support</a:t>
            </a:r>
          </a:p>
          <a:p/>
          <a:p>
            <a:r>
              <a:t>High all-in acquisition cost | Tax or transaction-fee assistance</a:t>
            </a:r>
          </a:p>
          <a:p/>
          <a:p>
            <a:r>
              <a:t>Uncertainty about financing | Bank-linked sales channels</a:t>
            </a:r>
          </a:p>
          <a:p/>
          <a:p>
            <a:r>
              <a:t>Delayed decision | Clearly defined campaign periods</a:t>
            </a:r>
          </a:p>
          <a:p/>
          <a:p>
            <a:r>
              <a:t>Difficulty comparing inventory | Searchable product information and sales support</a:t>
            </a:r>
          </a:p>
          <a:p/>
          <a:p>
            <a:r>
              <a:t>Business implication</a:t>
            </a:r>
          </a:p>
          <a:p/>
          <a:p>
            <a:r>
              <a:t>Marketing is coordinating inventory, financing, timing, and communication—not merely generating awareness.</a:t>
            </a:r>
          </a:p>
          <a:p/>
          <a:p>
            <a:r>
              <a:t>TANRISE application</a:t>
            </a:r>
          </a:p>
          <a:p/>
          <a:p>
            <a:r>
              <a:t>Identify the actual barrier for each priority segment before designing a promotion. Track the net realised selling price and collections after incentives, rather than celebrating bookings alone.</a:t>
            </a:r>
          </a:p>
          <a:p/>
          <a:p>
            <a:r>
              <a:t>Suggested visual: Buyer obstacle → offer → conversion measure → margin impact.</a:t>
            </a:r>
          </a:p>
          <a:p/>
          <a:p>
            <a:r>
              <a:t>SOURCE HYPERLINKS (as embedded in Mario’s PDF; not independently reverified)</a:t>
            </a:r>
          </a:p>
          <a:p>
            <a:r>
              <a:t>https://hrsmile.sinarmasland.com/news-events/kemudahan-miliki-properti-program-move-in-quickly-hadir-kembali/</a:t>
            </a:r>
          </a:p>
          <a:p>
            <a:r>
              <a:t>https://www.sinarmasland.com/news/keuntungan-dari-sinar-mas-land-di-bca-expoversary-2025-ice-bsd-city</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D04 — BSDE: Combining brand confidence with purchase-friction removal</a:t>
            </a:r>
          </a:p>
          <a:p>
            <a:r>
              <a:t>Document pages: 114, 115</a:t>
            </a:r>
          </a:p>
          <a:p/>
          <a:p>
            <a:r>
              <a:t>COMPLETE SOURCE TEXT</a:t>
            </a:r>
          </a:p>
          <a:p>
            <a:r>
              <a:t>Documented marketing execution</a:t>
            </a:r>
          </a:p>
          <a:p/>
          <a:p>
            <a:r>
              <a:t>The 2025 Move in Quickly programme used three sales periods and product-dependent incentives, including price reductions, down-payment support, transaction-cost relief, and other benefits. Separate participation in BCA Expo placed property offers alongside a financing-related customer occasion. These were historical offers subject to conditions, not current universal prices. Sources: programme structure, BCA Expo campaign.</a:t>
            </a:r>
          </a:p>
          <a:p/>
          <a:p>
            <a:r>
              <a:t>Why the mechanism matters — analysis</a:t>
            </a:r>
          </a:p>
          <a:p/>
          <a:p>
            <a:r>
              <a:t>A customer can trust a developer and want its product while still being unable to transact.</a:t>
            </a:r>
          </a:p>
          <a:p/>
          <a:p>
            <a:r>
              <a:t>Different incentives address different obstacles:</a:t>
            </a:r>
          </a:p>
          <a:p/>
          <a:p>
            <a:r>
              <a:t>Obstacle | Relevant commercial response</a:t>
            </a:r>
          </a:p>
          <a:p/>
          <a:p>
            <a:r>
              <a:t>Insufficient initial cash | Down-payment support</a:t>
            </a:r>
          </a:p>
          <a:p/>
          <a:p>
            <a:r>
              <a:t>High all-in acquisition cost | Tax or transaction-fee assistance</a:t>
            </a:r>
          </a:p>
          <a:p/>
          <a:p>
            <a:r>
              <a:t>Uncertainty about financing | Bank-linked sales channels</a:t>
            </a:r>
          </a:p>
          <a:p/>
          <a:p>
            <a:r>
              <a:t>Delayed decision | Clearly defined campaign periods</a:t>
            </a:r>
          </a:p>
          <a:p/>
          <a:p>
            <a:r>
              <a:t>Difficulty comparing inventory | Searchable product information and sales support</a:t>
            </a:r>
          </a:p>
          <a:p/>
          <a:p>
            <a:r>
              <a:t>Business implication</a:t>
            </a:r>
          </a:p>
          <a:p/>
          <a:p>
            <a:r>
              <a:t>Marketing is coordinating inventory, financing, timing, and communication—not merely generating awareness.</a:t>
            </a:r>
          </a:p>
          <a:p/>
          <a:p>
            <a:r>
              <a:t>TANRISE application</a:t>
            </a:r>
          </a:p>
          <a:p/>
          <a:p>
            <a:r>
              <a:t>Identify the actual barrier for each priority segment before designing a promotion. Track the net realised selling price and collections after incentives, rather than celebrating bookings alone.</a:t>
            </a:r>
          </a:p>
          <a:p/>
          <a:p>
            <a:r>
              <a:t>Suggested visual: Buyer obstacle → offer → conversion measure → margin impact.</a:t>
            </a:r>
          </a:p>
          <a:p/>
          <a:p>
            <a:r>
              <a:t>SOURCE HYPERLINKS (as embedded in Mario’s PDF; not independently reverified)</a:t>
            </a:r>
          </a:p>
          <a:p>
            <a:r>
              <a:t>https://hrsmile.sinarmasland.com/news-events/kemudahan-miliki-properti-program-move-in-quickly-hadir-kembali/</a:t>
            </a:r>
          </a:p>
          <a:p>
            <a:r>
              <a:t>https://www.sinarmasland.com/news/keuntungan-dari-sinar-mas-land-di-bca-expoversary-2025-ice-bsd-city</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D05 — Lippo: Changing the product to reach a different customer</a:t>
            </a:r>
          </a:p>
          <a:p>
            <a:r>
              <a:t>Document pages: 115, 116</a:t>
            </a:r>
          </a:p>
          <a:p/>
          <a:p>
            <a:r>
              <a:t>COMPLETE SOURCE TEXT</a:t>
            </a:r>
          </a:p>
          <a:p>
            <a:r>
              <a:t>Documented strategic decision</a:t>
            </a:r>
          </a:p>
          <a:p/>
          <a:p>
            <a:r>
              <a:t>Lippo’s sustainability reporting describes market studies and ethnographic research into younger Indonesian buyers. It links that work to housing products at different price points and a shift toward community-oriented living environments.</a:t>
            </a:r>
          </a:p>
          <a:p/>
          <a:p>
            <a:r>
              <a:t>XYZ Livin was presented at approximately Rp300–600 million, targeting young families and professionals. These were historical disclosed prices. Source: Lippo’s product-research and XYZ Livin discussion.</a:t>
            </a:r>
          </a:p>
          <a:p/>
          <a:p>
            <a:r>
              <a:t>Brand strategy — analytical interpretation</a:t>
            </a:r>
          </a:p>
          <a:p/>
          <a:p>
            <a:r>
              <a:t>Product-series identities allow the developer to communicate different combinations of affordability, layout, functionality, and aspiration within a larger township.</a:t>
            </a:r>
          </a:p>
          <a:p/>
          <a:p>
            <a:r>
              <a:t>Business mechanism</a:t>
            </a:r>
          </a:p>
          <a:p/>
          <a:p>
            <a:r>
              <a:t>The strategic sequence is:</a:t>
            </a:r>
          </a:p>
          <a:p/>
          <a:p>
            <a:r>
              <a:t>Understand purchasing capacity → redesign the product → define the relevant lifestyle proposition → organise financing and selling.</a:t>
            </a:r>
          </a:p>
          <a:p/>
          <a:p>
            <a:r>
              <a:t>This is more consequential than applying a youthful campaign to an unchanged, unaffordable house.</a:t>
            </a:r>
          </a:p>
          <a:p/>
          <a:p>
            <a:r>
              <a:t>Why it can be effective</a:t>
            </a:r>
          </a:p>
          <a:p/>
          <a:p>
            <a:r>
              <a:t>A lower total ticket can expand the pool of eligible buyers. Functional design can help smaller homes remain desirable.</a:t>
            </a:r>
          </a:p>
          <a:p/>
          <a:p>
            <a:r>
              <a:t>Critical trade-off</a:t>
            </a:r>
          </a:p>
          <a:p/>
          <a:p>
            <a:r>
              <a:t>Lower ticket prices must still support adequate margins, acceptable living quality, and manageable infrastructure costs per unit.</a:t>
            </a:r>
          </a:p>
          <a:p/>
          <a:p>
            <a:r>
              <a:t>Suggested visual: Household budget translated into land area, building area, layout, specification, and payment structure.</a:t>
            </a:r>
          </a:p>
          <a:p/>
          <a:p>
            <a:r>
              <a:t>SOURCE HYPERLINKS (as embedded in Mario’s PDF; not independently reverified)</a:t>
            </a:r>
          </a:p>
          <a:p>
            <a:r>
              <a:t>https://www.lippokarawaci.co.id/uploads/file/LPKR%20-%20ENGLISH%20-%20FINAL_LowRes.pdf</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D05 — Lippo: Changing the product to reach a different customer</a:t>
            </a:r>
          </a:p>
          <a:p>
            <a:r>
              <a:t>Document pages: 115, 116</a:t>
            </a:r>
          </a:p>
          <a:p/>
          <a:p>
            <a:r>
              <a:t>COMPLETE SOURCE TEXT</a:t>
            </a:r>
          </a:p>
          <a:p>
            <a:r>
              <a:t>Documented strategic decision</a:t>
            </a:r>
          </a:p>
          <a:p/>
          <a:p>
            <a:r>
              <a:t>Lippo’s sustainability reporting describes market studies and ethnographic research into younger Indonesian buyers. It links that work to housing products at different price points and a shift toward community-oriented living environments.</a:t>
            </a:r>
          </a:p>
          <a:p/>
          <a:p>
            <a:r>
              <a:t>XYZ Livin was presented at approximately Rp300–600 million, targeting young families and professionals. These were historical disclosed prices. Source: Lippo’s product-research and XYZ Livin discussion.</a:t>
            </a:r>
          </a:p>
          <a:p/>
          <a:p>
            <a:r>
              <a:t>Brand strategy — analytical interpretation</a:t>
            </a:r>
          </a:p>
          <a:p/>
          <a:p>
            <a:r>
              <a:t>Product-series identities allow the developer to communicate different combinations of affordability, layout, functionality, and aspiration within a larger township.</a:t>
            </a:r>
          </a:p>
          <a:p/>
          <a:p>
            <a:r>
              <a:t>Business mechanism</a:t>
            </a:r>
          </a:p>
          <a:p/>
          <a:p>
            <a:r>
              <a:t>The strategic sequence is:</a:t>
            </a:r>
          </a:p>
          <a:p/>
          <a:p>
            <a:r>
              <a:t>Understand purchasing capacity → redesign the product → define the relevant lifestyle proposition → organise financing and selling.</a:t>
            </a:r>
          </a:p>
          <a:p/>
          <a:p>
            <a:r>
              <a:t>This is more consequential than applying a youthful campaign to an unchanged, unaffordable house.</a:t>
            </a:r>
          </a:p>
          <a:p/>
          <a:p>
            <a:r>
              <a:t>Why it can be effective</a:t>
            </a:r>
          </a:p>
          <a:p/>
          <a:p>
            <a:r>
              <a:t>A lower total ticket can expand the pool of eligible buyers. Functional design can help smaller homes remain desirable.</a:t>
            </a:r>
          </a:p>
          <a:p/>
          <a:p>
            <a:r>
              <a:t>Critical trade-off</a:t>
            </a:r>
          </a:p>
          <a:p/>
          <a:p>
            <a:r>
              <a:t>Lower ticket prices must still support adequate margins, acceptable living quality, and manageable infrastructure costs per unit.</a:t>
            </a:r>
          </a:p>
          <a:p/>
          <a:p>
            <a:r>
              <a:t>Suggested visual: Household budget translated into land area, building area, layout, specification, and payment structure.</a:t>
            </a:r>
          </a:p>
          <a:p/>
          <a:p>
            <a:r>
              <a:t>SOURCE HYPERLINKS (as embedded in Mario’s PDF; not independently reverified)</a:t>
            </a:r>
          </a:p>
          <a:p>
            <a:r>
              <a:t>https://www.lippokarawaci.co.id/uploads/file/LPKR%20-%20ENGLISH%20-%20FINAL_LowRes.pdf</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D05 — Lippo: Changing the product to reach a different customer</a:t>
            </a:r>
          </a:p>
          <a:p>
            <a:r>
              <a:t>Document pages: 115, 116</a:t>
            </a:r>
          </a:p>
          <a:p/>
          <a:p>
            <a:r>
              <a:t>COMPLETE SOURCE TEXT</a:t>
            </a:r>
          </a:p>
          <a:p>
            <a:r>
              <a:t>Documented strategic decision</a:t>
            </a:r>
          </a:p>
          <a:p/>
          <a:p>
            <a:r>
              <a:t>Lippo’s sustainability reporting describes market studies and ethnographic research into younger Indonesian buyers. It links that work to housing products at different price points and a shift toward community-oriented living environments.</a:t>
            </a:r>
          </a:p>
          <a:p/>
          <a:p>
            <a:r>
              <a:t>XYZ Livin was presented at approximately Rp300–600 million, targeting young families and professionals. These were historical disclosed prices. Source: Lippo’s product-research and XYZ Livin discussion.</a:t>
            </a:r>
          </a:p>
          <a:p/>
          <a:p>
            <a:r>
              <a:t>Brand strategy — analytical interpretation</a:t>
            </a:r>
          </a:p>
          <a:p/>
          <a:p>
            <a:r>
              <a:t>Product-series identities allow the developer to communicate different combinations of affordability, layout, functionality, and aspiration within a larger township.</a:t>
            </a:r>
          </a:p>
          <a:p/>
          <a:p>
            <a:r>
              <a:t>Business mechanism</a:t>
            </a:r>
          </a:p>
          <a:p/>
          <a:p>
            <a:r>
              <a:t>The strategic sequence is:</a:t>
            </a:r>
          </a:p>
          <a:p/>
          <a:p>
            <a:r>
              <a:t>Understand purchasing capacity → redesign the product → define the relevant lifestyle proposition → organise financing and selling.</a:t>
            </a:r>
          </a:p>
          <a:p/>
          <a:p>
            <a:r>
              <a:t>This is more consequential than applying a youthful campaign to an unchanged, unaffordable house.</a:t>
            </a:r>
          </a:p>
          <a:p/>
          <a:p>
            <a:r>
              <a:t>Why it can be effective</a:t>
            </a:r>
          </a:p>
          <a:p/>
          <a:p>
            <a:r>
              <a:t>A lower total ticket can expand the pool of eligible buyers. Functional design can help smaller homes remain desirable.</a:t>
            </a:r>
          </a:p>
          <a:p/>
          <a:p>
            <a:r>
              <a:t>Critical trade-off</a:t>
            </a:r>
          </a:p>
          <a:p/>
          <a:p>
            <a:r>
              <a:t>Lower ticket prices must still support adequate margins, acceptable living quality, and manageable infrastructure costs per unit.</a:t>
            </a:r>
          </a:p>
          <a:p/>
          <a:p>
            <a:r>
              <a:t>Suggested visual: Household budget translated into land area, building area, layout, specification, and payment structure.</a:t>
            </a:r>
          </a:p>
          <a:p/>
          <a:p>
            <a:r>
              <a:t>SOURCE HYPERLINKS (as embedded in Mario’s PDF; not independently reverified)</a:t>
            </a:r>
          </a:p>
          <a:p>
            <a:r>
              <a:t>https://www.lippokarawaci.co.id/uploads/file/LPKR%20-%20ENGLISH%20-%20FINAL_LowRes.pdf</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D06 — Lippo: Turning an affordable proposition into a repeatable launch system</a:t>
            </a:r>
          </a:p>
          <a:p>
            <a:r>
              <a:t>Document pages: 116, 117</a:t>
            </a:r>
          </a:p>
          <a:p/>
          <a:p>
            <a:r>
              <a:t>COMPLETE SOURCE TEXT</a:t>
            </a:r>
          </a:p>
          <a:p>
            <a:r>
              <a:t>Documented results</a:t>
            </a:r>
          </a:p>
          <a:p/>
          <a:p>
            <a:r>
              <a:t>LPKR reported FY2024 marketing sales of approximately Rp6.01 trillion, up 17%, with residential products contributing 64%. It identified continuing demand for earlier housing series and contributions from subsequent launches.</a:t>
            </a:r>
          </a:p>
          <a:p/>
          <a:p>
            <a:r>
              <a:t>The company also reported that first-stage Park Serpong handovers began in November 2024, within less than 18 months. These are issuer-reported results. Source: LPKR’s March 2025 sales announcement.</a:t>
            </a:r>
          </a:p>
          <a:p/>
          <a:p>
            <a:r>
              <a:t>Why the mechanism matters — analysis</a:t>
            </a:r>
          </a:p>
          <a:p/>
          <a:p>
            <a:r>
              <a:t>● A recognisable product family reduces the need to explain every new release from</a:t>
            </a:r>
          </a:p>
          <a:p/>
          <a:p>
            <a:r>
              <a:t>zero. ● Multiple formats provide a price and functionality ladder. ● Successive phases let the developer respond to demand. ● Visible delivery gives later buyers evidence beyond renderings.</a:t>
            </a:r>
          </a:p>
          <a:p/>
          <a:p>
            <a:r>
              <a:t>What the evidence does not establish</a:t>
            </a:r>
          </a:p>
          <a:p/>
          <a:p>
            <a:r>
              <a:t>It does not isolate the contribution of naming, digital advertising, affordability, financing, or broader market conditions.</a:t>
            </a:r>
          </a:p>
          <a:p/>
          <a:p>
            <a:r>
              <a:t>TANRISE application</a:t>
            </a:r>
          </a:p>
          <a:p/>
          <a:p>
            <a:r>
              <a:t>For Sidoarjo, define specific household segments and their payment capacity before deciding the product range. Validate whether the preferred format meets both customer needs and project economics.</a:t>
            </a:r>
          </a:p>
          <a:p/>
          <a:p>
            <a:r>
              <a:t>Suggested visual: Research → product family → phased releases → handover evidence → next launch.</a:t>
            </a:r>
          </a:p>
          <a:p/>
          <a:p>
            <a:r>
              <a:t>SOURCE HYPERLINKS (as embedded in Mario’s PDF; not independently reverified)</a:t>
            </a:r>
          </a:p>
          <a:p>
            <a:r>
              <a:t>https://www.lippokarawaci.co.id/id/news/lpkr-membukukan-pra-penjualan-yang-meningkat-dari-tahun-ke-tahun</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D06 — Lippo: Turning an affordable proposition into a repeatable launch system</a:t>
            </a:r>
          </a:p>
          <a:p>
            <a:r>
              <a:t>Document pages: 116, 117</a:t>
            </a:r>
          </a:p>
          <a:p/>
          <a:p>
            <a:r>
              <a:t>COMPLETE SOURCE TEXT</a:t>
            </a:r>
          </a:p>
          <a:p>
            <a:r>
              <a:t>Documented results</a:t>
            </a:r>
          </a:p>
          <a:p/>
          <a:p>
            <a:r>
              <a:t>LPKR reported FY2024 marketing sales of approximately Rp6.01 trillion, up 17%, with residential products contributing 64%. It identified continuing demand for earlier housing series and contributions from subsequent launches.</a:t>
            </a:r>
          </a:p>
          <a:p/>
          <a:p>
            <a:r>
              <a:t>The company also reported that first-stage Park Serpong handovers began in November 2024, within less than 18 months. These are issuer-reported results. Source: LPKR’s March 2025 sales announcement.</a:t>
            </a:r>
          </a:p>
          <a:p/>
          <a:p>
            <a:r>
              <a:t>Why the mechanism matters — analysis</a:t>
            </a:r>
          </a:p>
          <a:p/>
          <a:p>
            <a:r>
              <a:t>● A recognisable product family reduces the need to explain every new release from</a:t>
            </a:r>
          </a:p>
          <a:p/>
          <a:p>
            <a:r>
              <a:t>zero. ● Multiple formats provide a price and functionality ladder. ● Successive phases let the developer respond to demand. ● Visible delivery gives later buyers evidence beyond renderings.</a:t>
            </a:r>
          </a:p>
          <a:p/>
          <a:p>
            <a:r>
              <a:t>What the evidence does not establish</a:t>
            </a:r>
          </a:p>
          <a:p/>
          <a:p>
            <a:r>
              <a:t>It does not isolate the contribution of naming, digital advertising, affordability, financing, or broader market conditions.</a:t>
            </a:r>
          </a:p>
          <a:p/>
          <a:p>
            <a:r>
              <a:t>TANRISE application</a:t>
            </a:r>
          </a:p>
          <a:p/>
          <a:p>
            <a:r>
              <a:t>For Sidoarjo, define specific household segments and their payment capacity before deciding the product range. Validate whether the preferred format meets both customer needs and project economics.</a:t>
            </a:r>
          </a:p>
          <a:p/>
          <a:p>
            <a:r>
              <a:t>Suggested visual: Research → product family → phased releases → handover evidence → next launch.</a:t>
            </a:r>
          </a:p>
          <a:p/>
          <a:p>
            <a:r>
              <a:t>SOURCE HYPERLINKS (as embedded in Mario’s PDF; not independently reverified)</a:t>
            </a:r>
          </a:p>
          <a:p>
            <a:r>
              <a:t>https://www.lippokarawaci.co.id/id/news/lpkr-membukukan-pra-penjualan-yang-meningkat-dari-tahun-ke-tahun</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D07 — Ciputra: Using the brand to acquire business opportunities</a:t>
            </a:r>
          </a:p>
          <a:p>
            <a:r>
              <a:t>Document pages: 117, 118</a:t>
            </a:r>
          </a:p>
          <a:p/>
          <a:p>
            <a:r>
              <a:t>COMPLETE SOURCE TEXT</a:t>
            </a:r>
          </a:p>
          <a:p>
            <a:r>
              <a:t>Documented business strategy</a:t>
            </a:r>
          </a:p>
          <a:p/>
          <a:p>
            <a:r>
              <a:t>Ciputra’s 2025 reporting describes joint operations, joint ventures, and strategic partnerships. Partners generally contribute land, while Ciputra provides planning, construction, marketing, and sales capabilities.</a:t>
            </a:r>
          </a:p>
          <a:p/>
          <a:p>
            <a:r>
              <a:t>Its investor presentation explicitly connects continued joint-operation schemes with leveraging Ciputra brand equity. Sources: 2025 annual report, joint operations, growth-strategy presentation.</a:t>
            </a:r>
          </a:p>
          <a:p/>
          <a:p>
            <a:r>
              <a:t>Brand strategy — analytical interpretation</a:t>
            </a:r>
          </a:p>
          <a:p/>
          <a:p>
            <a:r>
              <a:t>The brand serves two customers:</a:t>
            </a:r>
          </a:p>
          <a:p/>
          <a:p>
            <a:r>
              <a:t>● Homebuyers: Confidence in the development. ● Landowners: Confidence that the developer can turn land into a commercially</a:t>
            </a:r>
          </a:p>
          <a:p/>
          <a:p>
            <a:r>
              <a:t>viable project.</a:t>
            </a:r>
          </a:p>
          <a:p/>
          <a:p>
            <a:r>
              <a:t>Why this is strategically powerful</a:t>
            </a:r>
          </a:p>
          <a:p/>
          <a:p>
            <a:r>
              <a:t>Reputation can improve access to opportunities, not only sales conversion.</a:t>
            </a:r>
          </a:p>
          <a:p/>
          <a:p>
            <a:r>
              <a:t>A landowner with limited development capability may value a partner that can organise design, permissions, construction, selling, and delivery.</a:t>
            </a:r>
          </a:p>
          <a:p/>
          <a:p>
            <a:r>
              <a:t>Economic mechanism</a:t>
            </a:r>
          </a:p>
          <a:p/>
          <a:p>
            <a:r>
              <a:t>Partnerships can reduce the need for outright upfront land acquisition and introduce local knowledge. They do not eliminate development expenditure, governance risk, or the partner’s share of profits.</a:t>
            </a:r>
          </a:p>
          <a:p/>
          <a:p>
            <a:r>
              <a:t>Suggested diagram: Brand and capabilities → landowner confidence → partnership pipeline → projects → further delivery evidence.</a:t>
            </a:r>
          </a:p>
          <a:p/>
          <a:p>
            <a:r>
              <a:t>SOURCE HYPERLINKS (as embedded in Mario’s PDF; not independently reverified)</a:t>
            </a:r>
          </a:p>
          <a:p>
            <a:r>
              <a:t>https://ciputradevelopment.com/wp-content/uploads/2026/05/Laporan_Tahunan_2025_CTRA.pdf</a:t>
            </a:r>
          </a:p>
          <a:p>
            <a:r>
              <a:t>https://ciputradevelopment.com/wp-content/uploads/2025/01/CTRA-Result-Presentation-6M25-4.pdf</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D07 — Ciputra: Using the brand to acquire business opportunities</a:t>
            </a:r>
          </a:p>
          <a:p>
            <a:r>
              <a:t>Document pages: 117, 118</a:t>
            </a:r>
          </a:p>
          <a:p/>
          <a:p>
            <a:r>
              <a:t>COMPLETE SOURCE TEXT</a:t>
            </a:r>
          </a:p>
          <a:p>
            <a:r>
              <a:t>Documented business strategy</a:t>
            </a:r>
          </a:p>
          <a:p/>
          <a:p>
            <a:r>
              <a:t>Ciputra’s 2025 reporting describes joint operations, joint ventures, and strategic partnerships. Partners generally contribute land, while Ciputra provides planning, construction, marketing, and sales capabilities.</a:t>
            </a:r>
          </a:p>
          <a:p/>
          <a:p>
            <a:r>
              <a:t>Its investor presentation explicitly connects continued joint-operation schemes with leveraging Ciputra brand equity. Sources: 2025 annual report, joint operations, growth-strategy presentation.</a:t>
            </a:r>
          </a:p>
          <a:p/>
          <a:p>
            <a:r>
              <a:t>Brand strategy — analytical interpretation</a:t>
            </a:r>
          </a:p>
          <a:p/>
          <a:p>
            <a:r>
              <a:t>The brand serves two customers:</a:t>
            </a:r>
          </a:p>
          <a:p/>
          <a:p>
            <a:r>
              <a:t>● Homebuyers: Confidence in the development. ● Landowners: Confidence that the developer can turn land into a commercially</a:t>
            </a:r>
          </a:p>
          <a:p/>
          <a:p>
            <a:r>
              <a:t>viable project.</a:t>
            </a:r>
          </a:p>
          <a:p/>
          <a:p>
            <a:r>
              <a:t>Why this is strategically powerful</a:t>
            </a:r>
          </a:p>
          <a:p/>
          <a:p>
            <a:r>
              <a:t>Reputation can improve access to opportunities, not only sales conversion.</a:t>
            </a:r>
          </a:p>
          <a:p/>
          <a:p>
            <a:r>
              <a:t>A landowner with limited development capability may value a partner that can organise design, permissions, construction, selling, and delivery.</a:t>
            </a:r>
          </a:p>
          <a:p/>
          <a:p>
            <a:r>
              <a:t>Economic mechanism</a:t>
            </a:r>
          </a:p>
          <a:p/>
          <a:p>
            <a:r>
              <a:t>Partnerships can reduce the need for outright upfront land acquisition and introduce local knowledge. They do not eliminate development expenditure, governance risk, or the partner’s share of profits.</a:t>
            </a:r>
          </a:p>
          <a:p/>
          <a:p>
            <a:r>
              <a:t>Suggested diagram: Brand and capabilities → landowner confidence → partnership pipeline → projects → further delivery evidence.</a:t>
            </a:r>
          </a:p>
          <a:p/>
          <a:p>
            <a:r>
              <a:t>SOURCE HYPERLINKS (as embedded in Mario’s PDF; not independently reverified)</a:t>
            </a:r>
          </a:p>
          <a:p>
            <a:r>
              <a:t>https://ciputradevelopment.com/wp-content/uploads/2026/05/Laporan_Tahunan_2025_CTRA.pdf</a:t>
            </a:r>
          </a:p>
          <a:p>
            <a:r>
              <a:t>https://ciputradevelopment.com/wp-content/uploads/2025/01/CTRA-Result-Presentation-6M25-4.pdf</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D08 — Ciputra: Standardising capabilities while adapting products locally</a:t>
            </a:r>
          </a:p>
          <a:p>
            <a:r>
              <a:t>Document pages: 118, 119</a:t>
            </a:r>
          </a:p>
          <a:p/>
          <a:p>
            <a:r>
              <a:t>COMPLETE SOURCE TEXT</a:t>
            </a:r>
          </a:p>
          <a:p>
            <a:r>
              <a:t>Documented strategic direction</a:t>
            </a:r>
          </a:p>
          <a:p/>
          <a:p>
            <a:r>
              <a:t>Ciputra’s investor materials combine geographic diversification, continued land replenishment, innovative launches, complementary amenities, and prudent capital management. Source: Ciputra growth-strategy presentation.</a:t>
            </a:r>
          </a:p>
          <a:p/>
          <a:p>
            <a:r>
              <a:t>How the system works — analysis</a:t>
            </a:r>
          </a:p>
          <a:p/>
          <a:p>
            <a:r>
              <a:t>The replicable component is the development organisation:</a:t>
            </a:r>
          </a:p>
          <a:p/>
          <a:p>
            <a:r>
              <a:t>● Project feasibility. ● Design and procurement discipline. ● Sales management. ● Financial controls. ● Construction and handover processes.</a:t>
            </a:r>
          </a:p>
          <a:p/>
          <a:p>
            <a:r>
              <a:t>The locally adaptable component is the customer offer:</a:t>
            </a:r>
          </a:p>
          <a:p/>
          <a:p>
            <a:r>
              <a:t>● Price. ● Unit configuration. ● Release size.</a:t>
            </a:r>
          </a:p>
          <a:p/>
          <a:p>
            <a:r>
              <a:t>● Amenity priorities. ● Communication and distribution channels.</a:t>
            </a:r>
          </a:p>
          <a:p/>
          <a:p>
            <a:r>
              <a:t>Why this can be effective</a:t>
            </a:r>
          </a:p>
          <a:p/>
          <a:p>
            <a:r>
              <a:t>The company can reuse operating knowledge without assuming that customers in every city want the same home.</a:t>
            </a:r>
          </a:p>
          <a:p/>
          <a:p>
            <a:r>
              <a:t>Brand implication</a:t>
            </a:r>
          </a:p>
          <a:p/>
          <a:p>
            <a:r>
              <a:t>A common development identity provides reassurance; project-level propositions supply local relevance.</a:t>
            </a:r>
          </a:p>
          <a:p/>
          <a:p>
            <a:r>
              <a:t>TANRISE application</a:t>
            </a:r>
          </a:p>
          <a:p/>
          <a:p>
            <a:r>
              <a:t>Create a repeatable development system before attempting rapid geographic expansion. A landowner-partnership proposal should specify TANRISE’s capabilities, governance, funding responsibilities, and delivery record.</a:t>
            </a:r>
          </a:p>
          <a:p/>
          <a:p>
            <a:r>
              <a:t>Suggested visual: Central operating standards surrounding locally adapted project offers.</a:t>
            </a:r>
          </a:p>
          <a:p/>
          <a:p>
            <a:r>
              <a:t>SOURCE HYPERLINKS (as embedded in Mario’s PDF; not independently reverified)</a:t>
            </a:r>
          </a:p>
          <a:p>
            <a:r>
              <a:t>https://ciputradevelopment.com/wp-content/uploads/2025/01/CTRA-Result-Presentation-6M25-4.pdf</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D08 — Ciputra: Standardising capabilities while adapting products locally</a:t>
            </a:r>
          </a:p>
          <a:p>
            <a:r>
              <a:t>Document pages: 118, 119</a:t>
            </a:r>
          </a:p>
          <a:p/>
          <a:p>
            <a:r>
              <a:t>COMPLETE SOURCE TEXT</a:t>
            </a:r>
          </a:p>
          <a:p>
            <a:r>
              <a:t>Documented strategic direction</a:t>
            </a:r>
          </a:p>
          <a:p/>
          <a:p>
            <a:r>
              <a:t>Ciputra’s investor materials combine geographic diversification, continued land replenishment, innovative launches, complementary amenities, and prudent capital management. Source: Ciputra growth-strategy presentation.</a:t>
            </a:r>
          </a:p>
          <a:p/>
          <a:p>
            <a:r>
              <a:t>How the system works — analysis</a:t>
            </a:r>
          </a:p>
          <a:p/>
          <a:p>
            <a:r>
              <a:t>The replicable component is the development organisation:</a:t>
            </a:r>
          </a:p>
          <a:p/>
          <a:p>
            <a:r>
              <a:t>● Project feasibility. ● Design and procurement discipline. ● Sales management. ● Financial controls. ● Construction and handover processes.</a:t>
            </a:r>
          </a:p>
          <a:p/>
          <a:p>
            <a:r>
              <a:t>The locally adaptable component is the customer offer:</a:t>
            </a:r>
          </a:p>
          <a:p/>
          <a:p>
            <a:r>
              <a:t>● Price. ● Unit configuration. ● Release size.</a:t>
            </a:r>
          </a:p>
          <a:p/>
          <a:p>
            <a:r>
              <a:t>● Amenity priorities. ● Communication and distribution channels.</a:t>
            </a:r>
          </a:p>
          <a:p/>
          <a:p>
            <a:r>
              <a:t>Why this can be effective</a:t>
            </a:r>
          </a:p>
          <a:p/>
          <a:p>
            <a:r>
              <a:t>The company can reuse operating knowledge without assuming that customers in every city want the same home.</a:t>
            </a:r>
          </a:p>
          <a:p/>
          <a:p>
            <a:r>
              <a:t>Brand implication</a:t>
            </a:r>
          </a:p>
          <a:p/>
          <a:p>
            <a:r>
              <a:t>A common development identity provides reassurance; project-level propositions supply local relevance.</a:t>
            </a:r>
          </a:p>
          <a:p/>
          <a:p>
            <a:r>
              <a:t>TANRISE application</a:t>
            </a:r>
          </a:p>
          <a:p/>
          <a:p>
            <a:r>
              <a:t>Create a repeatable development system before attempting rapid geographic expansion. A landowner-partnership proposal should specify TANRISE’s capabilities, governance, funding responsibilities, and delivery record.</a:t>
            </a:r>
          </a:p>
          <a:p/>
          <a:p>
            <a:r>
              <a:t>Suggested visual: Central operating standards surrounding locally adapted project offers.</a:t>
            </a:r>
          </a:p>
          <a:p/>
          <a:p>
            <a:r>
              <a:t>SOURCE HYPERLINKS (as embedded in Mario’s PDF; not independently reverified)</a:t>
            </a:r>
          </a:p>
          <a:p>
            <a:r>
              <a:t>https://ciputradevelopment.com/wp-content/uploads/2025/01/CTRA-Result-Presentation-6M25-4.pdf</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D08 — Ciputra: Standardising capabilities while adapting products locally</a:t>
            </a:r>
          </a:p>
          <a:p>
            <a:r>
              <a:t>Document pages: 118, 119</a:t>
            </a:r>
          </a:p>
          <a:p/>
          <a:p>
            <a:r>
              <a:t>COMPLETE SOURCE TEXT</a:t>
            </a:r>
          </a:p>
          <a:p>
            <a:r>
              <a:t>Documented strategic direction</a:t>
            </a:r>
          </a:p>
          <a:p/>
          <a:p>
            <a:r>
              <a:t>Ciputra’s investor materials combine geographic diversification, continued land replenishment, innovative launches, complementary amenities, and prudent capital management. Source: Ciputra growth-strategy presentation.</a:t>
            </a:r>
          </a:p>
          <a:p/>
          <a:p>
            <a:r>
              <a:t>How the system works — analysis</a:t>
            </a:r>
          </a:p>
          <a:p/>
          <a:p>
            <a:r>
              <a:t>The replicable component is the development organisation:</a:t>
            </a:r>
          </a:p>
          <a:p/>
          <a:p>
            <a:r>
              <a:t>● Project feasibility. ● Design and procurement discipline. ● Sales management. ● Financial controls. ● Construction and handover processes.</a:t>
            </a:r>
          </a:p>
          <a:p/>
          <a:p>
            <a:r>
              <a:t>The locally adaptable component is the customer offer:</a:t>
            </a:r>
          </a:p>
          <a:p/>
          <a:p>
            <a:r>
              <a:t>● Price. ● Unit configuration. ● Release size.</a:t>
            </a:r>
          </a:p>
          <a:p/>
          <a:p>
            <a:r>
              <a:t>● Amenity priorities. ● Communication and distribution channels.</a:t>
            </a:r>
          </a:p>
          <a:p/>
          <a:p>
            <a:r>
              <a:t>Why this can be effective</a:t>
            </a:r>
          </a:p>
          <a:p/>
          <a:p>
            <a:r>
              <a:t>The company can reuse operating knowledge without assuming that customers in every city want the same home.</a:t>
            </a:r>
          </a:p>
          <a:p/>
          <a:p>
            <a:r>
              <a:t>Brand implication</a:t>
            </a:r>
          </a:p>
          <a:p/>
          <a:p>
            <a:r>
              <a:t>A common development identity provides reassurance; project-level propositions supply local relevance.</a:t>
            </a:r>
          </a:p>
          <a:p/>
          <a:p>
            <a:r>
              <a:t>TANRISE application</a:t>
            </a:r>
          </a:p>
          <a:p/>
          <a:p>
            <a:r>
              <a:t>Create a repeatable development system before attempting rapid geographic expansion. A landowner-partnership proposal should specify TANRISE’s capabilities, governance, funding responsibilities, and delivery record.</a:t>
            </a:r>
          </a:p>
          <a:p/>
          <a:p>
            <a:r>
              <a:t>Suggested visual: Central operating standards surrounding locally adapted project offers.</a:t>
            </a:r>
          </a:p>
          <a:p/>
          <a:p>
            <a:r>
              <a:t>SOURCE HYPERLINKS (as embedded in Mario’s PDF; not independently reverified)</a:t>
            </a:r>
          </a:p>
          <a:p>
            <a:r>
              <a:t>https://ciputradevelopment.com/wp-content/uploads/2025/01/CTRA-Result-Presentation-6M25-4.pdf</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D09 — Summarecon: Transferring the reputation of an established place</a:t>
            </a:r>
          </a:p>
          <a:p>
            <a:r>
              <a:t>Document pages: 119, 120</a:t>
            </a:r>
          </a:p>
          <a:p/>
          <a:p>
            <a:r>
              <a:t>COMPLETE SOURCE TEXT</a:t>
            </a:r>
          </a:p>
          <a:p>
            <a:r>
              <a:t>Documented brand execution</a:t>
            </a:r>
          </a:p>
          <a:p/>
          <a:p>
            <a:r>
              <a:t>Summarecon Crown Gading launched using the theme “New City, New Kelapa Gading.” The launch explicitly connected the new township with the company’s established Kelapa Gading development.</a:t>
            </a:r>
          </a:p>
          <a:p/>
          <a:p>
            <a:r>
              <a:t>For its November 2022 launch, the company reported an initial offering of 244 homes, expanded through additional stages to 390 reported sales over six hours, with a stated sales value of approximately Rp827 billion. Source: Crown Gading launch release.</a:t>
            </a:r>
          </a:p>
          <a:p/>
          <a:p>
            <a:r>
              <a:t>Why the brand mechanism matters — analysis</a:t>
            </a:r>
          </a:p>
          <a:p/>
          <a:p>
            <a:r>
              <a:t>A new township asks customers to believe in a future environment.</a:t>
            </a:r>
          </a:p>
          <a:p/>
          <a:p>
            <a:r>
              <a:t>Referencing a familiar, functioning development gives buyers a concrete model for that future. The developer’s track record helps reduce the perceived risk of buying before the new location matures.</a:t>
            </a:r>
          </a:p>
          <a:p/>
          <a:p>
            <a:r>
              <a:t>Business implication</a:t>
            </a:r>
          </a:p>
          <a:p/>
          <a:p>
            <a:r>
              <a:t>Past delivery can support demand for new land and new phases.</a:t>
            </a:r>
          </a:p>
          <a:p/>
          <a:p>
            <a:r>
              <a:t>Evidence caution</a:t>
            </a:r>
          </a:p>
          <a:p/>
          <a:p>
            <a:r>
              <a:t>Launch sales are not the same as completed handovers or audited recognised revenue. The release does not establish how many purchases later cancelled.</a:t>
            </a:r>
          </a:p>
          <a:p/>
          <a:p>
            <a:r>
              <a:t>Suggested visual: Established-place evidence → confidence in a new township → launch participation.</a:t>
            </a:r>
          </a:p>
          <a:p/>
          <a:p>
            <a:r>
              <a:t>SOURCE HYPERLINKS (as embedded in Mario’s PDF; not independently reverified)</a:t>
            </a:r>
          </a:p>
          <a:p>
            <a:r>
              <a:t>https://www.summarecon.com/files/article/Press-Release-Bilingual-Grand-Launching-SCG.pdf</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D09 — Summarecon: Transferring the reputation of an established place</a:t>
            </a:r>
          </a:p>
          <a:p>
            <a:r>
              <a:t>Document pages: 119, 120</a:t>
            </a:r>
          </a:p>
          <a:p/>
          <a:p>
            <a:r>
              <a:t>COMPLETE SOURCE TEXT</a:t>
            </a:r>
          </a:p>
          <a:p>
            <a:r>
              <a:t>Documented brand execution</a:t>
            </a:r>
          </a:p>
          <a:p/>
          <a:p>
            <a:r>
              <a:t>Summarecon Crown Gading launched using the theme “New City, New Kelapa Gading.” The launch explicitly connected the new township with the company’s established Kelapa Gading development.</a:t>
            </a:r>
          </a:p>
          <a:p/>
          <a:p>
            <a:r>
              <a:t>For its November 2022 launch, the company reported an initial offering of 244 homes, expanded through additional stages to 390 reported sales over six hours, with a stated sales value of approximately Rp827 billion. Source: Crown Gading launch release.</a:t>
            </a:r>
          </a:p>
          <a:p/>
          <a:p>
            <a:r>
              <a:t>Why the brand mechanism matters — analysis</a:t>
            </a:r>
          </a:p>
          <a:p/>
          <a:p>
            <a:r>
              <a:t>A new township asks customers to believe in a future environment.</a:t>
            </a:r>
          </a:p>
          <a:p/>
          <a:p>
            <a:r>
              <a:t>Referencing a familiar, functioning development gives buyers a concrete model for that future. The developer’s track record helps reduce the perceived risk of buying before the new location matures.</a:t>
            </a:r>
          </a:p>
          <a:p/>
          <a:p>
            <a:r>
              <a:t>Business implication</a:t>
            </a:r>
          </a:p>
          <a:p/>
          <a:p>
            <a:r>
              <a:t>Past delivery can support demand for new land and new phases.</a:t>
            </a:r>
          </a:p>
          <a:p/>
          <a:p>
            <a:r>
              <a:t>Evidence caution</a:t>
            </a:r>
          </a:p>
          <a:p/>
          <a:p>
            <a:r>
              <a:t>Launch sales are not the same as completed handovers or audited recognised revenue. The release does not establish how many purchases later cancelled.</a:t>
            </a:r>
          </a:p>
          <a:p/>
          <a:p>
            <a:r>
              <a:t>Suggested visual: Established-place evidence → confidence in a new township → launch participation.</a:t>
            </a:r>
          </a:p>
          <a:p/>
          <a:p>
            <a:r>
              <a:t>SOURCE HYPERLINKS (as embedded in Mario’s PDF; not independently reverified)</a:t>
            </a:r>
          </a:p>
          <a:p>
            <a:r>
              <a:t>https://www.summarecon.com/files/article/Press-Release-Bilingual-Grand-Launching-SCG.pdf</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D10 — Summarecon: Selling the next economic layer of the township</a:t>
            </a:r>
          </a:p>
          <a:p>
            <a:r>
              <a:t>Document pages: 120, 121</a:t>
            </a:r>
          </a:p>
          <a:p/>
          <a:p>
            <a:r>
              <a:t>COMPLETE SOURCE TEXT</a:t>
            </a:r>
          </a:p>
          <a:p>
            <a:r>
              <a:t>Documented sequence</a:t>
            </a:r>
          </a:p>
          <a:p/>
          <a:p>
            <a:r>
              <a:t>After the initial residential launch, Crown Gading introduced Gading Bulevar Commercial in September 2023. The company reported 66 shophouses sold, across successive stages, with a stated sales value of approximately Rp200 billion.</a:t>
            </a:r>
          </a:p>
          <a:p/>
          <a:p>
            <a:r>
              <a:t>The proposition highlighted gateway positioning, boulevard access, future facilities, and named businesses preparing to operate. Source: Gading Bulevar launch release.</a:t>
            </a:r>
          </a:p>
          <a:p/>
          <a:p>
            <a:r>
              <a:t>Why the mechanism matters — analysis</a:t>
            </a:r>
          </a:p>
          <a:p/>
          <a:p>
            <a:r>
              <a:t>Residential buyers and commercial buyers require different arguments:</a:t>
            </a:r>
          </a:p>
          <a:p/>
          <a:p>
            <a:r>
              <a:t>● A household evaluates living quality and affordability. ● A business evaluates access, visibility, catchment, and customer activity. ● An investor evaluates likely occupancy, income, and resale prospects.</a:t>
            </a:r>
          </a:p>
          <a:p/>
          <a:p>
            <a:r>
              <a:t>The marketing story changes with the product’s economic function.</a:t>
            </a:r>
          </a:p>
          <a:p/>
          <a:p>
            <a:r>
              <a:t>Critical distinction</a:t>
            </a:r>
          </a:p>
          <a:p/>
          <a:p>
            <a:r>
              <a:t>Early residential sales can support interest in commercial property, but they do not prove sufficient occupied households or sustainable tenant turnover.</a:t>
            </a:r>
          </a:p>
          <a:p/>
          <a:p>
            <a:r>
              <a:t>TANRISE application</a:t>
            </a:r>
          </a:p>
          <a:p/>
          <a:p>
            <a:r>
              <a:t>Separate household marketing from business-occupier marketing. For commercial phases, show verified catchment and operating demand rather than relying on residential launch success.</a:t>
            </a:r>
          </a:p>
          <a:p/>
          <a:p>
            <a:r>
              <a:t>Suggested visual: Residential commitment → occupancy development → commercial demand, with evidence required at each step.</a:t>
            </a:r>
          </a:p>
          <a:p/>
          <a:p>
            <a:r>
              <a:t>SOURCE HYPERLINKS (as embedded in Mario’s PDF; not independently reverified)</a:t>
            </a:r>
          </a:p>
          <a:p>
            <a:r>
              <a:t>https://www.summarecon.com/files/article/Press-release-Launching-Gading-Bulevar-SCG-2-Sept-23.pdf</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D10 — Summarecon: Selling the next economic layer of the township</a:t>
            </a:r>
          </a:p>
          <a:p>
            <a:r>
              <a:t>Document pages: 120, 121</a:t>
            </a:r>
          </a:p>
          <a:p/>
          <a:p>
            <a:r>
              <a:t>COMPLETE SOURCE TEXT</a:t>
            </a:r>
          </a:p>
          <a:p>
            <a:r>
              <a:t>Documented sequence</a:t>
            </a:r>
          </a:p>
          <a:p/>
          <a:p>
            <a:r>
              <a:t>After the initial residential launch, Crown Gading introduced Gading Bulevar Commercial in September 2023. The company reported 66 shophouses sold, across successive stages, with a stated sales value of approximately Rp200 billion.</a:t>
            </a:r>
          </a:p>
          <a:p/>
          <a:p>
            <a:r>
              <a:t>The proposition highlighted gateway positioning, boulevard access, future facilities, and named businesses preparing to operate. Source: Gading Bulevar launch release.</a:t>
            </a:r>
          </a:p>
          <a:p/>
          <a:p>
            <a:r>
              <a:t>Why the mechanism matters — analysis</a:t>
            </a:r>
          </a:p>
          <a:p/>
          <a:p>
            <a:r>
              <a:t>Residential buyers and commercial buyers require different arguments:</a:t>
            </a:r>
          </a:p>
          <a:p/>
          <a:p>
            <a:r>
              <a:t>● A household evaluates living quality and affordability. ● A business evaluates access, visibility, catchment, and customer activity. ● An investor evaluates likely occupancy, income, and resale prospects.</a:t>
            </a:r>
          </a:p>
          <a:p/>
          <a:p>
            <a:r>
              <a:t>The marketing story changes with the product’s economic function.</a:t>
            </a:r>
          </a:p>
          <a:p/>
          <a:p>
            <a:r>
              <a:t>Critical distinction</a:t>
            </a:r>
          </a:p>
          <a:p/>
          <a:p>
            <a:r>
              <a:t>Early residential sales can support interest in commercial property, but they do not prove sufficient occupied households or sustainable tenant turnover.</a:t>
            </a:r>
          </a:p>
          <a:p/>
          <a:p>
            <a:r>
              <a:t>TANRISE application</a:t>
            </a:r>
          </a:p>
          <a:p/>
          <a:p>
            <a:r>
              <a:t>Separate household marketing from business-occupier marketing. For commercial phases, show verified catchment and operating demand rather than relying on residential launch success.</a:t>
            </a:r>
          </a:p>
          <a:p/>
          <a:p>
            <a:r>
              <a:t>Suggested visual: Residential commitment → occupancy development → commercial demand, with evidence required at each step.</a:t>
            </a:r>
          </a:p>
          <a:p/>
          <a:p>
            <a:r>
              <a:t>SOURCE HYPERLINKS (as embedded in Mario’s PDF; not independently reverified)</a:t>
            </a:r>
          </a:p>
          <a:p>
            <a:r>
              <a:t>https://www.summarecon.com/files/article/Press-release-Launching-Gading-Bulevar-SCG-2-Sept-23.pdf</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D11 — Pakuwon: The marketing customer is also the tenant</a:t>
            </a:r>
          </a:p>
          <a:p>
            <a:r>
              <a:t>Document pages: 121</a:t>
            </a:r>
          </a:p>
          <a:p/>
          <a:p>
            <a:r>
              <a:t>COMPLETE SOURCE TEXT</a:t>
            </a:r>
          </a:p>
          <a:p>
            <a:r>
              <a:t>Documented operating strategy</a:t>
            </a:r>
          </a:p>
          <a:p/>
          <a:p>
            <a:r>
              <a:t>Pakuwon’s 2025 report describes selective tenant-mix curation, prioritising food and beverage, entertainment, and lifestyle uses, together with experience-based marketing and digital integration. Source: Pakuwon 2025 annual report, marketing discussion.</a:t>
            </a:r>
          </a:p>
          <a:p/>
          <a:p>
            <a:r>
              <a:t>Brand strategy — analytical interpretation</a:t>
            </a:r>
          </a:p>
          <a:p/>
          <a:p>
            <a:r>
              <a:t>A mall brand must create value for two connected audiences:</a:t>
            </a:r>
          </a:p>
          <a:p/>
          <a:p>
            <a:r>
              <a:t>● Visitors need reasons to return. ● Tenants need commercially useful customer traffic.</a:t>
            </a:r>
          </a:p>
          <a:p/>
          <a:p>
            <a:r>
              <a:t>Business mechanism</a:t>
            </a:r>
          </a:p>
          <a:p/>
          <a:p>
            <a:r>
              <a:t>1. Recruit a relevant tenant mix. 2. Make the destination useful and enjoyable. 3. Encourage repeat visits and time spent. 4. Support tenant trading. 5. Sustain leasing demand and rental income.</a:t>
            </a:r>
          </a:p>
          <a:p/>
          <a:p>
            <a:r>
              <a:t>Why it can be effective</a:t>
            </a:r>
          </a:p>
          <a:p/>
          <a:p>
            <a:r>
              <a:t>The operating asset becomes a continuing customer-acquisition environment for its tenants.</a:t>
            </a:r>
          </a:p>
          <a:p/>
          <a:p>
            <a:r>
              <a:t>Important qualification</a:t>
            </a:r>
          </a:p>
          <a:p/>
          <a:p>
            <a:r>
              <a:t>Footfall alone is insufficient. A crowded event can generate weak tenant spending or poor returns after activation costs.</a:t>
            </a:r>
          </a:p>
          <a:p/>
          <a:p>
            <a:r>
              <a:t>Suggested diagram: Tenant quality ↔ visitor relevance ↔ tenant trading ↔ leasing strength.</a:t>
            </a:r>
          </a:p>
          <a:p/>
          <a:p>
            <a:r>
              <a:t>SOURCE HYPERLINKS (as embedded in Mario’s PDF; not independently reverified)</a:t>
            </a:r>
          </a:p>
          <a:p>
            <a:r>
              <a:t>https://pakuwonjati.com/upload/2026/04/69f2e5afd9760-ar-pakuwonjati-2025.pdf</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D11 — Pakuwon: The marketing customer is also the tenant</a:t>
            </a:r>
          </a:p>
          <a:p>
            <a:r>
              <a:t>Document pages: 121</a:t>
            </a:r>
          </a:p>
          <a:p/>
          <a:p>
            <a:r>
              <a:t>COMPLETE SOURCE TEXT</a:t>
            </a:r>
          </a:p>
          <a:p>
            <a:r>
              <a:t>Documented operating strategy</a:t>
            </a:r>
          </a:p>
          <a:p/>
          <a:p>
            <a:r>
              <a:t>Pakuwon’s 2025 report describes selective tenant-mix curation, prioritising food and beverage, entertainment, and lifestyle uses, together with experience-based marketing and digital integration. Source: Pakuwon 2025 annual report, marketing discussion.</a:t>
            </a:r>
          </a:p>
          <a:p/>
          <a:p>
            <a:r>
              <a:t>Brand strategy — analytical interpretation</a:t>
            </a:r>
          </a:p>
          <a:p/>
          <a:p>
            <a:r>
              <a:t>A mall brand must create value for two connected audiences:</a:t>
            </a:r>
          </a:p>
          <a:p/>
          <a:p>
            <a:r>
              <a:t>● Visitors need reasons to return. ● Tenants need commercially useful customer traffic.</a:t>
            </a:r>
          </a:p>
          <a:p/>
          <a:p>
            <a:r>
              <a:t>Business mechanism</a:t>
            </a:r>
          </a:p>
          <a:p/>
          <a:p>
            <a:r>
              <a:t>1. Recruit a relevant tenant mix. 2. Make the destination useful and enjoyable. 3. Encourage repeat visits and time spent. 4. Support tenant trading. 5. Sustain leasing demand and rental income.</a:t>
            </a:r>
          </a:p>
          <a:p/>
          <a:p>
            <a:r>
              <a:t>Why it can be effective</a:t>
            </a:r>
          </a:p>
          <a:p/>
          <a:p>
            <a:r>
              <a:t>The operating asset becomes a continuing customer-acquisition environment for its tenants.</a:t>
            </a:r>
          </a:p>
          <a:p/>
          <a:p>
            <a:r>
              <a:t>Important qualification</a:t>
            </a:r>
          </a:p>
          <a:p/>
          <a:p>
            <a:r>
              <a:t>Footfall alone is insufficient. A crowded event can generate weak tenant spending or poor returns after activation costs.</a:t>
            </a:r>
          </a:p>
          <a:p/>
          <a:p>
            <a:r>
              <a:t>Suggested diagram: Tenant quality ↔ visitor relevance ↔ tenant trading ↔ leasing strength.</a:t>
            </a:r>
          </a:p>
          <a:p/>
          <a:p>
            <a:r>
              <a:t>SOURCE HYPERLINKS (as embedded in Mario’s PDF; not independently reverified)</a:t>
            </a:r>
          </a:p>
          <a:p>
            <a:r>
              <a:t>https://pakuwonjati.com/upload/2026/04/69f2e5afd9760-ar-pakuwonjati-2025.pdf</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D12 — Pakuwon: Reinvesting in the reasons people visit</a:t>
            </a:r>
          </a:p>
          <a:p>
            <a:r>
              <a:t>Document pages: 122</a:t>
            </a:r>
          </a:p>
          <a:p/>
          <a:p>
            <a:r>
              <a:t>COMPLETE SOURCE TEXT</a:t>
            </a:r>
          </a:p>
          <a:p>
            <a:r>
              <a:t>Documented execution</a:t>
            </a:r>
          </a:p>
          <a:p/>
          <a:p>
            <a:r>
              <a:t>Pakuwon’s 2024 report describes new sports-fashion, food, beauty, and entertainment tenants, alongside events intended to attract visitors and support tenant sales.</a:t>
            </a:r>
          </a:p>
          <a:p/>
          <a:p>
            <a:r>
              <a:t>The company reported approximately 95% mall occupancy and 10% growth in shopping-centre revenue for that year. These are concurrent operating results, not proof that events alone caused the growth. Source: Pakuwon revised 2024 annual report.</a:t>
            </a:r>
          </a:p>
          <a:p/>
          <a:p>
            <a:r>
              <a:t>Why this is more than promotion — analysis</a:t>
            </a:r>
          </a:p>
          <a:p/>
          <a:p>
            <a:r>
              <a:t>Tenant selection changes the product itself. Events and communication then amplify that product.</a:t>
            </a:r>
          </a:p>
          <a:p/>
          <a:p>
            <a:r>
              <a:t>An operator must continuously decide:</a:t>
            </a:r>
          </a:p>
          <a:p/>
          <a:p>
            <a:r>
              <a:t>● Which categories attract the desired catchment? ● Which tenants deserve additional space? ● Which areas need improvement? ● Which activities generate repeat visits? ● Does incremental income justify reinvestment?</a:t>
            </a:r>
          </a:p>
          <a:p/>
          <a:p>
            <a:r>
              <a:t>TANRISE application</a:t>
            </a:r>
          </a:p>
          <a:p/>
          <a:p>
            <a:r>
              <a:t>For retained commercial or hospitality assets, evaluate the operating proposition before increasing promotion. Measure repeat use, customer spending, occupancy quality, and net cash contribution.</a:t>
            </a:r>
          </a:p>
          <a:p/>
          <a:p>
            <a:r>
              <a:t>Suggested visual: Asset improvement → customer response → tenant performance → income → reinvestment.</a:t>
            </a:r>
          </a:p>
          <a:p/>
          <a:p>
            <a:r>
              <a:t>SOURCE HYPERLINKS (as embedded in Mario’s PDF; not independently reverified)</a:t>
            </a:r>
          </a:p>
          <a:p>
            <a:r>
              <a:t>https://pakuwonjati.com/upload/2025/11/69215d3f3db68-ar-2024-revised-1.pdf</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D12 — Pakuwon: Reinvesting in the reasons people visit</a:t>
            </a:r>
          </a:p>
          <a:p>
            <a:r>
              <a:t>Document pages: 122</a:t>
            </a:r>
          </a:p>
          <a:p/>
          <a:p>
            <a:r>
              <a:t>COMPLETE SOURCE TEXT</a:t>
            </a:r>
          </a:p>
          <a:p>
            <a:r>
              <a:t>Documented execution</a:t>
            </a:r>
          </a:p>
          <a:p/>
          <a:p>
            <a:r>
              <a:t>Pakuwon’s 2024 report describes new sports-fashion, food, beauty, and entertainment tenants, alongside events intended to attract visitors and support tenant sales.</a:t>
            </a:r>
          </a:p>
          <a:p/>
          <a:p>
            <a:r>
              <a:t>The company reported approximately 95% mall occupancy and 10% growth in shopping-centre revenue for that year. These are concurrent operating results, not proof that events alone caused the growth. Source: Pakuwon revised 2024 annual report.</a:t>
            </a:r>
          </a:p>
          <a:p/>
          <a:p>
            <a:r>
              <a:t>Why this is more than promotion — analysis</a:t>
            </a:r>
          </a:p>
          <a:p/>
          <a:p>
            <a:r>
              <a:t>Tenant selection changes the product itself. Events and communication then amplify that product.</a:t>
            </a:r>
          </a:p>
          <a:p/>
          <a:p>
            <a:r>
              <a:t>An operator must continuously decide:</a:t>
            </a:r>
          </a:p>
          <a:p/>
          <a:p>
            <a:r>
              <a:t>● Which categories attract the desired catchment? ● Which tenants deserve additional space? ● Which areas need improvement? ● Which activities generate repeat visits? ● Does incremental income justify reinvestment?</a:t>
            </a:r>
          </a:p>
          <a:p/>
          <a:p>
            <a:r>
              <a:t>TANRISE application</a:t>
            </a:r>
          </a:p>
          <a:p/>
          <a:p>
            <a:r>
              <a:t>For retained commercial or hospitality assets, evaluate the operating proposition before increasing promotion. Measure repeat use, customer spending, occupancy quality, and net cash contribution.</a:t>
            </a:r>
          </a:p>
          <a:p/>
          <a:p>
            <a:r>
              <a:t>Suggested visual: Asset improvement → customer response → tenant performance → income → reinvestment.</a:t>
            </a:r>
          </a:p>
          <a:p/>
          <a:p>
            <a:r>
              <a:t>SOURCE HYPERLINKS (as embedded in Mario’s PDF; not independently reverified)</a:t>
            </a:r>
          </a:p>
          <a:p>
            <a:r>
              <a:t>https://pakuwonjati.com/upload/2025/11/69215d3f3db68-ar-2024-revised-1.pdf</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D13 — Agung Podomoro: Turning a design concept into a recognisable offer</a:t>
            </a:r>
          </a:p>
          <a:p>
            <a:r>
              <a:t>Document pages: 122, 123</a:t>
            </a:r>
          </a:p>
          <a:p/>
          <a:p>
            <a:r>
              <a:t>COMPLETE SOURCE TEXT</a:t>
            </a:r>
          </a:p>
          <a:p>
            <a:r>
              <a:t>Documented product strategy</a:t>
            </a:r>
          </a:p>
          <a:p/>
          <a:p>
            <a:r>
              <a:t>In 2025, Agung Podomoro promoted The Garden House, incorporating courtyard design across several projects, including Podomoro Park Bandung and Kota Podomoro Tenjo.</a:t>
            </a:r>
          </a:p>
          <a:p/>
          <a:p>
            <a:r>
              <a:t>Its annual report also describes efficient unit configurations, differentiated price ranges, flexible payment arrangements, customer-database management, agent cooperation, and</a:t>
            </a:r>
          </a:p>
          <a:p/>
          <a:p>
            <a:r>
              <a:t>online booking development. Sources: Garden House announcement, 2025 annual report, marketing and pricing.</a:t>
            </a:r>
          </a:p>
          <a:p/>
          <a:p>
            <a:r>
              <a:t>Brand strategy — analytical interpretation</a:t>
            </a:r>
          </a:p>
          <a:p/>
          <a:p>
            <a:r>
              <a:t>A visible design feature provides a more concrete proposition than a broad claim about modern or sustainable living.</a:t>
            </a:r>
          </a:p>
          <a:p/>
          <a:p>
            <a:r>
              <a:t>Why the mechanism matters</a:t>
            </a:r>
          </a:p>
          <a:p/>
          <a:p>
            <a:r>
              <a:t>Customers can assess how the feature changes their daily experience: light, ventilation, privacy, usable space, and maintenance.</a:t>
            </a:r>
          </a:p>
          <a:p/>
          <a:p>
            <a:r>
              <a:t>Business trade-off</a:t>
            </a:r>
          </a:p>
          <a:p/>
          <a:p>
            <a:r>
              <a:t>A distinctive feature must justify its cost and fit the target household. A courtyard is not automatically valuable in every plot configuration or price segment.</a:t>
            </a:r>
          </a:p>
          <a:p/>
          <a:p>
            <a:r>
              <a:t>Suggested visual: Promise → physical feature → customer benefit → economic trade-off.</a:t>
            </a:r>
          </a:p>
          <a:p/>
          <a:p>
            <a:r>
              <a:t>SOURCE HYPERLINKS (as embedded in Mario’s PDF; not independently reverified)</a:t>
            </a:r>
          </a:p>
          <a:p>
            <a:r>
              <a:t>https://www.agungpodomoroland.com/id/publications/read/865/green-living-becomes-an-investment-trend-agung-podomoro-strengthens-commitment-to-sustainable-housing/</a:t>
            </a:r>
          </a:p>
          <a:p>
            <a:r>
              <a:t>https://www.agungpodomoroland.com/en/investor-relation/download/908</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D13 — Agung Podomoro: Turning a design concept into a recognisable offer</a:t>
            </a:r>
          </a:p>
          <a:p>
            <a:r>
              <a:t>Document pages: 122, 123</a:t>
            </a:r>
          </a:p>
          <a:p/>
          <a:p>
            <a:r>
              <a:t>COMPLETE SOURCE TEXT</a:t>
            </a:r>
          </a:p>
          <a:p>
            <a:r>
              <a:t>Documented product strategy</a:t>
            </a:r>
          </a:p>
          <a:p/>
          <a:p>
            <a:r>
              <a:t>In 2025, Agung Podomoro promoted The Garden House, incorporating courtyard design across several projects, including Podomoro Park Bandung and Kota Podomoro Tenjo.</a:t>
            </a:r>
          </a:p>
          <a:p/>
          <a:p>
            <a:r>
              <a:t>Its annual report also describes efficient unit configurations, differentiated price ranges, flexible payment arrangements, customer-database management, agent cooperation, and</a:t>
            </a:r>
          </a:p>
          <a:p/>
          <a:p>
            <a:r>
              <a:t>online booking development. Sources: Garden House announcement, 2025 annual report, marketing and pricing.</a:t>
            </a:r>
          </a:p>
          <a:p/>
          <a:p>
            <a:r>
              <a:t>Brand strategy — analytical interpretation</a:t>
            </a:r>
          </a:p>
          <a:p/>
          <a:p>
            <a:r>
              <a:t>A visible design feature provides a more concrete proposition than a broad claim about modern or sustainable living.</a:t>
            </a:r>
          </a:p>
          <a:p/>
          <a:p>
            <a:r>
              <a:t>Why the mechanism matters</a:t>
            </a:r>
          </a:p>
          <a:p/>
          <a:p>
            <a:r>
              <a:t>Customers can assess how the feature changes their daily experience: light, ventilation, privacy, usable space, and maintenance.</a:t>
            </a:r>
          </a:p>
          <a:p/>
          <a:p>
            <a:r>
              <a:t>Business trade-off</a:t>
            </a:r>
          </a:p>
          <a:p/>
          <a:p>
            <a:r>
              <a:t>A distinctive feature must justify its cost and fit the target household. A courtyard is not automatically valuable in every plot configuration or price segment.</a:t>
            </a:r>
          </a:p>
          <a:p/>
          <a:p>
            <a:r>
              <a:t>Suggested visual: Promise → physical feature → customer benefit → economic trade-off.</a:t>
            </a:r>
          </a:p>
          <a:p/>
          <a:p>
            <a:r>
              <a:t>SOURCE HYPERLINKS (as embedded in Mario’s PDF; not independently reverified)</a:t>
            </a:r>
          </a:p>
          <a:p>
            <a:r>
              <a:t>https://www.agungpodomoroland.com/id/publications/read/865/green-living-becomes-an-investment-trend-agung-podomoro-strengthens-commitment-to-sustainable-housing/</a:t>
            </a:r>
          </a:p>
          <a:p>
            <a:r>
              <a:t>https://www.agungpodomoroland.com/en/investor-relation/download/908</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D14 — Agung Podomoro: Bringing the demonstration closer to buyers</a:t>
            </a:r>
          </a:p>
          <a:p>
            <a:r>
              <a:t>Document pages: 123, 124</a:t>
            </a:r>
          </a:p>
          <a:p/>
          <a:p>
            <a:r>
              <a:t>COMPLETE SOURCE TEXT</a:t>
            </a:r>
          </a:p>
          <a:p>
            <a:r>
              <a:t>Documented marketing execution</a:t>
            </a:r>
          </a:p>
          <a:p/>
          <a:p>
            <a:r>
              <a:t>In October 2025, Kota Podomoro Tenjo opened two show units at its marketing gallery in Central Park, Jakarta. The launch included product-knowledge sessions and an agent gathering. Source: official show-unit announcement.</a:t>
            </a:r>
          </a:p>
          <a:p/>
          <a:p>
            <a:r>
              <a:t>Why the mechanism matters — analysis</a:t>
            </a:r>
          </a:p>
          <a:p/>
          <a:p>
            <a:r>
              <a:t>For a project outside the buyer’s regular travel pattern, the first site visit can be a significant obstacle.</a:t>
            </a:r>
          </a:p>
          <a:p/>
          <a:p>
            <a:r>
              <a:t>An accessible demonstration location can:</a:t>
            </a:r>
          </a:p>
          <a:p/>
          <a:p>
            <a:r>
              <a:t>● Make initial product evaluation easier. ● Help salespeople explain layouts and specifications. ● Train agents around a consistent proposition. ● Qualify buyers before a longer project visit.</a:t>
            </a:r>
          </a:p>
          <a:p/>
          <a:p>
            <a:r>
              <a:t>What remains unproven</a:t>
            </a:r>
          </a:p>
          <a:p/>
          <a:p>
            <a:r>
              <a:t>The announcement does not disclose incremental sales, acquisition cost, or conversion compared with other channels.</a:t>
            </a:r>
          </a:p>
          <a:p/>
          <a:p>
            <a:r>
              <a:t>TANRISE application</a:t>
            </a:r>
          </a:p>
          <a:p/>
          <a:p>
            <a:r>
              <a:t>Test demonstration spaces near the priority customer catchment—including employer locations where appropriate—before committing to a large permanent sales facility.</a:t>
            </a:r>
          </a:p>
          <a:p/>
          <a:p>
            <a:r>
              <a:t>Suggested visual: Nearby demonstration → qualified enquiry → project visit → financing approval → purchase.</a:t>
            </a:r>
          </a:p>
          <a:p/>
          <a:p>
            <a:r>
              <a:t>SOURCE HYPERLINKS (as embedded in Mario’s PDF; not independently reverified)</a:t>
            </a:r>
          </a:p>
          <a:p>
            <a:r>
              <a:t>https://www.agungpodomoro.com/group/en/news/kota-podomoro-tenjo-unveils-two-new-show-units-at-central-park-jakarta</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D14 — Agung Podomoro: Bringing the demonstration closer to buyers</a:t>
            </a:r>
          </a:p>
          <a:p>
            <a:r>
              <a:t>Document pages: 123, 124</a:t>
            </a:r>
          </a:p>
          <a:p/>
          <a:p>
            <a:r>
              <a:t>COMPLETE SOURCE TEXT</a:t>
            </a:r>
          </a:p>
          <a:p>
            <a:r>
              <a:t>Documented marketing execution</a:t>
            </a:r>
          </a:p>
          <a:p/>
          <a:p>
            <a:r>
              <a:t>In October 2025, Kota Podomoro Tenjo opened two show units at its marketing gallery in Central Park, Jakarta. The launch included product-knowledge sessions and an agent gathering. Source: official show-unit announcement.</a:t>
            </a:r>
          </a:p>
          <a:p/>
          <a:p>
            <a:r>
              <a:t>Why the mechanism matters — analysis</a:t>
            </a:r>
          </a:p>
          <a:p/>
          <a:p>
            <a:r>
              <a:t>For a project outside the buyer’s regular travel pattern, the first site visit can be a significant obstacle.</a:t>
            </a:r>
          </a:p>
          <a:p/>
          <a:p>
            <a:r>
              <a:t>An accessible demonstration location can:</a:t>
            </a:r>
          </a:p>
          <a:p/>
          <a:p>
            <a:r>
              <a:t>● Make initial product evaluation easier. ● Help salespeople explain layouts and specifications. ● Train agents around a consistent proposition. ● Qualify buyers before a longer project visit.</a:t>
            </a:r>
          </a:p>
          <a:p/>
          <a:p>
            <a:r>
              <a:t>What remains unproven</a:t>
            </a:r>
          </a:p>
          <a:p/>
          <a:p>
            <a:r>
              <a:t>The announcement does not disclose incremental sales, acquisition cost, or conversion compared with other channels.</a:t>
            </a:r>
          </a:p>
          <a:p/>
          <a:p>
            <a:r>
              <a:t>TANRISE application</a:t>
            </a:r>
          </a:p>
          <a:p/>
          <a:p>
            <a:r>
              <a:t>Test demonstration spaces near the priority customer catchment—including employer locations where appropriate—before committing to a large permanent sales facility.</a:t>
            </a:r>
          </a:p>
          <a:p/>
          <a:p>
            <a:r>
              <a:t>Suggested visual: Nearby demonstration → qualified enquiry → project visit → financing approval → purchase.</a:t>
            </a:r>
          </a:p>
          <a:p/>
          <a:p>
            <a:r>
              <a:t>SOURCE HYPERLINKS (as embedded in Mario’s PDF; not independently reverified)</a:t>
            </a:r>
          </a:p>
          <a:p>
            <a:r>
              <a:t>https://www.agungpodomoro.com/group/en/news/kota-podomoro-tenjo-unveils-two-new-show-units-at-central-park-jakarta</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D15 — Duta Pertiwi: Borrowing specialist capability through partnerships</a:t>
            </a:r>
          </a:p>
          <a:p>
            <a:r>
              <a:t>Document pages: 124</a:t>
            </a:r>
          </a:p>
          <a:p/>
          <a:p>
            <a:r>
              <a:t>COMPLETE SOURCE TEXT</a:t>
            </a:r>
          </a:p>
          <a:p>
            <a:r>
              <a:t>Documented business development</a:t>
            </a:r>
          </a:p>
          <a:p/>
          <a:p>
            <a:r>
              <a:t>DUTI’s 2025 report describes a collaboration through a subsidiary with Sumitomo Forestry Indonesia for Kota Wisata Ecovia, including the initial Orlens cluster.</a:t>
            </a:r>
          </a:p>
          <a:p/>
          <a:p>
            <a:r>
              <a:t>The same report describes ARTOTEL Living World Kota Wisata, which began operating in August 2025. Source: DUTI 2025 annual report, management discussion and portfolio development.</a:t>
            </a:r>
          </a:p>
          <a:p/>
          <a:p>
            <a:r>
              <a:t>Brand strategy — analytical interpretation</a:t>
            </a:r>
          </a:p>
          <a:p/>
          <a:p>
            <a:r>
              <a:t>Different partners can supply different forms of credibility:</a:t>
            </a:r>
          </a:p>
          <a:p/>
          <a:p>
            <a:r>
              <a:t>● Development or design expertise. ● Retail and tenant relationships. ● Hotel operations. ● A recognisable customer proposition.</a:t>
            </a:r>
          </a:p>
          <a:p/>
          <a:p>
            <a:r>
              <a:t>Why this can be effective</a:t>
            </a:r>
          </a:p>
          <a:p/>
          <a:p>
            <a:r>
              <a:t>The developer can add a function to the township without independently building every specialist capability.</a:t>
            </a:r>
          </a:p>
          <a:p/>
          <a:p>
            <a:r>
              <a:t>Critical trade-off</a:t>
            </a:r>
          </a:p>
          <a:p/>
          <a:p>
            <a:r>
              <a:t>Partnerships require clear economics, control rights, service standards, and accountability. A well-known partner’s name does not itself establish attractive project returns.</a:t>
            </a:r>
          </a:p>
          <a:p/>
          <a:p>
            <a:r>
              <a:t>Suggested visual: Township platform + specialist partner → additional capability → customer benefit.</a:t>
            </a:r>
          </a:p>
          <a:p/>
          <a:p>
            <a:r>
              <a:t>SOURCE HYPERLINKS (as embedded in Mario’s PDF; not independently reverified)</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D15 — Duta Pertiwi: Borrowing specialist capability through partnerships</a:t>
            </a:r>
          </a:p>
          <a:p>
            <a:r>
              <a:t>Document pages: 124</a:t>
            </a:r>
          </a:p>
          <a:p/>
          <a:p>
            <a:r>
              <a:t>COMPLETE SOURCE TEXT</a:t>
            </a:r>
          </a:p>
          <a:p>
            <a:r>
              <a:t>Documented business development</a:t>
            </a:r>
          </a:p>
          <a:p/>
          <a:p>
            <a:r>
              <a:t>DUTI’s 2025 report describes a collaboration through a subsidiary with Sumitomo Forestry Indonesia for Kota Wisata Ecovia, including the initial Orlens cluster.</a:t>
            </a:r>
          </a:p>
          <a:p/>
          <a:p>
            <a:r>
              <a:t>The same report describes ARTOTEL Living World Kota Wisata, which began operating in August 2025. Source: DUTI 2025 annual report, management discussion and portfolio development.</a:t>
            </a:r>
          </a:p>
          <a:p/>
          <a:p>
            <a:r>
              <a:t>Brand strategy — analytical interpretation</a:t>
            </a:r>
          </a:p>
          <a:p/>
          <a:p>
            <a:r>
              <a:t>Different partners can supply different forms of credibility:</a:t>
            </a:r>
          </a:p>
          <a:p/>
          <a:p>
            <a:r>
              <a:t>● Development or design expertise. ● Retail and tenant relationships. ● Hotel operations. ● A recognisable customer proposition.</a:t>
            </a:r>
          </a:p>
          <a:p/>
          <a:p>
            <a:r>
              <a:t>Why this can be effective</a:t>
            </a:r>
          </a:p>
          <a:p/>
          <a:p>
            <a:r>
              <a:t>The developer can add a function to the township without independently building every specialist capability.</a:t>
            </a:r>
          </a:p>
          <a:p/>
          <a:p>
            <a:r>
              <a:t>Critical trade-off</a:t>
            </a:r>
          </a:p>
          <a:p/>
          <a:p>
            <a:r>
              <a:t>Partnerships require clear economics, control rights, service standards, and accountability. A well-known partner’s name does not itself establish attractive project returns.</a:t>
            </a:r>
          </a:p>
          <a:p/>
          <a:p>
            <a:r>
              <a:t>Suggested visual: Township platform + specialist partner → additional capability → customer benefit.</a:t>
            </a:r>
          </a:p>
          <a:p/>
          <a:p>
            <a:r>
              <a:t>SOURCE HYPERLINKS (as embedded in Mario’s PDF; not independently reverified)</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D16 — Duta Pertiwi: Using operating destinations to deepen the township proposition</a:t>
            </a:r>
          </a:p>
          <a:p>
            <a:r>
              <a:t>Document pages: 125</a:t>
            </a:r>
          </a:p>
          <a:p/>
          <a:p>
            <a:r>
              <a:t>COMPLETE SOURCE TEXT</a:t>
            </a:r>
          </a:p>
          <a:p>
            <a:r>
              <a:t>Documented example</a:t>
            </a:r>
          </a:p>
          <a:p/>
          <a:p>
            <a:r>
              <a:t>Living World’s official portfolio records its Kota Wisata opening in 2024 and Grand Wisata opening in February 2025. Its retail proposition combines home-related shopping, lifestyle, food, and entertainment.</a:t>
            </a:r>
          </a:p>
          <a:p/>
          <a:p>
            <a:r>
              <a:t>The Grand Wisata destination also used a purchase-linked rewards programme supported by the MyLiving application. Sources: Kawan Lama’s Living World portfolio, Grand Wisata rewards programme.</a:t>
            </a:r>
          </a:p>
          <a:p/>
          <a:p>
            <a:r>
              <a:t>Why the mechanism matters — analysis</a:t>
            </a:r>
          </a:p>
          <a:p/>
          <a:p>
            <a:r>
              <a:t>A functioning destination can give residents and surrounding customers recurring reasons to visit. A rewards programme can support identifiable customer relationships and repeat purchasing.</a:t>
            </a:r>
          </a:p>
          <a:p/>
          <a:p>
            <a:r>
              <a:t>Business question</a:t>
            </a:r>
          </a:p>
          <a:p/>
          <a:p>
            <a:r>
              <a:t>Does the asset earn an adequate direct return, improve surrounding property demand, or both? Those benefits must be tested separately.</a:t>
            </a:r>
          </a:p>
          <a:p/>
          <a:p>
            <a:r>
              <a:t>TANRISE application</a:t>
            </a:r>
          </a:p>
          <a:p/>
          <a:p>
            <a:r>
              <a:t>Before launching a membership or loyalty programme, establish a service or destination that people already have a reason to use repeatedly.</a:t>
            </a:r>
          </a:p>
          <a:p/>
          <a:p>
            <a:r>
              <a:t>Suggested visual: Useful destination → repeat visits → customer relationship → relevant offers.</a:t>
            </a:r>
          </a:p>
          <a:p/>
          <a:p>
            <a:r>
              <a:t>SOURCE HYPERLINKS (as embedded in Mario’s PDF; not independently reverified)</a:t>
            </a:r>
          </a:p>
          <a:p>
            <a:r>
              <a:t>https://www.kawanlamagroup.com/en/brand/living-world</a:t>
            </a:r>
          </a:p>
          <a:p>
            <a:r>
              <a:t>https://grandwisata.livingworld.co.id/promo/Shop-%26-Win-Spectacular</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D16 — Duta Pertiwi: Using operating destinations to deepen the township proposition</a:t>
            </a:r>
          </a:p>
          <a:p>
            <a:r>
              <a:t>Document pages: 125</a:t>
            </a:r>
          </a:p>
          <a:p/>
          <a:p>
            <a:r>
              <a:t>COMPLETE SOURCE TEXT</a:t>
            </a:r>
          </a:p>
          <a:p>
            <a:r>
              <a:t>Documented example</a:t>
            </a:r>
          </a:p>
          <a:p/>
          <a:p>
            <a:r>
              <a:t>Living World’s official portfolio records its Kota Wisata opening in 2024 and Grand Wisata opening in February 2025. Its retail proposition combines home-related shopping, lifestyle, food, and entertainment.</a:t>
            </a:r>
          </a:p>
          <a:p/>
          <a:p>
            <a:r>
              <a:t>The Grand Wisata destination also used a purchase-linked rewards programme supported by the MyLiving application. Sources: Kawan Lama’s Living World portfolio, Grand Wisata rewards programme.</a:t>
            </a:r>
          </a:p>
          <a:p/>
          <a:p>
            <a:r>
              <a:t>Why the mechanism matters — analysis</a:t>
            </a:r>
          </a:p>
          <a:p/>
          <a:p>
            <a:r>
              <a:t>A functioning destination can give residents and surrounding customers recurring reasons to visit. A rewards programme can support identifiable customer relationships and repeat purchasing.</a:t>
            </a:r>
          </a:p>
          <a:p/>
          <a:p>
            <a:r>
              <a:t>Business question</a:t>
            </a:r>
          </a:p>
          <a:p/>
          <a:p>
            <a:r>
              <a:t>Does the asset earn an adequate direct return, improve surrounding property demand, or both? Those benefits must be tested separately.</a:t>
            </a:r>
          </a:p>
          <a:p/>
          <a:p>
            <a:r>
              <a:t>TANRISE application</a:t>
            </a:r>
          </a:p>
          <a:p/>
          <a:p>
            <a:r>
              <a:t>Before launching a membership or loyalty programme, establish a service or destination that people already have a reason to use repeatedly.</a:t>
            </a:r>
          </a:p>
          <a:p/>
          <a:p>
            <a:r>
              <a:t>Suggested visual: Useful destination → repeat visits → customer relationship → relevant offers.</a:t>
            </a:r>
          </a:p>
          <a:p/>
          <a:p>
            <a:r>
              <a:t>SOURCE HYPERLINKS (as embedded in Mario’s PDF; not independently reverified)</a:t>
            </a:r>
          </a:p>
          <a:p>
            <a:r>
              <a:t>https://www.kawanlamagroup.com/en/brand/living-world</a:t>
            </a:r>
          </a:p>
          <a:p>
            <a:r>
              <a:t>https://grandwisata.livingworld.co.id/promo/Shop-%26-Win-Spectacular</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D17 — Alam Sutera: Segmenting the payment proposition</a:t>
            </a:r>
          </a:p>
          <a:p>
            <a:r>
              <a:t>Document pages: 125, 126</a:t>
            </a:r>
          </a:p>
          <a:p/>
          <a:p>
            <a:r>
              <a:t>COMPLETE SOURCE TEXT</a:t>
            </a:r>
          </a:p>
          <a:p>
            <a:r>
              <a:t>Documented customer behaviour</a:t>
            </a:r>
          </a:p>
          <a:p/>
          <a:p>
            <a:r>
              <a:t>ASRI’s 1H2025 investor presentation shows a materially different payment mix between its locations:</a:t>
            </a:r>
          </a:p>
          <a:p/>
          <a:p>
            <a:r>
              <a:t>● Alam Sutera: approximately 47.6% cash instalments and 43.7% mortgages. ● Suvarna Sutera: approximately 22.9% cash instalments and 67.4% mortgages.</a:t>
            </a:r>
          </a:p>
          <a:p/>
          <a:p>
            <a:r>
              <a:t>These are period-specific sales-payment profiles, not complete demographic descriptions. Source: ASRI investor presentation, payment-profile analysis.</a:t>
            </a:r>
          </a:p>
          <a:p/>
          <a:p>
            <a:r>
              <a:t>Why this matters — analysis</a:t>
            </a:r>
          </a:p>
          <a:p/>
          <a:p>
            <a:r>
              <a:t>Two projects within one company can require different conversion systems.</a:t>
            </a:r>
          </a:p>
          <a:p/>
          <a:p>
            <a:r>
              <a:t>A mortgage-dependent project needs particular attention to bank approval, documentation, eligibility, and payment stability.</a:t>
            </a:r>
          </a:p>
          <a:p/>
          <a:p>
            <a:r>
              <a:t>A project with greater instalment usage needs close attention to collection schedules and the developer’s financing exposure.</a:t>
            </a:r>
          </a:p>
          <a:p/>
          <a:p>
            <a:r>
              <a:t>Brand implication</a:t>
            </a:r>
          </a:p>
          <a:p/>
          <a:p>
            <a:r>
              <a:t>The corporate identity can remain consistent while the payment proposition and sales conversation differ by market.</a:t>
            </a:r>
          </a:p>
          <a:p/>
          <a:p>
            <a:r>
              <a:t>TANRISE application</a:t>
            </a:r>
          </a:p>
          <a:p/>
          <a:p>
            <a:r>
              <a:t>Segment by financial behaviour as well as age and income.</a:t>
            </a:r>
          </a:p>
          <a:p/>
          <a:p>
            <a:r>
              <a:t>Suggested visual: Two customer journeys showing different financing and collection risks.</a:t>
            </a:r>
          </a:p>
          <a:p/>
          <a:p>
            <a:r>
              <a:t>SOURCE HYPERLINKS (as embedded in Mario’s PDF; not independently reverified)</a:t>
            </a:r>
          </a:p>
          <a:p>
            <a:r>
              <a:t>https://www.alamsuterarealty.co.id/public/assets/companypresentation/Investor%20Presentation%20-%20Sept%202025.pdf</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D17 — Alam Sutera: Segmenting the payment proposition</a:t>
            </a:r>
          </a:p>
          <a:p>
            <a:r>
              <a:t>Document pages: 125, 126</a:t>
            </a:r>
          </a:p>
          <a:p/>
          <a:p>
            <a:r>
              <a:t>COMPLETE SOURCE TEXT</a:t>
            </a:r>
          </a:p>
          <a:p>
            <a:r>
              <a:t>Documented customer behaviour</a:t>
            </a:r>
          </a:p>
          <a:p/>
          <a:p>
            <a:r>
              <a:t>ASRI’s 1H2025 investor presentation shows a materially different payment mix between its locations:</a:t>
            </a:r>
          </a:p>
          <a:p/>
          <a:p>
            <a:r>
              <a:t>● Alam Sutera: approximately 47.6% cash instalments and 43.7% mortgages. ● Suvarna Sutera: approximately 22.9% cash instalments and 67.4% mortgages.</a:t>
            </a:r>
          </a:p>
          <a:p/>
          <a:p>
            <a:r>
              <a:t>These are period-specific sales-payment profiles, not complete demographic descriptions. Source: ASRI investor presentation, payment-profile analysis.</a:t>
            </a:r>
          </a:p>
          <a:p/>
          <a:p>
            <a:r>
              <a:t>Why this matters — analysis</a:t>
            </a:r>
          </a:p>
          <a:p/>
          <a:p>
            <a:r>
              <a:t>Two projects within one company can require different conversion systems.</a:t>
            </a:r>
          </a:p>
          <a:p/>
          <a:p>
            <a:r>
              <a:t>A mortgage-dependent project needs particular attention to bank approval, documentation, eligibility, and payment stability.</a:t>
            </a:r>
          </a:p>
          <a:p/>
          <a:p>
            <a:r>
              <a:t>A project with greater instalment usage needs close attention to collection schedules and the developer’s financing exposure.</a:t>
            </a:r>
          </a:p>
          <a:p/>
          <a:p>
            <a:r>
              <a:t>Brand implication</a:t>
            </a:r>
          </a:p>
          <a:p/>
          <a:p>
            <a:r>
              <a:t>The corporate identity can remain consistent while the payment proposition and sales conversation differ by market.</a:t>
            </a:r>
          </a:p>
          <a:p/>
          <a:p>
            <a:r>
              <a:t>TANRISE application</a:t>
            </a:r>
          </a:p>
          <a:p/>
          <a:p>
            <a:r>
              <a:t>Segment by financial behaviour as well as age and income.</a:t>
            </a:r>
          </a:p>
          <a:p/>
          <a:p>
            <a:r>
              <a:t>Suggested visual: Two customer journeys showing different financing and collection risks.</a:t>
            </a:r>
          </a:p>
          <a:p/>
          <a:p>
            <a:r>
              <a:t>SOURCE HYPERLINKS (as embedded in Mario’s PDF; not independently reverified)</a:t>
            </a:r>
          </a:p>
          <a:p>
            <a:r>
              <a:t>https://www.alamsuterarealty.co.id/public/assets/companypresentation/Investor%20Presentation%20-%20Sept%202025.pdf</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D18 — Alam Sutera: A successful launch can materially change the sales mix</a:t>
            </a:r>
          </a:p>
          <a:p>
            <a:r>
              <a:t>Document pages: 126, 127</a:t>
            </a:r>
          </a:p>
          <a:p/>
          <a:p>
            <a:r>
              <a:t>COMPLETE SOURCE TEXT</a:t>
            </a:r>
          </a:p>
          <a:p>
            <a:r>
              <a:t>Documented performance</a:t>
            </a:r>
          </a:p>
          <a:p/>
          <a:p>
            <a:r>
              <a:t>ASRI reported approximately Rp1.39 trillion in 1H2025 marketing sales. Its presentation identified Sutera Rasuna as contributing approximately 43% of residential marketing sales.</a:t>
            </a:r>
          </a:p>
          <a:p/>
          <a:p>
            <a:r>
              <a:t>Its 2025 annual report describes market research, product variation across prices, show units, exhibitions, strategic-location media, and digital channels. Sources: investor presentation, annual report, marketing discussion.</a:t>
            </a:r>
          </a:p>
          <a:p/>
          <a:p>
            <a:r>
              <a:t>Why the mechanism matters — analysis</a:t>
            </a:r>
          </a:p>
          <a:p/>
          <a:p>
            <a:r>
              <a:t>The performance of one relevant release can matter more than the total number of campaigns.</a:t>
            </a:r>
          </a:p>
          <a:p/>
          <a:p>
            <a:r>
              <a:t>A useful research question is whether the release filled a gap in price, layout, location, financing, or available inventory.</a:t>
            </a:r>
          </a:p>
          <a:p/>
          <a:p>
            <a:r>
              <a:t>Evidence limit</a:t>
            </a:r>
          </a:p>
          <a:p/>
          <a:p>
            <a:r>
              <a:t>The disclosures do not isolate which of those factors drove Sutera Rasuna’s contribution.</a:t>
            </a:r>
          </a:p>
          <a:p/>
          <a:p>
            <a:r>
              <a:t>TANRISE application</a:t>
            </a:r>
          </a:p>
          <a:p/>
          <a:p>
            <a:r>
              <a:t>Compare product cohorts. Identify which configurations convert qualified demand into collected sales, then adjust subsequent releases.</a:t>
            </a:r>
          </a:p>
          <a:p/>
          <a:p>
            <a:r>
              <a:t>Suggested visual: Launch-by-launch contribution, followed by price, configuration, payment method, and cancellation analysis.</a:t>
            </a:r>
          </a:p>
          <a:p/>
          <a:p>
            <a:r>
              <a:t>SOURCE HYPERLINKS (as embedded in Mario’s PDF; not independently reverified)</a:t>
            </a:r>
          </a:p>
          <a:p>
            <a:r>
              <a:t>https://www.alamsuterarealty.co.id/public/assets/companypresentation/Investor%20Presentation%20-%20Sept%202025.pdf</a:t>
            </a:r>
          </a:p>
          <a:p>
            <a:r>
              <a:t>https://alamsuterarealty.co.id/public/assets/annualreport/Annual%20Report%20ASRI%202025.pdf</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D18 — Alam Sutera: A successful launch can materially change the sales mix</a:t>
            </a:r>
          </a:p>
          <a:p>
            <a:r>
              <a:t>Document pages: 126, 127</a:t>
            </a:r>
          </a:p>
          <a:p/>
          <a:p>
            <a:r>
              <a:t>COMPLETE SOURCE TEXT</a:t>
            </a:r>
          </a:p>
          <a:p>
            <a:r>
              <a:t>Documented performance</a:t>
            </a:r>
          </a:p>
          <a:p/>
          <a:p>
            <a:r>
              <a:t>ASRI reported approximately Rp1.39 trillion in 1H2025 marketing sales. Its presentation identified Sutera Rasuna as contributing approximately 43% of residential marketing sales.</a:t>
            </a:r>
          </a:p>
          <a:p/>
          <a:p>
            <a:r>
              <a:t>Its 2025 annual report describes market research, product variation across prices, show units, exhibitions, strategic-location media, and digital channels. Sources: investor presentation, annual report, marketing discussion.</a:t>
            </a:r>
          </a:p>
          <a:p/>
          <a:p>
            <a:r>
              <a:t>Why the mechanism matters — analysis</a:t>
            </a:r>
          </a:p>
          <a:p/>
          <a:p>
            <a:r>
              <a:t>The performance of one relevant release can matter more than the total number of campaigns.</a:t>
            </a:r>
          </a:p>
          <a:p/>
          <a:p>
            <a:r>
              <a:t>A useful research question is whether the release filled a gap in price, layout, location, financing, or available inventory.</a:t>
            </a:r>
          </a:p>
          <a:p/>
          <a:p>
            <a:r>
              <a:t>Evidence limit</a:t>
            </a:r>
          </a:p>
          <a:p/>
          <a:p>
            <a:r>
              <a:t>The disclosures do not isolate which of those factors drove Sutera Rasuna’s contribution.</a:t>
            </a:r>
          </a:p>
          <a:p/>
          <a:p>
            <a:r>
              <a:t>TANRISE application</a:t>
            </a:r>
          </a:p>
          <a:p/>
          <a:p>
            <a:r>
              <a:t>Compare product cohorts. Identify which configurations convert qualified demand into collected sales, then adjust subsequent releases.</a:t>
            </a:r>
          </a:p>
          <a:p/>
          <a:p>
            <a:r>
              <a:t>Suggested visual: Launch-by-launch contribution, followed by price, configuration, payment method, and cancellation analysis.</a:t>
            </a:r>
          </a:p>
          <a:p/>
          <a:p>
            <a:r>
              <a:t>SOURCE HYPERLINKS (as embedded in Mario’s PDF; not independently reverified)</a:t>
            </a:r>
          </a:p>
          <a:p>
            <a:r>
              <a:t>https://www.alamsuterarealty.co.id/public/assets/companypresentation/Investor%20Presentation%20-%20Sept%202025.pdf</a:t>
            </a:r>
          </a:p>
          <a:p>
            <a:r>
              <a:t>https://alamsuterarealty.co.id/public/assets/annualreport/Annual%20Report%20ASRI%202025.pdf</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D19 — Jaya Real Property: Building a portfolio of customer propositions</a:t>
            </a:r>
          </a:p>
          <a:p>
            <a:r>
              <a:t>Document pages: 127, 128</a:t>
            </a:r>
          </a:p>
          <a:p/>
          <a:p>
            <a:r>
              <a:t>COMPLETE SOURCE TEXT</a:t>
            </a:r>
          </a:p>
          <a:p>
            <a:r>
              <a:t>Documented product segmentation</a:t>
            </a:r>
          </a:p>
          <a:p/>
          <a:p>
            <a:r>
              <a:t>JRPT’s FY2024 sales announcement presented materially different offers:</a:t>
            </a:r>
          </a:p>
          <a:p/>
          <a:p>
            <a:r>
              <a:t>● Aura–Discovery Flamine: homes in an established environment at approximately</a:t>
            </a:r>
          </a:p>
          <a:p/>
          <a:p>
            <a:r>
              <a:t>Rp4.8–6.1 billion. ● Thalassa at Puri Jaya: approximately Rp588–730 million. ● Kasuari Straits: housing combined with entrepreneurial space, starting around</a:t>
            </a:r>
          </a:p>
          <a:p/>
          <a:p>
            <a:r>
              <a:t>Rp490 million.</a:t>
            </a:r>
          </a:p>
          <a:p/>
          <a:p>
            <a:r>
              <a:t>These are historical disclosed offers with differing specifications and terms. Source: JRPT FY2024 marketing-sales announcement.</a:t>
            </a:r>
          </a:p>
          <a:p/>
          <a:p>
            <a:r>
              <a:t>Brand strategy — analytical interpretation</a:t>
            </a:r>
          </a:p>
          <a:p/>
          <a:p>
            <a:r>
              <a:t>The company does not rely on one universal meaning of “aspirational housing.”</a:t>
            </a:r>
          </a:p>
          <a:p/>
          <a:p>
            <a:r>
              <a:t>It translates aspiration into different practical outcomes:</a:t>
            </a:r>
          </a:p>
          <a:p/>
          <a:p>
            <a:r>
              <a:t>● Established family convenience. ● Accessible home ownership. ● Space that supports earning an income.</a:t>
            </a:r>
          </a:p>
          <a:p/>
          <a:p>
            <a:r>
              <a:t>Why this can be effective</a:t>
            </a:r>
          </a:p>
          <a:p/>
          <a:p>
            <a:r>
              <a:t>The customer proposition matches the household’s economic situation and intended use.</a:t>
            </a:r>
          </a:p>
          <a:p/>
          <a:p>
            <a:r>
              <a:t>TANRISE application</a:t>
            </a:r>
          </a:p>
          <a:p/>
          <a:p>
            <a:r>
              <a:t>Define the specific improvement each product makes in the customer’s life. Avoid describing every project with the same lifestyle vocabulary.</a:t>
            </a:r>
          </a:p>
          <a:p/>
          <a:p>
            <a:r>
              <a:t>Suggested visual: Customer need → product configuration → location proposition → price.</a:t>
            </a:r>
          </a:p>
          <a:p/>
          <a:p>
            <a:r>
              <a:t>SOURCE HYPERLINKS (as embedded in Mario’s PDF; not independently reverified)</a:t>
            </a:r>
          </a:p>
          <a:p>
            <a:r>
              <a:t>https://www.jayaproperty.com/frontend/company_announcement/JRPT%20%20FY2024%20Marketing%20Sales%20Announcement.pdf</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D19 — Jaya Real Property: Building a portfolio of customer propositions</a:t>
            </a:r>
          </a:p>
          <a:p>
            <a:r>
              <a:t>Document pages: 127, 128</a:t>
            </a:r>
          </a:p>
          <a:p/>
          <a:p>
            <a:r>
              <a:t>COMPLETE SOURCE TEXT</a:t>
            </a:r>
          </a:p>
          <a:p>
            <a:r>
              <a:t>Documented product segmentation</a:t>
            </a:r>
          </a:p>
          <a:p/>
          <a:p>
            <a:r>
              <a:t>JRPT’s FY2024 sales announcement presented materially different offers:</a:t>
            </a:r>
          </a:p>
          <a:p/>
          <a:p>
            <a:r>
              <a:t>● Aura–Discovery Flamine: homes in an established environment at approximately</a:t>
            </a:r>
          </a:p>
          <a:p/>
          <a:p>
            <a:r>
              <a:t>Rp4.8–6.1 billion. ● Thalassa at Puri Jaya: approximately Rp588–730 million. ● Kasuari Straits: housing combined with entrepreneurial space, starting around</a:t>
            </a:r>
          </a:p>
          <a:p/>
          <a:p>
            <a:r>
              <a:t>Rp490 million.</a:t>
            </a:r>
          </a:p>
          <a:p/>
          <a:p>
            <a:r>
              <a:t>These are historical disclosed offers with differing specifications and terms. Source: JRPT FY2024 marketing-sales announcement.</a:t>
            </a:r>
          </a:p>
          <a:p/>
          <a:p>
            <a:r>
              <a:t>Brand strategy — analytical interpretation</a:t>
            </a:r>
          </a:p>
          <a:p/>
          <a:p>
            <a:r>
              <a:t>The company does not rely on one universal meaning of “aspirational housing.”</a:t>
            </a:r>
          </a:p>
          <a:p/>
          <a:p>
            <a:r>
              <a:t>It translates aspiration into different practical outcomes:</a:t>
            </a:r>
          </a:p>
          <a:p/>
          <a:p>
            <a:r>
              <a:t>● Established family convenience. ● Accessible home ownership. ● Space that supports earning an income.</a:t>
            </a:r>
          </a:p>
          <a:p/>
          <a:p>
            <a:r>
              <a:t>Why this can be effective</a:t>
            </a:r>
          </a:p>
          <a:p/>
          <a:p>
            <a:r>
              <a:t>The customer proposition matches the household’s economic situation and intended use.</a:t>
            </a:r>
          </a:p>
          <a:p/>
          <a:p>
            <a:r>
              <a:t>TANRISE application</a:t>
            </a:r>
          </a:p>
          <a:p/>
          <a:p>
            <a:r>
              <a:t>Define the specific improvement each product makes in the customer’s life. Avoid describing every project with the same lifestyle vocabulary.</a:t>
            </a:r>
          </a:p>
          <a:p/>
          <a:p>
            <a:r>
              <a:t>Suggested visual: Customer need → product configuration → location proposition → price.</a:t>
            </a:r>
          </a:p>
          <a:p/>
          <a:p>
            <a:r>
              <a:t>SOURCE HYPERLINKS (as embedded in Mario’s PDF; not independently reverified)</a:t>
            </a:r>
          </a:p>
          <a:p>
            <a:r>
              <a:t>https://www.jayaproperty.com/frontend/company_announcement/JRPT%20%20FY2024%20Marketing%20Sales%20Announcement.pdf</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D19 — Jaya Real Property: Building a portfolio of customer propositions</a:t>
            </a:r>
          </a:p>
          <a:p>
            <a:r>
              <a:t>Document pages: 127, 128</a:t>
            </a:r>
          </a:p>
          <a:p/>
          <a:p>
            <a:r>
              <a:t>COMPLETE SOURCE TEXT</a:t>
            </a:r>
          </a:p>
          <a:p>
            <a:r>
              <a:t>Documented product segmentation</a:t>
            </a:r>
          </a:p>
          <a:p/>
          <a:p>
            <a:r>
              <a:t>JRPT’s FY2024 sales announcement presented materially different offers:</a:t>
            </a:r>
          </a:p>
          <a:p/>
          <a:p>
            <a:r>
              <a:t>● Aura–Discovery Flamine: homes in an established environment at approximately</a:t>
            </a:r>
          </a:p>
          <a:p/>
          <a:p>
            <a:r>
              <a:t>Rp4.8–6.1 billion. ● Thalassa at Puri Jaya: approximately Rp588–730 million. ● Kasuari Straits: housing combined with entrepreneurial space, starting around</a:t>
            </a:r>
          </a:p>
          <a:p/>
          <a:p>
            <a:r>
              <a:t>Rp490 million.</a:t>
            </a:r>
          </a:p>
          <a:p/>
          <a:p>
            <a:r>
              <a:t>These are historical disclosed offers with differing specifications and terms. Source: JRPT FY2024 marketing-sales announcement.</a:t>
            </a:r>
          </a:p>
          <a:p/>
          <a:p>
            <a:r>
              <a:t>Brand strategy — analytical interpretation</a:t>
            </a:r>
          </a:p>
          <a:p/>
          <a:p>
            <a:r>
              <a:t>The company does not rely on one universal meaning of “aspirational housing.”</a:t>
            </a:r>
          </a:p>
          <a:p/>
          <a:p>
            <a:r>
              <a:t>It translates aspiration into different practical outcomes:</a:t>
            </a:r>
          </a:p>
          <a:p/>
          <a:p>
            <a:r>
              <a:t>● Established family convenience. ● Accessible home ownership. ● Space that supports earning an income.</a:t>
            </a:r>
          </a:p>
          <a:p/>
          <a:p>
            <a:r>
              <a:t>Why this can be effective</a:t>
            </a:r>
          </a:p>
          <a:p/>
          <a:p>
            <a:r>
              <a:t>The customer proposition matches the household’s economic situation and intended use.</a:t>
            </a:r>
          </a:p>
          <a:p/>
          <a:p>
            <a:r>
              <a:t>TANRISE application</a:t>
            </a:r>
          </a:p>
          <a:p/>
          <a:p>
            <a:r>
              <a:t>Define the specific improvement each product makes in the customer’s life. Avoid describing every project with the same lifestyle vocabulary.</a:t>
            </a:r>
          </a:p>
          <a:p/>
          <a:p>
            <a:r>
              <a:t>Suggested visual: Customer need → product configuration → location proposition → price.</a:t>
            </a:r>
          </a:p>
          <a:p/>
          <a:p>
            <a:r>
              <a:t>SOURCE HYPERLINKS (as embedded in Mario’s PDF; not independently reverified)</a:t>
            </a:r>
          </a:p>
          <a:p>
            <a:r>
              <a:t>https://www.jayaproperty.com/frontend/company_announcement/JRPT%20%20FY2024%20Marketing%20Sales%20Announcement.pdf</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D20 — Jaya Real Property: Turning connectivity into a usable service</a:t>
            </a:r>
          </a:p>
          <a:p>
            <a:r>
              <a:t>Document pages: 128</a:t>
            </a:r>
          </a:p>
          <a:p/>
          <a:p>
            <a:r>
              <a:t>COMPLETE SOURCE TEXT</a:t>
            </a:r>
          </a:p>
          <a:p>
            <a:r>
              <a:t>Documented execution</a:t>
            </a:r>
          </a:p>
          <a:p/>
          <a:p>
            <a:r>
              <a:t>JRPT’s sales material describes connections to commuter stations and internal InTrans shuttle services. Its earlier annual report also explains a strategy of selectively leasing commercial land to quality tenants to generate recurring income and improve area value. Sources: FY2024 sales material, 2023 annual report, strategic outlook.</a:t>
            </a:r>
          </a:p>
          <a:p/>
          <a:p>
            <a:r>
              <a:t>Why the mechanism matters — analysis</a:t>
            </a:r>
          </a:p>
          <a:p/>
          <a:p>
            <a:r>
              <a:t>“Near transport” is a geographic statement. A usable connection is an operating proposition.</a:t>
            </a:r>
          </a:p>
          <a:p/>
          <a:p>
            <a:r>
              <a:t>Likewise, adding a commercial building is different from attracting an operator that residents use.</a:t>
            </a:r>
          </a:p>
          <a:p/>
          <a:p>
            <a:r>
              <a:t>Business mechanism</a:t>
            </a:r>
          </a:p>
          <a:p/>
          <a:p>
            <a:r>
              <a:t>Improve the practical experience of the location → strengthen residential relevance → support commercial demand → retain selected income opportunities.</a:t>
            </a:r>
          </a:p>
          <a:p/>
          <a:p>
            <a:r>
              <a:t>TANRISE application</a:t>
            </a:r>
          </a:p>
          <a:p/>
          <a:p>
            <a:r>
              <a:t>For Sidoarjo, test actual journeys to employment centres: travel time, cost, service availability, and reliability. For amenities, distinguish committed operators from proposed facilities.</a:t>
            </a:r>
          </a:p>
          <a:p/>
          <a:p>
            <a:r>
              <a:t>Suggested visual: Home → internal connection → transport/employment → everyday services.</a:t>
            </a:r>
          </a:p>
          <a:p/>
          <a:p>
            <a:r>
              <a:t>SOURCE HYPERLINKS (as embedded in Mario’s PDF; not independently reverified)</a:t>
            </a:r>
          </a:p>
          <a:p>
            <a:r>
              <a:t>https://www.jayaproperty.com/frontend/company_announcement/JRPT%20%20FY2024%20Marketing%20Sales%20Announcement.pdf</a:t>
            </a:r>
          </a:p>
          <a:p>
            <a:r>
              <a:t>https://www.jayaproperty.com/frontend/annual_report/JRPT%20AR%20dan%20SR%202023.pdf</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D20 — Jaya Real Property: Turning connectivity into a usable service</a:t>
            </a:r>
          </a:p>
          <a:p>
            <a:r>
              <a:t>Document pages: 128</a:t>
            </a:r>
          </a:p>
          <a:p/>
          <a:p>
            <a:r>
              <a:t>COMPLETE SOURCE TEXT</a:t>
            </a:r>
          </a:p>
          <a:p>
            <a:r>
              <a:t>Documented execution</a:t>
            </a:r>
          </a:p>
          <a:p/>
          <a:p>
            <a:r>
              <a:t>JRPT’s sales material describes connections to commuter stations and internal InTrans shuttle services. Its earlier annual report also explains a strategy of selectively leasing commercial land to quality tenants to generate recurring income and improve area value. Sources: FY2024 sales material, 2023 annual report, strategic outlook.</a:t>
            </a:r>
          </a:p>
          <a:p/>
          <a:p>
            <a:r>
              <a:t>Why the mechanism matters — analysis</a:t>
            </a:r>
          </a:p>
          <a:p/>
          <a:p>
            <a:r>
              <a:t>“Near transport” is a geographic statement. A usable connection is an operating proposition.</a:t>
            </a:r>
          </a:p>
          <a:p/>
          <a:p>
            <a:r>
              <a:t>Likewise, adding a commercial building is different from attracting an operator that residents use.</a:t>
            </a:r>
          </a:p>
          <a:p/>
          <a:p>
            <a:r>
              <a:t>Business mechanism</a:t>
            </a:r>
          </a:p>
          <a:p/>
          <a:p>
            <a:r>
              <a:t>Improve the practical experience of the location → strengthen residential relevance → support commercial demand → retain selected income opportunities.</a:t>
            </a:r>
          </a:p>
          <a:p/>
          <a:p>
            <a:r>
              <a:t>TANRISE application</a:t>
            </a:r>
          </a:p>
          <a:p/>
          <a:p>
            <a:r>
              <a:t>For Sidoarjo, test actual journeys to employment centres: travel time, cost, service availability, and reliability. For amenities, distinguish committed operators from proposed facilities.</a:t>
            </a:r>
          </a:p>
          <a:p/>
          <a:p>
            <a:r>
              <a:t>Suggested visual: Home → internal connection → transport/employment → everyday services.</a:t>
            </a:r>
          </a:p>
          <a:p/>
          <a:p>
            <a:r>
              <a:t>SOURCE HYPERLINKS (as embedded in Mario’s PDF; not independently reverified)</a:t>
            </a:r>
          </a:p>
          <a:p>
            <a:r>
              <a:t>https://www.jayaproperty.com/frontend/company_announcement/JRPT%20%20FY2024%20Marketing%20Sales%20Announcement.pdf</a:t>
            </a:r>
          </a:p>
          <a:p>
            <a:r>
              <a:t>https://www.jayaproperty.com/frontend/annual_report/JRPT%20AR%20dan%20SR%202023.pdf</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D21 — PANI: Coordinating a destination story with multiple products</a:t>
            </a:r>
          </a:p>
          <a:p>
            <a:r>
              <a:t>Document pages: 129</a:t>
            </a:r>
          </a:p>
          <a:p/>
          <a:p>
            <a:r>
              <a:t>COMPLETE SOURCE TEXT</a:t>
            </a:r>
          </a:p>
          <a:p>
            <a:r>
              <a:t>Documented strategy</a:t>
            </a:r>
          </a:p>
          <a:p/>
          <a:p>
            <a:r>
              <a:t>PANI’s 3Q2025 release connected residential, commercial, and commercial-land sales with the development of PIK2. It identified NICE and the Kataraja toll road as expected contributors to visitor activity and the area economy.</a:t>
            </a:r>
          </a:p>
          <a:p/>
          <a:p>
            <a:r>
              <a:t>It also disclosed different residential and business-property products rather than one uniform offer. Source: PANI 3Q2025 marketing-sales release.</a:t>
            </a:r>
          </a:p>
          <a:p/>
          <a:p>
            <a:r>
              <a:t>Brand strategy — analytical interpretation</a:t>
            </a:r>
          </a:p>
          <a:p/>
          <a:p>
            <a:r>
              <a:t>The destination identity gives otherwise different products a common story about where activity and development are concentrating.</a:t>
            </a:r>
          </a:p>
          <a:p/>
          <a:p>
            <a:r>
              <a:t>Business mechanism</a:t>
            </a:r>
          </a:p>
          <a:p/>
          <a:p>
            <a:r>
              <a:t>● Access can improve the location’s usability. ● Events can introduce visitors and businesses. ● Residential occupation can support everyday commerce. ● Commercial activity can strengthen the proposition for subsequent development.</a:t>
            </a:r>
          </a:p>
          <a:p/>
          <a:p>
            <a:r>
              <a:t>Critical qualification</a:t>
            </a:r>
          </a:p>
          <a:p/>
          <a:p>
            <a:r>
              <a:t>Event attendance is not equivalent to permanent occupation, sustainable tenant turnover, or collected property sales.</a:t>
            </a:r>
          </a:p>
          <a:p/>
          <a:p>
            <a:r>
              <a:t>TANRISE application</a:t>
            </a:r>
          </a:p>
          <a:p/>
          <a:p>
            <a:r>
              <a:t>Build an activity model for each destination: who comes, why, how often, and what they spend.</a:t>
            </a:r>
          </a:p>
          <a:p/>
          <a:p>
            <a:r>
              <a:t>Suggested visual: Access + employment + residents + events, with separate demand measures for each.</a:t>
            </a:r>
          </a:p>
          <a:p/>
          <a:p>
            <a:r>
              <a:t>SOURCE HYPERLINKS (as embedded in Mario’s PDF; not independently reverified)</a:t>
            </a:r>
          </a:p>
          <a:p>
            <a:r>
              <a:t>https://storage.googleapis.com/panifiles/pdf/PANI_Press_Release_Marketing_Sales_3Q25.pdf</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D21 — PANI: Coordinating a destination story with multiple products</a:t>
            </a:r>
          </a:p>
          <a:p>
            <a:r>
              <a:t>Document pages: 129</a:t>
            </a:r>
          </a:p>
          <a:p/>
          <a:p>
            <a:r>
              <a:t>COMPLETE SOURCE TEXT</a:t>
            </a:r>
          </a:p>
          <a:p>
            <a:r>
              <a:t>Documented strategy</a:t>
            </a:r>
          </a:p>
          <a:p/>
          <a:p>
            <a:r>
              <a:t>PANI’s 3Q2025 release connected residential, commercial, and commercial-land sales with the development of PIK2. It identified NICE and the Kataraja toll road as expected contributors to visitor activity and the area economy.</a:t>
            </a:r>
          </a:p>
          <a:p/>
          <a:p>
            <a:r>
              <a:t>It also disclosed different residential and business-property products rather than one uniform offer. Source: PANI 3Q2025 marketing-sales release.</a:t>
            </a:r>
          </a:p>
          <a:p/>
          <a:p>
            <a:r>
              <a:t>Brand strategy — analytical interpretation</a:t>
            </a:r>
          </a:p>
          <a:p/>
          <a:p>
            <a:r>
              <a:t>The destination identity gives otherwise different products a common story about where activity and development are concentrating.</a:t>
            </a:r>
          </a:p>
          <a:p/>
          <a:p>
            <a:r>
              <a:t>Business mechanism</a:t>
            </a:r>
          </a:p>
          <a:p/>
          <a:p>
            <a:r>
              <a:t>● Access can improve the location’s usability. ● Events can introduce visitors and businesses. ● Residential occupation can support everyday commerce. ● Commercial activity can strengthen the proposition for subsequent development.</a:t>
            </a:r>
          </a:p>
          <a:p/>
          <a:p>
            <a:r>
              <a:t>Critical qualification</a:t>
            </a:r>
          </a:p>
          <a:p/>
          <a:p>
            <a:r>
              <a:t>Event attendance is not equivalent to permanent occupation, sustainable tenant turnover, or collected property sales.</a:t>
            </a:r>
          </a:p>
          <a:p/>
          <a:p>
            <a:r>
              <a:t>TANRISE application</a:t>
            </a:r>
          </a:p>
          <a:p/>
          <a:p>
            <a:r>
              <a:t>Build an activity model for each destination: who comes, why, how often, and what they spend.</a:t>
            </a:r>
          </a:p>
          <a:p/>
          <a:p>
            <a:r>
              <a:t>Suggested visual: Access + employment + residents + events, with separate demand measures for each.</a:t>
            </a:r>
          </a:p>
          <a:p/>
          <a:p>
            <a:r>
              <a:t>SOURCE HYPERLINKS (as embedded in Mario’s PDF; not independently reverified)</a:t>
            </a:r>
          </a:p>
          <a:p>
            <a:r>
              <a:t>https://storage.googleapis.com/panifiles/pdf/PANI_Press_Release_Marketing_Sales_3Q25.pdf</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D22 — PANI: Strong destination branding does not remove demand risk</a:t>
            </a:r>
          </a:p>
          <a:p>
            <a:r>
              <a:t>Document pages: 129, 130</a:t>
            </a:r>
          </a:p>
          <a:p/>
          <a:p>
            <a:r>
              <a:t>COMPLETE SOURCE TEXT</a:t>
            </a:r>
          </a:p>
          <a:p>
            <a:r>
              <a:t>Documented counter-evidence</a:t>
            </a:r>
          </a:p>
          <a:p/>
          <a:p>
            <a:r>
              <a:t>The same 3Q2025 release reported a strong quarterly sales increase but also reduced the FY2025 marketing-sales target from Rp5.3 trillion to Rp4.3 trillion.</a:t>
            </a:r>
          </a:p>
          <a:p/>
          <a:p>
            <a:r>
              <a:t>That is a reduction of approximately 19%, despite the destination’s visibility and development activity. Source: PANI target revision and quarterly results. Percentage is calculated from the disclosed targets.</a:t>
            </a:r>
          </a:p>
          <a:p/>
          <a:p>
            <a:r>
              <a:t>Why this matters — analysis</a:t>
            </a:r>
          </a:p>
          <a:p/>
          <a:p>
            <a:r>
              <a:t>A high-profile brand can generate attention while buyers remain constrained by confidence, affordability, timing, or investment appetite.</a:t>
            </a:r>
          </a:p>
          <a:p/>
          <a:p>
            <a:r>
              <a:t>Research implication</a:t>
            </a:r>
          </a:p>
          <a:p/>
          <a:p>
            <a:r>
              <a:t>Do not treat a strong quarter, social visibility, or a major opening as proof of permanently stronger demand.</a:t>
            </a:r>
          </a:p>
          <a:p/>
          <a:p>
            <a:r>
              <a:t>TANRISE application</a:t>
            </a:r>
          </a:p>
          <a:p/>
          <a:p>
            <a:r>
              <a:t>Build downside scenarios into the 2035 plan. Link expansion commitments to collected sales and verified operating demand.</a:t>
            </a:r>
          </a:p>
          <a:p/>
          <a:p>
            <a:r>
              <a:t>Suggested visual: Awareness → enquiry → commitment → collections → occupation. Show that each stage requires separate evidence.</a:t>
            </a:r>
          </a:p>
          <a:p/>
          <a:p>
            <a:r>
              <a:t>SOURCE HYPERLINKS (as embedded in Mario’s PDF; not independently reverified)</a:t>
            </a:r>
          </a:p>
          <a:p>
            <a:r>
              <a:t>https://storage.googleapis.com/panifiles/pdf/PANI_Press_Release_Marketing_Sales_3Q25.pdf</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D22 — PANI: Strong destination branding does not remove demand risk</a:t>
            </a:r>
          </a:p>
          <a:p>
            <a:r>
              <a:t>Document pages: 129, 130</a:t>
            </a:r>
          </a:p>
          <a:p/>
          <a:p>
            <a:r>
              <a:t>COMPLETE SOURCE TEXT</a:t>
            </a:r>
          </a:p>
          <a:p>
            <a:r>
              <a:t>Documented counter-evidence</a:t>
            </a:r>
          </a:p>
          <a:p/>
          <a:p>
            <a:r>
              <a:t>The same 3Q2025 release reported a strong quarterly sales increase but also reduced the FY2025 marketing-sales target from Rp5.3 trillion to Rp4.3 trillion.</a:t>
            </a:r>
          </a:p>
          <a:p/>
          <a:p>
            <a:r>
              <a:t>That is a reduction of approximately 19%, despite the destination’s visibility and development activity. Source: PANI target revision and quarterly results. Percentage is calculated from the disclosed targets.</a:t>
            </a:r>
          </a:p>
          <a:p/>
          <a:p>
            <a:r>
              <a:t>Why this matters — analysis</a:t>
            </a:r>
          </a:p>
          <a:p/>
          <a:p>
            <a:r>
              <a:t>A high-profile brand can generate attention while buyers remain constrained by confidence, affordability, timing, or investment appetite.</a:t>
            </a:r>
          </a:p>
          <a:p/>
          <a:p>
            <a:r>
              <a:t>Research implication</a:t>
            </a:r>
          </a:p>
          <a:p/>
          <a:p>
            <a:r>
              <a:t>Do not treat a strong quarter, social visibility, or a major opening as proof of permanently stronger demand.</a:t>
            </a:r>
          </a:p>
          <a:p/>
          <a:p>
            <a:r>
              <a:t>TANRISE application</a:t>
            </a:r>
          </a:p>
          <a:p/>
          <a:p>
            <a:r>
              <a:t>Build downside scenarios into the 2035 plan. Link expansion commitments to collected sales and verified operating demand.</a:t>
            </a:r>
          </a:p>
          <a:p/>
          <a:p>
            <a:r>
              <a:t>Suggested visual: Awareness → enquiry → commitment → collections → occupation. Show that each stage requires separate evidence.</a:t>
            </a:r>
          </a:p>
          <a:p/>
          <a:p>
            <a:r>
              <a:t>SOURCE HYPERLINKS (as embedded in Mario’s PDF; not independently reverified)</a:t>
            </a:r>
          </a:p>
          <a:p>
            <a:r>
              <a:t>https://storage.googleapis.com/panifiles/pdf/PANI_Press_Release_Marketing_Sales_3Q25.pdf</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D23 — The most useful combined strategy for TANRISE</a:t>
            </a:r>
          </a:p>
          <a:p>
            <a:r>
              <a:t>Document pages: 130, 131</a:t>
            </a:r>
          </a:p>
          <a:p/>
          <a:p>
            <a:r>
              <a:t>COMPLETE SOURCE TEXT</a:t>
            </a:r>
          </a:p>
          <a:p>
            <a:r>
              <a:t>Proposed direction</a:t>
            </a:r>
          </a:p>
          <a:p/>
          <a:p>
            <a:r>
              <a:t>Strategic problem | Most relevant lesson | TANRISE application</a:t>
            </a:r>
          </a:p>
          <a:p/>
          <a:p>
            <a:r>
              <a:t>Insufficient land pipeline | Ciputra | Build a credible land-partnership proposition</a:t>
            </a:r>
          </a:p>
          <a:p/>
          <a:p>
            <a:r>
              <a:t>Product affordability | Lippo | Start with household finances and redesign accordingly</a:t>
            </a:r>
          </a:p>
          <a:p/>
          <a:p>
            <a:r>
              <a:t>New-location uncertainty | Summarecon | Use delivery evidence and credible project phasing</a:t>
            </a:r>
          </a:p>
          <a:p/>
          <a:p>
            <a:r>
              <a:t>Need for permanent activity | BSDE and JRPT | Connect housing to work, services, and practical access</a:t>
            </a:r>
          </a:p>
          <a:p/>
          <a:p>
            <a:r>
              <a:t>Underproductive retained assets | Pakuwon and APLN | Review the operating proposition and capital productivity</a:t>
            </a:r>
          </a:p>
          <a:p/>
          <a:p>
            <a:r>
              <a:t>Missing specialist capabilities | DUTI | Partner selectively, with clear accountability</a:t>
            </a:r>
          </a:p>
          <a:p/>
          <a:p>
            <a:r>
              <a:t>Different buyer financing needs | ASRI | Adapt payment and sales processes by segment</a:t>
            </a:r>
          </a:p>
          <a:p/>
          <a:p>
            <a:r>
              <a:t>Destination visibility without assured demand | PANI | Separate attention from sustainable economic activity</a:t>
            </a:r>
          </a:p>
          <a:p/>
          <a:p>
            <a:r>
              <a:t>Central recommendation</a:t>
            </a:r>
          </a:p>
          <a:p/>
          <a:p>
            <a:r>
              <a:t>TANRISE’s corporate brand should express a standard it can deliver repeatedly. Each existing project should then present a specific customer proposition supported by product, access, services, price, and delivery.</a:t>
            </a:r>
          </a:p>
          <a:p/>
          <a:p>
            <a:r>
              <a:t>Preserve existing project names. A clearer strategy does not require a wholesale renaming programme.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D23 — The most useful combined strategy for TANRISE</a:t>
            </a:r>
          </a:p>
          <a:p>
            <a:r>
              <a:t>Document pages: 130, 131</a:t>
            </a:r>
          </a:p>
          <a:p/>
          <a:p>
            <a:r>
              <a:t>COMPLETE SOURCE TEXT</a:t>
            </a:r>
          </a:p>
          <a:p>
            <a:r>
              <a:t>Proposed direction</a:t>
            </a:r>
          </a:p>
          <a:p/>
          <a:p>
            <a:r>
              <a:t>Strategic problem | Most relevant lesson | TANRISE application</a:t>
            </a:r>
          </a:p>
          <a:p/>
          <a:p>
            <a:r>
              <a:t>Insufficient land pipeline | Ciputra | Build a credible land-partnership proposition</a:t>
            </a:r>
          </a:p>
          <a:p/>
          <a:p>
            <a:r>
              <a:t>Product affordability | Lippo | Start with household finances and redesign accordingly</a:t>
            </a:r>
          </a:p>
          <a:p/>
          <a:p>
            <a:r>
              <a:t>New-location uncertainty | Summarecon | Use delivery evidence and credible project phasing</a:t>
            </a:r>
          </a:p>
          <a:p/>
          <a:p>
            <a:r>
              <a:t>Need for permanent activity | BSDE and JRPT | Connect housing to work, services, and practical access</a:t>
            </a:r>
          </a:p>
          <a:p/>
          <a:p>
            <a:r>
              <a:t>Underproductive retained assets | Pakuwon and APLN | Review the operating proposition and capital productivity</a:t>
            </a:r>
          </a:p>
          <a:p/>
          <a:p>
            <a:r>
              <a:t>Missing specialist capabilities | DUTI | Partner selectively, with clear accountability</a:t>
            </a:r>
          </a:p>
          <a:p/>
          <a:p>
            <a:r>
              <a:t>Different buyer financing needs | ASRI | Adapt payment and sales processes by segment</a:t>
            </a:r>
          </a:p>
          <a:p/>
          <a:p>
            <a:r>
              <a:t>Destination visibility without assured demand | PANI | Separate attention from sustainable economic activity</a:t>
            </a:r>
          </a:p>
          <a:p/>
          <a:p>
            <a:r>
              <a:t>Central recommendation</a:t>
            </a:r>
          </a:p>
          <a:p/>
          <a:p>
            <a:r>
              <a:t>TANRISE’s corporate brand should express a standard it can deliver repeatedly. Each existing project should then present a specific customer proposition supported by product, access, services, price, and delivery.</a:t>
            </a:r>
          </a:p>
          <a:p/>
          <a:p>
            <a:r>
              <a:t>Preserve existing project names. A clearer strategy does not require a wholesale renaming programme.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D23 — The most useful combined strategy for TANRISE</a:t>
            </a:r>
          </a:p>
          <a:p>
            <a:r>
              <a:t>Document pages: 130, 131</a:t>
            </a:r>
          </a:p>
          <a:p/>
          <a:p>
            <a:r>
              <a:t>COMPLETE SOURCE TEXT</a:t>
            </a:r>
          </a:p>
          <a:p>
            <a:r>
              <a:t>Proposed direction</a:t>
            </a:r>
          </a:p>
          <a:p/>
          <a:p>
            <a:r>
              <a:t>Strategic problem | Most relevant lesson | TANRISE application</a:t>
            </a:r>
          </a:p>
          <a:p/>
          <a:p>
            <a:r>
              <a:t>Insufficient land pipeline | Ciputra | Build a credible land-partnership proposition</a:t>
            </a:r>
          </a:p>
          <a:p/>
          <a:p>
            <a:r>
              <a:t>Product affordability | Lippo | Start with household finances and redesign accordingly</a:t>
            </a:r>
          </a:p>
          <a:p/>
          <a:p>
            <a:r>
              <a:t>New-location uncertainty | Summarecon | Use delivery evidence and credible project phasing</a:t>
            </a:r>
          </a:p>
          <a:p/>
          <a:p>
            <a:r>
              <a:t>Need for permanent activity | BSDE and JRPT | Connect housing to work, services, and practical access</a:t>
            </a:r>
          </a:p>
          <a:p/>
          <a:p>
            <a:r>
              <a:t>Underproductive retained assets | Pakuwon and APLN | Review the operating proposition and capital productivity</a:t>
            </a:r>
          </a:p>
          <a:p/>
          <a:p>
            <a:r>
              <a:t>Missing specialist capabilities | DUTI | Partner selectively, with clear accountability</a:t>
            </a:r>
          </a:p>
          <a:p/>
          <a:p>
            <a:r>
              <a:t>Different buyer financing needs | ASRI | Adapt payment and sales processes by segment</a:t>
            </a:r>
          </a:p>
          <a:p/>
          <a:p>
            <a:r>
              <a:t>Destination visibility without assured demand | PANI | Separate attention from sustainable economic activity</a:t>
            </a:r>
          </a:p>
          <a:p/>
          <a:p>
            <a:r>
              <a:t>Central recommendation</a:t>
            </a:r>
          </a:p>
          <a:p/>
          <a:p>
            <a:r>
              <a:t>TANRISE’s corporate brand should express a standard it can deliver repeatedly. Each existing project should then present a specific customer proposition supported by product, access, services, price, and delivery.</a:t>
            </a:r>
          </a:p>
          <a:p/>
          <a:p>
            <a:r>
              <a:t>Preserve existing project names. A clearer strategy does not require a wholesale renaming programme.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D24 — What a genuinely deeper competitor audit should measure</a:t>
            </a:r>
          </a:p>
          <a:p>
            <a:r>
              <a:t>Document pages: 132, 133</a:t>
            </a:r>
          </a:p>
          <a:p/>
          <a:p>
            <a:r>
              <a:t>COMPLETE SOURCE TEXT</a:t>
            </a:r>
          </a:p>
          <a:p>
            <a:r>
              <a:t>Public sources establish many actions, but the following evidence is needed to judge effectiveness more precisely:</a:t>
            </a:r>
          </a:p>
          <a:p/>
          <a:p>
            <a:r>
              <a:t>Question | Evidence required</a:t>
            </a:r>
          </a:p>
          <a:p/>
          <a:p>
            <a:r>
              <a:t>Does the brand command a premium? | Comparable transaction prices adjusted for location, specification, and payment terms</a:t>
            </a:r>
          </a:p>
          <a:p/>
          <a:p>
            <a:r>
              <a:t>Which channels create customers? | Qualified leads, visits, signed sales, cancellations, and collections by source</a:t>
            </a:r>
          </a:p>
          <a:p/>
          <a:p>
            <a:r>
              <a:t>Do launch events create durable demand? | Subsequent cancellations, mortgage approvals, and completed handovers</a:t>
            </a:r>
          </a:p>
          <a:p/>
          <a:p>
            <a:r>
              <a:t>Do amenities improve housing performance? | Matched sales comparisons before and after opening, with other changes considered</a:t>
            </a:r>
          </a:p>
          <a:p/>
          <a:p>
            <a:r>
              <a:t>Are promotions profitable? | Net realised prices, incentive costs, commissions, and cash timing</a:t>
            </a:r>
          </a:p>
          <a:p/>
          <a:p>
            <a:r>
              <a:t>Do destinations create recurring activity? | Repeat visits, weekday usage, tenant turnover, occupancy, and operating cash flow</a:t>
            </a:r>
          </a:p>
          <a:p/>
          <a:p>
            <a:r>
              <a:t>Can expansion be repeated? | Project returns, delivery consistency, management capacity, and funding needs</a:t>
            </a:r>
          </a:p>
          <a:p/>
          <a:p>
            <a:r>
              <a:t>Proposed next layer of TANRISE research</a:t>
            </a:r>
          </a:p>
          <a:p/>
          <a:p>
            <a:r>
              <a:t>Use this framework to examine a small number of directly comparable projects in greater detail, including site observation, buyer interviews, product and payment comparisons, and operator discussions.</a:t>
            </a:r>
          </a:p>
          <a:p/>
          <a:p>
            <a:r>
              <a:t>Research standard</a:t>
            </a:r>
          </a:p>
          <a:p/>
          <a:p>
            <a:r>
              <a:t>A strategy is effective when it produces economically valuable customer behaviour at an acceptable cost—and the company can repeat it.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D24 — What a genuinely deeper competitor audit should measure</a:t>
            </a:r>
          </a:p>
          <a:p>
            <a:r>
              <a:t>Document pages: 132, 133</a:t>
            </a:r>
          </a:p>
          <a:p/>
          <a:p>
            <a:r>
              <a:t>COMPLETE SOURCE TEXT</a:t>
            </a:r>
          </a:p>
          <a:p>
            <a:r>
              <a:t>Public sources establish many actions, but the following evidence is needed to judge effectiveness more precisely:</a:t>
            </a:r>
          </a:p>
          <a:p/>
          <a:p>
            <a:r>
              <a:t>Question | Evidence required</a:t>
            </a:r>
          </a:p>
          <a:p/>
          <a:p>
            <a:r>
              <a:t>Does the brand command a premium? | Comparable transaction prices adjusted for location, specification, and payment terms</a:t>
            </a:r>
          </a:p>
          <a:p/>
          <a:p>
            <a:r>
              <a:t>Which channels create customers? | Qualified leads, visits, signed sales, cancellations, and collections by source</a:t>
            </a:r>
          </a:p>
          <a:p/>
          <a:p>
            <a:r>
              <a:t>Do launch events create durable demand? | Subsequent cancellations, mortgage approvals, and completed handovers</a:t>
            </a:r>
          </a:p>
          <a:p/>
          <a:p>
            <a:r>
              <a:t>Do amenities improve housing performance? | Matched sales comparisons before and after opening, with other changes considered</a:t>
            </a:r>
          </a:p>
          <a:p/>
          <a:p>
            <a:r>
              <a:t>Are promotions profitable? | Net realised prices, incentive costs, commissions, and cash timing</a:t>
            </a:r>
          </a:p>
          <a:p/>
          <a:p>
            <a:r>
              <a:t>Do destinations create recurring activity? | Repeat visits, weekday usage, tenant turnover, occupancy, and operating cash flow</a:t>
            </a:r>
          </a:p>
          <a:p/>
          <a:p>
            <a:r>
              <a:t>Can expansion be repeated? | Project returns, delivery consistency, management capacity, and funding needs</a:t>
            </a:r>
          </a:p>
          <a:p/>
          <a:p>
            <a:r>
              <a:t>Proposed next layer of TANRISE research</a:t>
            </a:r>
          </a:p>
          <a:p/>
          <a:p>
            <a:r>
              <a:t>Use this framework to examine a small number of directly comparable projects in greater detail, including site observation, buyer interviews, product and payment comparisons, and operator discussions.</a:t>
            </a:r>
          </a:p>
          <a:p/>
          <a:p>
            <a:r>
              <a:t>Research standard</a:t>
            </a:r>
          </a:p>
          <a:p/>
          <a:p>
            <a:r>
              <a:t>A strategy is effective when it produces economically valuable customer behaviour at an acceptable cost—and the company can repeat it.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D24 — What a genuinely deeper competitor audit should measure</a:t>
            </a:r>
          </a:p>
          <a:p>
            <a:r>
              <a:t>Document pages: 132, 133</a:t>
            </a:r>
          </a:p>
          <a:p/>
          <a:p>
            <a:r>
              <a:t>COMPLETE SOURCE TEXT</a:t>
            </a:r>
          </a:p>
          <a:p>
            <a:r>
              <a:t>Public sources establish many actions, but the following evidence is needed to judge effectiveness more precisely:</a:t>
            </a:r>
          </a:p>
          <a:p/>
          <a:p>
            <a:r>
              <a:t>Question | Evidence required</a:t>
            </a:r>
          </a:p>
          <a:p/>
          <a:p>
            <a:r>
              <a:t>Does the brand command a premium? | Comparable transaction prices adjusted for location, specification, and payment terms</a:t>
            </a:r>
          </a:p>
          <a:p/>
          <a:p>
            <a:r>
              <a:t>Which channels create customers? | Qualified leads, visits, signed sales, cancellations, and collections by source</a:t>
            </a:r>
          </a:p>
          <a:p/>
          <a:p>
            <a:r>
              <a:t>Do launch events create durable demand? | Subsequent cancellations, mortgage approvals, and completed handovers</a:t>
            </a:r>
          </a:p>
          <a:p/>
          <a:p>
            <a:r>
              <a:t>Do amenities improve housing performance? | Matched sales comparisons before and after opening, with other changes considered</a:t>
            </a:r>
          </a:p>
          <a:p/>
          <a:p>
            <a:r>
              <a:t>Are promotions profitable? | Net realised prices, incentive costs, commissions, and cash timing</a:t>
            </a:r>
          </a:p>
          <a:p/>
          <a:p>
            <a:r>
              <a:t>Do destinations create recurring activity? | Repeat visits, weekday usage, tenant turnover, occupancy, and operating cash flow</a:t>
            </a:r>
          </a:p>
          <a:p/>
          <a:p>
            <a:r>
              <a:t>Can expansion be repeated? | Project returns, delivery consistency, management capacity, and funding needs</a:t>
            </a:r>
          </a:p>
          <a:p/>
          <a:p>
            <a:r>
              <a:t>Proposed next layer of TANRISE research</a:t>
            </a:r>
          </a:p>
          <a:p/>
          <a:p>
            <a:r>
              <a:t>Use this framework to examine a small number of directly comparable projects in greater detail, including site observation, buyer interviews, product and payment comparisons, and operator discussions.</a:t>
            </a:r>
          </a:p>
          <a:p/>
          <a:p>
            <a:r>
              <a:t>Research standard</a:t>
            </a:r>
          </a:p>
          <a:p/>
          <a:p>
            <a:r>
              <a:t>A strategy is effective when it produces economically valuable customer behaviour at an acceptable cost—and the company can repeat it.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s>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SUPPLEMENTARY 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RESEARCH</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152</a:t>
            </a:r>
          </a:p>
        </p:txBody>
      </p:sp>
      <p:sp>
        <p:nvSpPr>
          <p:cNvPr id="10" name="TextBox 9"/>
          <p:cNvSpPr txBox="1"/>
          <p:nvPr/>
        </p:nvSpPr>
        <p:spPr>
          <a:xfrm>
            <a:off x="685800" y="1353312"/>
            <a:ext cx="10789920" cy="643636"/>
          </a:xfrm>
          <a:prstGeom prst="rect">
            <a:avLst/>
          </a:prstGeom>
          <a:noFill/>
        </p:spPr>
        <p:txBody>
          <a:bodyPr wrap="none" lIns="0" rIns="0" tIns="0" bIns="0">
            <a:spAutoFit/>
          </a:bodyPr>
          <a:lstStyle/>
          <a:p>
            <a:pPr>
              <a:lnSpc>
                <a:spcPts val="4600"/>
              </a:lnSpc>
              <a:spcBef>
                <a:spcPts val="0"/>
              </a:spcBef>
              <a:spcAft>
                <a:spcPts val="0"/>
              </a:spcAft>
            </a:pPr>
            <a:r>
              <a:rPr sz="4600" b="0" i="0">
                <a:solidFill>
                  <a:srgbClr val="AD843F"/>
                </a:solidFill>
                <a:latin typeface="Times New Roman"/>
              </a:rPr>
              <a:t>RESEARCH</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TANRISE Competitive Advantages Research</a:t>
            </a:r>
          </a:p>
        </p:txBody>
      </p:sp>
      <p:sp>
        <p:nvSpPr>
          <p:cNvPr id="12" name="TextBox 11"/>
          <p:cNvSpPr txBox="1"/>
          <p:nvPr/>
        </p:nvSpPr>
        <p:spPr>
          <a:xfrm>
            <a:off x="6400800" y="5230368"/>
            <a:ext cx="4572000" cy="586232"/>
          </a:xfrm>
          <a:prstGeom prst="rect">
            <a:avLst/>
          </a:prstGeom>
          <a:noFill/>
        </p:spPr>
        <p:txBody>
          <a:bodyPr wrap="none" lIns="0" rIns="0" tIns="0" bIns="0">
            <a:spAutoFit/>
          </a:bodyPr>
          <a:lstStyle/>
          <a:p>
            <a:pPr>
              <a:lnSpc>
                <a:spcPts val="2074"/>
              </a:lnSpc>
              <a:spcBef>
                <a:spcPts val="0"/>
              </a:spcBef>
              <a:spcAft>
                <a:spcPts val="0"/>
              </a:spcAft>
            </a:pPr>
            <a:r>
              <a:rPr sz="1700" b="0" i="1">
                <a:solidFill>
                  <a:srgbClr val="F6F2E9"/>
                </a:solidFill>
                <a:latin typeface="Times New Roman"/>
              </a:rPr>
              <a:t>Ten Indonesian Developer Case Studies and Lessons</a:t>
            </a:r>
          </a:p>
          <a:p>
            <a:pPr>
              <a:lnSpc>
                <a:spcPts val="2074"/>
              </a:lnSpc>
              <a:spcBef>
                <a:spcPts val="0"/>
              </a:spcBef>
              <a:spcAft>
                <a:spcPts val="0"/>
              </a:spcAft>
            </a:pPr>
            <a:r>
              <a:rPr sz="1700" b="0" i="1">
                <a:solidFill>
                  <a:srgbClr val="F6F2E9"/>
                </a:solidFill>
                <a:latin typeface="Times New Roman"/>
              </a:rPr>
              <a:t>for the 2035 Ambition</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62–62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Research title</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Learning from Indonesia’s Major Property Developers</a:t>
            </a:r>
          </a:p>
        </p:txBody>
      </p:sp>
      <p:sp>
        <p:nvSpPr>
          <p:cNvPr id="12" name="TextBox 11"/>
          <p:cNvSpPr txBox="1"/>
          <p:nvPr/>
        </p:nvSpPr>
        <p:spPr>
          <a:xfrm>
            <a:off x="685800" y="254203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Subtitle: Company origins, growth models, competitive advantages, financial scale, and implications for TANRISE’s</a:t>
            </a:r>
          </a:p>
          <a:p>
            <a:pPr>
              <a:lnSpc>
                <a:spcPts val="2196"/>
              </a:lnSpc>
              <a:spcBef>
                <a:spcPts val="0"/>
              </a:spcBef>
              <a:spcAft>
                <a:spcPts val="0"/>
              </a:spcAft>
            </a:pPr>
            <a:r>
              <a:rPr sz="1800" b="0" i="0">
                <a:solidFill>
                  <a:srgbClr val="183A32"/>
                </a:solidFill>
                <a:latin typeface="Times New Roman"/>
              </a:rPr>
              <a:t>Top Five ambition in 2035.</a:t>
            </a:r>
          </a:p>
        </p:txBody>
      </p:sp>
      <p:sp>
        <p:nvSpPr>
          <p:cNvPr id="13" name="TextBox 12"/>
          <p:cNvSpPr txBox="1"/>
          <p:nvPr/>
        </p:nvSpPr>
        <p:spPr>
          <a:xfrm>
            <a:off x="685800" y="32781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Research scope: Ten selected listed developers and their relevant group backgrounds.</a:t>
            </a:r>
          </a:p>
        </p:txBody>
      </p:sp>
      <p:sp>
        <p:nvSpPr>
          <p:cNvPr id="14" name="TextBox 13"/>
          <p:cNvSpPr txBox="1"/>
          <p:nvPr/>
        </p:nvSpPr>
        <p:spPr>
          <a:xfrm>
            <a:off x="685800" y="37353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Financial comparison: FY2025 full-year results.</a:t>
            </a:r>
          </a:p>
        </p:txBody>
      </p:sp>
      <p:sp>
        <p:nvSpPr>
          <p:cNvPr id="15" name="TextBox 14"/>
          <p:cNvSpPr txBox="1"/>
          <p:nvPr/>
        </p:nvSpPr>
        <p:spPr>
          <a:xfrm>
            <a:off x="685800" y="41925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Research reference date: 29 October 2026.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62–63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ten companies being studied</a:t>
            </a:r>
          </a:p>
        </p:txBody>
      </p:sp>
      <p:graphicFrame>
        <p:nvGraphicFramePr>
          <p:cNvPr id="11" name="Table 10"/>
          <p:cNvGraphicFramePr>
            <a:graphicFrameLocks noGrp="1"/>
          </p:cNvGraphicFramePr>
          <p:nvPr/>
        </p:nvGraphicFramePr>
        <p:xfrm>
          <a:off x="685800" y="2084831"/>
          <a:ext cx="10789920" cy="3597275"/>
        </p:xfrm>
        <a:graphic>
          <a:graphicData uri="http://schemas.openxmlformats.org/drawingml/2006/table">
            <a:tbl>
              <a:tblPr firstRow="1" bandRow="1">
                <a:tableStyleId>{5C22544A-7EE6-4342-B048-85BDC9FD1C3A}</a:tableStyleId>
              </a:tblPr>
              <a:tblGrid>
                <a:gridCol w="2697480"/>
                <a:gridCol w="2697480"/>
                <a:gridCol w="2697480"/>
                <a:gridCol w="2697480"/>
              </a:tblGrid>
              <a:tr h="418465">
                <a:tc>
                  <a:txBody>
                    <a:bodyPr wrap="none"/>
                    <a:lstStyle/>
                    <a:p>
                      <a:pPr>
                        <a:lnSpc>
                          <a:spcPts val="1711"/>
                        </a:lnSpc>
                        <a:spcBef>
                          <a:spcPts val="0"/>
                        </a:spcBef>
                        <a:spcAft>
                          <a:spcPts val="0"/>
                        </a:spcAft>
                      </a:pPr>
                      <a:r>
                        <a:rPr sz="1450" b="1">
                          <a:solidFill>
                            <a:srgbClr val="F6F2E9"/>
                          </a:solidFill>
                          <a:latin typeface="Arial"/>
                        </a:rPr>
                        <a:t>Case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Correct company name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Ticker</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Important distinction</a:t>
                      </a:r>
                    </a:p>
                  </a:txBody>
                  <a:tcPr marL="109728" marR="109728" marT="82296" marB="0" anchor="t">
                    <a:solidFill>
                      <a:srgbClr val="153F35"/>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1</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Bumi Serpong Damai 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BSDE</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A listed company within Sinar</a:t>
                      </a:r>
                    </a:p>
                    <a:p>
                      <a:pPr>
                        <a:lnSpc>
                          <a:spcPts val="1711"/>
                        </a:lnSpc>
                        <a:spcBef>
                          <a:spcPts val="0"/>
                        </a:spcBef>
                        <a:spcAft>
                          <a:spcPts val="0"/>
                        </a:spcAft>
                      </a:pPr>
                      <a:r>
                        <a:rPr sz="1450" b="0">
                          <a:solidFill>
                            <a:srgbClr val="183A32"/>
                          </a:solidFill>
                          <a:latin typeface="Arial"/>
                        </a:rPr>
                        <a:t>Mas Land</a:t>
                      </a:r>
                    </a:p>
                  </a:txBody>
                  <a:tcPr marL="109728" marR="109728" marT="82296" marB="0" anchor="t">
                    <a:solidFill>
                      <a:srgbClr val="F6F2E9"/>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2</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Lippo Karawaci Tbk</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LPKR</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One listed platform within the</a:t>
                      </a:r>
                    </a:p>
                    <a:p>
                      <a:pPr>
                        <a:lnSpc>
                          <a:spcPts val="1711"/>
                        </a:lnSpc>
                        <a:spcBef>
                          <a:spcPts val="0"/>
                        </a:spcBef>
                        <a:spcAft>
                          <a:spcPts val="0"/>
                        </a:spcAft>
                      </a:pPr>
                      <a:r>
                        <a:rPr sz="1450" b="0">
                          <a:solidFill>
                            <a:srgbClr val="183A32"/>
                          </a:solidFill>
                          <a:latin typeface="Arial"/>
                        </a:rPr>
                        <a:t>broader Lippo Group</a:t>
                      </a:r>
                    </a:p>
                  </a:txBody>
                  <a:tcPr marL="109728" marR="109728" marT="82296" marB="0" anchor="t">
                    <a:solidFill>
                      <a:srgbClr val="E9E8DC"/>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3</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Ciputra Development 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CTRA</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The consolidated listed</a:t>
                      </a:r>
                    </a:p>
                    <a:p>
                      <a:pPr>
                        <a:lnSpc>
                          <a:spcPts val="1711"/>
                        </a:lnSpc>
                        <a:spcBef>
                          <a:spcPts val="0"/>
                        </a:spcBef>
                        <a:spcAft>
                          <a:spcPts val="0"/>
                        </a:spcAft>
                      </a:pPr>
                      <a:r>
                        <a:rPr sz="1450" b="0">
                          <a:solidFill>
                            <a:srgbClr val="183A32"/>
                          </a:solidFill>
                          <a:latin typeface="Arial"/>
                        </a:rPr>
                        <a:t>Ciputra development platform</a:t>
                      </a:r>
                    </a:p>
                  </a:txBody>
                  <a:tcPr marL="109728" marR="109728" marT="82296" marB="0" anchor="t">
                    <a:solidFill>
                      <a:srgbClr val="F6F2E9"/>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4</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Summarecon Agung Tbk</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SMRA</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The company intended by</a:t>
                      </a:r>
                    </a:p>
                    <a:p>
                      <a:pPr>
                        <a:lnSpc>
                          <a:spcPts val="1711"/>
                        </a:lnSpc>
                        <a:spcBef>
                          <a:spcPts val="0"/>
                        </a:spcBef>
                        <a:spcAft>
                          <a:spcPts val="0"/>
                        </a:spcAft>
                      </a:pPr>
                      <a:r>
                        <a:rPr sz="1450" b="0">
                          <a:solidFill>
                            <a:srgbClr val="183A32"/>
                          </a:solidFill>
                          <a:latin typeface="Arial"/>
                        </a:rPr>
                        <a:t>“Sinar Mas Agung”</a:t>
                      </a:r>
                    </a:p>
                  </a:txBody>
                  <a:tcPr marL="109728" marR="109728" marT="82296" marB="0" anchor="t">
                    <a:solidFill>
                      <a:srgbClr val="E9E8DC"/>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5</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Pakuwon Jati 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PWON</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The company intended by</a:t>
                      </a:r>
                    </a:p>
                    <a:p>
                      <a:pPr>
                        <a:lnSpc>
                          <a:spcPts val="1711"/>
                        </a:lnSpc>
                        <a:spcBef>
                          <a:spcPts val="0"/>
                        </a:spcBef>
                        <a:spcAft>
                          <a:spcPts val="0"/>
                        </a:spcAft>
                      </a:pPr>
                      <a:r>
                        <a:rPr sz="1450" b="0">
                          <a:solidFill>
                            <a:srgbClr val="183A32"/>
                          </a:solidFill>
                          <a:latin typeface="Arial"/>
                        </a:rPr>
                        <a:t>“Bakri Jati”</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62–63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ten companies being studied</a:t>
            </a:r>
          </a:p>
        </p:txBody>
      </p:sp>
      <p:graphicFrame>
        <p:nvGraphicFramePr>
          <p:cNvPr id="11" name="Table 10"/>
          <p:cNvGraphicFramePr>
            <a:graphicFrameLocks noGrp="1"/>
          </p:cNvGraphicFramePr>
          <p:nvPr/>
        </p:nvGraphicFramePr>
        <p:xfrm>
          <a:off x="685800" y="2084831"/>
          <a:ext cx="10789920" cy="3178810"/>
        </p:xfrm>
        <a:graphic>
          <a:graphicData uri="http://schemas.openxmlformats.org/drawingml/2006/table">
            <a:tbl>
              <a:tblPr firstRow="1" bandRow="1">
                <a:tableStyleId>{5C22544A-7EE6-4342-B048-85BDC9FD1C3A}</a:tableStyleId>
              </a:tblPr>
              <a:tblGrid>
                <a:gridCol w="2697480"/>
                <a:gridCol w="2697480"/>
                <a:gridCol w="2697480"/>
                <a:gridCol w="2697480"/>
              </a:tblGrid>
              <a:tr h="418465">
                <a:tc>
                  <a:txBody>
                    <a:bodyPr wrap="none"/>
                    <a:lstStyle/>
                    <a:p>
                      <a:pPr>
                        <a:lnSpc>
                          <a:spcPts val="1711"/>
                        </a:lnSpc>
                        <a:spcBef>
                          <a:spcPts val="0"/>
                        </a:spcBef>
                        <a:spcAft>
                          <a:spcPts val="0"/>
                        </a:spcAft>
                      </a:pPr>
                      <a:r>
                        <a:rPr sz="1450" b="1">
                          <a:solidFill>
                            <a:srgbClr val="F6F2E9"/>
                          </a:solidFill>
                          <a:latin typeface="Arial"/>
                        </a:rPr>
                        <a:t>Case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Correct company name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Ticker</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Important distinction</a:t>
                      </a:r>
                    </a:p>
                  </a:txBody>
                  <a:tcPr marL="109728" marR="109728" marT="82296" marB="0" anchor="t">
                    <a:solidFill>
                      <a:srgbClr val="153F35"/>
                    </a:solidFill>
                    <a:lnL>
                      <a:noFill/>
                    </a:lnL>
                    <a:lnR>
                      <a:noFill/>
                    </a:lnR>
                    <a:lnT>
                      <a:noFill/>
                    </a:lnT>
                    <a:lnB>
                      <a:noFill/>
                    </a:lnB>
                  </a:tcPr>
                </a:tc>
              </a:tr>
              <a:tr h="853059">
                <a:tc>
                  <a:txBody>
                    <a:bodyPr wrap="none"/>
                    <a:lstStyle/>
                    <a:p>
                      <a:pPr>
                        <a:lnSpc>
                          <a:spcPts val="1711"/>
                        </a:lnSpc>
                        <a:spcBef>
                          <a:spcPts val="0"/>
                        </a:spcBef>
                        <a:spcAft>
                          <a:spcPts val="0"/>
                        </a:spcAft>
                      </a:pPr>
                      <a:r>
                        <a:rPr sz="1450" b="0">
                          <a:solidFill>
                            <a:srgbClr val="183A32"/>
                          </a:solidFill>
                          <a:latin typeface="Arial"/>
                        </a:rPr>
                        <a:t>6</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Agung Podomoro Land</a:t>
                      </a:r>
                    </a:p>
                    <a:p>
                      <a:pPr>
                        <a:lnSpc>
                          <a:spcPts val="1711"/>
                        </a:lnSpc>
                        <a:spcBef>
                          <a:spcPts val="0"/>
                        </a:spcBef>
                        <a:spcAft>
                          <a:spcPts val="0"/>
                        </a:spcAft>
                      </a:pPr>
                      <a:r>
                        <a:rPr sz="1450" b="0">
                          <a:solidFill>
                            <a:srgbClr val="183A32"/>
                          </a:solidFill>
                          <a:latin typeface="Arial"/>
                        </a:rPr>
                        <a:t>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APLN</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Distinguish the listed issuer</a:t>
                      </a:r>
                    </a:p>
                    <a:p>
                      <a:pPr>
                        <a:lnSpc>
                          <a:spcPts val="1711"/>
                        </a:lnSpc>
                        <a:spcBef>
                          <a:spcPts val="0"/>
                        </a:spcBef>
                        <a:spcAft>
                          <a:spcPts val="0"/>
                        </a:spcAft>
                      </a:pPr>
                      <a:r>
                        <a:rPr sz="1450" b="0">
                          <a:solidFill>
                            <a:srgbClr val="183A32"/>
                          </a:solidFill>
                          <a:latin typeface="Arial"/>
                        </a:rPr>
                        <a:t>from the longer-established</a:t>
                      </a:r>
                    </a:p>
                    <a:p>
                      <a:pPr>
                        <a:lnSpc>
                          <a:spcPts val="1711"/>
                        </a:lnSpc>
                        <a:spcBef>
                          <a:spcPts val="0"/>
                        </a:spcBef>
                        <a:spcAft>
                          <a:spcPts val="0"/>
                        </a:spcAft>
                      </a:pPr>
                      <a:r>
                        <a:rPr sz="1450" b="0">
                          <a:solidFill>
                            <a:srgbClr val="183A32"/>
                          </a:solidFill>
                          <a:latin typeface="Arial"/>
                        </a:rPr>
                        <a:t>group</a:t>
                      </a:r>
                    </a:p>
                  </a:txBody>
                  <a:tcPr marL="109728" marR="109728" marT="82296" marB="0" anchor="t">
                    <a:solidFill>
                      <a:srgbClr val="F6F2E9"/>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7</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Duta Pertiwi Tbk</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DUTI</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A listed subsidiary</a:t>
                      </a:r>
                    </a:p>
                    <a:p>
                      <a:pPr>
                        <a:lnSpc>
                          <a:spcPts val="1711"/>
                        </a:lnSpc>
                        <a:spcBef>
                          <a:spcPts val="0"/>
                        </a:spcBef>
                        <a:spcAft>
                          <a:spcPts val="0"/>
                        </a:spcAft>
                      </a:pPr>
                      <a:r>
                        <a:rPr sz="1450" b="0">
                          <a:solidFill>
                            <a:srgbClr val="183A32"/>
                          </a:solidFill>
                          <a:latin typeface="Arial"/>
                        </a:rPr>
                        <a:t>consolidated within BSDE</a:t>
                      </a:r>
                    </a:p>
                  </a:txBody>
                  <a:tcPr marL="109728" marR="109728" marT="82296" marB="0" anchor="t">
                    <a:solidFill>
                      <a:srgbClr val="E9E8DC"/>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8</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Alam Sutera Realty 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ASRI</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Integrated township and</a:t>
                      </a:r>
                    </a:p>
                    <a:p>
                      <a:pPr>
                        <a:lnSpc>
                          <a:spcPts val="1711"/>
                        </a:lnSpc>
                        <a:spcBef>
                          <a:spcPts val="0"/>
                        </a:spcBef>
                        <a:spcAft>
                          <a:spcPts val="0"/>
                        </a:spcAft>
                      </a:pPr>
                      <a:r>
                        <a:rPr sz="1450" b="0">
                          <a:solidFill>
                            <a:srgbClr val="183A32"/>
                          </a:solidFill>
                          <a:latin typeface="Arial"/>
                        </a:rPr>
                        <a:t>property developer</a:t>
                      </a:r>
                    </a:p>
                  </a:txBody>
                  <a:tcPr marL="109728" marR="109728" marT="82296" marB="0" anchor="t">
                    <a:solidFill>
                      <a:srgbClr val="F6F2E9"/>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9</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Jaya Real Property Tbk</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JRPT</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Part of Pembangunan Jaya</a:t>
                      </a:r>
                    </a:p>
                    <a:p>
                      <a:pPr>
                        <a:lnSpc>
                          <a:spcPts val="1711"/>
                        </a:lnSpc>
                        <a:spcBef>
                          <a:spcPts val="0"/>
                        </a:spcBef>
                        <a:spcAft>
                          <a:spcPts val="0"/>
                        </a:spcAft>
                      </a:pPr>
                      <a:r>
                        <a:rPr sz="1450" b="0">
                          <a:solidFill>
                            <a:srgbClr val="183A32"/>
                          </a:solidFill>
                          <a:latin typeface="Arial"/>
                        </a:rPr>
                        <a:t>Group</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62–63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ten companies being studied</a:t>
            </a:r>
          </a:p>
        </p:txBody>
      </p:sp>
      <p:graphicFrame>
        <p:nvGraphicFramePr>
          <p:cNvPr id="11" name="Table 10"/>
          <p:cNvGraphicFramePr>
            <a:graphicFrameLocks noGrp="1"/>
          </p:cNvGraphicFramePr>
          <p:nvPr/>
        </p:nvGraphicFramePr>
        <p:xfrm>
          <a:off x="685800" y="2084831"/>
          <a:ext cx="10789920" cy="1054227"/>
        </p:xfrm>
        <a:graphic>
          <a:graphicData uri="http://schemas.openxmlformats.org/drawingml/2006/table">
            <a:tbl>
              <a:tblPr firstRow="1" bandRow="1">
                <a:tableStyleId>{5C22544A-7EE6-4342-B048-85BDC9FD1C3A}</a:tableStyleId>
              </a:tblPr>
              <a:tblGrid>
                <a:gridCol w="2697480"/>
                <a:gridCol w="2697480"/>
                <a:gridCol w="2697480"/>
                <a:gridCol w="2697480"/>
              </a:tblGrid>
              <a:tr h="418465">
                <a:tc>
                  <a:txBody>
                    <a:bodyPr wrap="none"/>
                    <a:lstStyle/>
                    <a:p>
                      <a:pPr>
                        <a:lnSpc>
                          <a:spcPts val="1711"/>
                        </a:lnSpc>
                        <a:spcBef>
                          <a:spcPts val="0"/>
                        </a:spcBef>
                        <a:spcAft>
                          <a:spcPts val="0"/>
                        </a:spcAft>
                      </a:pPr>
                      <a:r>
                        <a:rPr sz="1450" b="1">
                          <a:solidFill>
                            <a:srgbClr val="F6F2E9"/>
                          </a:solidFill>
                          <a:latin typeface="Arial"/>
                        </a:rPr>
                        <a:t>Case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Correct company name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Ticker</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Important distinction</a:t>
                      </a:r>
                    </a:p>
                  </a:txBody>
                  <a:tcPr marL="109728" marR="109728" marT="82296" marB="0" anchor="t">
                    <a:solidFill>
                      <a:srgbClr val="153F35"/>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10</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Pantai Indah Kapuk Dua</a:t>
                      </a:r>
                    </a:p>
                    <a:p>
                      <a:pPr>
                        <a:lnSpc>
                          <a:spcPts val="1711"/>
                        </a:lnSpc>
                        <a:spcBef>
                          <a:spcPts val="0"/>
                        </a:spcBef>
                        <a:spcAft>
                          <a:spcPts val="0"/>
                        </a:spcAft>
                      </a:pPr>
                      <a:r>
                        <a:rPr sz="1450" b="0">
                          <a:solidFill>
                            <a:srgbClr val="183A32"/>
                          </a:solidFill>
                          <a:latin typeface="Arial"/>
                        </a:rPr>
                        <a:t>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PANI</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A listed platform developing</a:t>
                      </a:r>
                    </a:p>
                    <a:p>
                      <a:pPr>
                        <a:lnSpc>
                          <a:spcPts val="1711"/>
                        </a:lnSpc>
                        <a:spcBef>
                          <a:spcPts val="0"/>
                        </a:spcBef>
                        <a:spcAft>
                          <a:spcPts val="0"/>
                        </a:spcAft>
                      </a:pPr>
                      <a:r>
                        <a:rPr sz="1450" b="0">
                          <a:solidFill>
                            <a:srgbClr val="183A32"/>
                          </a:solidFill>
                          <a:latin typeface="Arial"/>
                        </a:rPr>
                        <a:t>assets in the PIK2 area</a:t>
                      </a:r>
                    </a:p>
                  </a:txBody>
                  <a:tcPr marL="109728" marR="109728" marT="82296" marB="0" anchor="t">
                    <a:solidFill>
                      <a:srgbClr val="F6F2E9"/>
                    </a:solidFill>
                    <a:lnL>
                      <a:noFill/>
                    </a:lnL>
                    <a:lnR>
                      <a:noFill/>
                    </a:lnR>
                    <a:lnT>
                      <a:noFill/>
                    </a:lnT>
                    <a:lnB>
                      <a:noFill/>
                    </a:lnB>
                  </a:tcPr>
                </a:tc>
              </a:tr>
            </a:tbl>
          </a:graphicData>
        </a:graphic>
      </p:graphicFrame>
      <p:sp>
        <p:nvSpPr>
          <p:cNvPr id="12" name="Rectangle 11"/>
          <p:cNvSpPr/>
          <p:nvPr/>
        </p:nvSpPr>
        <p:spPr>
          <a:xfrm>
            <a:off x="685800" y="3321939"/>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321939"/>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3404235"/>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message: Case numbers are identifiers, not current market ranks.</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63–64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How to interpret this research</a:t>
            </a:r>
          </a:p>
        </p:txBody>
      </p:sp>
      <p:cxnSp>
        <p:nvCxnSpPr>
          <p:cNvPr id="11" name="Connector 10"/>
          <p:cNvCxnSpPr/>
          <p:nvPr/>
        </p:nvCxnSpPr>
        <p:spPr>
          <a:xfrm>
            <a:off x="6062472" y="2084831"/>
            <a:ext cx="0" cy="2976373"/>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THREE EVIDENCE CATEGORIES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Reported fact: Information disclosed in company</a:t>
            </a:r>
          </a:p>
          <a:p>
            <a:pPr>
              <a:lnSpc>
                <a:spcPts val="2135"/>
              </a:lnSpc>
              <a:spcBef>
                <a:spcPts val="0"/>
              </a:spcBef>
              <a:spcAft>
                <a:spcPts val="0"/>
              </a:spcAft>
            </a:pPr>
            <a:r>
              <a:rPr sz="1750" b="0" i="0">
                <a:solidFill>
                  <a:srgbClr val="183A32"/>
                </a:solidFill>
                <a:latin typeface="Arial"/>
              </a:rPr>
              <a:t>reports, financial statements, or official histories.</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Analyst assessment: An interpretation of how a</a:t>
            </a:r>
          </a:p>
          <a:p>
            <a:pPr>
              <a:lnSpc>
                <a:spcPts val="2135"/>
              </a:lnSpc>
              <a:spcBef>
                <a:spcPts val="0"/>
              </a:spcBef>
              <a:spcAft>
                <a:spcPts val="0"/>
              </a:spcAft>
            </a:pPr>
            <a:r>
              <a:rPr sz="1750" b="0" i="0">
                <a:solidFill>
                  <a:srgbClr val="183A32"/>
                </a:solidFill>
                <a:latin typeface="Arial"/>
              </a:rPr>
              <a:t>business model creates advantages or exposes</a:t>
            </a:r>
          </a:p>
          <a:p>
            <a:pPr>
              <a:lnSpc>
                <a:spcPts val="2135"/>
              </a:lnSpc>
              <a:spcBef>
                <a:spcPts val="0"/>
              </a:spcBef>
              <a:spcAft>
                <a:spcPts val="0"/>
              </a:spcAft>
            </a:pPr>
            <a:r>
              <a:rPr sz="1750" b="0" i="0">
                <a:solidFill>
                  <a:srgbClr val="183A32"/>
                </a:solidFill>
                <a:latin typeface="Arial"/>
              </a:rPr>
              <a:t>the company to risk.</a:t>
            </a:r>
          </a:p>
        </p:txBody>
      </p:sp>
      <p:sp>
        <p:nvSpPr>
          <p:cNvPr id="17" name="Rectangle 16"/>
          <p:cNvSpPr/>
          <p:nvPr/>
        </p:nvSpPr>
        <p:spPr>
          <a:xfrm>
            <a:off x="685800" y="423735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414591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Proposed application: A recommendation for</a:t>
            </a:r>
          </a:p>
          <a:p>
            <a:pPr>
              <a:lnSpc>
                <a:spcPts val="2135"/>
              </a:lnSpc>
              <a:spcBef>
                <a:spcPts val="0"/>
              </a:spcBef>
              <a:spcAft>
                <a:spcPts val="0"/>
              </a:spcAft>
            </a:pPr>
            <a:r>
              <a:rPr sz="1750" b="0" i="0">
                <a:solidFill>
                  <a:srgbClr val="183A32"/>
                </a:solidFill>
                <a:latin typeface="Arial"/>
              </a:rPr>
              <a:t>TANRISE that requires feasibility testing and</a:t>
            </a:r>
          </a:p>
          <a:p>
            <a:pPr>
              <a:lnSpc>
                <a:spcPts val="2135"/>
              </a:lnSpc>
              <a:spcBef>
                <a:spcPts val="0"/>
              </a:spcBef>
              <a:spcAft>
                <a:spcPts val="0"/>
              </a:spcAft>
            </a:pPr>
            <a:r>
              <a:rPr sz="1750" b="0" i="0">
                <a:solidFill>
                  <a:srgbClr val="183A32"/>
                </a:solidFill>
                <a:latin typeface="Arial"/>
              </a:rPr>
              <a:t>management approval.</a:t>
            </a:r>
          </a:p>
        </p:txBody>
      </p:sp>
      <p:sp>
        <p:nvSpPr>
          <p:cNvPr id="19" name="TextBox 18"/>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COMPARISON RULES</a:t>
            </a:r>
          </a:p>
        </p:txBody>
      </p:sp>
      <p:sp>
        <p:nvSpPr>
          <p:cNvPr id="20" name="Rectangle 19"/>
          <p:cNvSpPr/>
          <p:nvPr/>
        </p:nvSpPr>
        <p:spPr>
          <a:xfrm>
            <a:off x="6400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marketing sales, profit, and market</a:t>
            </a:r>
          </a:p>
          <a:p>
            <a:pPr>
              <a:lnSpc>
                <a:spcPts val="2135"/>
              </a:lnSpc>
              <a:spcBef>
                <a:spcPts val="0"/>
              </a:spcBef>
              <a:spcAft>
                <a:spcPts val="0"/>
              </a:spcAft>
            </a:pPr>
            <a:r>
              <a:rPr sz="1750" b="0" i="0">
                <a:solidFill>
                  <a:srgbClr val="183A32"/>
                </a:solidFill>
                <a:latin typeface="Arial"/>
              </a:rPr>
              <a:t>capitalisation measure different things.</a:t>
            </a:r>
          </a:p>
        </p:txBody>
      </p:sp>
      <p:sp>
        <p:nvSpPr>
          <p:cNvPr id="22" name="Rectangle 21"/>
          <p:cNvSpPr/>
          <p:nvPr/>
        </p:nvSpPr>
        <p:spPr>
          <a:xfrm>
            <a:off x="6400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Consolidated group results must not be added to</a:t>
            </a:r>
          </a:p>
          <a:p>
            <a:pPr>
              <a:lnSpc>
                <a:spcPts val="2135"/>
              </a:lnSpc>
              <a:spcBef>
                <a:spcPts val="0"/>
              </a:spcBef>
              <a:spcAft>
                <a:spcPts val="0"/>
              </a:spcAft>
            </a:pPr>
            <a:r>
              <a:rPr sz="1750" b="0" i="0">
                <a:solidFill>
                  <a:srgbClr val="183A32"/>
                </a:solidFill>
                <a:latin typeface="Arial"/>
              </a:rPr>
              <a:t>subsidiary results.</a:t>
            </a:r>
          </a:p>
        </p:txBody>
      </p:sp>
      <p:sp>
        <p:nvSpPr>
          <p:cNvPr id="24" name="Rectangle 23"/>
          <p:cNvSpPr/>
          <p:nvPr/>
        </p:nvSpPr>
        <p:spPr>
          <a:xfrm>
            <a:off x="6400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Total profit differs from profit attributable to the</a:t>
            </a:r>
          </a:p>
          <a:p>
            <a:pPr>
              <a:lnSpc>
                <a:spcPts val="2135"/>
              </a:lnSpc>
              <a:spcBef>
                <a:spcPts val="0"/>
              </a:spcBef>
              <a:spcAft>
                <a:spcPts val="0"/>
              </a:spcAft>
            </a:pPr>
            <a:r>
              <a:rPr sz="1750" b="0" i="0">
                <a:solidFill>
                  <a:srgbClr val="183A32"/>
                </a:solidFill>
                <a:latin typeface="Arial"/>
              </a:rPr>
              <a:t>parent.</a:t>
            </a:r>
          </a:p>
        </p:txBody>
      </p:sp>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63–64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How to interpret this research</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Acquisitions, divestments, and handover timing can change apparent performance.</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FY2025 provides a common full-year baseline; it is not a substitute for all subsequent 2026 disclosures.</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64–65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FY2025 revenue comparison within the selected cohort</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REPORTED CONSOLIDATED REVENUE, APPROXIMATELY RP TRILLION</a:t>
            </a:r>
          </a:p>
        </p:txBody>
      </p:sp>
      <p:sp>
        <p:nvSpPr>
          <p:cNvPr id="12" name="Rectangle 11"/>
          <p:cNvSpPr/>
          <p:nvPr/>
        </p:nvSpPr>
        <p:spPr>
          <a:xfrm>
            <a:off x="685800" y="2433574"/>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2433574"/>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2515870"/>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DUTI is included within BSDE consolidation. Do not sum the bars into a market total.</a:t>
            </a:r>
          </a:p>
        </p:txBody>
      </p:sp>
      <p:sp>
        <p:nvSpPr>
          <p:cNvPr id="15" name="TextBox 14"/>
          <p:cNvSpPr txBox="1"/>
          <p:nvPr/>
        </p:nvSpPr>
        <p:spPr>
          <a:xfrm>
            <a:off x="685800" y="6144768"/>
            <a:ext cx="10789920" cy="319278"/>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BSDE annual report, Ciputra reporting, LPKR results announcement, Summarecon presentation, Pakuwon annual report, PANI results, APLN annual report, JRPT results, ASRI annual report, DUTI</a:t>
            </a:r>
          </a:p>
          <a:p>
            <a:pPr>
              <a:lnSpc>
                <a:spcPts val="1023"/>
              </a:lnSpc>
              <a:spcBef>
                <a:spcPts val="0"/>
              </a:spcBef>
              <a:spcAft>
                <a:spcPts val="0"/>
              </a:spcAft>
            </a:pPr>
            <a:r>
              <a:rPr sz="930" b="0" i="0">
                <a:solidFill>
                  <a:srgbClr val="68766B"/>
                </a:solidFill>
                <a:latin typeface="Arial"/>
              </a:rPr>
              <a:t>annual report.</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64–65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FY2025 revenue comparison within the selected cohort</a:t>
            </a:r>
          </a:p>
        </p:txBody>
      </p:sp>
      <p:graphicFrame>
        <p:nvGraphicFramePr>
          <p:cNvPr id="11" name="Chart 10"/>
          <p:cNvGraphicFramePr>
            <a:graphicFrameLocks noGrp="1"/>
          </p:cNvGraphicFramePr>
          <p:nvPr/>
        </p:nvGraphicFramePr>
        <p:xfrm>
          <a:off x="685800" y="2084831"/>
          <a:ext cx="10789920" cy="3547872"/>
        </p:xfrm>
        <a:graphic>
          <a:graphicData uri="http://schemas.openxmlformats.org/drawingml/2006/chart">
            <c:chart xmlns:c="http://schemas.openxmlformats.org/drawingml/2006/chart" r:id="rId2"/>
          </a:graphicData>
        </a:graphic>
      </p:graphicFrame>
      <p:sp>
        <p:nvSpPr>
          <p:cNvPr id="12" name="TextBox 11"/>
          <p:cNvSpPr txBox="1"/>
          <p:nvPr/>
        </p:nvSpPr>
        <p:spPr>
          <a:xfrm>
            <a:off x="685800" y="5513831"/>
            <a:ext cx="10789920" cy="214375"/>
          </a:xfrm>
          <a:prstGeom prst="rect">
            <a:avLst/>
          </a:prstGeom>
          <a:noFill/>
        </p:spPr>
        <p:txBody>
          <a:bodyPr wrap="none" lIns="0" rIns="0" tIns="0" bIns="0">
            <a:spAutoFit/>
          </a:bodyPr>
          <a:lstStyle/>
          <a:p>
            <a:pPr>
              <a:lnSpc>
                <a:spcPts val="1220"/>
              </a:lnSpc>
              <a:spcBef>
                <a:spcPts val="0"/>
              </a:spcBef>
              <a:spcAft>
                <a:spcPts val="0"/>
              </a:spcAft>
            </a:pPr>
            <a:r>
              <a:rPr sz="1000" b="0" i="0">
                <a:solidFill>
                  <a:srgbClr val="68766B"/>
                </a:solidFill>
                <a:latin typeface="Arial"/>
              </a:rPr>
              <a:t>DUTI is included within BSDE consolidation. Do not sum the bars into a market total.</a:t>
            </a:r>
          </a:p>
        </p:txBody>
      </p:sp>
      <p:sp>
        <p:nvSpPr>
          <p:cNvPr id="13" name="TextBox 12"/>
          <p:cNvSpPr txBox="1"/>
          <p:nvPr/>
        </p:nvSpPr>
        <p:spPr>
          <a:xfrm>
            <a:off x="685800" y="1883663"/>
            <a:ext cx="10789920" cy="214375"/>
          </a:xfrm>
          <a:prstGeom prst="rect">
            <a:avLst/>
          </a:prstGeom>
          <a:noFill/>
        </p:spPr>
        <p:txBody>
          <a:bodyPr wrap="none" lIns="0" rIns="0" tIns="0" bIns="0">
            <a:spAutoFit/>
          </a:bodyPr>
          <a:lstStyle/>
          <a:p>
            <a:pPr>
              <a:lnSpc>
                <a:spcPts val="1220"/>
              </a:lnSpc>
              <a:spcBef>
                <a:spcPts val="0"/>
              </a:spcBef>
              <a:spcAft>
                <a:spcPts val="0"/>
              </a:spcAft>
            </a:pPr>
            <a:r>
              <a:rPr sz="1000" b="0" i="0">
                <a:solidFill>
                  <a:srgbClr val="68766B"/>
                </a:solidFill>
                <a:latin typeface="Arial"/>
              </a:rPr>
              <a:t>FY2025 · Consolidated revenue, approximately Rp trillion · Selected cohort</a:t>
            </a:r>
          </a:p>
        </p:txBody>
      </p:sp>
      <p:sp>
        <p:nvSpPr>
          <p:cNvPr id="14" name="TextBox 13"/>
          <p:cNvSpPr txBox="1"/>
          <p:nvPr/>
        </p:nvSpPr>
        <p:spPr>
          <a:xfrm>
            <a:off x="685800" y="2084831"/>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BSDE</a:t>
            </a:r>
          </a:p>
        </p:txBody>
      </p:sp>
      <p:sp>
        <p:nvSpPr>
          <p:cNvPr id="15" name="Rectangle 14"/>
          <p:cNvSpPr/>
          <p:nvPr/>
        </p:nvSpPr>
        <p:spPr>
          <a:xfrm>
            <a:off x="3840480" y="2112263"/>
            <a:ext cx="6949440"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881360" y="2084831"/>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12.79</a:t>
            </a:r>
          </a:p>
        </p:txBody>
      </p:sp>
      <p:sp>
        <p:nvSpPr>
          <p:cNvPr id="17" name="TextBox 16"/>
          <p:cNvSpPr txBox="1"/>
          <p:nvPr/>
        </p:nvSpPr>
        <p:spPr>
          <a:xfrm>
            <a:off x="685800" y="2418587"/>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CTRA</a:t>
            </a:r>
          </a:p>
        </p:txBody>
      </p:sp>
      <p:sp>
        <p:nvSpPr>
          <p:cNvPr id="18" name="Rectangle 17"/>
          <p:cNvSpPr/>
          <p:nvPr/>
        </p:nvSpPr>
        <p:spPr>
          <a:xfrm>
            <a:off x="3840480" y="2446019"/>
            <a:ext cx="6857070"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8990" y="2418587"/>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12.62</a:t>
            </a:r>
          </a:p>
        </p:txBody>
      </p:sp>
      <p:sp>
        <p:nvSpPr>
          <p:cNvPr id="20" name="TextBox 19"/>
          <p:cNvSpPr txBox="1"/>
          <p:nvPr/>
        </p:nvSpPr>
        <p:spPr>
          <a:xfrm>
            <a:off x="685800" y="2752344"/>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LPKR</a:t>
            </a:r>
          </a:p>
        </p:txBody>
      </p:sp>
      <p:sp>
        <p:nvSpPr>
          <p:cNvPr id="21" name="Rectangle 20"/>
          <p:cNvSpPr/>
          <p:nvPr/>
        </p:nvSpPr>
        <p:spPr>
          <a:xfrm>
            <a:off x="3840480" y="2779775"/>
            <a:ext cx="4906445"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8365" y="2752344"/>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9.03</a:t>
            </a:r>
          </a:p>
        </p:txBody>
      </p:sp>
      <p:sp>
        <p:nvSpPr>
          <p:cNvPr id="23" name="TextBox 22"/>
          <p:cNvSpPr txBox="1"/>
          <p:nvPr/>
        </p:nvSpPr>
        <p:spPr>
          <a:xfrm>
            <a:off x="685800" y="3086100"/>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SMRA</a:t>
            </a:r>
          </a:p>
        </p:txBody>
      </p:sp>
      <p:sp>
        <p:nvSpPr>
          <p:cNvPr id="24" name="Rectangle 23"/>
          <p:cNvSpPr/>
          <p:nvPr/>
        </p:nvSpPr>
        <p:spPr>
          <a:xfrm>
            <a:off x="3840480" y="3113532"/>
            <a:ext cx="4765175"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97095" y="3086100"/>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8.77</a:t>
            </a:r>
          </a:p>
        </p:txBody>
      </p:sp>
      <p:sp>
        <p:nvSpPr>
          <p:cNvPr id="26" name="TextBox 25"/>
          <p:cNvSpPr txBox="1"/>
          <p:nvPr/>
        </p:nvSpPr>
        <p:spPr>
          <a:xfrm>
            <a:off x="685800" y="3419856"/>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PWON</a:t>
            </a:r>
          </a:p>
        </p:txBody>
      </p:sp>
      <p:sp>
        <p:nvSpPr>
          <p:cNvPr id="27" name="Rectangle 26"/>
          <p:cNvSpPr/>
          <p:nvPr/>
        </p:nvSpPr>
        <p:spPr>
          <a:xfrm>
            <a:off x="3840480" y="3447287"/>
            <a:ext cx="3863214"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95134" y="3419856"/>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7.11</a:t>
            </a:r>
          </a:p>
        </p:txBody>
      </p:sp>
      <p:sp>
        <p:nvSpPr>
          <p:cNvPr id="29" name="TextBox 28"/>
          <p:cNvSpPr txBox="1"/>
          <p:nvPr/>
        </p:nvSpPr>
        <p:spPr>
          <a:xfrm>
            <a:off x="685800" y="3753611"/>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PANI</a:t>
            </a:r>
          </a:p>
        </p:txBody>
      </p:sp>
      <p:sp>
        <p:nvSpPr>
          <p:cNvPr id="30" name="Rectangle 29"/>
          <p:cNvSpPr/>
          <p:nvPr/>
        </p:nvSpPr>
        <p:spPr>
          <a:xfrm>
            <a:off x="3840480" y="3781044"/>
            <a:ext cx="2336402"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8322" y="3753611"/>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4.3</a:t>
            </a:r>
          </a:p>
        </p:txBody>
      </p:sp>
      <p:sp>
        <p:nvSpPr>
          <p:cNvPr id="32" name="TextBox 31"/>
          <p:cNvSpPr txBox="1"/>
          <p:nvPr/>
        </p:nvSpPr>
        <p:spPr>
          <a:xfrm>
            <a:off x="685800" y="4087368"/>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APLN</a:t>
            </a:r>
          </a:p>
        </p:txBody>
      </p:sp>
      <p:sp>
        <p:nvSpPr>
          <p:cNvPr id="33" name="Rectangle 32"/>
          <p:cNvSpPr/>
          <p:nvPr/>
        </p:nvSpPr>
        <p:spPr>
          <a:xfrm>
            <a:off x="3840480" y="4114800"/>
            <a:ext cx="1939757"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71677" y="4087368"/>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3.57</a:t>
            </a:r>
          </a:p>
        </p:txBody>
      </p:sp>
      <p:sp>
        <p:nvSpPr>
          <p:cNvPr id="35" name="TextBox 34"/>
          <p:cNvSpPr txBox="1"/>
          <p:nvPr/>
        </p:nvSpPr>
        <p:spPr>
          <a:xfrm>
            <a:off x="685800" y="4421123"/>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JRPT</a:t>
            </a:r>
          </a:p>
        </p:txBody>
      </p:sp>
      <p:sp>
        <p:nvSpPr>
          <p:cNvPr id="36" name="Rectangle 35"/>
          <p:cNvSpPr/>
          <p:nvPr/>
        </p:nvSpPr>
        <p:spPr>
          <a:xfrm>
            <a:off x="3840480" y="4448555"/>
            <a:ext cx="1776752"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8672" y="4421123"/>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3.27</a:t>
            </a:r>
          </a:p>
        </p:txBody>
      </p:sp>
      <p:sp>
        <p:nvSpPr>
          <p:cNvPr id="38" name="TextBox 37"/>
          <p:cNvSpPr txBox="1"/>
          <p:nvPr/>
        </p:nvSpPr>
        <p:spPr>
          <a:xfrm>
            <a:off x="685800" y="4754879"/>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ASRI</a:t>
            </a:r>
          </a:p>
        </p:txBody>
      </p:sp>
      <p:sp>
        <p:nvSpPr>
          <p:cNvPr id="39" name="Rectangle 38"/>
          <p:cNvSpPr/>
          <p:nvPr/>
        </p:nvSpPr>
        <p:spPr>
          <a:xfrm>
            <a:off x="3840480" y="4782312"/>
            <a:ext cx="1592014"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23934" y="4754879"/>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2.93</a:t>
            </a:r>
          </a:p>
        </p:txBody>
      </p:sp>
      <p:sp>
        <p:nvSpPr>
          <p:cNvPr id="41" name="TextBox 40"/>
          <p:cNvSpPr txBox="1"/>
          <p:nvPr/>
        </p:nvSpPr>
        <p:spPr>
          <a:xfrm>
            <a:off x="685800" y="5088636"/>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DUTI</a:t>
            </a:r>
          </a:p>
        </p:txBody>
      </p:sp>
      <p:sp>
        <p:nvSpPr>
          <p:cNvPr id="42" name="Rectangle 41"/>
          <p:cNvSpPr/>
          <p:nvPr/>
        </p:nvSpPr>
        <p:spPr>
          <a:xfrm>
            <a:off x="3840480" y="5116068"/>
            <a:ext cx="1483344" cy="20116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15264" y="5088636"/>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2.73</a:t>
            </a:r>
          </a:p>
        </p:txBody>
      </p:sp>
      <p:sp>
        <p:nvSpPr>
          <p:cNvPr id="44" name="TextBox 43"/>
          <p:cNvSpPr txBox="1"/>
          <p:nvPr/>
        </p:nvSpPr>
        <p:spPr>
          <a:xfrm>
            <a:off x="685800" y="6144768"/>
            <a:ext cx="10789920" cy="319278"/>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BSDE annual report, Ciputra reporting, LPKR results announcement, Summarecon presentation, Pakuwon annual report, PANI results, APLN annual report, JRPT results, ASRI annual report, DUTI</a:t>
            </a:r>
          </a:p>
          <a:p>
            <a:pPr>
              <a:lnSpc>
                <a:spcPts val="1023"/>
              </a:lnSpc>
              <a:spcBef>
                <a:spcPts val="0"/>
              </a:spcBef>
              <a:spcAft>
                <a:spcPts val="0"/>
              </a:spcAft>
            </a:pPr>
            <a:r>
              <a:rPr sz="930" b="0" i="0">
                <a:solidFill>
                  <a:srgbClr val="68766B"/>
                </a:solidFill>
                <a:latin typeface="Arial"/>
              </a:rPr>
              <a:t>annual report.</a:t>
            </a:r>
          </a:p>
        </p:txBody>
      </p:sp>
      <p:sp>
        <p:nvSpPr>
          <p:cNvPr id="45" name="TextBox 4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64–65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Interpretation</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This table describes the selected issuers. It does not establish Indonesia’s complete Top Ten.</a:t>
            </a:r>
          </a:p>
        </p:txBody>
      </p:sp>
      <p:sp>
        <p:nvSpPr>
          <p:cNvPr id="12" name="TextBox 11"/>
          <p:cNvSpPr txBox="1"/>
          <p:nvPr/>
        </p:nvSpPr>
        <p:spPr>
          <a:xfrm>
            <a:off x="685800" y="254203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LPKR also reports revenue after final tax of approximately Rp8.84 trillion; the table uses its headline revenue line.</a:t>
            </a:r>
          </a:p>
          <a:p>
            <a:pPr>
              <a:lnSpc>
                <a:spcPts val="2196"/>
              </a:lnSpc>
              <a:spcBef>
                <a:spcPts val="0"/>
              </a:spcBef>
              <a:spcAft>
                <a:spcPts val="0"/>
              </a:spcAft>
            </a:pPr>
            <a:r>
              <a:rPr sz="1800" b="0" i="0">
                <a:solidFill>
                  <a:srgbClr val="183A32"/>
                </a:solidFill>
                <a:latin typeface="Times New Roman"/>
              </a:rPr>
              <a:t>PANI is shown at the precision of its financial-results release.</a:t>
            </a:r>
          </a:p>
        </p:txBody>
      </p:sp>
      <p:sp>
        <p:nvSpPr>
          <p:cNvPr id="13" name="TextBox 12"/>
          <p:cNvSpPr txBox="1"/>
          <p:nvPr/>
        </p:nvSpPr>
        <p:spPr>
          <a:xfrm>
            <a:off x="685800" y="6144768"/>
            <a:ext cx="10789920" cy="319278"/>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BSDE annual report, Ciputra reporting, LPKR results announcement, Summarecon presentation, Pakuwon annual report, PANI results, APLN annual report, JRPT results, ASRI annual report, DUTI</a:t>
            </a:r>
          </a:p>
          <a:p>
            <a:pPr>
              <a:lnSpc>
                <a:spcPts val="1023"/>
              </a:lnSpc>
              <a:spcBef>
                <a:spcPts val="0"/>
              </a:spcBef>
              <a:spcAft>
                <a:spcPts val="0"/>
              </a:spcAft>
            </a:pPr>
            <a:r>
              <a:rPr sz="930" b="0" i="0">
                <a:solidFill>
                  <a:srgbClr val="68766B"/>
                </a:solidFill>
                <a:latin typeface="Arial"/>
              </a:rPr>
              <a:t>annual report.</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65–66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Company background and 5W1H</a:t>
            </a:r>
          </a:p>
        </p:txBody>
      </p:sp>
      <p:cxnSp>
        <p:nvCxnSpPr>
          <p:cNvPr id="11" name="Connector 10"/>
          <p:cNvCxnSpPr/>
          <p:nvPr/>
        </p:nvCxnSpPr>
        <p:spPr>
          <a:xfrm>
            <a:off x="6062472" y="2084831"/>
            <a:ext cx="0" cy="320002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Bumi Serpong Damai Tbk, a listed</a:t>
            </a:r>
          </a:p>
          <a:p>
            <a:pPr>
              <a:lnSpc>
                <a:spcPts val="2135"/>
              </a:lnSpc>
              <a:spcBef>
                <a:spcPts val="0"/>
              </a:spcBef>
              <a:spcAft>
                <a:spcPts val="0"/>
              </a:spcAft>
            </a:pPr>
            <a:r>
              <a:rPr sz="1750" b="0" i="0">
                <a:solidFill>
                  <a:srgbClr val="183A32"/>
                </a:solidFill>
                <a:latin typeface="Arial"/>
              </a:rPr>
              <a:t>township developer within Sinar Mas</a:t>
            </a:r>
          </a:p>
        </p:txBody>
      </p:sp>
      <p:sp>
        <p:nvSpPr>
          <p:cNvPr id="14" name="TextBox 13"/>
          <p:cNvSpPr txBox="1"/>
          <p:nvPr/>
        </p:nvSpPr>
        <p:spPr>
          <a:xfrm>
            <a:off x="685800" y="2805430"/>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Land.</a:t>
            </a:r>
          </a:p>
        </p:txBody>
      </p:sp>
      <p:sp>
        <p:nvSpPr>
          <p:cNvPr id="15" name="Rectangle 14"/>
          <p:cNvSpPr/>
          <p:nvPr/>
        </p:nvSpPr>
        <p:spPr>
          <a:xfrm>
            <a:off x="685800" y="33540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26263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Residential, commercial, and supporting</a:t>
            </a:r>
          </a:p>
          <a:p>
            <a:pPr>
              <a:lnSpc>
                <a:spcPts val="2135"/>
              </a:lnSpc>
              <a:spcBef>
                <a:spcPts val="0"/>
              </a:spcBef>
              <a:spcAft>
                <a:spcPts val="0"/>
              </a:spcAft>
            </a:pPr>
            <a:r>
              <a:rPr sz="1750" b="0" i="0">
                <a:solidFill>
                  <a:srgbClr val="183A32"/>
                </a:solidFill>
                <a:latin typeface="Arial"/>
              </a:rPr>
              <a:t>urban development, with BSD City as its flagship.</a:t>
            </a:r>
          </a:p>
        </p:txBody>
      </p:sp>
      <p:sp>
        <p:nvSpPr>
          <p:cNvPr id="17" name="Rectangle 16"/>
          <p:cNvSpPr/>
          <p:nvPr/>
        </p:nvSpPr>
        <p:spPr>
          <a:xfrm>
            <a:off x="685800" y="4074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983227"/>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Its principal development identity is</a:t>
            </a:r>
          </a:p>
          <a:p>
            <a:pPr>
              <a:lnSpc>
                <a:spcPts val="2135"/>
              </a:lnSpc>
              <a:spcBef>
                <a:spcPts val="0"/>
              </a:spcBef>
              <a:spcAft>
                <a:spcPts val="0"/>
              </a:spcAft>
            </a:pPr>
            <a:r>
              <a:rPr sz="1750" b="0" i="0">
                <a:solidFill>
                  <a:srgbClr val="183A32"/>
                </a:solidFill>
                <a:latin typeface="Arial"/>
              </a:rPr>
              <a:t>centred on the Serpong–Tangerang area,</a:t>
            </a:r>
          </a:p>
          <a:p>
            <a:pPr>
              <a:lnSpc>
                <a:spcPts val="2135"/>
              </a:lnSpc>
              <a:spcBef>
                <a:spcPts val="0"/>
              </a:spcBef>
              <a:spcAft>
                <a:spcPts val="0"/>
              </a:spcAft>
            </a:pPr>
            <a:r>
              <a:rPr sz="1750" b="0" i="0">
                <a:solidFill>
                  <a:srgbClr val="183A32"/>
                </a:solidFill>
                <a:latin typeface="Arial"/>
              </a:rPr>
              <a:t>alongside a wider portfolio.</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in 1984; listed in 2008.</a:t>
            </a:r>
          </a:p>
        </p:txBody>
      </p:sp>
      <p:sp>
        <p:nvSpPr>
          <p:cNvPr id="21" name="Rectangle 20"/>
          <p:cNvSpPr/>
          <p:nvPr/>
        </p:nvSpPr>
        <p:spPr>
          <a:xfrm>
            <a:off x="6400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534285"/>
            <a:ext cx="4910328" cy="141516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The Sinar Mas Land platform</a:t>
            </a:r>
          </a:p>
          <a:p>
            <a:pPr>
              <a:lnSpc>
                <a:spcPts val="2135"/>
              </a:lnSpc>
              <a:spcBef>
                <a:spcPts val="0"/>
              </a:spcBef>
              <a:spcAft>
                <a:spcPts val="0"/>
              </a:spcAft>
            </a:pPr>
            <a:r>
              <a:rPr sz="1750" b="0" i="0">
                <a:solidFill>
                  <a:srgbClr val="183A32"/>
                </a:solidFill>
                <a:latin typeface="Arial"/>
              </a:rPr>
              <a:t>and the Widjaja business-family legacy. This</a:t>
            </a:r>
          </a:p>
          <a:p>
            <a:pPr>
              <a:lnSpc>
                <a:spcPts val="2135"/>
              </a:lnSpc>
              <a:spcBef>
                <a:spcPts val="0"/>
              </a:spcBef>
              <a:spcAft>
                <a:spcPts val="0"/>
              </a:spcAft>
            </a:pPr>
            <a:r>
              <a:rPr sz="1750" b="0" i="0">
                <a:solidFill>
                  <a:srgbClr val="183A32"/>
                </a:solidFill>
                <a:latin typeface="Arial"/>
              </a:rPr>
              <a:t>group association should not be mistaken for a</a:t>
            </a:r>
          </a:p>
          <a:p>
            <a:pPr>
              <a:lnSpc>
                <a:spcPts val="2135"/>
              </a:lnSpc>
              <a:spcBef>
                <a:spcPts val="0"/>
              </a:spcBef>
              <a:spcAft>
                <a:spcPts val="0"/>
              </a:spcAft>
            </a:pPr>
            <a:r>
              <a:rPr sz="1750" b="0" i="0">
                <a:solidFill>
                  <a:srgbClr val="183A32"/>
                </a:solidFill>
                <a:latin typeface="Arial"/>
              </a:rPr>
              <a:t>claim that one individual alone founded the</a:t>
            </a:r>
          </a:p>
          <a:p>
            <a:pPr>
              <a:lnSpc>
                <a:spcPts val="2135"/>
              </a:lnSpc>
              <a:spcBef>
                <a:spcPts val="0"/>
              </a:spcBef>
              <a:spcAft>
                <a:spcPts val="0"/>
              </a:spcAft>
            </a:pPr>
            <a:r>
              <a:rPr sz="1750" b="0" i="0">
                <a:solidFill>
                  <a:srgbClr val="183A32"/>
                </a:solidFill>
                <a:latin typeface="Arial"/>
              </a:rPr>
              <a:t>original BSD venture.</a:t>
            </a:r>
          </a:p>
        </p:txBody>
      </p:sp>
      <p:sp>
        <p:nvSpPr>
          <p:cNvPr id="23" name="Rectangle 22"/>
          <p:cNvSpPr/>
          <p:nvPr/>
        </p:nvSpPr>
        <p:spPr>
          <a:xfrm>
            <a:off x="6400800" y="415975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4068318"/>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Long-term</a:t>
            </a:r>
          </a:p>
          <a:p>
            <a:pPr>
              <a:lnSpc>
                <a:spcPts val="2135"/>
              </a:lnSpc>
              <a:spcBef>
                <a:spcPts val="0"/>
              </a:spcBef>
              <a:spcAft>
                <a:spcPts val="0"/>
              </a:spcAft>
            </a:pPr>
            <a:r>
              <a:rPr sz="1750" b="0" i="0">
                <a:solidFill>
                  <a:srgbClr val="183A32"/>
                </a:solidFill>
                <a:latin typeface="Arial"/>
              </a:rPr>
              <a:t>control of development land enables</a:t>
            </a:r>
          </a:p>
          <a:p>
            <a:pPr>
              <a:lnSpc>
                <a:spcPts val="2135"/>
              </a:lnSpc>
              <a:spcBef>
                <a:spcPts val="0"/>
              </a:spcBef>
              <a:spcAft>
                <a:spcPts val="0"/>
              </a:spcAft>
            </a:pPr>
            <a:r>
              <a:rPr sz="1750" b="0" i="0">
                <a:solidFill>
                  <a:srgbClr val="183A32"/>
                </a:solidFill>
                <a:latin typeface="Arial"/>
              </a:rPr>
              <a:t>infrastructure and amenities to increase the</a:t>
            </a:r>
          </a:p>
          <a:p>
            <a:pPr>
              <a:lnSpc>
                <a:spcPts val="2135"/>
              </a:lnSpc>
              <a:spcBef>
                <a:spcPts val="0"/>
              </a:spcBef>
              <a:spcAft>
                <a:spcPts val="0"/>
              </a:spcAft>
            </a:pPr>
            <a:r>
              <a:rPr sz="1750" b="0" i="0">
                <a:solidFill>
                  <a:srgbClr val="183A32"/>
                </a:solidFill>
                <a:latin typeface="Arial"/>
              </a:rPr>
              <a:t>attractiveness of successive property releases.</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Official BSDE history.</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66–67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Milestones and strategic inflection points</a:t>
            </a:r>
          </a:p>
        </p:txBody>
      </p:sp>
      <p:graphicFrame>
        <p:nvGraphicFramePr>
          <p:cNvPr id="11" name="Table 10"/>
          <p:cNvGraphicFramePr>
            <a:graphicFrameLocks noGrp="1"/>
          </p:cNvGraphicFramePr>
          <p:nvPr/>
        </p:nvGraphicFramePr>
        <p:xfrm>
          <a:off x="685800" y="2084831"/>
          <a:ext cx="10789919" cy="32975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Strategic significance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1984</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Company established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Beginning of the development platform</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1990s–20 00s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Residential development and</a:t>
                      </a:r>
                    </a:p>
                    <a:p>
                      <a:pPr>
                        <a:lnSpc>
                          <a:spcPts val="1829"/>
                        </a:lnSpc>
                        <a:spcBef>
                          <a:spcPts val="0"/>
                        </a:spcBef>
                        <a:spcAft>
                          <a:spcPts val="0"/>
                        </a:spcAft>
                      </a:pPr>
                      <a:r>
                        <a:rPr sz="1550" b="0">
                          <a:solidFill>
                            <a:srgbClr val="183A32"/>
                          </a:solidFill>
                          <a:latin typeface="Arial"/>
                        </a:rPr>
                        <a:t>supporting amenities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Building a functioning township over successive phases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2008</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Stock-market listing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Access to public equity capital</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2010</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Acquisition of Duta Pertiwi and</a:t>
                      </a:r>
                    </a:p>
                    <a:p>
                      <a:pPr>
                        <a:lnSpc>
                          <a:spcPts val="1829"/>
                        </a:lnSpc>
                        <a:spcBef>
                          <a:spcPts val="0"/>
                        </a:spcBef>
                        <a:spcAft>
                          <a:spcPts val="0"/>
                        </a:spcAft>
                      </a:pPr>
                      <a:r>
                        <a:rPr sz="1550" b="0">
                          <a:solidFill>
                            <a:srgbClr val="183A32"/>
                          </a:solidFill>
                          <a:latin typeface="Arial"/>
                        </a:rPr>
                        <a:t>other property entities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Expansion through corporate consolidation</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2010s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Additional retail and commercial</a:t>
                      </a:r>
                    </a:p>
                    <a:p>
                      <a:pPr>
                        <a:lnSpc>
                          <a:spcPts val="1829"/>
                        </a:lnSpc>
                        <a:spcBef>
                          <a:spcPts val="0"/>
                        </a:spcBef>
                        <a:spcAft>
                          <a:spcPts val="0"/>
                        </a:spcAft>
                      </a:pPr>
                      <a:r>
                        <a:rPr sz="1550" b="0">
                          <a:solidFill>
                            <a:srgbClr val="183A32"/>
                          </a:solidFill>
                          <a:latin typeface="Arial"/>
                        </a:rPr>
                        <a:t>anchors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More reasons to live, work, and visit</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history, 2025 annual report.</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66–67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Milestones and strategic inflection points</a:t>
            </a:r>
          </a:p>
        </p:txBody>
      </p:sp>
      <p:graphicFrame>
        <p:nvGraphicFramePr>
          <p:cNvPr id="11" name="Table 10"/>
          <p:cNvGraphicFramePr>
            <a:graphicFrameLocks noGrp="1"/>
          </p:cNvGraphicFramePr>
          <p:nvPr/>
        </p:nvGraphicFramePr>
        <p:xfrm>
          <a:off x="685800" y="2084831"/>
          <a:ext cx="10789919" cy="109918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Strategic significance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FY2025</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Revenue approximately Rp12.79</a:t>
                      </a:r>
                    </a:p>
                    <a:p>
                      <a:pPr>
                        <a:lnSpc>
                          <a:spcPts val="1829"/>
                        </a:lnSpc>
                        <a:spcBef>
                          <a:spcPts val="0"/>
                        </a:spcBef>
                        <a:spcAft>
                          <a:spcPts val="0"/>
                        </a:spcAft>
                      </a:pPr>
                      <a:r>
                        <a:rPr sz="1550" b="0">
                          <a:solidFill>
                            <a:srgbClr val="183A32"/>
                          </a:solidFill>
                          <a:latin typeface="Arial"/>
                        </a:rPr>
                        <a:t>trillion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Evidence of the scale reached by the consolidated</a:t>
                      </a:r>
                    </a:p>
                    <a:p>
                      <a:pPr>
                        <a:lnSpc>
                          <a:spcPts val="1829"/>
                        </a:lnSpc>
                        <a:spcBef>
                          <a:spcPts val="0"/>
                        </a:spcBef>
                        <a:spcAft>
                          <a:spcPts val="0"/>
                        </a:spcAft>
                      </a:pPr>
                      <a:r>
                        <a:rPr sz="1550" b="0">
                          <a:solidFill>
                            <a:srgbClr val="183A32"/>
                          </a:solidFill>
                          <a:latin typeface="Arial"/>
                        </a:rPr>
                        <a:t>platform</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336689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Growth combined development over time with acquisitions; it was not solely organic sales</a:t>
            </a:r>
          </a:p>
          <a:p>
            <a:pPr>
              <a:lnSpc>
                <a:spcPts val="2196"/>
              </a:lnSpc>
              <a:spcBef>
                <a:spcPts val="0"/>
              </a:spcBef>
              <a:spcAft>
                <a:spcPts val="0"/>
              </a:spcAft>
            </a:pPr>
            <a:r>
              <a:rPr sz="1800" b="0" i="0">
                <a:solidFill>
                  <a:srgbClr val="183A32"/>
                </a:solidFill>
                <a:latin typeface="Times New Roman"/>
              </a:rPr>
              <a:t>growth inside one township.</a:t>
            </a:r>
          </a:p>
        </p:txBody>
      </p:sp>
      <p:sp>
        <p:nvSpPr>
          <p:cNvPr id="13" name="TextBox 1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history, 2025 annual report.</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67–67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Secure a substantial development pipeline.</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Provide infrastructure and credible delivery.</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Introduce residential products for different buyer segments.</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Attract commercial and institutional activity.</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Use an increasingly functional location to support subsequent releases.</a:t>
            </a:r>
          </a:p>
        </p:txBody>
      </p:sp>
      <p:sp>
        <p:nvSpPr>
          <p:cNvPr id="22" name="Rectangle 21"/>
          <p:cNvSpPr/>
          <p:nvPr/>
        </p:nvSpPr>
        <p:spPr>
          <a:xfrm>
            <a:off x="685800" y="47722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468083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6. Reinvest proceeds into development capacity and future inventory.</a:t>
            </a:r>
          </a:p>
        </p:txBody>
      </p:sp>
      <p:sp>
        <p:nvSpPr>
          <p:cNvPr id="24" name="TextBox 23"/>
          <p:cNvSpPr txBox="1"/>
          <p:nvPr/>
        </p:nvSpPr>
        <p:spPr>
          <a:xfrm>
            <a:off x="685800" y="513029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The business can capture value across multiple development phases rather than relying on</a:t>
            </a:r>
          </a:p>
          <a:p>
            <a:pPr>
              <a:lnSpc>
                <a:spcPts val="2196"/>
              </a:lnSpc>
              <a:spcBef>
                <a:spcPts val="0"/>
              </a:spcBef>
              <a:spcAft>
                <a:spcPts val="0"/>
              </a:spcAft>
            </a:pPr>
            <a:r>
              <a:rPr sz="1800" b="0" i="0">
                <a:solidFill>
                  <a:srgbClr val="183A32"/>
                </a:solidFill>
                <a:latin typeface="Times New Roman"/>
              </a:rPr>
              <a:t>one completed building.</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67–67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How the growth model works</a:t>
            </a:r>
          </a:p>
        </p:txBody>
      </p:sp>
      <p:sp>
        <p:nvSpPr>
          <p:cNvPr id="11" name="Rectangle 10"/>
          <p:cNvSpPr/>
          <p:nvPr/>
        </p:nvSpPr>
        <p:spPr>
          <a:xfrm>
            <a:off x="685800" y="2084831"/>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084831"/>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2167127"/>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Important qualification: Amenities consume capital before their benefits are fully realised. Land holdings alone do not create</a:t>
            </a:r>
          </a:p>
          <a:p>
            <a:pPr>
              <a:lnSpc>
                <a:spcPts val="2013"/>
              </a:lnSpc>
              <a:spcBef>
                <a:spcPts val="0"/>
              </a:spcBef>
              <a:spcAft>
                <a:spcPts val="0"/>
              </a:spcAft>
            </a:pPr>
            <a:r>
              <a:rPr sz="1650" b="0" i="0">
                <a:solidFill>
                  <a:srgbClr val="183A32"/>
                </a:solidFill>
                <a:latin typeface="Times New Roman"/>
              </a:rPr>
              <a:t>cash flow.</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67–68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Financial scale and its interpretation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RESULTS,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Rp12.79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Rp2.55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approximately Rp13.80 trillion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attributable profit: approximately Rp4.36 trillion</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WHAT THIS TELLS US</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BSDE has substantial revenue and earnings capacity, but scale does not remove volatility. FY2025 revenue and</a:t>
            </a:r>
          </a:p>
          <a:p>
            <a:pPr>
              <a:lnSpc>
                <a:spcPts val="2196"/>
              </a:lnSpc>
              <a:spcBef>
                <a:spcPts val="0"/>
              </a:spcBef>
              <a:spcAft>
                <a:spcPts val="0"/>
              </a:spcAft>
            </a:pPr>
            <a:r>
              <a:rPr sz="1800" b="0" i="0">
                <a:solidFill>
                  <a:srgbClr val="183A32"/>
                </a:solidFill>
                <a:latin typeface="Times New Roman"/>
              </a:rPr>
              <a:t>attributable profit were lower than FY2024.</a:t>
            </a:r>
          </a:p>
        </p:txBody>
      </p:sp>
      <p:sp>
        <p:nvSpPr>
          <p:cNvPr id="22" name="TextBox 2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BSDE 2025 annual report — financial highlights.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67–68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this does not prove</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figures do not establish that every project is equally profitable or that reported profit converts immediately into</a:t>
            </a:r>
          </a:p>
          <a:p>
            <a:pPr>
              <a:lnSpc>
                <a:spcPts val="2196"/>
              </a:lnSpc>
              <a:spcBef>
                <a:spcPts val="0"/>
              </a:spcBef>
              <a:spcAft>
                <a:spcPts val="0"/>
              </a:spcAft>
            </a:pPr>
            <a:r>
              <a:rPr sz="1800" b="0" i="0">
                <a:solidFill>
                  <a:srgbClr val="183A32"/>
                </a:solidFill>
                <a:latin typeface="Times New Roman"/>
              </a:rPr>
              <a:t>unrestricted cash.</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BSDE 2025 annual report — financial highlights.</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68–69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township platform and group capabilities</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Multiple property products and development phases</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Ability to coordinate land use and amenities</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Substantial infrastructure and land capital requirements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Handover and transaction timing affect annual results</a:t>
            </a:r>
          </a:p>
        </p:txBody>
      </p:sp>
      <p:sp>
        <p:nvSpPr>
          <p:cNvPr id="21" name="TextBox 20"/>
          <p:cNvSpPr txBox="1"/>
          <p:nvPr/>
        </p:nvSpPr>
        <p:spPr>
          <a:xfrm>
            <a:off x="6336792" y="3101086"/>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Large developments require sustained organisational</a:t>
            </a:r>
          </a:p>
          <a:p>
            <a:pPr>
              <a:lnSpc>
                <a:spcPts val="1769"/>
              </a:lnSpc>
              <a:spcBef>
                <a:spcPts val="0"/>
              </a:spcBef>
              <a:spcAft>
                <a:spcPts val="0"/>
              </a:spcAft>
            </a:pPr>
            <a:r>
              <a:rPr sz="1450" b="0" i="0">
                <a:solidFill>
                  <a:srgbClr val="183A32"/>
                </a:solidFill>
                <a:latin typeface="Arial"/>
              </a:rPr>
              <a:t>coordination</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Additional employment, education, and commercial activity</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More productive use of existing infrastructure</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Partnerships that broaden destination functions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Mortgage affordability and weaker purchasing power</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Competing township supply</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Construction-cost, infrastructure, and environmental risks</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69–69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Lessons for TANRISE</a:t>
            </a:r>
          </a:p>
        </p:txBody>
      </p:sp>
      <p:cxnSp>
        <p:nvCxnSpPr>
          <p:cNvPr id="11" name="Connector 10"/>
          <p:cNvCxnSpPr/>
          <p:nvPr/>
        </p:nvCxnSpPr>
        <p:spPr>
          <a:xfrm>
            <a:off x="6062472" y="2084831"/>
            <a:ext cx="0" cy="278377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Give each integrated development a phased</a:t>
            </a:r>
          </a:p>
          <a:p>
            <a:pPr>
              <a:lnSpc>
                <a:spcPts val="2135"/>
              </a:lnSpc>
              <a:spcBef>
                <a:spcPts val="0"/>
              </a:spcBef>
              <a:spcAft>
                <a:spcPts val="0"/>
              </a:spcAft>
            </a:pPr>
            <a:r>
              <a:rPr sz="1750" b="0" i="0">
                <a:solidFill>
                  <a:srgbClr val="183A32"/>
                </a:solidFill>
                <a:latin typeface="Arial"/>
              </a:rPr>
              <a:t>economic plan, not only a masterplan image.</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Connect residential releases to credible access,</a:t>
            </a:r>
          </a:p>
          <a:p>
            <a:pPr>
              <a:lnSpc>
                <a:spcPts val="2135"/>
              </a:lnSpc>
              <a:spcBef>
                <a:spcPts val="0"/>
              </a:spcBef>
              <a:spcAft>
                <a:spcPts val="0"/>
              </a:spcAft>
            </a:pPr>
            <a:r>
              <a:rPr sz="1750" b="0" i="0">
                <a:solidFill>
                  <a:srgbClr val="183A32"/>
                </a:solidFill>
                <a:latin typeface="Arial"/>
              </a:rPr>
              <a:t>services, and employment demand.</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Assess anchors by their contribution to</a:t>
            </a:r>
          </a:p>
          <a:p>
            <a:pPr>
              <a:lnSpc>
                <a:spcPts val="2135"/>
              </a:lnSpc>
              <a:spcBef>
                <a:spcPts val="0"/>
              </a:spcBef>
              <a:spcAft>
                <a:spcPts val="0"/>
              </a:spcAft>
            </a:pPr>
            <a:r>
              <a:rPr sz="1750" b="0" i="0">
                <a:solidFill>
                  <a:srgbClr val="183A32"/>
                </a:solidFill>
                <a:latin typeface="Arial"/>
              </a:rPr>
              <a:t>occupancy and sales, alongside their standalone</a:t>
            </a:r>
          </a:p>
          <a:p>
            <a:pPr>
              <a:lnSpc>
                <a:spcPts val="2135"/>
              </a:lnSpc>
              <a:spcBef>
                <a:spcPts val="0"/>
              </a:spcBef>
              <a:spcAft>
                <a:spcPts val="0"/>
              </a:spcAft>
            </a:pPr>
            <a:r>
              <a:rPr sz="1750" b="0" i="0">
                <a:solidFill>
                  <a:srgbClr val="183A32"/>
                </a:solidFill>
                <a:latin typeface="Arial"/>
              </a:rPr>
              <a:t>economics.</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Maintain a rolling land and launch pipeline.</a:t>
            </a:r>
          </a:p>
        </p:txBody>
      </p:sp>
      <p:sp>
        <p:nvSpPr>
          <p:cNvPr id="21" name="Rectangle 20"/>
          <p:cNvSpPr/>
          <p:nvPr/>
        </p:nvSpPr>
        <p:spPr>
          <a:xfrm>
            <a:off x="6400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53428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Evaluate acquisitions separately from organic</a:t>
            </a:r>
          </a:p>
          <a:p>
            <a:pPr>
              <a:lnSpc>
                <a:spcPts val="2135"/>
              </a:lnSpc>
              <a:spcBef>
                <a:spcPts val="0"/>
              </a:spcBef>
              <a:spcAft>
                <a:spcPts val="0"/>
              </a:spcAft>
            </a:pPr>
            <a:r>
              <a:rPr sz="1750" b="0" i="0">
                <a:solidFill>
                  <a:srgbClr val="183A32"/>
                </a:solidFill>
                <a:latin typeface="Arial"/>
              </a:rPr>
              <a:t>operating performance.</a:t>
            </a:r>
          </a:p>
        </p:txBody>
      </p:sp>
      <p:sp>
        <p:nvSpPr>
          <p:cNvPr id="23" name="Rectangle 22"/>
          <p:cNvSpPr/>
          <p:nvPr/>
        </p:nvSpPr>
        <p:spPr>
          <a:xfrm>
            <a:off x="6400800" y="3254883"/>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3254883"/>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3337179"/>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The scale of BSD’s</a:t>
            </a:r>
          </a:p>
          <a:p>
            <a:pPr>
              <a:lnSpc>
                <a:spcPts val="2013"/>
              </a:lnSpc>
              <a:spcBef>
                <a:spcPts val="0"/>
              </a:spcBef>
              <a:spcAft>
                <a:spcPts val="0"/>
              </a:spcAft>
            </a:pPr>
            <a:r>
              <a:rPr sz="1650" b="0" i="0">
                <a:solidFill>
                  <a:srgbClr val="183A32"/>
                </a:solidFill>
                <a:latin typeface="Times New Roman"/>
              </a:rPr>
              <a:t>infrastructure expenditure or the breadth of its portfolio.</a:t>
            </a:r>
          </a:p>
        </p:txBody>
      </p:sp>
      <p:sp>
        <p:nvSpPr>
          <p:cNvPr id="26" name="Rectangle 25"/>
          <p:cNvSpPr/>
          <p:nvPr/>
        </p:nvSpPr>
        <p:spPr>
          <a:xfrm>
            <a:off x="6400800" y="4081271"/>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4081271"/>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4163567"/>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Prepare one TANRISE project’s ten-year land,</a:t>
            </a:r>
          </a:p>
          <a:p>
            <a:pPr>
              <a:lnSpc>
                <a:spcPts val="2013"/>
              </a:lnSpc>
              <a:spcBef>
                <a:spcPts val="0"/>
              </a:spcBef>
              <a:spcAft>
                <a:spcPts val="0"/>
              </a:spcAft>
            </a:pPr>
            <a:r>
              <a:rPr sz="1650" b="0" i="0">
                <a:solidFill>
                  <a:srgbClr val="183A32"/>
                </a:solidFill>
                <a:latin typeface="Times New Roman"/>
              </a:rPr>
              <a:t>infrastructure, launch, collection, and funding schedule.</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70–70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Company background and 5W1H</a:t>
            </a:r>
          </a:p>
        </p:txBody>
      </p:sp>
      <p:cxnSp>
        <p:nvCxnSpPr>
          <p:cNvPr id="11" name="Connector 10"/>
          <p:cNvCxnSpPr/>
          <p:nvPr/>
        </p:nvCxnSpPr>
        <p:spPr>
          <a:xfrm>
            <a:off x="6062472" y="2084831"/>
            <a:ext cx="0" cy="320002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Lippo Karawaci Tbk, a listed property</a:t>
            </a:r>
          </a:p>
          <a:p>
            <a:pPr>
              <a:lnSpc>
                <a:spcPts val="2135"/>
              </a:lnSpc>
              <a:spcBef>
                <a:spcPts val="0"/>
              </a:spcBef>
              <a:spcAft>
                <a:spcPts val="0"/>
              </a:spcAft>
            </a:pPr>
            <a:r>
              <a:rPr sz="1750" b="0" i="0">
                <a:solidFill>
                  <a:srgbClr val="183A32"/>
                </a:solidFill>
                <a:latin typeface="Arial"/>
              </a:rPr>
              <a:t>platform associated with the broader Lippo</a:t>
            </a:r>
          </a:p>
          <a:p>
            <a:pPr>
              <a:lnSpc>
                <a:spcPts val="2135"/>
              </a:lnSpc>
              <a:spcBef>
                <a:spcPts val="0"/>
              </a:spcBef>
              <a:spcAft>
                <a:spcPts val="0"/>
              </a:spcAft>
            </a:pPr>
            <a:r>
              <a:rPr sz="1750" b="0" i="0">
                <a:solidFill>
                  <a:srgbClr val="183A32"/>
                </a:solidFill>
                <a:latin typeface="Arial"/>
              </a:rPr>
              <a:t>Group.</a:t>
            </a:r>
          </a:p>
        </p:txBody>
      </p:sp>
      <p:sp>
        <p:nvSpPr>
          <p:cNvPr id="14" name="Rectangle 13"/>
          <p:cNvSpPr/>
          <p:nvPr/>
        </p:nvSpPr>
        <p:spPr>
          <a:xfrm>
            <a:off x="685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076574"/>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Property development and asset-related</a:t>
            </a:r>
          </a:p>
          <a:p>
            <a:pPr>
              <a:lnSpc>
                <a:spcPts val="2135"/>
              </a:lnSpc>
              <a:spcBef>
                <a:spcPts val="0"/>
              </a:spcBef>
              <a:spcAft>
                <a:spcPts val="0"/>
              </a:spcAft>
            </a:pPr>
            <a:r>
              <a:rPr sz="1750" b="0" i="0">
                <a:solidFill>
                  <a:srgbClr val="183A32"/>
                </a:solidFill>
                <a:latin typeface="Arial"/>
              </a:rPr>
              <a:t>businesses, with a portfolio shaped by major</a:t>
            </a:r>
          </a:p>
          <a:p>
            <a:pPr>
              <a:lnSpc>
                <a:spcPts val="2135"/>
              </a:lnSpc>
              <a:spcBef>
                <a:spcPts val="0"/>
              </a:spcBef>
              <a:spcAft>
                <a:spcPts val="0"/>
              </a:spcAft>
            </a:pPr>
            <a:r>
              <a:rPr sz="1750" b="0" i="0">
                <a:solidFill>
                  <a:srgbClr val="183A32"/>
                </a:solidFill>
                <a:latin typeface="Arial"/>
              </a:rPr>
              <a:t>corporate transactions.</a:t>
            </a:r>
          </a:p>
        </p:txBody>
      </p:sp>
      <p:sp>
        <p:nvSpPr>
          <p:cNvPr id="16" name="Rectangle 15"/>
          <p:cNvSpPr/>
          <p:nvPr/>
        </p:nvSpPr>
        <p:spPr>
          <a:xfrm>
            <a:off x="685800" y="415975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068318"/>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Established township markets include</a:t>
            </a:r>
          </a:p>
          <a:p>
            <a:pPr>
              <a:lnSpc>
                <a:spcPts val="2135"/>
              </a:lnSpc>
              <a:spcBef>
                <a:spcPts val="0"/>
              </a:spcBef>
              <a:spcAft>
                <a:spcPts val="0"/>
              </a:spcAft>
            </a:pPr>
            <a:r>
              <a:rPr sz="1750" b="0" i="0">
                <a:solidFill>
                  <a:srgbClr val="183A32"/>
                </a:solidFill>
                <a:latin typeface="Arial"/>
              </a:rPr>
              <a:t>Lippo Village and Lippo Cikarang, alongside other</a:t>
            </a:r>
          </a:p>
          <a:p>
            <a:pPr>
              <a:lnSpc>
                <a:spcPts val="2135"/>
              </a:lnSpc>
              <a:spcBef>
                <a:spcPts val="0"/>
              </a:spcBef>
              <a:spcAft>
                <a:spcPts val="0"/>
              </a:spcAft>
            </a:pPr>
            <a:r>
              <a:rPr sz="1750" b="0" i="0">
                <a:solidFill>
                  <a:srgbClr val="183A32"/>
                </a:solidFill>
                <a:latin typeface="Arial"/>
              </a:rPr>
              <a:t>locations.</a:t>
            </a:r>
          </a:p>
        </p:txBody>
      </p:sp>
      <p:sp>
        <p:nvSpPr>
          <p:cNvPr id="18" name="Rectangle 17"/>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Incorporated in 1990 under its original</a:t>
            </a:r>
          </a:p>
          <a:p>
            <a:pPr>
              <a:lnSpc>
                <a:spcPts val="2135"/>
              </a:lnSpc>
              <a:spcBef>
                <a:spcPts val="0"/>
              </a:spcBef>
              <a:spcAft>
                <a:spcPts val="0"/>
              </a:spcAft>
            </a:pPr>
            <a:r>
              <a:rPr sz="1750" b="0" i="0">
                <a:solidFill>
                  <a:srgbClr val="183A32"/>
                </a:solidFill>
                <a:latin typeface="Arial"/>
              </a:rPr>
              <a:t>corporate name.</a:t>
            </a:r>
          </a:p>
        </p:txBody>
      </p:sp>
      <p:sp>
        <p:nvSpPr>
          <p:cNvPr id="20" name="Rectangle 19"/>
          <p:cNvSpPr/>
          <p:nvPr/>
        </p:nvSpPr>
        <p:spPr>
          <a:xfrm>
            <a:off x="6400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805430"/>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The Lippo business-group</a:t>
            </a:r>
          </a:p>
          <a:p>
            <a:pPr>
              <a:lnSpc>
                <a:spcPts val="2135"/>
              </a:lnSpc>
              <a:spcBef>
                <a:spcPts val="0"/>
              </a:spcBef>
              <a:spcAft>
                <a:spcPts val="0"/>
              </a:spcAft>
            </a:pPr>
            <a:r>
              <a:rPr sz="1750" b="0" i="0">
                <a:solidFill>
                  <a:srgbClr val="183A32"/>
                </a:solidFill>
                <a:latin typeface="Arial"/>
              </a:rPr>
              <a:t>legacy associated with Mochtar Riady; issuer</a:t>
            </a:r>
          </a:p>
          <a:p>
            <a:pPr>
              <a:lnSpc>
                <a:spcPts val="2135"/>
              </a:lnSpc>
              <a:spcBef>
                <a:spcPts val="0"/>
              </a:spcBef>
              <a:spcAft>
                <a:spcPts val="0"/>
              </a:spcAft>
            </a:pPr>
            <a:r>
              <a:rPr sz="1750" b="0" i="0">
                <a:solidFill>
                  <a:srgbClr val="183A32"/>
                </a:solidFill>
                <a:latin typeface="Arial"/>
              </a:rPr>
              <a:t>management and ownership must be</a:t>
            </a:r>
          </a:p>
          <a:p>
            <a:pPr>
              <a:lnSpc>
                <a:spcPts val="2135"/>
              </a:lnSpc>
              <a:spcBef>
                <a:spcPts val="0"/>
              </a:spcBef>
              <a:spcAft>
                <a:spcPts val="0"/>
              </a:spcAft>
            </a:pPr>
            <a:r>
              <a:rPr sz="1750" b="0" i="0">
                <a:solidFill>
                  <a:srgbClr val="183A32"/>
                </a:solidFill>
                <a:latin typeface="Arial"/>
              </a:rPr>
              <a:t>distinguished from the broader family group.</a:t>
            </a:r>
          </a:p>
        </p:txBody>
      </p:sp>
      <p:sp>
        <p:nvSpPr>
          <p:cNvPr id="22" name="Rectangle 21"/>
          <p:cNvSpPr/>
          <p:nvPr/>
        </p:nvSpPr>
        <p:spPr>
          <a:xfrm>
            <a:off x="6400800" y="415975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4068318"/>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Build</a:t>
            </a:r>
          </a:p>
          <a:p>
            <a:pPr>
              <a:lnSpc>
                <a:spcPts val="2135"/>
              </a:lnSpc>
              <a:spcBef>
                <a:spcPts val="0"/>
              </a:spcBef>
              <a:spcAft>
                <a:spcPts val="0"/>
              </a:spcAft>
            </a:pPr>
            <a:r>
              <a:rPr sz="1750" b="0" i="0">
                <a:solidFill>
                  <a:srgbClr val="183A32"/>
                </a:solidFill>
                <a:latin typeface="Arial"/>
              </a:rPr>
              <a:t>residential demand through integrated urban</a:t>
            </a:r>
          </a:p>
          <a:p>
            <a:pPr>
              <a:lnSpc>
                <a:spcPts val="2135"/>
              </a:lnSpc>
              <a:spcBef>
                <a:spcPts val="0"/>
              </a:spcBef>
              <a:spcAft>
                <a:spcPts val="0"/>
              </a:spcAft>
            </a:pPr>
            <a:r>
              <a:rPr sz="1750" b="0" i="0">
                <a:solidFill>
                  <a:srgbClr val="183A32"/>
                </a:solidFill>
                <a:latin typeface="Arial"/>
              </a:rPr>
              <a:t>services, then adapt product and capital</a:t>
            </a:r>
          </a:p>
          <a:p>
            <a:pPr>
              <a:lnSpc>
                <a:spcPts val="2135"/>
              </a:lnSpc>
              <a:spcBef>
                <a:spcPts val="0"/>
              </a:spcBef>
              <a:spcAft>
                <a:spcPts val="0"/>
              </a:spcAft>
            </a:pPr>
            <a:r>
              <a:rPr sz="1750" b="0" i="0">
                <a:solidFill>
                  <a:srgbClr val="183A32"/>
                </a:solidFill>
                <a:latin typeface="Arial"/>
              </a:rPr>
              <a:t>allocation as market conditions change.</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corporate disclosure, annual reports.</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70–70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Growth and portfolio reset</a:t>
            </a:r>
          </a:p>
        </p:txBody>
      </p:sp>
      <p:cxnSp>
        <p:nvCxnSpPr>
          <p:cNvPr id="11" name="Connector 10"/>
          <p:cNvCxnSpPr/>
          <p:nvPr/>
        </p:nvCxnSpPr>
        <p:spPr>
          <a:xfrm>
            <a:off x="6062472" y="2084831"/>
            <a:ext cx="0" cy="340518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MILESTONE SEQUENCE</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1990: Incorporation of the issuer’s predecessor.</a:t>
            </a:r>
          </a:p>
        </p:txBody>
      </p:sp>
      <p:sp>
        <p:nvSpPr>
          <p:cNvPr id="15" name="Rectangle 14"/>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883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Subsequent decades: Expansion of township and</a:t>
            </a:r>
          </a:p>
          <a:p>
            <a:pPr>
              <a:lnSpc>
                <a:spcPts val="2135"/>
              </a:lnSpc>
              <a:spcBef>
                <a:spcPts val="0"/>
              </a:spcBef>
              <a:spcAft>
                <a:spcPts val="0"/>
              </a:spcAft>
            </a:pPr>
            <a:r>
              <a:rPr sz="1750" b="0" i="0">
                <a:solidFill>
                  <a:srgbClr val="183A32"/>
                </a:solidFill>
                <a:latin typeface="Arial"/>
              </a:rPr>
              <a:t>associated urban-service businesses.</a:t>
            </a:r>
          </a:p>
        </p:txBody>
      </p:sp>
      <p:sp>
        <p:nvSpPr>
          <p:cNvPr id="17" name="Rectangle 16"/>
          <p:cNvSpPr/>
          <p:nvPr/>
        </p:nvSpPr>
        <p:spPr>
          <a:xfrm>
            <a:off x="685800" y="369506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60362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Diversification period: Healthcare became an</a:t>
            </a:r>
          </a:p>
          <a:p>
            <a:pPr>
              <a:lnSpc>
                <a:spcPts val="2135"/>
              </a:lnSpc>
              <a:spcBef>
                <a:spcPts val="0"/>
              </a:spcBef>
              <a:spcAft>
                <a:spcPts val="0"/>
              </a:spcAft>
            </a:pPr>
            <a:r>
              <a:rPr sz="1750" b="0" i="0">
                <a:solidFill>
                  <a:srgbClr val="183A32"/>
                </a:solidFill>
                <a:latin typeface="Arial"/>
              </a:rPr>
              <a:t>important part of the historical consolidated</a:t>
            </a:r>
          </a:p>
          <a:p>
            <a:pPr>
              <a:lnSpc>
                <a:spcPts val="2135"/>
              </a:lnSpc>
              <a:spcBef>
                <a:spcPts val="0"/>
              </a:spcBef>
              <a:spcAft>
                <a:spcPts val="0"/>
              </a:spcAft>
            </a:pPr>
            <a:r>
              <a:rPr sz="1750" b="0" i="0">
                <a:solidFill>
                  <a:srgbClr val="183A32"/>
                </a:solidFill>
                <a:latin typeface="Arial"/>
              </a:rPr>
              <a:t>portfolio.</a:t>
            </a:r>
          </a:p>
        </p:txBody>
      </p:sp>
      <p:sp>
        <p:nvSpPr>
          <p:cNvPr id="19" name="Rectangle 18"/>
          <p:cNvSpPr/>
          <p:nvPr/>
        </p:nvSpPr>
        <p:spPr>
          <a:xfrm>
            <a:off x="685800" y="468680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2024: Siloam-related divestment and</a:t>
            </a:r>
          </a:p>
          <a:p>
            <a:pPr>
              <a:lnSpc>
                <a:spcPts val="2135"/>
              </a:lnSpc>
              <a:spcBef>
                <a:spcPts val="0"/>
              </a:spcBef>
              <a:spcAft>
                <a:spcPts val="0"/>
              </a:spcAft>
            </a:pPr>
            <a:r>
              <a:rPr sz="1750" b="0" i="0">
                <a:solidFill>
                  <a:srgbClr val="183A32"/>
                </a:solidFill>
                <a:latin typeface="Arial"/>
              </a:rPr>
              <a:t>deconsolidation changed the earnings and</a:t>
            </a:r>
          </a:p>
          <a:p>
            <a:pPr>
              <a:lnSpc>
                <a:spcPts val="2135"/>
              </a:lnSpc>
              <a:spcBef>
                <a:spcPts val="0"/>
              </a:spcBef>
              <a:spcAft>
                <a:spcPts val="0"/>
              </a:spcAft>
            </a:pPr>
            <a:r>
              <a:rPr sz="1750" b="0" i="0">
                <a:solidFill>
                  <a:srgbClr val="183A32"/>
                </a:solidFill>
                <a:latin typeface="Arial"/>
              </a:rPr>
              <a:t>revenue comparison.</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2025–2026: Greater emphasis on property</a:t>
            </a:r>
          </a:p>
          <a:p>
            <a:pPr>
              <a:lnSpc>
                <a:spcPts val="2135"/>
              </a:lnSpc>
              <a:spcBef>
                <a:spcPts val="0"/>
              </a:spcBef>
              <a:spcAft>
                <a:spcPts val="0"/>
              </a:spcAft>
            </a:pPr>
            <a:r>
              <a:rPr sz="1750" b="0" i="0">
                <a:solidFill>
                  <a:srgbClr val="183A32"/>
                </a:solidFill>
                <a:latin typeface="Arial"/>
              </a:rPr>
              <a:t>execution, capital discipline, and portfolio</a:t>
            </a:r>
          </a:p>
          <a:p>
            <a:pPr>
              <a:lnSpc>
                <a:spcPts val="2135"/>
              </a:lnSpc>
              <a:spcBef>
                <a:spcPts val="0"/>
              </a:spcBef>
              <a:spcAft>
                <a:spcPts val="0"/>
              </a:spcAft>
            </a:pPr>
            <a:r>
              <a:rPr sz="1750" b="0" i="0">
                <a:solidFill>
                  <a:srgbClr val="183A32"/>
                </a:solidFill>
                <a:latin typeface="Arial"/>
              </a:rPr>
              <a:t>optimisation.</a:t>
            </a:r>
          </a:p>
        </p:txBody>
      </p:sp>
      <p:sp>
        <p:nvSpPr>
          <p:cNvPr id="23" name="Rectangle 22"/>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May 2026: Indra Yuwana appointed President</a:t>
            </a:r>
          </a:p>
          <a:p>
            <a:pPr>
              <a:lnSpc>
                <a:spcPts val="2135"/>
              </a:lnSpc>
              <a:spcBef>
                <a:spcPts val="0"/>
              </a:spcBef>
              <a:spcAft>
                <a:spcPts val="0"/>
              </a:spcAft>
            </a:pPr>
            <a:r>
              <a:rPr sz="1750" b="0" i="0">
                <a:solidFill>
                  <a:srgbClr val="183A32"/>
                </a:solidFill>
                <a:latin typeface="Arial"/>
              </a:rPr>
              <a:t>Director.</a:t>
            </a:r>
          </a:p>
        </p:txBody>
      </p:sp>
      <p:sp>
        <p:nvSpPr>
          <p:cNvPr id="25" name="TextBox 24"/>
          <p:cNvSpPr txBox="1"/>
          <p:nvPr/>
        </p:nvSpPr>
        <p:spPr>
          <a:xfrm>
            <a:off x="6400800" y="379717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Lippo is a case study in both</a:t>
            </a:r>
          </a:p>
          <a:p>
            <a:pPr>
              <a:lnSpc>
                <a:spcPts val="2196"/>
              </a:lnSpc>
              <a:spcBef>
                <a:spcPts val="0"/>
              </a:spcBef>
              <a:spcAft>
                <a:spcPts val="0"/>
              </a:spcAft>
            </a:pPr>
            <a:r>
              <a:rPr sz="1800" b="0" i="0">
                <a:solidFill>
                  <a:srgbClr val="183A32"/>
                </a:solidFill>
                <a:latin typeface="Times New Roman"/>
              </a:rPr>
              <a:t>ecosystem development and the need to simplify or</a:t>
            </a:r>
          </a:p>
          <a:p>
            <a:pPr>
              <a:lnSpc>
                <a:spcPts val="2196"/>
              </a:lnSpc>
              <a:spcBef>
                <a:spcPts val="0"/>
              </a:spcBef>
              <a:spcAft>
                <a:spcPts val="0"/>
              </a:spcAft>
            </a:pPr>
            <a:r>
              <a:rPr sz="1800" b="0" i="0">
                <a:solidFill>
                  <a:srgbClr val="183A32"/>
                </a:solidFill>
                <a:latin typeface="Times New Roman"/>
              </a:rPr>
              <a:t>reset a complex portfolio.</a:t>
            </a:r>
          </a:p>
        </p:txBody>
      </p:sp>
      <p:sp>
        <p:nvSpPr>
          <p:cNvPr id="26" name="TextBox 25"/>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Siloam transaction disclosure, 2026 AGM announcement.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71–71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historical model sought to make large residential locations more attractive by combining housing with supporting</a:t>
            </a:r>
          </a:p>
          <a:p>
            <a:pPr>
              <a:lnSpc>
                <a:spcPts val="2196"/>
              </a:lnSpc>
              <a:spcBef>
                <a:spcPts val="0"/>
              </a:spcBef>
              <a:spcAft>
                <a:spcPts val="0"/>
              </a:spcAft>
            </a:pPr>
            <a:r>
              <a:rPr sz="1800" b="0" i="0">
                <a:solidFill>
                  <a:srgbClr val="183A32"/>
                </a:solidFill>
                <a:latin typeface="Times New Roman"/>
              </a:rPr>
              <a:t>urban functions.</a:t>
            </a:r>
          </a:p>
        </p:txBody>
      </p:sp>
      <p:sp>
        <p:nvSpPr>
          <p:cNvPr id="13" name="TextBox 12"/>
          <p:cNvSpPr txBox="1"/>
          <p:nvPr/>
        </p:nvSpPr>
        <p:spPr>
          <a:xfrm>
            <a:off x="685800" y="316966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operating challenge is to match three things:</a:t>
            </a:r>
          </a:p>
        </p:txBody>
      </p:sp>
      <p:sp>
        <p:nvSpPr>
          <p:cNvPr id="14" name="Rectangle 13"/>
          <p:cNvSpPr/>
          <p:nvPr/>
        </p:nvSpPr>
        <p:spPr>
          <a:xfrm>
            <a:off x="685800" y="371830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62686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Products that households can afford.</a:t>
            </a:r>
          </a:p>
        </p:txBody>
      </p:sp>
      <p:sp>
        <p:nvSpPr>
          <p:cNvPr id="16" name="Rectangle 15"/>
          <p:cNvSpPr/>
          <p:nvPr/>
        </p:nvSpPr>
        <p:spPr>
          <a:xfrm>
            <a:off x="685800" y="416775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07631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Construction and handover capacity.</a:t>
            </a:r>
          </a:p>
        </p:txBody>
      </p:sp>
      <p:sp>
        <p:nvSpPr>
          <p:cNvPr id="18" name="Rectangle 17"/>
          <p:cNvSpPr/>
          <p:nvPr/>
        </p:nvSpPr>
        <p:spPr>
          <a:xfrm>
            <a:off x="685800" y="46172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52577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Funding that remains available throughout development.</a:t>
            </a:r>
          </a:p>
        </p:txBody>
      </p:sp>
      <p:sp>
        <p:nvSpPr>
          <p:cNvPr id="20" name="TextBox 19"/>
          <p:cNvSpPr txBox="1"/>
          <p:nvPr/>
        </p:nvSpPr>
        <p:spPr>
          <a:xfrm>
            <a:off x="685800" y="4975225"/>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Existing township infrastructure and customer recognition can support repeat launches.</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71–71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How the growth model works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tension: A broad ecosystem can increase demand, but owning too many different businesses can also</a:t>
            </a:r>
          </a:p>
          <a:p>
            <a:pPr>
              <a:lnSpc>
                <a:spcPts val="2196"/>
              </a:lnSpc>
              <a:spcBef>
                <a:spcPts val="0"/>
              </a:spcBef>
              <a:spcAft>
                <a:spcPts val="0"/>
              </a:spcAft>
            </a:pPr>
            <a:r>
              <a:rPr sz="1800" b="0" i="0">
                <a:solidFill>
                  <a:srgbClr val="183A32"/>
                </a:solidFill>
                <a:latin typeface="Times New Roman"/>
              </a:rPr>
              <a:t>increase capital requirements and management complexity.</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71–72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Financial comparison requires adjustment</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Headline revenue: Rp9.03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after final tax: Rp8.84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Rp470 billion</a:t>
            </a:r>
          </a:p>
        </p:txBody>
      </p:sp>
      <p:sp>
        <p:nvSpPr>
          <p:cNvPr id="18" name="Rectangle 17"/>
          <p:cNvSpPr/>
          <p:nvPr/>
        </p:nvSpPr>
        <p:spPr>
          <a:xfrm>
            <a:off x="685800" y="3781932"/>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3781932"/>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 y="3864228"/>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interpretation</a:t>
            </a:r>
          </a:p>
        </p:txBody>
      </p:sp>
      <p:sp>
        <p:nvSpPr>
          <p:cNvPr id="21" name="TextBox 20"/>
          <p:cNvSpPr txBox="1"/>
          <p:nvPr/>
        </p:nvSpPr>
        <p:spPr>
          <a:xfrm>
            <a:off x="685800" y="4350575"/>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FY2024 contained significant effects associated with the Siloam transaction. A simple profit-growth comparison</a:t>
            </a:r>
          </a:p>
          <a:p>
            <a:pPr>
              <a:lnSpc>
                <a:spcPts val="2196"/>
              </a:lnSpc>
              <a:spcBef>
                <a:spcPts val="0"/>
              </a:spcBef>
              <a:spcAft>
                <a:spcPts val="0"/>
              </a:spcAft>
            </a:pPr>
            <a:r>
              <a:rPr sz="1800" b="0" i="0">
                <a:solidFill>
                  <a:srgbClr val="183A32"/>
                </a:solidFill>
                <a:latin typeface="Times New Roman"/>
              </a:rPr>
              <a:t>would give a misleading picture of recurring property performance.</a:t>
            </a:r>
          </a:p>
        </p:txBody>
      </p:sp>
      <p:sp>
        <p:nvSpPr>
          <p:cNvPr id="22" name="TextBox 21"/>
          <p:cNvSpPr txBox="1"/>
          <p:nvPr/>
        </p:nvSpPr>
        <p:spPr>
          <a:xfrm>
            <a:off x="685800" y="5114099"/>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QUESTIONS TO EXAMINE SEPARATELY</a:t>
            </a:r>
          </a:p>
        </p:txBody>
      </p:sp>
      <p:sp>
        <p:nvSpPr>
          <p:cNvPr id="23" name="Rectangle 22"/>
          <p:cNvSpPr/>
          <p:nvPr/>
        </p:nvSpPr>
        <p:spPr>
          <a:xfrm>
            <a:off x="685800" y="552684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543540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Continuing property revenue and margins.</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results announcement, financial-report repository.</a:t>
            </a:r>
          </a:p>
        </p:txBody>
      </p:sp>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71–72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Financial comparison requires adjustment</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Cash collections and construction obligations.</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Financing expense and debt maturity.</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Disposal proceeds versus repeatable operating cash flow.</a:t>
            </a:r>
          </a:p>
        </p:txBody>
      </p:sp>
      <p:sp>
        <p:nvSpPr>
          <p:cNvPr id="17" name="TextBox 16"/>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results announcement, financial-report repository.</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72–73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township locations and market recognition</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Experience serving multiple residential segments</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Existing development infrastructure</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Legacy portfolio complexity</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Financing costs can constrain operating flexibility</a:t>
            </a:r>
          </a:p>
        </p:txBody>
      </p:sp>
      <p:sp>
        <p:nvSpPr>
          <p:cNvPr id="21" name="TextBox 20"/>
          <p:cNvSpPr txBox="1"/>
          <p:nvPr/>
        </p:nvSpPr>
        <p:spPr>
          <a:xfrm>
            <a:off x="6336792" y="3101086"/>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Corporate transactions complicate performance</a:t>
            </a:r>
          </a:p>
          <a:p>
            <a:pPr>
              <a:lnSpc>
                <a:spcPts val="1769"/>
              </a:lnSpc>
              <a:spcBef>
                <a:spcPts val="0"/>
              </a:spcBef>
              <a:spcAft>
                <a:spcPts val="0"/>
              </a:spcAft>
            </a:pPr>
            <a:r>
              <a:rPr sz="1450" b="0" i="0">
                <a:solidFill>
                  <a:srgbClr val="183A32"/>
                </a:solidFill>
                <a:latin typeface="Arial"/>
              </a:rPr>
              <a:t>assessment</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More affordable, clearly segmented residential products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Monetisation of underproductive assets</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Simpler portfolio and stronger cash discipline</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Mortgage rejection, cancellations, and affordability pressure</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Competition from other suburban developers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Refinancing, construction-cost, and execution risks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73–73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Lessons for TANRISE</a:t>
            </a:r>
          </a:p>
        </p:txBody>
      </p:sp>
      <p:cxnSp>
        <p:nvCxnSpPr>
          <p:cNvPr id="11" name="Connector 10"/>
          <p:cNvCxnSpPr/>
          <p:nvPr/>
        </p:nvCxnSpPr>
        <p:spPr>
          <a:xfrm>
            <a:off x="6062472" y="2084831"/>
            <a:ext cx="0" cy="340518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Treat affordability as a complete</a:t>
            </a:r>
          </a:p>
          <a:p>
            <a:pPr>
              <a:lnSpc>
                <a:spcPts val="2135"/>
              </a:lnSpc>
              <a:spcBef>
                <a:spcPts val="0"/>
              </a:spcBef>
              <a:spcAft>
                <a:spcPts val="0"/>
              </a:spcAft>
            </a:pPr>
            <a:r>
              <a:rPr sz="1750" b="0" i="0">
                <a:solidFill>
                  <a:srgbClr val="183A32"/>
                </a:solidFill>
                <a:latin typeface="Arial"/>
              </a:rPr>
              <a:t>household-payment equation.</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Track bookings, mortgage approvals,</a:t>
            </a:r>
          </a:p>
          <a:p>
            <a:pPr>
              <a:lnSpc>
                <a:spcPts val="2135"/>
              </a:lnSpc>
              <a:spcBef>
                <a:spcPts val="0"/>
              </a:spcBef>
              <a:spcAft>
                <a:spcPts val="0"/>
              </a:spcAft>
            </a:pPr>
            <a:r>
              <a:rPr sz="1750" b="0" i="0">
                <a:solidFill>
                  <a:srgbClr val="183A32"/>
                </a:solidFill>
                <a:latin typeface="Arial"/>
              </a:rPr>
              <a:t>cancellations, collections, and handovers</a:t>
            </a:r>
          </a:p>
          <a:p>
            <a:pPr>
              <a:lnSpc>
                <a:spcPts val="2135"/>
              </a:lnSpc>
              <a:spcBef>
                <a:spcPts val="0"/>
              </a:spcBef>
              <a:spcAft>
                <a:spcPts val="0"/>
              </a:spcAft>
            </a:pPr>
            <a:r>
              <a:rPr sz="1750" b="0" i="0">
                <a:solidFill>
                  <a:srgbClr val="183A32"/>
                </a:solidFill>
                <a:latin typeface="Arial"/>
              </a:rPr>
              <a:t>separately.</a:t>
            </a:r>
          </a:p>
        </p:txBody>
      </p:sp>
      <p:sp>
        <p:nvSpPr>
          <p:cNvPr id="17" name="Rectangle 16"/>
          <p:cNvSpPr/>
          <p:nvPr/>
        </p:nvSpPr>
        <p:spPr>
          <a:xfrm>
            <a:off x="685800" y="423735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414591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Measure the capital and management burden of</a:t>
            </a:r>
          </a:p>
          <a:p>
            <a:pPr>
              <a:lnSpc>
                <a:spcPts val="2135"/>
              </a:lnSpc>
              <a:spcBef>
                <a:spcPts val="0"/>
              </a:spcBef>
              <a:spcAft>
                <a:spcPts val="0"/>
              </a:spcAft>
            </a:pPr>
            <a:r>
              <a:rPr sz="1750" b="0" i="0">
                <a:solidFill>
                  <a:srgbClr val="183A32"/>
                </a:solidFill>
                <a:latin typeface="Arial"/>
              </a:rPr>
              <a:t>each additional business line.</a:t>
            </a:r>
          </a:p>
        </p:txBody>
      </p:sp>
      <p:sp>
        <p:nvSpPr>
          <p:cNvPr id="19" name="Rectangle 18"/>
          <p:cNvSpPr/>
          <p:nvPr/>
        </p:nvSpPr>
        <p:spPr>
          <a:xfrm>
            <a:off x="685800" y="495795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866513"/>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Distinguish asset-sale gains from repeatable</a:t>
            </a:r>
          </a:p>
          <a:p>
            <a:pPr>
              <a:lnSpc>
                <a:spcPts val="2135"/>
              </a:lnSpc>
              <a:spcBef>
                <a:spcPts val="0"/>
              </a:spcBef>
              <a:spcAft>
                <a:spcPts val="0"/>
              </a:spcAft>
            </a:pPr>
            <a:r>
              <a:rPr sz="1750" b="0" i="0">
                <a:solidFill>
                  <a:srgbClr val="183A32"/>
                </a:solidFill>
                <a:latin typeface="Arial"/>
              </a:rPr>
              <a:t>development earnings.</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Use portfolio simplification when it releases</a:t>
            </a:r>
          </a:p>
          <a:p>
            <a:pPr>
              <a:lnSpc>
                <a:spcPts val="2135"/>
              </a:lnSpc>
              <a:spcBef>
                <a:spcPts val="0"/>
              </a:spcBef>
              <a:spcAft>
                <a:spcPts val="0"/>
              </a:spcAft>
            </a:pPr>
            <a:r>
              <a:rPr sz="1750" b="0" i="0">
                <a:solidFill>
                  <a:srgbClr val="183A32"/>
                </a:solidFill>
                <a:latin typeface="Arial"/>
              </a:rPr>
              <a:t>capital for stronger growth engines.</a:t>
            </a:r>
          </a:p>
        </p:txBody>
      </p:sp>
      <p:sp>
        <p:nvSpPr>
          <p:cNvPr id="23" name="Rectangle 22"/>
          <p:cNvSpPr/>
          <p:nvPr/>
        </p:nvSpPr>
        <p:spPr>
          <a:xfrm>
            <a:off x="6400800" y="2805430"/>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Broad diversification</a:t>
            </a:r>
          </a:p>
          <a:p>
            <a:pPr>
              <a:lnSpc>
                <a:spcPts val="2013"/>
              </a:lnSpc>
              <a:spcBef>
                <a:spcPts val="0"/>
              </a:spcBef>
              <a:spcAft>
                <a:spcPts val="0"/>
              </a:spcAft>
            </a:pPr>
            <a:r>
              <a:rPr sz="1650" b="0" i="0">
                <a:solidFill>
                  <a:srgbClr val="183A32"/>
                </a:solidFill>
                <a:latin typeface="Times New Roman"/>
              </a:rPr>
              <a:t>justified only by the appeal of an “integrated ecosystem.”</a:t>
            </a:r>
          </a:p>
        </p:txBody>
      </p:sp>
      <p:sp>
        <p:nvSpPr>
          <p:cNvPr id="26" name="Rectangle 25"/>
          <p:cNvSpPr/>
          <p:nvPr/>
        </p:nvSpPr>
        <p:spPr>
          <a:xfrm>
            <a:off x="6400800" y="3631819"/>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631819"/>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714115"/>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Compare TANRISE’s planned residential</a:t>
            </a:r>
          </a:p>
          <a:p>
            <a:pPr>
              <a:lnSpc>
                <a:spcPts val="2013"/>
              </a:lnSpc>
              <a:spcBef>
                <a:spcPts val="0"/>
              </a:spcBef>
              <a:spcAft>
                <a:spcPts val="0"/>
              </a:spcAft>
            </a:pPr>
            <a:r>
              <a:rPr sz="1650" b="0" i="0">
                <a:solidFill>
                  <a:srgbClr val="183A32"/>
                </a:solidFill>
                <a:latin typeface="Times New Roman"/>
              </a:rPr>
              <a:t>products against household income, deposit capacity,</a:t>
            </a:r>
          </a:p>
          <a:p>
            <a:pPr>
              <a:lnSpc>
                <a:spcPts val="2013"/>
              </a:lnSpc>
              <a:spcBef>
                <a:spcPts val="0"/>
              </a:spcBef>
              <a:spcAft>
                <a:spcPts val="0"/>
              </a:spcAft>
            </a:pPr>
            <a:r>
              <a:rPr sz="1650" b="0" i="0">
                <a:solidFill>
                  <a:srgbClr val="183A32"/>
                </a:solidFill>
                <a:latin typeface="Times New Roman"/>
              </a:rPr>
              <a:t>bank approval, and monthly payments.</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73–74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Company background and 5W1H</a:t>
            </a:r>
          </a:p>
        </p:txBody>
      </p:sp>
      <p:cxnSp>
        <p:nvCxnSpPr>
          <p:cNvPr id="11" name="Connector 10"/>
          <p:cNvCxnSpPr/>
          <p:nvPr/>
        </p:nvCxnSpPr>
        <p:spPr>
          <a:xfrm>
            <a:off x="6062472" y="2084831"/>
            <a:ext cx="0" cy="253536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Ciputra Development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A development platform combining</a:t>
            </a:r>
          </a:p>
          <a:p>
            <a:pPr>
              <a:lnSpc>
                <a:spcPts val="2135"/>
              </a:lnSpc>
              <a:spcBef>
                <a:spcPts val="0"/>
              </a:spcBef>
              <a:spcAft>
                <a:spcPts val="0"/>
              </a:spcAft>
            </a:pPr>
            <a:r>
              <a:rPr sz="1750" b="0" i="0">
                <a:solidFill>
                  <a:srgbClr val="183A32"/>
                </a:solidFill>
                <a:latin typeface="Arial"/>
              </a:rPr>
              <a:t>residential projects with selected commercial and</a:t>
            </a:r>
          </a:p>
          <a:p>
            <a:pPr>
              <a:lnSpc>
                <a:spcPts val="2135"/>
              </a:lnSpc>
              <a:spcBef>
                <a:spcPts val="0"/>
              </a:spcBef>
              <a:spcAft>
                <a:spcPts val="0"/>
              </a:spcAft>
            </a:pPr>
            <a:r>
              <a:rPr sz="1750" b="0" i="0">
                <a:solidFill>
                  <a:srgbClr val="183A32"/>
                </a:solidFill>
                <a:latin typeface="Arial"/>
              </a:rPr>
              <a:t>recurring-income assets.</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A geographically distributed Indonesian</a:t>
            </a:r>
          </a:p>
          <a:p>
            <a:pPr>
              <a:lnSpc>
                <a:spcPts val="2135"/>
              </a:lnSpc>
              <a:spcBef>
                <a:spcPts val="0"/>
              </a:spcBef>
              <a:spcAft>
                <a:spcPts val="0"/>
              </a:spcAft>
            </a:pPr>
            <a:r>
              <a:rPr sz="1750" b="0" i="0">
                <a:solidFill>
                  <a:srgbClr val="183A32"/>
                </a:solidFill>
                <a:latin typeface="Arial"/>
              </a:rPr>
              <a:t>portfolio.</a:t>
            </a:r>
          </a:p>
        </p:txBody>
      </p:sp>
      <p:sp>
        <p:nvSpPr>
          <p:cNvPr id="18" name="Rectangle 17"/>
          <p:cNvSpPr/>
          <p:nvPr/>
        </p:nvSpPr>
        <p:spPr>
          <a:xfrm>
            <a:off x="685800" y="433806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46625"/>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in 1981; listed in 1994.</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Founder Ir. Ciputra and the</a:t>
            </a:r>
          </a:p>
          <a:p>
            <a:pPr>
              <a:lnSpc>
                <a:spcPts val="2135"/>
              </a:lnSpc>
              <a:spcBef>
                <a:spcPts val="0"/>
              </a:spcBef>
              <a:spcAft>
                <a:spcPts val="0"/>
              </a:spcAft>
            </a:pPr>
            <a:r>
              <a:rPr sz="1750" b="0" i="0">
                <a:solidFill>
                  <a:srgbClr val="183A32"/>
                </a:solidFill>
                <a:latin typeface="Arial"/>
              </a:rPr>
              <a:t>Ciputra business-family legacy; the listed</a:t>
            </a:r>
          </a:p>
          <a:p>
            <a:pPr>
              <a:lnSpc>
                <a:spcPts val="2135"/>
              </a:lnSpc>
              <a:spcBef>
                <a:spcPts val="0"/>
              </a:spcBef>
              <a:spcAft>
                <a:spcPts val="0"/>
              </a:spcAft>
            </a:pPr>
            <a:r>
              <a:rPr sz="1750" b="0" i="0">
                <a:solidFill>
                  <a:srgbClr val="183A32"/>
                </a:solidFill>
                <a:latin typeface="Arial"/>
              </a:rPr>
              <a:t>company institutionalised the founder’s</a:t>
            </a:r>
          </a:p>
          <a:p>
            <a:pPr>
              <a:lnSpc>
                <a:spcPts val="2135"/>
              </a:lnSpc>
              <a:spcBef>
                <a:spcPts val="0"/>
              </a:spcBef>
              <a:spcAft>
                <a:spcPts val="0"/>
              </a:spcAft>
            </a:pPr>
            <a:r>
              <a:rPr sz="1750" b="0" i="0">
                <a:solidFill>
                  <a:srgbClr val="183A32"/>
                </a:solidFill>
                <a:latin typeface="Arial"/>
              </a:rPr>
              <a:t>development approach.</a:t>
            </a:r>
          </a:p>
        </p:txBody>
      </p:sp>
      <p:sp>
        <p:nvSpPr>
          <p:cNvPr id="22" name="Rectangle 21"/>
          <p:cNvSpPr/>
          <p:nvPr/>
        </p:nvSpPr>
        <p:spPr>
          <a:xfrm>
            <a:off x="6400800" y="343915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347719"/>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Replicate</a:t>
            </a:r>
          </a:p>
          <a:p>
            <a:pPr>
              <a:lnSpc>
                <a:spcPts val="2135"/>
              </a:lnSpc>
              <a:spcBef>
                <a:spcPts val="0"/>
              </a:spcBef>
              <a:spcAft>
                <a:spcPts val="0"/>
              </a:spcAft>
            </a:pPr>
            <a:r>
              <a:rPr sz="1750" b="0" i="0">
                <a:solidFill>
                  <a:srgbClr val="183A32"/>
                </a:solidFill>
                <a:latin typeface="Arial"/>
              </a:rPr>
              <a:t>a recognisable development capability across</a:t>
            </a:r>
          </a:p>
          <a:p>
            <a:pPr>
              <a:lnSpc>
                <a:spcPts val="2135"/>
              </a:lnSpc>
              <a:spcBef>
                <a:spcPts val="0"/>
              </a:spcBef>
              <a:spcAft>
                <a:spcPts val="0"/>
              </a:spcAft>
            </a:pPr>
            <a:r>
              <a:rPr sz="1750" b="0" i="0">
                <a:solidFill>
                  <a:srgbClr val="183A32"/>
                </a:solidFill>
                <a:latin typeface="Arial"/>
              </a:rPr>
              <a:t>locations while adapting projects to local markets</a:t>
            </a:r>
          </a:p>
          <a:p>
            <a:pPr>
              <a:lnSpc>
                <a:spcPts val="2135"/>
              </a:lnSpc>
              <a:spcBef>
                <a:spcPts val="0"/>
              </a:spcBef>
              <a:spcAft>
                <a:spcPts val="0"/>
              </a:spcAft>
            </a:pPr>
            <a:r>
              <a:rPr sz="1750" b="0" i="0">
                <a:solidFill>
                  <a:srgbClr val="183A32"/>
                </a:solidFill>
                <a:latin typeface="Arial"/>
              </a:rPr>
              <a:t>and partnerships.</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Ciputra annual report — company history and business model.</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73–74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Company background and 5W1H</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Core research question: How can a developer expand without purchasing and independently funding every land</a:t>
            </a:r>
          </a:p>
          <a:p>
            <a:pPr>
              <a:lnSpc>
                <a:spcPts val="2196"/>
              </a:lnSpc>
              <a:spcBef>
                <a:spcPts val="0"/>
              </a:spcBef>
              <a:spcAft>
                <a:spcPts val="0"/>
              </a:spcAft>
            </a:pPr>
            <a:r>
              <a:rPr sz="1800" b="0" i="0">
                <a:solidFill>
                  <a:srgbClr val="183A32"/>
                </a:solidFill>
                <a:latin typeface="Times New Roman"/>
              </a:rPr>
              <a:t>parcel?</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Ciputra annual report — company history and business model.</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74–75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Milestones in building a repeatable platform</a:t>
            </a:r>
          </a:p>
        </p:txBody>
      </p:sp>
      <p:graphicFrame>
        <p:nvGraphicFramePr>
          <p:cNvPr id="11" name="Table 10"/>
          <p:cNvGraphicFramePr>
            <a:graphicFrameLocks noGrp="1"/>
          </p:cNvGraphicFramePr>
          <p:nvPr/>
        </p:nvGraphicFramePr>
        <p:xfrm>
          <a:off x="685800" y="2084831"/>
          <a:ext cx="10789919" cy="34676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1981</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Establishment of the original development company</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1984</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Early CitraGarden City development</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1990s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Expansion of major residential and commercial projects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1994</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Public listing</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1997–1998 and aftermath</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Crisis management and restructuring period</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2017</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Merger of Ciputra Surya and Ciputra Property into CTRA</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FY2025</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Reported revenue approximately Rp12.62 trillion</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Historical results presentation, merger disclosure.</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74–75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Milestones in building a repeatable platform</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The important transition was from founder-led projects to a repeatable, consolidated operating</a:t>
            </a:r>
          </a:p>
          <a:p>
            <a:pPr>
              <a:lnSpc>
                <a:spcPts val="2196"/>
              </a:lnSpc>
              <a:spcBef>
                <a:spcPts val="0"/>
              </a:spcBef>
              <a:spcAft>
                <a:spcPts val="0"/>
              </a:spcAft>
            </a:pPr>
            <a:r>
              <a:rPr sz="1800" b="0" i="0">
                <a:solidFill>
                  <a:srgbClr val="183A32"/>
                </a:solidFill>
                <a:latin typeface="Times New Roman"/>
              </a:rPr>
              <a:t>platform.</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Historical results presentation, merger disclosure.</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75–75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Ciputra’s partnership approach is especially relevant to developers whose expansion is constrained by land</a:t>
            </a:r>
          </a:p>
          <a:p>
            <a:pPr>
              <a:lnSpc>
                <a:spcPts val="2196"/>
              </a:lnSpc>
              <a:spcBef>
                <a:spcPts val="0"/>
              </a:spcBef>
              <a:spcAft>
                <a:spcPts val="0"/>
              </a:spcAft>
            </a:pPr>
            <a:r>
              <a:rPr sz="1800" b="0" i="0">
                <a:solidFill>
                  <a:srgbClr val="183A32"/>
                </a:solidFill>
                <a:latin typeface="Times New Roman"/>
              </a:rPr>
              <a:t>acquisition and capital.</a:t>
            </a:r>
          </a:p>
        </p:txBody>
      </p:sp>
      <p:sp>
        <p:nvSpPr>
          <p:cNvPr id="13" name="TextBox 12"/>
          <p:cNvSpPr txBox="1"/>
          <p:nvPr/>
        </p:nvSpPr>
        <p:spPr>
          <a:xfrm>
            <a:off x="685800" y="319709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OPERATING LOGIC</a:t>
            </a:r>
          </a:p>
        </p:txBody>
      </p:sp>
      <p:sp>
        <p:nvSpPr>
          <p:cNvPr id="14" name="Rectangle 13"/>
          <p:cNvSpPr/>
          <p:nvPr/>
        </p:nvSpPr>
        <p:spPr>
          <a:xfrm>
            <a:off x="685800" y="360984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51840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Combine development, branding, planning, and sales capabilities with access to local land.</a:t>
            </a:r>
          </a:p>
        </p:txBody>
      </p:sp>
      <p:sp>
        <p:nvSpPr>
          <p:cNvPr id="16" name="Rectangle 15"/>
          <p:cNvSpPr/>
          <p:nvPr/>
        </p:nvSpPr>
        <p:spPr>
          <a:xfrm>
            <a:off x="685800" y="405930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96786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Adapt products and pricing to each city.</a:t>
            </a:r>
          </a:p>
        </p:txBody>
      </p:sp>
      <p:sp>
        <p:nvSpPr>
          <p:cNvPr id="18" name="Rectangle 17"/>
          <p:cNvSpPr/>
          <p:nvPr/>
        </p:nvSpPr>
        <p:spPr>
          <a:xfrm>
            <a:off x="685800" y="450875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41731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Reuse operating knowledge across projects.</a:t>
            </a:r>
          </a:p>
        </p:txBody>
      </p:sp>
      <p:sp>
        <p:nvSpPr>
          <p:cNvPr id="20" name="Rectangle 19"/>
          <p:cNvSpPr/>
          <p:nvPr/>
        </p:nvSpPr>
        <p:spPr>
          <a:xfrm>
            <a:off x="685800" y="495820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86676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Maintain central standards while allowing local commercial decisions.</a:t>
            </a:r>
          </a:p>
        </p:txBody>
      </p:sp>
      <p:sp>
        <p:nvSpPr>
          <p:cNvPr id="22" name="TextBox 21"/>
          <p:cNvSpPr txBox="1"/>
          <p:nvPr/>
        </p:nvSpPr>
        <p:spPr>
          <a:xfrm>
            <a:off x="685800" y="5316220"/>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Replication of capabilities across multiple markets.</a:t>
            </a:r>
          </a:p>
        </p:txBody>
      </p:sp>
      <p:sp>
        <p:nvSpPr>
          <p:cNvPr id="23" name="TextBox 2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Evidence reference: Ciputra annual report.</a:t>
            </a:r>
          </a:p>
        </p:txBody>
      </p:sp>
      <p:sp>
        <p:nvSpPr>
          <p:cNvPr id="24" name="TextBox 2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75–75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How the growth model works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Trade-off: Partnerships reduce some upfront burdens but create profit-sharing, governance, approval, and execution</a:t>
            </a:r>
          </a:p>
          <a:p>
            <a:pPr>
              <a:lnSpc>
                <a:spcPts val="2196"/>
              </a:lnSpc>
              <a:spcBef>
                <a:spcPts val="0"/>
              </a:spcBef>
              <a:spcAft>
                <a:spcPts val="0"/>
              </a:spcAft>
            </a:pPr>
            <a:r>
              <a:rPr sz="1800" b="0" i="0">
                <a:solidFill>
                  <a:srgbClr val="183A32"/>
                </a:solidFill>
                <a:latin typeface="Times New Roman"/>
              </a:rPr>
              <a:t>dependencies.</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Evidence reference: Ciputra annual report.</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75–76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Financial scale and operating momentum</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Rp12.62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Reported net profit: Rp2.66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Marketing sales: approximately Rp9.46 trillion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Rp11.19 trillion</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Revenue and marketing sales describe different stages of the business. FY2025 revenue can include handovers from</a:t>
            </a:r>
          </a:p>
          <a:p>
            <a:pPr>
              <a:lnSpc>
                <a:spcPts val="2196"/>
              </a:lnSpc>
              <a:spcBef>
                <a:spcPts val="0"/>
              </a:spcBef>
              <a:spcAft>
                <a:spcPts val="0"/>
              </a:spcAft>
            </a:pPr>
            <a:r>
              <a:rPr sz="1800" b="0" i="0">
                <a:solidFill>
                  <a:srgbClr val="183A32"/>
                </a:solidFill>
                <a:latin typeface="Times New Roman"/>
              </a:rPr>
              <a:t>sales made in earlier periods.</a:t>
            </a:r>
          </a:p>
        </p:txBody>
      </p:sp>
      <p:sp>
        <p:nvSpPr>
          <p:cNvPr id="22" name="TextBox 21"/>
          <p:cNvSpPr txBox="1"/>
          <p:nvPr/>
        </p:nvSpPr>
        <p:spPr>
          <a:xfrm>
            <a:off x="685800" y="5316219"/>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significance: A broad launch and handover pipeline supports scale, but geographical breadth requires</a:t>
            </a:r>
          </a:p>
          <a:p>
            <a:pPr>
              <a:lnSpc>
                <a:spcPts val="2196"/>
              </a:lnSpc>
              <a:spcBef>
                <a:spcPts val="0"/>
              </a:spcBef>
              <a:spcAft>
                <a:spcPts val="0"/>
              </a:spcAft>
            </a:pPr>
            <a:r>
              <a:rPr sz="1800" b="0" i="0">
                <a:solidFill>
                  <a:srgbClr val="183A32"/>
                </a:solidFill>
                <a:latin typeface="Times New Roman"/>
              </a:rPr>
              <a:t>strong controls and local execution.</a:t>
            </a:r>
          </a:p>
        </p:txBody>
      </p:sp>
      <p:sp>
        <p:nvSpPr>
          <p:cNvPr id="23" name="TextBox 2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Ciputra 2025 sustainability report — financial and operational performance.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76–77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Replicable development capabilities and brand familiarity</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Partnership experience</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Geographic diversification</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Managing many locations increases organisational</a:t>
            </a:r>
          </a:p>
          <a:p>
            <a:pPr>
              <a:lnSpc>
                <a:spcPts val="1769"/>
              </a:lnSpc>
              <a:spcBef>
                <a:spcPts val="0"/>
              </a:spcBef>
              <a:spcAft>
                <a:spcPts val="0"/>
              </a:spcAft>
            </a:pPr>
            <a:r>
              <a:rPr sz="1450" b="0" i="0">
                <a:solidFill>
                  <a:srgbClr val="183A32"/>
                </a:solidFill>
                <a:latin typeface="Arial"/>
              </a:rPr>
              <a:t>complexity</a:t>
            </a:r>
          </a:p>
        </p:txBody>
      </p:sp>
      <p:sp>
        <p:nvSpPr>
          <p:cNvPr id="20" name="TextBox 19"/>
          <p:cNvSpPr txBox="1"/>
          <p:nvPr/>
        </p:nvSpPr>
        <p:spPr>
          <a:xfrm>
            <a:off x="6336792" y="30142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Shared economics and partner dependencies</a:t>
            </a:r>
          </a:p>
        </p:txBody>
      </p:sp>
      <p:sp>
        <p:nvSpPr>
          <p:cNvPr id="21" name="TextBox 20"/>
          <p:cNvSpPr txBox="1"/>
          <p:nvPr/>
        </p:nvSpPr>
        <p:spPr>
          <a:xfrm>
            <a:off x="6336792" y="3325749"/>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Local markets can behave differently</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expansion with suitable land partners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New phases within established projects</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Better product adaptation and operating systems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Weak local demand despite national housing need</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Inconsistent execution across locations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Land, approval, financing, and construction risks</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77–77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Lessons for TANRISE</a:t>
            </a:r>
          </a:p>
        </p:txBody>
      </p:sp>
      <p:cxnSp>
        <p:nvCxnSpPr>
          <p:cNvPr id="11" name="Connector 10"/>
          <p:cNvCxnSpPr/>
          <p:nvPr/>
        </p:nvCxnSpPr>
        <p:spPr>
          <a:xfrm>
            <a:off x="6062472" y="2084831"/>
            <a:ext cx="0" cy="31318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Build a formal land-partnership offer.</a:t>
            </a:r>
          </a:p>
        </p:txBody>
      </p:sp>
      <p:sp>
        <p:nvSpPr>
          <p:cNvPr id="15" name="Rectangle 14"/>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883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Define what TANRISE contributes beyond its</a:t>
            </a:r>
          </a:p>
          <a:p>
            <a:pPr>
              <a:lnSpc>
                <a:spcPts val="2135"/>
              </a:lnSpc>
              <a:spcBef>
                <a:spcPts val="0"/>
              </a:spcBef>
              <a:spcAft>
                <a:spcPts val="0"/>
              </a:spcAft>
            </a:pPr>
            <a:r>
              <a:rPr sz="1750" b="0" i="0">
                <a:solidFill>
                  <a:srgbClr val="183A32"/>
                </a:solidFill>
                <a:latin typeface="Arial"/>
              </a:rPr>
              <a:t>corporate name.</a:t>
            </a:r>
          </a:p>
        </p:txBody>
      </p:sp>
      <p:sp>
        <p:nvSpPr>
          <p:cNvPr id="17" name="Rectangle 16"/>
          <p:cNvSpPr/>
          <p:nvPr/>
        </p:nvSpPr>
        <p:spPr>
          <a:xfrm>
            <a:off x="685800" y="369506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60362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Establish clear responsibilities for land readiness,</a:t>
            </a:r>
          </a:p>
          <a:p>
            <a:pPr>
              <a:lnSpc>
                <a:spcPts val="2135"/>
              </a:lnSpc>
              <a:spcBef>
                <a:spcPts val="0"/>
              </a:spcBef>
              <a:spcAft>
                <a:spcPts val="0"/>
              </a:spcAft>
            </a:pPr>
            <a:r>
              <a:rPr sz="1750" b="0" i="0">
                <a:solidFill>
                  <a:srgbClr val="183A32"/>
                </a:solidFill>
                <a:latin typeface="Arial"/>
              </a:rPr>
              <a:t>permits, infrastructure, marketing, construction,</a:t>
            </a:r>
          </a:p>
          <a:p>
            <a:pPr>
              <a:lnSpc>
                <a:spcPts val="2135"/>
              </a:lnSpc>
              <a:spcBef>
                <a:spcPts val="0"/>
              </a:spcBef>
              <a:spcAft>
                <a:spcPts val="0"/>
              </a:spcAft>
            </a:pPr>
            <a:r>
              <a:rPr sz="1750" b="0" i="0">
                <a:solidFill>
                  <a:srgbClr val="183A32"/>
                </a:solidFill>
                <a:latin typeface="Arial"/>
              </a:rPr>
              <a:t>and funding.</a:t>
            </a:r>
          </a:p>
        </p:txBody>
      </p:sp>
      <p:sp>
        <p:nvSpPr>
          <p:cNvPr id="19" name="Rectangle 18"/>
          <p:cNvSpPr/>
          <p:nvPr/>
        </p:nvSpPr>
        <p:spPr>
          <a:xfrm>
            <a:off x="685800" y="468680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Develop a repeatable residential delivery system</a:t>
            </a:r>
          </a:p>
          <a:p>
            <a:pPr>
              <a:lnSpc>
                <a:spcPts val="2135"/>
              </a:lnSpc>
              <a:spcBef>
                <a:spcPts val="0"/>
              </a:spcBef>
              <a:spcAft>
                <a:spcPts val="0"/>
              </a:spcAft>
            </a:pPr>
            <a:r>
              <a:rPr sz="1750" b="0" i="0">
                <a:solidFill>
                  <a:srgbClr val="183A32"/>
                </a:solidFill>
                <a:latin typeface="Arial"/>
              </a:rPr>
              <a:t>before expanding widely.</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Select partners for governance quality as well as</a:t>
            </a:r>
          </a:p>
          <a:p>
            <a:pPr>
              <a:lnSpc>
                <a:spcPts val="2135"/>
              </a:lnSpc>
              <a:spcBef>
                <a:spcPts val="0"/>
              </a:spcBef>
              <a:spcAft>
                <a:spcPts val="0"/>
              </a:spcAft>
            </a:pPr>
            <a:r>
              <a:rPr sz="1750" b="0" i="0">
                <a:solidFill>
                  <a:srgbClr val="183A32"/>
                </a:solidFill>
                <a:latin typeface="Arial"/>
              </a:rPr>
              <a:t>land location.</a:t>
            </a:r>
          </a:p>
        </p:txBody>
      </p:sp>
      <p:sp>
        <p:nvSpPr>
          <p:cNvPr id="23" name="Rectangle 22"/>
          <p:cNvSpPr/>
          <p:nvPr/>
        </p:nvSpPr>
        <p:spPr>
          <a:xfrm>
            <a:off x="6400800" y="2805430"/>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Entering many cities before</a:t>
            </a:r>
          </a:p>
          <a:p>
            <a:pPr>
              <a:lnSpc>
                <a:spcPts val="2013"/>
              </a:lnSpc>
              <a:spcBef>
                <a:spcPts val="0"/>
              </a:spcBef>
              <a:spcAft>
                <a:spcPts val="0"/>
              </a:spcAft>
            </a:pPr>
            <a:r>
              <a:rPr sz="1650" b="0" i="0">
                <a:solidFill>
                  <a:srgbClr val="183A32"/>
                </a:solidFill>
                <a:latin typeface="Times New Roman"/>
              </a:rPr>
              <a:t>project leadership and control systems are ready.</a:t>
            </a:r>
          </a:p>
        </p:txBody>
      </p:sp>
      <p:sp>
        <p:nvSpPr>
          <p:cNvPr id="26" name="Rectangle 25"/>
          <p:cNvSpPr/>
          <p:nvPr/>
        </p:nvSpPr>
        <p:spPr>
          <a:xfrm>
            <a:off x="6400800" y="3631819"/>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631819"/>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714115"/>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Screen a small number of potential land</a:t>
            </a:r>
          </a:p>
          <a:p>
            <a:pPr>
              <a:lnSpc>
                <a:spcPts val="2013"/>
              </a:lnSpc>
              <a:spcBef>
                <a:spcPts val="0"/>
              </a:spcBef>
              <a:spcAft>
                <a:spcPts val="0"/>
              </a:spcAft>
            </a:pPr>
            <a:r>
              <a:rPr sz="1650" b="0" i="0">
                <a:solidFill>
                  <a:srgbClr val="183A32"/>
                </a:solidFill>
                <a:latin typeface="Times New Roman"/>
              </a:rPr>
              <a:t>partnerships using one investment and governance</a:t>
            </a:r>
          </a:p>
          <a:p>
            <a:pPr>
              <a:lnSpc>
                <a:spcPts val="2013"/>
              </a:lnSpc>
              <a:spcBef>
                <a:spcPts val="0"/>
              </a:spcBef>
              <a:spcAft>
                <a:spcPts val="0"/>
              </a:spcAft>
            </a:pPr>
            <a:r>
              <a:rPr sz="1650" b="0" i="0">
                <a:solidFill>
                  <a:srgbClr val="183A32"/>
                </a:solidFill>
                <a:latin typeface="Times New Roman"/>
              </a:rPr>
              <a:t>template.</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77–78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Company background and 5W1H</a:t>
            </a:r>
          </a:p>
        </p:txBody>
      </p:sp>
      <p:cxnSp>
        <p:nvCxnSpPr>
          <p:cNvPr id="11" name="Connector 10"/>
          <p:cNvCxnSpPr/>
          <p:nvPr/>
        </p:nvCxnSpPr>
        <p:spPr>
          <a:xfrm>
            <a:off x="6062472" y="2084831"/>
            <a:ext cx="0" cy="349681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Summarecon Agung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Township development,</a:t>
            </a:r>
          </a:p>
          <a:p>
            <a:pPr>
              <a:lnSpc>
                <a:spcPts val="2135"/>
              </a:lnSpc>
              <a:spcBef>
                <a:spcPts val="0"/>
              </a:spcBef>
              <a:spcAft>
                <a:spcPts val="0"/>
              </a:spcAft>
            </a:pPr>
            <a:r>
              <a:rPr sz="1750" b="0" i="0">
                <a:solidFill>
                  <a:srgbClr val="183A32"/>
                </a:solidFill>
                <a:latin typeface="Arial"/>
              </a:rPr>
              <a:t>investment-property management, and</a:t>
            </a:r>
          </a:p>
          <a:p>
            <a:pPr>
              <a:lnSpc>
                <a:spcPts val="2135"/>
              </a:lnSpc>
              <a:spcBef>
                <a:spcPts val="0"/>
              </a:spcBef>
              <a:spcAft>
                <a:spcPts val="0"/>
              </a:spcAft>
            </a:pPr>
            <a:r>
              <a:rPr sz="1750" b="0" i="0">
                <a:solidFill>
                  <a:srgbClr val="183A32"/>
                </a:solidFill>
                <a:latin typeface="Arial"/>
              </a:rPr>
              <a:t>leisure/hospitality activities.</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Originated in Kelapa Gading and</a:t>
            </a:r>
          </a:p>
          <a:p>
            <a:pPr>
              <a:lnSpc>
                <a:spcPts val="2135"/>
              </a:lnSpc>
              <a:spcBef>
                <a:spcPts val="0"/>
              </a:spcBef>
              <a:spcAft>
                <a:spcPts val="0"/>
              </a:spcAft>
            </a:pPr>
            <a:r>
              <a:rPr sz="1750" b="0" i="0">
                <a:solidFill>
                  <a:srgbClr val="183A32"/>
                </a:solidFill>
                <a:latin typeface="Arial"/>
              </a:rPr>
              <a:t>expanded into additional township markets.</a:t>
            </a:r>
          </a:p>
        </p:txBody>
      </p:sp>
      <p:sp>
        <p:nvSpPr>
          <p:cNvPr id="18" name="Rectangle 17"/>
          <p:cNvSpPr/>
          <p:nvPr/>
        </p:nvSpPr>
        <p:spPr>
          <a:xfrm>
            <a:off x="685800" y="433806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46625"/>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in 1975; listed in 1990.</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Soetjipto Nagaria and</a:t>
            </a:r>
          </a:p>
          <a:p>
            <a:pPr>
              <a:lnSpc>
                <a:spcPts val="2135"/>
              </a:lnSpc>
              <a:spcBef>
                <a:spcPts val="0"/>
              </a:spcBef>
              <a:spcAft>
                <a:spcPts val="0"/>
              </a:spcAft>
            </a:pPr>
            <a:r>
              <a:rPr sz="1750" b="0" i="0">
                <a:solidFill>
                  <a:srgbClr val="183A32"/>
                </a:solidFill>
                <a:latin typeface="Arial"/>
              </a:rPr>
              <a:t>associates; the Nagaria family remains</a:t>
            </a:r>
          </a:p>
          <a:p>
            <a:pPr>
              <a:lnSpc>
                <a:spcPts val="2135"/>
              </a:lnSpc>
              <a:spcBef>
                <a:spcPts val="0"/>
              </a:spcBef>
              <a:spcAft>
                <a:spcPts val="0"/>
              </a:spcAft>
            </a:pPr>
            <a:r>
              <a:rPr sz="1750" b="0" i="0">
                <a:solidFill>
                  <a:srgbClr val="183A32"/>
                </a:solidFill>
                <a:latin typeface="Arial"/>
              </a:rPr>
              <a:t>associated with the company’s development</a:t>
            </a:r>
          </a:p>
          <a:p>
            <a:pPr>
              <a:lnSpc>
                <a:spcPts val="2135"/>
              </a:lnSpc>
              <a:spcBef>
                <a:spcPts val="0"/>
              </a:spcBef>
              <a:spcAft>
                <a:spcPts val="0"/>
              </a:spcAft>
            </a:pPr>
            <a:r>
              <a:rPr sz="1750" b="0" i="0">
                <a:solidFill>
                  <a:srgbClr val="183A32"/>
                </a:solidFill>
                <a:latin typeface="Arial"/>
              </a:rPr>
              <a:t>legacy.</a:t>
            </a:r>
          </a:p>
        </p:txBody>
      </p:sp>
      <p:sp>
        <p:nvSpPr>
          <p:cNvPr id="22" name="Rectangle 21"/>
          <p:cNvSpPr/>
          <p:nvPr/>
        </p:nvSpPr>
        <p:spPr>
          <a:xfrm>
            <a:off x="6400800" y="343915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347719"/>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Create</a:t>
            </a:r>
          </a:p>
          <a:p>
            <a:pPr>
              <a:lnSpc>
                <a:spcPts val="2135"/>
              </a:lnSpc>
              <a:spcBef>
                <a:spcPts val="0"/>
              </a:spcBef>
              <a:spcAft>
                <a:spcPts val="0"/>
              </a:spcAft>
            </a:pPr>
            <a:r>
              <a:rPr sz="1750" b="0" i="0">
                <a:solidFill>
                  <a:srgbClr val="183A32"/>
                </a:solidFill>
                <a:latin typeface="Arial"/>
              </a:rPr>
              <a:t>neighbourhoods whose commercial and everyday</a:t>
            </a:r>
          </a:p>
          <a:p>
            <a:pPr>
              <a:lnSpc>
                <a:spcPts val="2135"/>
              </a:lnSpc>
              <a:spcBef>
                <a:spcPts val="0"/>
              </a:spcBef>
              <a:spcAft>
                <a:spcPts val="0"/>
              </a:spcAft>
            </a:pPr>
            <a:r>
              <a:rPr sz="1750" b="0" i="0">
                <a:solidFill>
                  <a:srgbClr val="183A32"/>
                </a:solidFill>
                <a:latin typeface="Arial"/>
              </a:rPr>
              <a:t>functions strengthen residential demand over</a:t>
            </a:r>
          </a:p>
          <a:p>
            <a:pPr>
              <a:lnSpc>
                <a:spcPts val="2135"/>
              </a:lnSpc>
              <a:spcBef>
                <a:spcPts val="0"/>
              </a:spcBef>
              <a:spcAft>
                <a:spcPts val="0"/>
              </a:spcAft>
            </a:pPr>
            <a:r>
              <a:rPr sz="1750" b="0" i="0">
                <a:solidFill>
                  <a:srgbClr val="183A32"/>
                </a:solidFill>
                <a:latin typeface="Arial"/>
              </a:rPr>
              <a:t>time.</a:t>
            </a:r>
          </a:p>
        </p:txBody>
      </p:sp>
      <p:sp>
        <p:nvSpPr>
          <p:cNvPr id="24" name="TextBox 23"/>
          <p:cNvSpPr txBox="1"/>
          <p:nvPr/>
        </p:nvSpPr>
        <p:spPr>
          <a:xfrm>
            <a:off x="6400800" y="4610608"/>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Core research question: How does a developer make a</a:t>
            </a:r>
          </a:p>
          <a:p>
            <a:pPr>
              <a:lnSpc>
                <a:spcPts val="2196"/>
              </a:lnSpc>
              <a:spcBef>
                <a:spcPts val="0"/>
              </a:spcBef>
              <a:spcAft>
                <a:spcPts val="0"/>
              </a:spcAft>
            </a:pPr>
            <a:r>
              <a:rPr sz="1800" b="0" i="0">
                <a:solidFill>
                  <a:srgbClr val="183A32"/>
                </a:solidFill>
                <a:latin typeface="Times New Roman"/>
              </a:rPr>
              <a:t>new location commercially credible before it is fully</a:t>
            </a:r>
          </a:p>
          <a:p>
            <a:pPr>
              <a:lnSpc>
                <a:spcPts val="2196"/>
              </a:lnSpc>
              <a:spcBef>
                <a:spcPts val="0"/>
              </a:spcBef>
              <a:spcAft>
                <a:spcPts val="0"/>
              </a:spcAft>
            </a:pPr>
            <a:r>
              <a:rPr sz="1800" b="0" i="0">
                <a:solidFill>
                  <a:srgbClr val="183A32"/>
                </a:solidFill>
                <a:latin typeface="Times New Roman"/>
              </a:rPr>
              <a:t>mature?</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company overview, May 2026 investor presentation.</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78–78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Growth through successive townships</a:t>
            </a:r>
          </a:p>
        </p:txBody>
      </p:sp>
      <p:cxnSp>
        <p:nvCxnSpPr>
          <p:cNvPr id="11" name="Connector 10"/>
          <p:cNvCxnSpPr/>
          <p:nvPr/>
        </p:nvCxnSpPr>
        <p:spPr>
          <a:xfrm>
            <a:off x="6062472" y="2084831"/>
            <a:ext cx="0" cy="2676716"/>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MILESTONE SEQUENCE</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1975: Establishment and early development in</a:t>
            </a:r>
          </a:p>
          <a:p>
            <a:pPr>
              <a:lnSpc>
                <a:spcPts val="2135"/>
              </a:lnSpc>
              <a:spcBef>
                <a:spcPts val="0"/>
              </a:spcBef>
              <a:spcAft>
                <a:spcPts val="0"/>
              </a:spcAft>
            </a:pPr>
            <a:r>
              <a:rPr sz="1750" b="0" i="0">
                <a:solidFill>
                  <a:srgbClr val="183A32"/>
                </a:solidFill>
                <a:latin typeface="Arial"/>
              </a:rPr>
              <a:t>Kelapa Gading.</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1990: Stock-market listing.</a:t>
            </a:r>
          </a:p>
        </p:txBody>
      </p:sp>
      <p:sp>
        <p:nvSpPr>
          <p:cNvPr id="17" name="Rectangle 16"/>
          <p:cNvSpPr/>
          <p:nvPr/>
        </p:nvSpPr>
        <p:spPr>
          <a:xfrm>
            <a:off x="685800" y="369506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60362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Later expansion: Application of township</a:t>
            </a:r>
          </a:p>
          <a:p>
            <a:pPr>
              <a:lnSpc>
                <a:spcPts val="2135"/>
              </a:lnSpc>
              <a:spcBef>
                <a:spcPts val="0"/>
              </a:spcBef>
              <a:spcAft>
                <a:spcPts val="0"/>
              </a:spcAft>
            </a:pPr>
            <a:r>
              <a:rPr sz="1750" b="0" i="0">
                <a:solidFill>
                  <a:srgbClr val="183A32"/>
                </a:solidFill>
                <a:latin typeface="Arial"/>
              </a:rPr>
              <a:t>capabilities to Serpong and other markets.</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Subsequent development: A broader portfolio</a:t>
            </a:r>
          </a:p>
          <a:p>
            <a:pPr>
              <a:lnSpc>
                <a:spcPts val="2135"/>
              </a:lnSpc>
              <a:spcBef>
                <a:spcPts val="0"/>
              </a:spcBef>
              <a:spcAft>
                <a:spcPts val="0"/>
              </a:spcAft>
            </a:pPr>
            <a:r>
              <a:rPr sz="1750" b="0" i="0">
                <a:solidFill>
                  <a:srgbClr val="183A32"/>
                </a:solidFill>
                <a:latin typeface="Arial"/>
              </a:rPr>
              <a:t>including Bekasi, Bandung, Karawang, Makassar,</a:t>
            </a:r>
          </a:p>
          <a:p>
            <a:pPr>
              <a:lnSpc>
                <a:spcPts val="2135"/>
              </a:lnSpc>
              <a:spcBef>
                <a:spcPts val="0"/>
              </a:spcBef>
              <a:spcAft>
                <a:spcPts val="0"/>
              </a:spcAft>
            </a:pPr>
            <a:r>
              <a:rPr sz="1750" b="0" i="0">
                <a:solidFill>
                  <a:srgbClr val="183A32"/>
                </a:solidFill>
                <a:latin typeface="Arial"/>
              </a:rPr>
              <a:t>Bogor, and other locations.</a:t>
            </a:r>
          </a:p>
        </p:txBody>
      </p:sp>
      <p:sp>
        <p:nvSpPr>
          <p:cNvPr id="21" name="Rectangle 20"/>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Current platform: Development sales supported</a:t>
            </a:r>
          </a:p>
          <a:p>
            <a:pPr>
              <a:lnSpc>
                <a:spcPts val="2135"/>
              </a:lnSpc>
              <a:spcBef>
                <a:spcPts val="0"/>
              </a:spcBef>
              <a:spcAft>
                <a:spcPts val="0"/>
              </a:spcAft>
            </a:pPr>
            <a:r>
              <a:rPr sz="1750" b="0" i="0">
                <a:solidFill>
                  <a:srgbClr val="183A32"/>
                </a:solidFill>
                <a:latin typeface="Arial"/>
              </a:rPr>
              <a:t>by retained commercial and supporting assets.</a:t>
            </a:r>
          </a:p>
        </p:txBody>
      </p:sp>
      <p:sp>
        <p:nvSpPr>
          <p:cNvPr id="23" name="TextBox 22"/>
          <p:cNvSpPr txBox="1"/>
          <p:nvPr/>
        </p:nvSpPr>
        <p:spPr>
          <a:xfrm>
            <a:off x="6400800" y="379717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The capability being replicated</a:t>
            </a:r>
          </a:p>
          <a:p>
            <a:pPr>
              <a:lnSpc>
                <a:spcPts val="2196"/>
              </a:lnSpc>
              <a:spcBef>
                <a:spcPts val="0"/>
              </a:spcBef>
              <a:spcAft>
                <a:spcPts val="0"/>
              </a:spcAft>
            </a:pPr>
            <a:r>
              <a:rPr sz="1800" b="0" i="0">
                <a:solidFill>
                  <a:srgbClr val="183A32"/>
                </a:solidFill>
                <a:latin typeface="Times New Roman"/>
              </a:rPr>
              <a:t>is the coordination of a township—not simply a cluster</a:t>
            </a:r>
          </a:p>
          <a:p>
            <a:pPr>
              <a:lnSpc>
                <a:spcPts val="2196"/>
              </a:lnSpc>
              <a:spcBef>
                <a:spcPts val="0"/>
              </a:spcBef>
              <a:spcAft>
                <a:spcPts val="0"/>
              </a:spcAft>
            </a:pPr>
            <a:r>
              <a:rPr sz="1800" b="0" i="0">
                <a:solidFill>
                  <a:srgbClr val="183A32"/>
                </a:solidFill>
                <a:latin typeface="Times New Roman"/>
              </a:rPr>
              <a:t>design or a mall.</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company overview, investor presentation and township histories.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78–79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How the growth model works</a:t>
            </a:r>
          </a:p>
        </p:txBody>
      </p:sp>
      <p:cxnSp>
        <p:nvCxnSpPr>
          <p:cNvPr id="11" name="Connector 10"/>
          <p:cNvCxnSpPr/>
          <p:nvPr/>
        </p:nvCxnSpPr>
        <p:spPr>
          <a:xfrm>
            <a:off x="6062472" y="2084831"/>
            <a:ext cx="0" cy="270014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3" name="TextBox 12"/>
          <p:cNvSpPr txBox="1"/>
          <p:nvPr/>
        </p:nvSpPr>
        <p:spPr>
          <a:xfrm>
            <a:off x="685800" y="2433574"/>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model connects three activities:</a:t>
            </a:r>
          </a:p>
        </p:txBody>
      </p:sp>
      <p:sp>
        <p:nvSpPr>
          <p:cNvPr id="14" name="Rectangle 13"/>
          <p:cNvSpPr/>
          <p:nvPr/>
        </p:nvSpPr>
        <p:spPr>
          <a:xfrm>
            <a:off x="685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907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Residential development generates sales and</a:t>
            </a:r>
          </a:p>
          <a:p>
            <a:pPr>
              <a:lnSpc>
                <a:spcPts val="2135"/>
              </a:lnSpc>
              <a:spcBef>
                <a:spcPts val="0"/>
              </a:spcBef>
              <a:spcAft>
                <a:spcPts val="0"/>
              </a:spcAft>
            </a:pPr>
            <a:r>
              <a:rPr sz="1750" b="0" i="0">
                <a:solidFill>
                  <a:srgbClr val="183A32"/>
                </a:solidFill>
                <a:latin typeface="Arial"/>
              </a:rPr>
              <a:t>an initial population.</a:t>
            </a:r>
          </a:p>
        </p:txBody>
      </p:sp>
      <p:sp>
        <p:nvSpPr>
          <p:cNvPr id="16" name="Rectangle 15"/>
          <p:cNvSpPr/>
          <p:nvPr/>
        </p:nvSpPr>
        <p:spPr>
          <a:xfrm>
            <a:off x="685800" y="370281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6113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Commercial and community functions make</a:t>
            </a:r>
          </a:p>
          <a:p>
            <a:pPr>
              <a:lnSpc>
                <a:spcPts val="2135"/>
              </a:lnSpc>
              <a:spcBef>
                <a:spcPts val="0"/>
              </a:spcBef>
              <a:spcAft>
                <a:spcPts val="0"/>
              </a:spcAft>
            </a:pPr>
            <a:r>
              <a:rPr sz="1750" b="0" i="0">
                <a:solidFill>
                  <a:srgbClr val="183A32"/>
                </a:solidFill>
                <a:latin typeface="Arial"/>
              </a:rPr>
              <a:t>the location more useful.</a:t>
            </a:r>
          </a:p>
        </p:txBody>
      </p:sp>
      <p:sp>
        <p:nvSpPr>
          <p:cNvPr id="18" name="Rectangle 17"/>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Estate and asset management help preserve</a:t>
            </a:r>
          </a:p>
          <a:p>
            <a:pPr>
              <a:lnSpc>
                <a:spcPts val="2135"/>
              </a:lnSpc>
              <a:spcBef>
                <a:spcPts val="0"/>
              </a:spcBef>
              <a:spcAft>
                <a:spcPts val="0"/>
              </a:spcAft>
            </a:pPr>
            <a:r>
              <a:rPr sz="1750" b="0" i="0">
                <a:solidFill>
                  <a:srgbClr val="183A32"/>
                </a:solidFill>
                <a:latin typeface="Arial"/>
              </a:rPr>
              <a:t>the experience after handover.</a:t>
            </a:r>
          </a:p>
        </p:txBody>
      </p:sp>
      <p:sp>
        <p:nvSpPr>
          <p:cNvPr id="20" name="TextBox 19"/>
          <p:cNvSpPr txBox="1"/>
          <p:nvPr/>
        </p:nvSpPr>
        <p:spPr>
          <a:xfrm>
            <a:off x="6400800" y="2805430"/>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Repeated coordination of</a:t>
            </a:r>
          </a:p>
          <a:p>
            <a:pPr>
              <a:lnSpc>
                <a:spcPts val="2196"/>
              </a:lnSpc>
              <a:spcBef>
                <a:spcPts val="0"/>
              </a:spcBef>
              <a:spcAft>
                <a:spcPts val="0"/>
              </a:spcAft>
            </a:pPr>
            <a:r>
              <a:rPr sz="1800" b="0" i="0">
                <a:solidFill>
                  <a:srgbClr val="183A32"/>
                </a:solidFill>
                <a:latin typeface="Times New Roman"/>
              </a:rPr>
              <a:t>physical development, commercial activity, and</a:t>
            </a:r>
          </a:p>
          <a:p>
            <a:pPr>
              <a:lnSpc>
                <a:spcPts val="2196"/>
              </a:lnSpc>
              <a:spcBef>
                <a:spcPts val="0"/>
              </a:spcBef>
              <a:spcAft>
                <a:spcPts val="0"/>
              </a:spcAft>
            </a:pPr>
            <a:r>
              <a:rPr sz="1800" b="0" i="0">
                <a:solidFill>
                  <a:srgbClr val="183A32"/>
                </a:solidFill>
                <a:latin typeface="Times New Roman"/>
              </a:rPr>
              <a:t>ongoing operations.</a:t>
            </a:r>
          </a:p>
        </p:txBody>
      </p:sp>
      <p:sp>
        <p:nvSpPr>
          <p:cNvPr id="21" name="TextBox 20"/>
          <p:cNvSpPr txBox="1"/>
          <p:nvPr/>
        </p:nvSpPr>
        <p:spPr>
          <a:xfrm>
            <a:off x="6400800" y="382041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Economic tension: A facility may help sell surrounding</a:t>
            </a:r>
          </a:p>
          <a:p>
            <a:pPr>
              <a:lnSpc>
                <a:spcPts val="2196"/>
              </a:lnSpc>
              <a:spcBef>
                <a:spcPts val="0"/>
              </a:spcBef>
              <a:spcAft>
                <a:spcPts val="0"/>
              </a:spcAft>
            </a:pPr>
            <a:r>
              <a:rPr sz="1800" b="0" i="0">
                <a:solidFill>
                  <a:srgbClr val="183A32"/>
                </a:solidFill>
                <a:latin typeface="Times New Roman"/>
              </a:rPr>
              <a:t>property while taking years to achieve attractive</a:t>
            </a:r>
          </a:p>
          <a:p>
            <a:pPr>
              <a:lnSpc>
                <a:spcPts val="2196"/>
              </a:lnSpc>
              <a:spcBef>
                <a:spcPts val="0"/>
              </a:spcBef>
              <a:spcAft>
                <a:spcPts val="0"/>
              </a:spcAft>
            </a:pPr>
            <a:r>
              <a:rPr sz="1800" b="0" i="0">
                <a:solidFill>
                  <a:srgbClr val="183A32"/>
                </a:solidFill>
                <a:latin typeface="Times New Roman"/>
              </a:rPr>
              <a:t>standalone returns.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79–79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Financial performance and profit definitions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Rp8.77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Total profit for the year: Rp1.20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company owners: Rp767 billion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Rp10.62 trillion</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difference between total profit and attributable profit is material. The two figures must not be interchanged in a</a:t>
            </a:r>
          </a:p>
          <a:p>
            <a:pPr>
              <a:lnSpc>
                <a:spcPts val="2196"/>
              </a:lnSpc>
              <a:spcBef>
                <a:spcPts val="0"/>
              </a:spcBef>
              <a:spcAft>
                <a:spcPts val="0"/>
              </a:spcAft>
            </a:pPr>
            <a:r>
              <a:rPr sz="1800" b="0" i="0">
                <a:solidFill>
                  <a:srgbClr val="183A32"/>
                </a:solidFill>
                <a:latin typeface="Times New Roman"/>
              </a:rPr>
              <a:t>peer comparison.</a:t>
            </a:r>
          </a:p>
        </p:txBody>
      </p:sp>
      <p:sp>
        <p:nvSpPr>
          <p:cNvPr id="22" name="TextBox 21"/>
          <p:cNvSpPr txBox="1"/>
          <p:nvPr/>
        </p:nvSpPr>
        <p:spPr>
          <a:xfrm>
            <a:off x="685800" y="531621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Lower annual revenue also demonstrates the importance of development recognition and project timing.</a:t>
            </a:r>
          </a:p>
        </p:txBody>
      </p:sp>
      <p:sp>
        <p:nvSpPr>
          <p:cNvPr id="23" name="TextBox 2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Summarecon May 2026 presentation — consolidated income statements.</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79–80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township-development capabilities</a:t>
            </a:r>
          </a:p>
        </p:txBody>
      </p:sp>
      <p:sp>
        <p:nvSpPr>
          <p:cNvPr id="15" name="TextBox 14"/>
          <p:cNvSpPr txBox="1"/>
          <p:nvPr/>
        </p:nvSpPr>
        <p:spPr>
          <a:xfrm>
            <a:off x="832104" y="2789555"/>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Experience coordinating residential and commercial</a:t>
            </a:r>
          </a:p>
          <a:p>
            <a:pPr>
              <a:lnSpc>
                <a:spcPts val="1769"/>
              </a:lnSpc>
              <a:spcBef>
                <a:spcPts val="0"/>
              </a:spcBef>
              <a:spcAft>
                <a:spcPts val="0"/>
              </a:spcAft>
            </a:pPr>
            <a:r>
              <a:rPr sz="1450" b="0" i="0">
                <a:solidFill>
                  <a:srgbClr val="183A32"/>
                </a:solidFill>
                <a:latin typeface="Arial"/>
              </a:rPr>
              <a:t>functions</a:t>
            </a:r>
          </a:p>
        </p:txBody>
      </p:sp>
      <p:sp>
        <p:nvSpPr>
          <p:cNvPr id="16" name="TextBox 15"/>
          <p:cNvSpPr txBox="1"/>
          <p:nvPr/>
        </p:nvSpPr>
        <p:spPr>
          <a:xfrm>
            <a:off x="832104" y="332574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Recognisable development identity</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Significant spending before township maturity</a:t>
            </a:r>
          </a:p>
        </p:txBody>
      </p:sp>
      <p:sp>
        <p:nvSpPr>
          <p:cNvPr id="20" name="TextBox 19"/>
          <p:cNvSpPr txBox="1"/>
          <p:nvPr/>
        </p:nvSpPr>
        <p:spPr>
          <a:xfrm>
            <a:off x="6336792" y="2789555"/>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Simultaneous projects compete for capital and</a:t>
            </a:r>
          </a:p>
          <a:p>
            <a:pPr>
              <a:lnSpc>
                <a:spcPts val="1769"/>
              </a:lnSpc>
              <a:spcBef>
                <a:spcPts val="0"/>
              </a:spcBef>
              <a:spcAft>
                <a:spcPts val="0"/>
              </a:spcAft>
            </a:pPr>
            <a:r>
              <a:rPr sz="1450" b="0" i="0">
                <a:solidFill>
                  <a:srgbClr val="183A32"/>
                </a:solidFill>
                <a:latin typeface="Arial"/>
              </a:rPr>
              <a:t>management</a:t>
            </a:r>
          </a:p>
        </p:txBody>
      </p:sp>
      <p:sp>
        <p:nvSpPr>
          <p:cNvPr id="21" name="TextBox 20"/>
          <p:cNvSpPr txBox="1"/>
          <p:nvPr/>
        </p:nvSpPr>
        <p:spPr>
          <a:xfrm>
            <a:off x="6336792" y="332574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Annual results remain sensitive to handovers</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Further development within established townships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Better use of existing commercial infrastructure</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replication in suitable markets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Buyers delaying purchases</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Oversupply of similar suburban products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Financing costs and delayed infrastructure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80–81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Lessons for TANRISE</a:t>
            </a:r>
          </a:p>
        </p:txBody>
      </p:sp>
      <p:cxnSp>
        <p:nvCxnSpPr>
          <p:cNvPr id="11" name="Connector 10"/>
          <p:cNvCxnSpPr/>
          <p:nvPr/>
        </p:nvCxnSpPr>
        <p:spPr>
          <a:xfrm>
            <a:off x="6062472" y="2084831"/>
            <a:ext cx="0" cy="3330512"/>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Define what makes each TANRISE location</a:t>
            </a:r>
          </a:p>
          <a:p>
            <a:pPr>
              <a:lnSpc>
                <a:spcPts val="2135"/>
              </a:lnSpc>
              <a:spcBef>
                <a:spcPts val="0"/>
              </a:spcBef>
              <a:spcAft>
                <a:spcPts val="0"/>
              </a:spcAft>
            </a:pPr>
            <a:r>
              <a:rPr sz="1750" b="0" i="0">
                <a:solidFill>
                  <a:srgbClr val="183A32"/>
                </a:solidFill>
                <a:latin typeface="Arial"/>
              </a:rPr>
              <a:t>useful on an ordinary weekday.</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Sequence access, basic services, residential</a:t>
            </a:r>
          </a:p>
          <a:p>
            <a:pPr>
              <a:lnSpc>
                <a:spcPts val="2135"/>
              </a:lnSpc>
              <a:spcBef>
                <a:spcPts val="0"/>
              </a:spcBef>
              <a:spcAft>
                <a:spcPts val="0"/>
              </a:spcAft>
            </a:pPr>
            <a:r>
              <a:rPr sz="1750" b="0" i="0">
                <a:solidFill>
                  <a:srgbClr val="183A32"/>
                </a:solidFill>
                <a:latin typeface="Arial"/>
              </a:rPr>
              <a:t>occupancy, and larger anchors.</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Give estate management a role in the</a:t>
            </a:r>
          </a:p>
          <a:p>
            <a:pPr>
              <a:lnSpc>
                <a:spcPts val="2135"/>
              </a:lnSpc>
              <a:spcBef>
                <a:spcPts val="0"/>
              </a:spcBef>
              <a:spcAft>
                <a:spcPts val="0"/>
              </a:spcAft>
            </a:pPr>
            <a:r>
              <a:rPr sz="1750" b="0" i="0">
                <a:solidFill>
                  <a:srgbClr val="183A32"/>
                </a:solidFill>
                <a:latin typeface="Arial"/>
              </a:rPr>
              <a:t>development strategy.</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Set separate objectives for an anchor’s operating</a:t>
            </a:r>
          </a:p>
          <a:p>
            <a:pPr>
              <a:lnSpc>
                <a:spcPts val="2135"/>
              </a:lnSpc>
              <a:spcBef>
                <a:spcPts val="0"/>
              </a:spcBef>
              <a:spcAft>
                <a:spcPts val="0"/>
              </a:spcAft>
            </a:pPr>
            <a:r>
              <a:rPr sz="1750" b="0" i="0">
                <a:solidFill>
                  <a:srgbClr val="183A32"/>
                </a:solidFill>
                <a:latin typeface="Arial"/>
              </a:rPr>
              <a:t>return and its contribution to surrounding</a:t>
            </a:r>
          </a:p>
          <a:p>
            <a:pPr>
              <a:lnSpc>
                <a:spcPts val="2135"/>
              </a:lnSpc>
              <a:spcBef>
                <a:spcPts val="0"/>
              </a:spcBef>
              <a:spcAft>
                <a:spcPts val="0"/>
              </a:spcAft>
            </a:pPr>
            <a:r>
              <a:rPr sz="1750" b="0" i="0">
                <a:solidFill>
                  <a:srgbClr val="183A32"/>
                </a:solidFill>
                <a:latin typeface="Arial"/>
              </a:rPr>
              <a:t>property.</a:t>
            </a:r>
          </a:p>
        </p:txBody>
      </p:sp>
      <p:sp>
        <p:nvSpPr>
          <p:cNvPr id="21" name="Rectangle 20"/>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Use smaller facilities to test demand before</a:t>
            </a:r>
          </a:p>
          <a:p>
            <a:pPr>
              <a:lnSpc>
                <a:spcPts val="2135"/>
              </a:lnSpc>
              <a:spcBef>
                <a:spcPts val="0"/>
              </a:spcBef>
              <a:spcAft>
                <a:spcPts val="0"/>
              </a:spcAft>
            </a:pPr>
            <a:r>
              <a:rPr sz="1750" b="0" i="0">
                <a:solidFill>
                  <a:srgbClr val="183A32"/>
                </a:solidFill>
                <a:latin typeface="Arial"/>
              </a:rPr>
              <a:t>committing to major capital expenditure.</a:t>
            </a:r>
          </a:p>
        </p:txBody>
      </p:sp>
      <p:sp>
        <p:nvSpPr>
          <p:cNvPr id="23" name="Rectangle 22"/>
          <p:cNvSpPr/>
          <p:nvPr/>
        </p:nvSpPr>
        <p:spPr>
          <a:xfrm>
            <a:off x="6400800" y="3797172"/>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3797172"/>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3879468"/>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Create an activation and anchor plan for</a:t>
            </a:r>
          </a:p>
          <a:p>
            <a:pPr>
              <a:lnSpc>
                <a:spcPts val="2013"/>
              </a:lnSpc>
              <a:spcBef>
                <a:spcPts val="0"/>
              </a:spcBef>
              <a:spcAft>
                <a:spcPts val="0"/>
              </a:spcAft>
            </a:pPr>
            <a:r>
              <a:rPr sz="1650" b="0" i="0">
                <a:solidFill>
                  <a:srgbClr val="183A32"/>
                </a:solidFill>
                <a:latin typeface="Times New Roman"/>
              </a:rPr>
              <a:t>Sidoarjo, with timing tied to realistic occupancy.</a:t>
            </a:r>
          </a:p>
        </p:txBody>
      </p:sp>
      <p:sp>
        <p:nvSpPr>
          <p:cNvPr id="26" name="Rectangle 25"/>
          <p:cNvSpPr/>
          <p:nvPr/>
        </p:nvSpPr>
        <p:spPr>
          <a:xfrm>
            <a:off x="6400800" y="4623561"/>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4623561"/>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4705857"/>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Building a major retail</a:t>
            </a:r>
          </a:p>
          <a:p>
            <a:pPr>
              <a:lnSpc>
                <a:spcPts val="2013"/>
              </a:lnSpc>
              <a:spcBef>
                <a:spcPts val="0"/>
              </a:spcBef>
              <a:spcAft>
                <a:spcPts val="0"/>
              </a:spcAft>
            </a:pPr>
            <a:r>
              <a:rPr sz="1650" b="0" i="0">
                <a:solidFill>
                  <a:srgbClr val="183A32"/>
                </a:solidFill>
                <a:latin typeface="Times New Roman"/>
              </a:rPr>
              <a:t>anchor solely because mature competitors own malls.</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81–81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Company background and 5W1H</a:t>
            </a:r>
          </a:p>
        </p:txBody>
      </p:sp>
      <p:cxnSp>
        <p:nvCxnSpPr>
          <p:cNvPr id="11" name="Connector 10"/>
          <p:cNvCxnSpPr/>
          <p:nvPr/>
        </p:nvCxnSpPr>
        <p:spPr>
          <a:xfrm>
            <a:off x="6062472" y="2084831"/>
            <a:ext cx="0" cy="239553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Pakuwon Jati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Mixed-use development with a substantial</a:t>
            </a:r>
          </a:p>
          <a:p>
            <a:pPr>
              <a:lnSpc>
                <a:spcPts val="2135"/>
              </a:lnSpc>
              <a:spcBef>
                <a:spcPts val="0"/>
              </a:spcBef>
              <a:spcAft>
                <a:spcPts val="0"/>
              </a:spcAft>
            </a:pPr>
            <a:r>
              <a:rPr sz="1750" b="0" i="0">
                <a:solidFill>
                  <a:srgbClr val="183A32"/>
                </a:solidFill>
                <a:latin typeface="Arial"/>
              </a:rPr>
              <a:t>retained commercial-property platform.</a:t>
            </a:r>
          </a:p>
        </p:txBody>
      </p:sp>
      <p:sp>
        <p:nvSpPr>
          <p:cNvPr id="16" name="Rectangle 15"/>
          <p:cNvSpPr/>
          <p:nvPr/>
        </p:nvSpPr>
        <p:spPr>
          <a:xfrm>
            <a:off x="685800" y="334632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254883"/>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Originated in Surabaya and subsequently</a:t>
            </a:r>
          </a:p>
          <a:p>
            <a:pPr>
              <a:lnSpc>
                <a:spcPts val="2135"/>
              </a:lnSpc>
              <a:spcBef>
                <a:spcPts val="0"/>
              </a:spcBef>
              <a:spcAft>
                <a:spcPts val="0"/>
              </a:spcAft>
            </a:pPr>
            <a:r>
              <a:rPr sz="1750" b="0" i="0">
                <a:solidFill>
                  <a:srgbClr val="183A32"/>
                </a:solidFill>
                <a:latin typeface="Arial"/>
              </a:rPr>
              <a:t>expanded, including into Jakarta.</a:t>
            </a:r>
          </a:p>
        </p:txBody>
      </p:sp>
      <p:sp>
        <p:nvSpPr>
          <p:cNvPr id="18" name="Rectangle 17"/>
          <p:cNvSpPr/>
          <p:nvPr/>
        </p:nvSpPr>
        <p:spPr>
          <a:xfrm>
            <a:off x="685800" y="4066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975480"/>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in 1982; listed in 1989.</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Alexander Tedja and the</a:t>
            </a:r>
          </a:p>
          <a:p>
            <a:pPr>
              <a:lnSpc>
                <a:spcPts val="2135"/>
              </a:lnSpc>
              <a:spcBef>
                <a:spcPts val="0"/>
              </a:spcBef>
              <a:spcAft>
                <a:spcPts val="0"/>
              </a:spcAft>
            </a:pPr>
            <a:r>
              <a:rPr sz="1750" b="0" i="0">
                <a:solidFill>
                  <a:srgbClr val="183A32"/>
                </a:solidFill>
                <a:latin typeface="Arial"/>
              </a:rPr>
              <a:t>founding business-family legacy.</a:t>
            </a:r>
          </a:p>
        </p:txBody>
      </p:sp>
      <p:sp>
        <p:nvSpPr>
          <p:cNvPr id="22" name="Rectangle 21"/>
          <p:cNvSpPr/>
          <p:nvPr/>
        </p:nvSpPr>
        <p:spPr>
          <a:xfrm>
            <a:off x="6400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280543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Combine</a:t>
            </a:r>
          </a:p>
          <a:p>
            <a:pPr>
              <a:lnSpc>
                <a:spcPts val="2135"/>
              </a:lnSpc>
              <a:spcBef>
                <a:spcPts val="0"/>
              </a:spcBef>
              <a:spcAft>
                <a:spcPts val="0"/>
              </a:spcAft>
            </a:pPr>
            <a:r>
              <a:rPr sz="1750" b="0" i="0">
                <a:solidFill>
                  <a:srgbClr val="183A32"/>
                </a:solidFill>
                <a:latin typeface="Arial"/>
              </a:rPr>
              <a:t>retained assets that generate recurring income</a:t>
            </a:r>
          </a:p>
          <a:p>
            <a:pPr>
              <a:lnSpc>
                <a:spcPts val="2135"/>
              </a:lnSpc>
              <a:spcBef>
                <a:spcPts val="0"/>
              </a:spcBef>
              <a:spcAft>
                <a:spcPts val="0"/>
              </a:spcAft>
            </a:pPr>
            <a:r>
              <a:rPr sz="1750" b="0" i="0">
                <a:solidFill>
                  <a:srgbClr val="183A32"/>
                </a:solidFill>
                <a:latin typeface="Arial"/>
              </a:rPr>
              <a:t>with property development and sales.</a:t>
            </a:r>
          </a:p>
        </p:txBody>
      </p:sp>
      <p:sp>
        <p:nvSpPr>
          <p:cNvPr id="24" name="TextBox 23"/>
          <p:cNvSpPr txBox="1"/>
          <p:nvPr/>
        </p:nvSpPr>
        <p:spPr>
          <a:xfrm>
            <a:off x="6400800" y="3797173"/>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Relevant projects: Tunjungan City, Pakuwon Mall,</a:t>
            </a:r>
          </a:p>
          <a:p>
            <a:pPr>
              <a:lnSpc>
                <a:spcPts val="2196"/>
              </a:lnSpc>
              <a:spcBef>
                <a:spcPts val="0"/>
              </a:spcBef>
              <a:spcAft>
                <a:spcPts val="0"/>
              </a:spcAft>
            </a:pPr>
            <a:r>
              <a:rPr sz="1800" b="0" i="0">
                <a:solidFill>
                  <a:srgbClr val="183A32"/>
                </a:solidFill>
                <a:latin typeface="Times New Roman"/>
              </a:rPr>
              <a:t>Gandaria City, and Kota Kasablanka.</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history and portfolio, 2025 annual report.</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82–82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Milestones in building recurring income</a:t>
            </a:r>
          </a:p>
        </p:txBody>
      </p:sp>
      <p:graphicFrame>
        <p:nvGraphicFramePr>
          <p:cNvPr id="11" name="Table 10"/>
          <p:cNvGraphicFramePr>
            <a:graphicFrameLocks noGrp="1"/>
          </p:cNvGraphicFramePr>
          <p:nvPr/>
        </p:nvGraphicFramePr>
        <p:xfrm>
          <a:off x="685800" y="2084831"/>
          <a:ext cx="10789919" cy="3034150"/>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Strategic meaning</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1982</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Company established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Beginning of the platform</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1986</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Tunjungan Plaza 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Foundational retained retail asset</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1989</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Public listing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Broader capital access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2007</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Entry into Jakarta</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Geographic expansion</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2010</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Gandaria City opened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Replication of mixed-use development</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2012</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Kota Kasablanka opened</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Further expansion of retained commercial income</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685800" y="532930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REVENUE APPROXIMATELY RP7.11</a:t>
            </a:r>
          </a:p>
        </p:txBody>
      </p:sp>
      <p:sp>
        <p:nvSpPr>
          <p:cNvPr id="13" name="TextBox 1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Pakuwon company history.</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82–82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trillion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SCALE SUPPORTED BY RECURRING OPERATIONS</a:t>
            </a:r>
          </a:p>
        </p:txBody>
      </p:sp>
      <p:sp>
        <p:nvSpPr>
          <p:cNvPr id="12" name="TextBox 11"/>
          <p:cNvSpPr txBox="1"/>
          <p:nvPr/>
        </p:nvSpPr>
        <p:spPr>
          <a:xfrm>
            <a:off x="685800" y="24335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Retained assets became a cumulative income base, rather than being replaced each year</a:t>
            </a:r>
          </a:p>
          <a:p>
            <a:pPr>
              <a:lnSpc>
                <a:spcPts val="2196"/>
              </a:lnSpc>
              <a:spcBef>
                <a:spcPts val="0"/>
              </a:spcBef>
              <a:spcAft>
                <a:spcPts val="0"/>
              </a:spcAft>
            </a:pPr>
            <a:r>
              <a:rPr sz="1800" b="0" i="0">
                <a:solidFill>
                  <a:srgbClr val="183A32"/>
                </a:solidFill>
                <a:latin typeface="Times New Roman"/>
              </a:rPr>
              <a:t>through new sales.</a:t>
            </a:r>
          </a:p>
        </p:txBody>
      </p:sp>
      <p:sp>
        <p:nvSpPr>
          <p:cNvPr id="13" name="TextBox 1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Pakuwon company history.</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82–83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Retain selected commercial assets.</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Develop an attractive tenant mix and visitor proposition.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Maintain and improve the operating assets.</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Use adjacent residential, hotel, and office functions where commercially justified.</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Add further phases or locations when demand and funding support them.</a:t>
            </a:r>
          </a:p>
        </p:txBody>
      </p:sp>
      <p:sp>
        <p:nvSpPr>
          <p:cNvPr id="22" name="TextBox 21"/>
          <p:cNvSpPr txBox="1"/>
          <p:nvPr/>
        </p:nvSpPr>
        <p:spPr>
          <a:xfrm>
            <a:off x="685800" y="4680839"/>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An operating asset can generate income repeatedly, reducing reliance on new development</a:t>
            </a:r>
          </a:p>
          <a:p>
            <a:pPr>
              <a:lnSpc>
                <a:spcPts val="2196"/>
              </a:lnSpc>
              <a:spcBef>
                <a:spcPts val="0"/>
              </a:spcBef>
              <a:spcAft>
                <a:spcPts val="0"/>
              </a:spcAft>
            </a:pPr>
            <a:r>
              <a:rPr sz="1800" b="0" i="0">
                <a:solidFill>
                  <a:srgbClr val="183A32"/>
                </a:solidFill>
                <a:latin typeface="Times New Roman"/>
              </a:rPr>
              <a:t>handovers.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82–83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How the growth model works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Trade-off: Retention ties up capital and creates continuing leasing, maintenance, refurbishment, and operating</a:t>
            </a:r>
          </a:p>
          <a:p>
            <a:pPr>
              <a:lnSpc>
                <a:spcPts val="2196"/>
              </a:lnSpc>
              <a:spcBef>
                <a:spcPts val="0"/>
              </a:spcBef>
              <a:spcAft>
                <a:spcPts val="0"/>
              </a:spcAft>
            </a:pPr>
            <a:r>
              <a:rPr sz="1800" b="0" i="0">
                <a:solidFill>
                  <a:srgbClr val="183A32"/>
                </a:solidFill>
                <a:latin typeface="Times New Roman"/>
              </a:rPr>
              <a:t>obligations.</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83–83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Financial evidence of the model</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Rp7.11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Recurring revenue: approximately Rp5.62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Recurring share of revenue: approximately 79%</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Rp2.35 trillion</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Total profit for the year: approximately Rp2.76 trillion</a:t>
            </a:r>
          </a:p>
        </p:txBody>
      </p:sp>
      <p:sp>
        <p:nvSpPr>
          <p:cNvPr id="22" name="TextBox 21"/>
          <p:cNvSpPr txBox="1"/>
          <p:nvPr/>
        </p:nvSpPr>
        <p:spPr>
          <a:xfrm>
            <a:off x="685800" y="470827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3" name="TextBox 22"/>
          <p:cNvSpPr txBox="1"/>
          <p:nvPr/>
        </p:nvSpPr>
        <p:spPr>
          <a:xfrm>
            <a:off x="685800" y="502958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Pakuwon provides a useful example of a large recurring-income base. This is different from assuming that any hotel</a:t>
            </a:r>
          </a:p>
          <a:p>
            <a:pPr>
              <a:lnSpc>
                <a:spcPts val="2196"/>
              </a:lnSpc>
              <a:spcBef>
                <a:spcPts val="0"/>
              </a:spcBef>
              <a:spcAft>
                <a:spcPts val="0"/>
              </a:spcAft>
            </a:pPr>
            <a:r>
              <a:rPr sz="1800" b="0" i="0">
                <a:solidFill>
                  <a:srgbClr val="183A32"/>
                </a:solidFill>
                <a:latin typeface="Times New Roman"/>
              </a:rPr>
              <a:t>or commercial asset will deliver the same economics.</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Pakuwon 2025 annual report — financial highlights and segment discussion.</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83–84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Significant recurring-income platform</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Experience in retail operations and mixed-use development</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destination assets</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Large amount of capital retained in physical assets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Continuing refurbishment and operating expenditure</a:t>
            </a:r>
          </a:p>
        </p:txBody>
      </p:sp>
      <p:sp>
        <p:nvSpPr>
          <p:cNvPr id="21" name="TextBox 20"/>
          <p:cNvSpPr txBox="1"/>
          <p:nvPr/>
        </p:nvSpPr>
        <p:spPr>
          <a:xfrm>
            <a:off x="6336792"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Exposure to retail and consumer activity</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Improving productivity of existing space</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extensions and redevelopment</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Replication where demand is established</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Weaker tenant trading and household spending</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New competing destinations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Financing costs, operating-cost inflation, and execution risk</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84–85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Lessons for TANRISE</a:t>
            </a:r>
          </a:p>
        </p:txBody>
      </p:sp>
      <p:cxnSp>
        <p:nvCxnSpPr>
          <p:cNvPr id="11" name="Connector 10"/>
          <p:cNvCxnSpPr/>
          <p:nvPr/>
        </p:nvCxnSpPr>
        <p:spPr>
          <a:xfrm>
            <a:off x="6062472" y="2084831"/>
            <a:ext cx="0" cy="31318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Build recurring income only where there is</a:t>
            </a:r>
          </a:p>
          <a:p>
            <a:pPr>
              <a:lnSpc>
                <a:spcPts val="2135"/>
              </a:lnSpc>
              <a:spcBef>
                <a:spcPts val="0"/>
              </a:spcBef>
              <a:spcAft>
                <a:spcPts val="0"/>
              </a:spcAft>
            </a:pPr>
            <a:r>
              <a:rPr sz="1750" b="0" i="0">
                <a:solidFill>
                  <a:srgbClr val="183A32"/>
                </a:solidFill>
                <a:latin typeface="Arial"/>
              </a:rPr>
              <a:t>demonstrable demand and operating capability.</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Measure cash contribution after maintenance and</a:t>
            </a:r>
          </a:p>
          <a:p>
            <a:pPr>
              <a:lnSpc>
                <a:spcPts val="2135"/>
              </a:lnSpc>
              <a:spcBef>
                <a:spcPts val="0"/>
              </a:spcBef>
              <a:spcAft>
                <a:spcPts val="0"/>
              </a:spcAft>
            </a:pPr>
            <a:r>
              <a:rPr sz="1750" b="0" i="0">
                <a:solidFill>
                  <a:srgbClr val="183A32"/>
                </a:solidFill>
                <a:latin typeface="Arial"/>
              </a:rPr>
              <a:t>necessary reinvestment.</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Separate an attractive building from an attractive</a:t>
            </a:r>
          </a:p>
          <a:p>
            <a:pPr>
              <a:lnSpc>
                <a:spcPts val="2135"/>
              </a:lnSpc>
              <a:spcBef>
                <a:spcPts val="0"/>
              </a:spcBef>
              <a:spcAft>
                <a:spcPts val="0"/>
              </a:spcAft>
            </a:pPr>
            <a:r>
              <a:rPr sz="1750" b="0" i="0">
                <a:solidFill>
                  <a:srgbClr val="183A32"/>
                </a:solidFill>
                <a:latin typeface="Arial"/>
              </a:rPr>
              <a:t>investment.</a:t>
            </a:r>
          </a:p>
        </p:txBody>
      </p:sp>
      <p:sp>
        <p:nvSpPr>
          <p:cNvPr id="19" name="Rectangle 18"/>
          <p:cNvSpPr/>
          <p:nvPr/>
        </p:nvSpPr>
        <p:spPr>
          <a:xfrm>
            <a:off x="685800" y="468680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Improve the productivity of existing retained</a:t>
            </a:r>
          </a:p>
          <a:p>
            <a:pPr>
              <a:lnSpc>
                <a:spcPts val="2135"/>
              </a:lnSpc>
              <a:spcBef>
                <a:spcPts val="0"/>
              </a:spcBef>
              <a:spcAft>
                <a:spcPts val="0"/>
              </a:spcAft>
            </a:pPr>
            <a:r>
              <a:rPr sz="1750" b="0" i="0">
                <a:solidFill>
                  <a:srgbClr val="183A32"/>
                </a:solidFill>
                <a:latin typeface="Arial"/>
              </a:rPr>
              <a:t>assets before expanding the category.</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Use specialist operators where they improve</a:t>
            </a:r>
          </a:p>
          <a:p>
            <a:pPr>
              <a:lnSpc>
                <a:spcPts val="2135"/>
              </a:lnSpc>
              <a:spcBef>
                <a:spcPts val="0"/>
              </a:spcBef>
              <a:spcAft>
                <a:spcPts val="0"/>
              </a:spcAft>
            </a:pPr>
            <a:r>
              <a:rPr sz="1750" b="0" i="0">
                <a:solidFill>
                  <a:srgbClr val="183A32"/>
                </a:solidFill>
                <a:latin typeface="Arial"/>
              </a:rPr>
              <a:t>outcomes under clear contracts.</a:t>
            </a:r>
          </a:p>
        </p:txBody>
      </p:sp>
      <p:sp>
        <p:nvSpPr>
          <p:cNvPr id="23" name="Rectangle 22"/>
          <p:cNvSpPr/>
          <p:nvPr/>
        </p:nvSpPr>
        <p:spPr>
          <a:xfrm>
            <a:off x="6400800" y="2805430"/>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Review TANRISE’s retained assets by</a:t>
            </a:r>
          </a:p>
          <a:p>
            <a:pPr>
              <a:lnSpc>
                <a:spcPts val="2013"/>
              </a:lnSpc>
              <a:spcBef>
                <a:spcPts val="0"/>
              </a:spcBef>
              <a:spcAft>
                <a:spcPts val="0"/>
              </a:spcAft>
            </a:pPr>
            <a:r>
              <a:rPr sz="1650" b="0" i="0">
                <a:solidFill>
                  <a:srgbClr val="183A32"/>
                </a:solidFill>
                <a:latin typeface="Times New Roman"/>
              </a:rPr>
              <a:t>occupancy, cash contribution, required capital</a:t>
            </a:r>
          </a:p>
          <a:p>
            <a:pPr>
              <a:lnSpc>
                <a:spcPts val="2013"/>
              </a:lnSpc>
              <a:spcBef>
                <a:spcPts val="0"/>
              </a:spcBef>
              <a:spcAft>
                <a:spcPts val="0"/>
              </a:spcAft>
            </a:pPr>
            <a:r>
              <a:rPr sz="1650" b="0" i="0">
                <a:solidFill>
                  <a:srgbClr val="183A32"/>
                </a:solidFill>
                <a:latin typeface="Times New Roman"/>
              </a:rPr>
              <a:t>expenditure, and return on invested capital.</a:t>
            </a:r>
          </a:p>
        </p:txBody>
      </p:sp>
      <p:sp>
        <p:nvSpPr>
          <p:cNvPr id="26" name="Rectangle 25"/>
          <p:cNvSpPr/>
          <p:nvPr/>
        </p:nvSpPr>
        <p:spPr>
          <a:xfrm>
            <a:off x="6400800" y="3889565"/>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889565"/>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971861"/>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Attempting to build a</a:t>
            </a:r>
          </a:p>
          <a:p>
            <a:pPr>
              <a:lnSpc>
                <a:spcPts val="2013"/>
              </a:lnSpc>
              <a:spcBef>
                <a:spcPts val="0"/>
              </a:spcBef>
              <a:spcAft>
                <a:spcPts val="0"/>
              </a:spcAft>
            </a:pPr>
            <a:r>
              <a:rPr sz="1650" b="0" i="0">
                <a:solidFill>
                  <a:srgbClr val="183A32"/>
                </a:solidFill>
                <a:latin typeface="Times New Roman"/>
              </a:rPr>
              <a:t>Pakuwon-sized retail portfolio.</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85–85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Company background and 5W1H</a:t>
            </a:r>
          </a:p>
        </p:txBody>
      </p:sp>
      <p:cxnSp>
        <p:nvCxnSpPr>
          <p:cNvPr id="11" name="Connector 10"/>
          <p:cNvCxnSpPr/>
          <p:nvPr/>
        </p:nvCxnSpPr>
        <p:spPr>
          <a:xfrm>
            <a:off x="6062472" y="2084831"/>
            <a:ext cx="0" cy="308210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Agung Podomoro Land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Residential and mixed-use development,</a:t>
            </a:r>
          </a:p>
          <a:p>
            <a:pPr>
              <a:lnSpc>
                <a:spcPts val="2135"/>
              </a:lnSpc>
              <a:spcBef>
                <a:spcPts val="0"/>
              </a:spcBef>
              <a:spcAft>
                <a:spcPts val="0"/>
              </a:spcAft>
            </a:pPr>
            <a:r>
              <a:rPr sz="1750" b="0" i="0">
                <a:solidFill>
                  <a:srgbClr val="183A32"/>
                </a:solidFill>
                <a:latin typeface="Arial"/>
              </a:rPr>
              <a:t>with development sales and selected recurring</a:t>
            </a:r>
          </a:p>
          <a:p>
            <a:pPr>
              <a:lnSpc>
                <a:spcPts val="2135"/>
              </a:lnSpc>
              <a:spcBef>
                <a:spcPts val="0"/>
              </a:spcBef>
              <a:spcAft>
                <a:spcPts val="0"/>
              </a:spcAft>
            </a:pPr>
            <a:r>
              <a:rPr sz="1750" b="0" i="0">
                <a:solidFill>
                  <a:srgbClr val="183A32"/>
                </a:solidFill>
                <a:latin typeface="Arial"/>
              </a:rPr>
              <a:t>assets.</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A portfolio extending beyond its original</a:t>
            </a:r>
          </a:p>
          <a:p>
            <a:pPr>
              <a:lnSpc>
                <a:spcPts val="2135"/>
              </a:lnSpc>
              <a:spcBef>
                <a:spcPts val="0"/>
              </a:spcBef>
              <a:spcAft>
                <a:spcPts val="0"/>
              </a:spcAft>
            </a:pPr>
            <a:r>
              <a:rPr sz="1750" b="0" i="0">
                <a:solidFill>
                  <a:srgbClr val="183A32"/>
                </a:solidFill>
                <a:latin typeface="Arial"/>
              </a:rPr>
              <a:t>Jakarta base.</a:t>
            </a:r>
          </a:p>
        </p:txBody>
      </p:sp>
      <p:sp>
        <p:nvSpPr>
          <p:cNvPr id="18" name="Rectangle 17"/>
          <p:cNvSpPr/>
          <p:nvPr/>
        </p:nvSpPr>
        <p:spPr>
          <a:xfrm>
            <a:off x="685800" y="433806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4662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The group traces its origins to 1969; the</a:t>
            </a:r>
          </a:p>
          <a:p>
            <a:pPr>
              <a:lnSpc>
                <a:spcPts val="2135"/>
              </a:lnSpc>
              <a:spcBef>
                <a:spcPts val="0"/>
              </a:spcBef>
              <a:spcAft>
                <a:spcPts val="0"/>
              </a:spcAft>
            </a:pPr>
            <a:r>
              <a:rPr sz="1750" b="0" i="0">
                <a:solidFill>
                  <a:srgbClr val="183A32"/>
                </a:solidFill>
                <a:latin typeface="Arial"/>
              </a:rPr>
              <a:t>listed issuer was established in 2004 and listed in</a:t>
            </a:r>
          </a:p>
          <a:p>
            <a:pPr>
              <a:lnSpc>
                <a:spcPts val="2135"/>
              </a:lnSpc>
              <a:spcBef>
                <a:spcPts val="0"/>
              </a:spcBef>
              <a:spcAft>
                <a:spcPts val="0"/>
              </a:spcAft>
            </a:pPr>
            <a:r>
              <a:rPr sz="1750" b="0" i="0">
                <a:solidFill>
                  <a:srgbClr val="183A32"/>
                </a:solidFill>
                <a:latin typeface="Arial"/>
              </a:rPr>
              <a:t>2010.</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Group founder Anton Haliman</a:t>
            </a:r>
          </a:p>
          <a:p>
            <a:pPr>
              <a:lnSpc>
                <a:spcPts val="2135"/>
              </a:lnSpc>
              <a:spcBef>
                <a:spcPts val="0"/>
              </a:spcBef>
              <a:spcAft>
                <a:spcPts val="0"/>
              </a:spcAft>
            </a:pPr>
            <a:r>
              <a:rPr sz="1750" b="0" i="0">
                <a:solidFill>
                  <a:srgbClr val="183A32"/>
                </a:solidFill>
                <a:latin typeface="Arial"/>
              </a:rPr>
              <a:t>and subsequent leadership associated with</a:t>
            </a:r>
          </a:p>
          <a:p>
            <a:pPr>
              <a:lnSpc>
                <a:spcPts val="2135"/>
              </a:lnSpc>
              <a:spcBef>
                <a:spcPts val="0"/>
              </a:spcBef>
              <a:spcAft>
                <a:spcPts val="0"/>
              </a:spcAft>
            </a:pPr>
            <a:r>
              <a:rPr sz="1750" b="0" i="0">
                <a:solidFill>
                  <a:srgbClr val="183A32"/>
                </a:solidFill>
                <a:latin typeface="Arial"/>
              </a:rPr>
              <a:t>Trihatma Kusuma Haliman.</a:t>
            </a:r>
          </a:p>
        </p:txBody>
      </p:sp>
      <p:sp>
        <p:nvSpPr>
          <p:cNvPr id="22" name="Rectangle 21"/>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076574"/>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Combine</a:t>
            </a:r>
          </a:p>
          <a:p>
            <a:pPr>
              <a:lnSpc>
                <a:spcPts val="2135"/>
              </a:lnSpc>
              <a:spcBef>
                <a:spcPts val="0"/>
              </a:spcBef>
              <a:spcAft>
                <a:spcPts val="0"/>
              </a:spcAft>
            </a:pPr>
            <a:r>
              <a:rPr sz="1750" b="0" i="0">
                <a:solidFill>
                  <a:srgbClr val="183A32"/>
                </a:solidFill>
                <a:latin typeface="Arial"/>
              </a:rPr>
              <a:t>multiple uses within developments, supported by</a:t>
            </a:r>
          </a:p>
          <a:p>
            <a:pPr>
              <a:lnSpc>
                <a:spcPts val="2135"/>
              </a:lnSpc>
              <a:spcBef>
                <a:spcPts val="0"/>
              </a:spcBef>
              <a:spcAft>
                <a:spcPts val="0"/>
              </a:spcAft>
            </a:pPr>
            <a:r>
              <a:rPr sz="1750" b="0" i="0">
                <a:solidFill>
                  <a:srgbClr val="183A32"/>
                </a:solidFill>
                <a:latin typeface="Arial"/>
              </a:rPr>
              <a:t>development execution and selective retention of</a:t>
            </a:r>
          </a:p>
          <a:p>
            <a:pPr>
              <a:lnSpc>
                <a:spcPts val="2135"/>
              </a:lnSpc>
              <a:spcBef>
                <a:spcPts val="0"/>
              </a:spcBef>
              <a:spcAft>
                <a:spcPts val="0"/>
              </a:spcAft>
            </a:pPr>
            <a:r>
              <a:rPr sz="1750" b="0" i="0">
                <a:solidFill>
                  <a:srgbClr val="183A32"/>
                </a:solidFill>
                <a:latin typeface="Arial"/>
              </a:rPr>
              <a:t>operating assets.</a:t>
            </a:r>
          </a:p>
        </p:txBody>
      </p:sp>
      <p:sp>
        <p:nvSpPr>
          <p:cNvPr id="24" name="TextBox 23"/>
          <p:cNvSpPr txBox="1"/>
          <p:nvPr/>
        </p:nvSpPr>
        <p:spPr>
          <a:xfrm>
            <a:off x="6400800" y="4339463"/>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Key distinction: Group heritage is older than the listed</a:t>
            </a:r>
          </a:p>
          <a:p>
            <a:pPr>
              <a:lnSpc>
                <a:spcPts val="2196"/>
              </a:lnSpc>
              <a:spcBef>
                <a:spcPts val="0"/>
              </a:spcBef>
              <a:spcAft>
                <a:spcPts val="0"/>
              </a:spcAft>
            </a:pPr>
            <a:r>
              <a:rPr sz="1800" b="0" i="0">
                <a:solidFill>
                  <a:srgbClr val="183A32"/>
                </a:solidFill>
                <a:latin typeface="Times New Roman"/>
              </a:rPr>
              <a:t>company.</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Group history, issuer overview.</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85–86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Milestones and changing emphasis</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1969: Agung Podomoro Group established.</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1973: Early Simprug completion and Sunter development.</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1986: Leadership transition to Trihatma Kusuma Haliman.</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2004: Establishment of the entity that became APLN.</a:t>
            </a:r>
          </a:p>
        </p:txBody>
      </p:sp>
      <p:sp>
        <p:nvSpPr>
          <p:cNvPr id="19" name="Rectangle 18"/>
          <p:cNvSpPr/>
          <p:nvPr/>
        </p:nvSpPr>
        <p:spPr>
          <a:xfrm>
            <a:off x="685800" y="39740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38826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2010: Asset consolidation and stock-market listing.</a:t>
            </a:r>
          </a:p>
        </p:txBody>
      </p:sp>
      <p:sp>
        <p:nvSpPr>
          <p:cNvPr id="21" name="Rectangle 20"/>
          <p:cNvSpPr/>
          <p:nvPr/>
        </p:nvSpPr>
        <p:spPr>
          <a:xfrm>
            <a:off x="685800" y="44235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3320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Subsequent period: Expansion through urban mixed-use and residential projects.</a:t>
            </a:r>
          </a:p>
        </p:txBody>
      </p:sp>
      <p:sp>
        <p:nvSpPr>
          <p:cNvPr id="23" name="Rectangle 22"/>
          <p:cNvSpPr/>
          <p:nvPr/>
        </p:nvSpPr>
        <p:spPr>
          <a:xfrm>
            <a:off x="685800" y="487298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478154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Recent period: Greater importance of asset monetisation, funding discipline, and selective development.</a:t>
            </a:r>
          </a:p>
        </p:txBody>
      </p:sp>
      <p:sp>
        <p:nvSpPr>
          <p:cNvPr id="25" name="TextBox 24"/>
          <p:cNvSpPr txBox="1"/>
          <p:nvPr/>
        </p:nvSpPr>
        <p:spPr>
          <a:xfrm>
            <a:off x="685800" y="523100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Large accumulated portfolios create both opportunities and capital-management obligations.</a:t>
            </a:r>
          </a:p>
        </p:txBody>
      </p:sp>
      <p:sp>
        <p:nvSpPr>
          <p:cNvPr id="26" name="TextBox 25"/>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history, 2025 annual report.</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86–86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How the model creates value</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mixed-use project can combine:</a:t>
            </a:r>
          </a:p>
        </p:txBody>
      </p:sp>
      <p:sp>
        <p:nvSpPr>
          <p:cNvPr id="13" name="Rectangle 12"/>
          <p:cNvSpPr/>
          <p:nvPr/>
        </p:nvSpPr>
        <p:spPr>
          <a:xfrm>
            <a:off x="685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907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Units sold to customers.</a:t>
            </a:r>
          </a:p>
        </p:txBody>
      </p:sp>
      <p:sp>
        <p:nvSpPr>
          <p:cNvPr id="15" name="Rectangle 14"/>
          <p:cNvSpPr/>
          <p:nvPr/>
        </p:nvSpPr>
        <p:spPr>
          <a:xfrm>
            <a:off x="685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3402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Retained space that produces operating income.</a:t>
            </a:r>
          </a:p>
        </p:txBody>
      </p:sp>
      <p:sp>
        <p:nvSpPr>
          <p:cNvPr id="17" name="Rectangle 16"/>
          <p:cNvSpPr/>
          <p:nvPr/>
        </p:nvSpPr>
        <p:spPr>
          <a:xfrm>
            <a:off x="685800" y="38811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896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Shared access, infrastructure, and public areas.</a:t>
            </a:r>
          </a:p>
        </p:txBody>
      </p:sp>
      <p:sp>
        <p:nvSpPr>
          <p:cNvPr id="19" name="Rectangle 18"/>
          <p:cNvSpPr/>
          <p:nvPr/>
        </p:nvSpPr>
        <p:spPr>
          <a:xfrm>
            <a:off x="685800" y="43305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2391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Commercial activity that supports surrounding property.</a:t>
            </a:r>
          </a:p>
        </p:txBody>
      </p:sp>
      <p:sp>
        <p:nvSpPr>
          <p:cNvPr id="21" name="TextBox 20"/>
          <p:cNvSpPr txBox="1"/>
          <p:nvPr/>
        </p:nvSpPr>
        <p:spPr>
          <a:xfrm>
            <a:off x="685800" y="468858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Potential advantage: Several uses can reinforce one another within a relatively concentrated site.</a:t>
            </a:r>
          </a:p>
        </p:txBody>
      </p:sp>
      <p:sp>
        <p:nvSpPr>
          <p:cNvPr id="22" name="TextBox 21"/>
          <p:cNvSpPr txBox="1"/>
          <p:nvPr/>
        </p:nvSpPr>
        <p:spPr>
          <a:xfrm>
            <a:off x="685800" y="514578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Potential weakness: Complex projects increase construction, leasing, phasing, financing, and governance</a:t>
            </a:r>
          </a:p>
          <a:p>
            <a:pPr>
              <a:lnSpc>
                <a:spcPts val="2196"/>
              </a:lnSpc>
              <a:spcBef>
                <a:spcPts val="0"/>
              </a:spcBef>
              <a:spcAft>
                <a:spcPts val="0"/>
              </a:spcAft>
            </a:pPr>
            <a:r>
              <a:rPr sz="1800" b="0" i="0">
                <a:solidFill>
                  <a:srgbClr val="183A32"/>
                </a:solidFill>
                <a:latin typeface="Times New Roman"/>
              </a:rPr>
              <a:t>requirements.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86–86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How the model creates value</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Research distinction: Selling a completed operating asset can release capital, but it may also reduce future recurring</a:t>
            </a:r>
          </a:p>
          <a:p>
            <a:pPr>
              <a:lnSpc>
                <a:spcPts val="2196"/>
              </a:lnSpc>
              <a:spcBef>
                <a:spcPts val="0"/>
              </a:spcBef>
              <a:spcAft>
                <a:spcPts val="0"/>
              </a:spcAft>
            </a:pPr>
            <a:r>
              <a:rPr sz="1800" b="0" i="0">
                <a:solidFill>
                  <a:srgbClr val="183A32"/>
                </a:solidFill>
                <a:latin typeface="Times New Roman"/>
              </a:rPr>
              <a:t>income.</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86–87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Financial scale and variability</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Rp3.57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Rp5.58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Recurring revenue: approximately Rp1.36 trillion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approximately Rp113 billion</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Total profit for the year: approximately Rp239 billion</a:t>
            </a:r>
          </a:p>
        </p:txBody>
      </p:sp>
      <p:sp>
        <p:nvSpPr>
          <p:cNvPr id="22" name="TextBox 21"/>
          <p:cNvSpPr txBox="1"/>
          <p:nvPr/>
        </p:nvSpPr>
        <p:spPr>
          <a:xfrm>
            <a:off x="685800" y="470827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3" name="TextBox 22"/>
          <p:cNvSpPr txBox="1"/>
          <p:nvPr/>
        </p:nvSpPr>
        <p:spPr>
          <a:xfrm>
            <a:off x="685800" y="502958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sizeable physical portfolio does not automatically produce high attributable earnings.</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APLN 2025 annual report — financial highlights and operating review.</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86–87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Financial scale and variability</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year-to-year decline requires examination of handovers, asset disposals, financing, and operating mix—not a</a:t>
            </a:r>
          </a:p>
          <a:p>
            <a:pPr>
              <a:lnSpc>
                <a:spcPts val="2196"/>
              </a:lnSpc>
              <a:spcBef>
                <a:spcPts val="0"/>
              </a:spcBef>
              <a:spcAft>
                <a:spcPts val="0"/>
              </a:spcAft>
            </a:pPr>
            <a:r>
              <a:rPr sz="1800" b="0" i="0">
                <a:solidFill>
                  <a:srgbClr val="183A32"/>
                </a:solidFill>
                <a:latin typeface="Times New Roman"/>
              </a:rPr>
              <a:t>conclusion that the brand alone weakened.</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APLN 2025 annual report — financial highlights and operating review.</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87–88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Mixed-use development experience</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Recognisable projects and accumulated assets</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Ability to combine sale and retained components</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Complex development and financing requirements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Asset monetisation may reduce future operating income</a:t>
            </a:r>
          </a:p>
        </p:txBody>
      </p:sp>
      <p:sp>
        <p:nvSpPr>
          <p:cNvPr id="21" name="TextBox 20"/>
          <p:cNvSpPr txBox="1"/>
          <p:nvPr/>
        </p:nvSpPr>
        <p:spPr>
          <a:xfrm>
            <a:off x="6336792" y="3101086"/>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Portfolio size can exceed available capital or management</a:t>
            </a:r>
          </a:p>
          <a:p>
            <a:pPr>
              <a:lnSpc>
                <a:spcPts val="1769"/>
              </a:lnSpc>
              <a:spcBef>
                <a:spcPts val="0"/>
              </a:spcBef>
              <a:spcAft>
                <a:spcPts val="0"/>
              </a:spcAft>
            </a:pPr>
            <a:r>
              <a:rPr sz="1450" b="0" i="0">
                <a:solidFill>
                  <a:srgbClr val="183A32"/>
                </a:solidFill>
                <a:latin typeface="Arial"/>
              </a:rPr>
              <a:t>capacity</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More focused allocation of capital</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Partnerships and asset recycling</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growth in suitable residential locations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Slow absorption of high-rise inventory</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Refinancing and construction-cost pressures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Retail, office, or residential oversupply in individual markets</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88–88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Lessons for TANRISE</a:t>
            </a:r>
          </a:p>
        </p:txBody>
      </p:sp>
      <p:cxnSp>
        <p:nvCxnSpPr>
          <p:cNvPr id="11" name="Connector 10"/>
          <p:cNvCxnSpPr/>
          <p:nvPr/>
        </p:nvCxnSpPr>
        <p:spPr>
          <a:xfrm>
            <a:off x="6062472" y="2084831"/>
            <a:ext cx="0" cy="31318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Give every major development a complete</a:t>
            </a:r>
          </a:p>
          <a:p>
            <a:pPr>
              <a:lnSpc>
                <a:spcPts val="2135"/>
              </a:lnSpc>
              <a:spcBef>
                <a:spcPts val="0"/>
              </a:spcBef>
              <a:spcAft>
                <a:spcPts val="0"/>
              </a:spcAft>
            </a:pPr>
            <a:r>
              <a:rPr sz="1750" b="0" i="0">
                <a:solidFill>
                  <a:srgbClr val="183A32"/>
                </a:solidFill>
                <a:latin typeface="Arial"/>
              </a:rPr>
              <a:t>funding plan.</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Evaluate retained components separately from</a:t>
            </a:r>
          </a:p>
          <a:p>
            <a:pPr>
              <a:lnSpc>
                <a:spcPts val="2135"/>
              </a:lnSpc>
              <a:spcBef>
                <a:spcPts val="0"/>
              </a:spcBef>
              <a:spcAft>
                <a:spcPts val="0"/>
              </a:spcAft>
            </a:pPr>
            <a:r>
              <a:rPr sz="1750" b="0" i="0">
                <a:solidFill>
                  <a:srgbClr val="183A32"/>
                </a:solidFill>
                <a:latin typeface="Arial"/>
              </a:rPr>
              <a:t>saleable inventory.</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Track capital tied up in completed but</a:t>
            </a:r>
          </a:p>
          <a:p>
            <a:pPr>
              <a:lnSpc>
                <a:spcPts val="2135"/>
              </a:lnSpc>
              <a:spcBef>
                <a:spcPts val="0"/>
              </a:spcBef>
              <a:spcAft>
                <a:spcPts val="0"/>
              </a:spcAft>
            </a:pPr>
            <a:r>
              <a:rPr sz="1750" b="0" i="0">
                <a:solidFill>
                  <a:srgbClr val="183A32"/>
                </a:solidFill>
                <a:latin typeface="Arial"/>
              </a:rPr>
              <a:t>unproductive assets.</a:t>
            </a:r>
          </a:p>
        </p:txBody>
      </p:sp>
      <p:sp>
        <p:nvSpPr>
          <p:cNvPr id="19" name="Rectangle 18"/>
          <p:cNvSpPr/>
          <p:nvPr/>
        </p:nvSpPr>
        <p:spPr>
          <a:xfrm>
            <a:off x="685800" y="468680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Use partnerships or asset recycling where they</a:t>
            </a:r>
          </a:p>
          <a:p>
            <a:pPr>
              <a:lnSpc>
                <a:spcPts val="2135"/>
              </a:lnSpc>
              <a:spcBef>
                <a:spcPts val="0"/>
              </a:spcBef>
              <a:spcAft>
                <a:spcPts val="0"/>
              </a:spcAft>
            </a:pPr>
            <a:r>
              <a:rPr sz="1750" b="0" i="0">
                <a:solidFill>
                  <a:srgbClr val="183A32"/>
                </a:solidFill>
                <a:latin typeface="Arial"/>
              </a:rPr>
              <a:t>improve returns.</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Match portfolio complexity to management</a:t>
            </a:r>
          </a:p>
          <a:p>
            <a:pPr>
              <a:lnSpc>
                <a:spcPts val="2135"/>
              </a:lnSpc>
              <a:spcBef>
                <a:spcPts val="0"/>
              </a:spcBef>
              <a:spcAft>
                <a:spcPts val="0"/>
              </a:spcAft>
            </a:pPr>
            <a:r>
              <a:rPr sz="1750" b="0" i="0">
                <a:solidFill>
                  <a:srgbClr val="183A32"/>
                </a:solidFill>
                <a:latin typeface="Arial"/>
              </a:rPr>
              <a:t>capacity.</a:t>
            </a:r>
          </a:p>
        </p:txBody>
      </p:sp>
      <p:sp>
        <p:nvSpPr>
          <p:cNvPr id="23" name="Rectangle 22"/>
          <p:cNvSpPr/>
          <p:nvPr/>
        </p:nvSpPr>
        <p:spPr>
          <a:xfrm>
            <a:off x="6400800" y="2805430"/>
            <a:ext cx="5074920" cy="1250441"/>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1250441"/>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108203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Establish a capital-productivity review for</a:t>
            </a:r>
          </a:p>
          <a:p>
            <a:pPr>
              <a:lnSpc>
                <a:spcPts val="2013"/>
              </a:lnSpc>
              <a:spcBef>
                <a:spcPts val="0"/>
              </a:spcBef>
              <a:spcAft>
                <a:spcPts val="0"/>
              </a:spcAft>
            </a:pPr>
            <a:r>
              <a:rPr sz="1650" b="0" i="0">
                <a:solidFill>
                  <a:srgbClr val="183A32"/>
                </a:solidFill>
                <a:latin typeface="Times New Roman"/>
              </a:rPr>
              <a:t>Voza Tower and other material inventory or retained</a:t>
            </a:r>
          </a:p>
          <a:p>
            <a:pPr>
              <a:lnSpc>
                <a:spcPts val="2013"/>
              </a:lnSpc>
              <a:spcBef>
                <a:spcPts val="0"/>
              </a:spcBef>
              <a:spcAft>
                <a:spcPts val="0"/>
              </a:spcAft>
            </a:pPr>
            <a:r>
              <a:rPr sz="1650" b="0" i="0">
                <a:solidFill>
                  <a:srgbClr val="183A32"/>
                </a:solidFill>
                <a:latin typeface="Times New Roman"/>
              </a:rPr>
              <a:t>assets, using client-confirmed ownership and operating</a:t>
            </a:r>
          </a:p>
          <a:p>
            <a:pPr>
              <a:lnSpc>
                <a:spcPts val="2013"/>
              </a:lnSpc>
              <a:spcBef>
                <a:spcPts val="0"/>
              </a:spcBef>
              <a:spcAft>
                <a:spcPts val="0"/>
              </a:spcAft>
            </a:pPr>
            <a:r>
              <a:rPr sz="1650" b="0" i="0">
                <a:solidFill>
                  <a:srgbClr val="183A32"/>
                </a:solidFill>
                <a:latin typeface="Times New Roman"/>
              </a:rPr>
              <a:t>data.</a:t>
            </a:r>
          </a:p>
        </p:txBody>
      </p:sp>
      <p:sp>
        <p:nvSpPr>
          <p:cNvPr id="26" name="Rectangle 25"/>
          <p:cNvSpPr/>
          <p:nvPr/>
        </p:nvSpPr>
        <p:spPr>
          <a:xfrm>
            <a:off x="6400800" y="4147312"/>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4147312"/>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4229608"/>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Complex mixed-use</a:t>
            </a:r>
          </a:p>
          <a:p>
            <a:pPr>
              <a:lnSpc>
                <a:spcPts val="2013"/>
              </a:lnSpc>
              <a:spcBef>
                <a:spcPts val="0"/>
              </a:spcBef>
              <a:spcAft>
                <a:spcPts val="0"/>
              </a:spcAft>
            </a:pPr>
            <a:r>
              <a:rPr sz="1650" b="0" i="0">
                <a:solidFill>
                  <a:srgbClr val="183A32"/>
                </a:solidFill>
                <a:latin typeface="Times New Roman"/>
              </a:rPr>
              <a:t>development without a clear sequence of demand,</a:t>
            </a:r>
          </a:p>
          <a:p>
            <a:pPr>
              <a:lnSpc>
                <a:spcPts val="2013"/>
              </a:lnSpc>
              <a:spcBef>
                <a:spcPts val="0"/>
              </a:spcBef>
              <a:spcAft>
                <a:spcPts val="0"/>
              </a:spcAft>
            </a:pPr>
            <a:r>
              <a:rPr sz="1650" b="0" i="0">
                <a:solidFill>
                  <a:srgbClr val="183A32"/>
                </a:solidFill>
                <a:latin typeface="Times New Roman"/>
              </a:rPr>
              <a:t>delivery, and financing.</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88–89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Company background and 5W1H</a:t>
            </a:r>
          </a:p>
        </p:txBody>
      </p:sp>
      <p:cxnSp>
        <p:nvCxnSpPr>
          <p:cNvPr id="11" name="Connector 10"/>
          <p:cNvCxnSpPr/>
          <p:nvPr/>
        </p:nvCxnSpPr>
        <p:spPr>
          <a:xfrm>
            <a:off x="6062472" y="2084831"/>
            <a:ext cx="0" cy="3324226"/>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Duta Pertiwi Tbk, a listed company</a:t>
            </a:r>
          </a:p>
          <a:p>
            <a:pPr>
              <a:lnSpc>
                <a:spcPts val="2135"/>
              </a:lnSpc>
              <a:spcBef>
                <a:spcPts val="0"/>
              </a:spcBef>
              <a:spcAft>
                <a:spcPts val="0"/>
              </a:spcAft>
            </a:pPr>
            <a:r>
              <a:rPr sz="1750" b="0" i="0">
                <a:solidFill>
                  <a:srgbClr val="183A32"/>
                </a:solidFill>
                <a:latin typeface="Arial"/>
              </a:rPr>
              <a:t>within the BSDE/Sinar Mas Land structure.</a:t>
            </a:r>
          </a:p>
        </p:txBody>
      </p:sp>
      <p:sp>
        <p:nvSpPr>
          <p:cNvPr id="14" name="Rectangle 13"/>
          <p:cNvSpPr/>
          <p:nvPr/>
        </p:nvSpPr>
        <p:spPr>
          <a:xfrm>
            <a:off x="685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0543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Township, residential, commercial, and</a:t>
            </a:r>
          </a:p>
          <a:p>
            <a:pPr>
              <a:lnSpc>
                <a:spcPts val="2135"/>
              </a:lnSpc>
              <a:spcBef>
                <a:spcPts val="0"/>
              </a:spcBef>
              <a:spcAft>
                <a:spcPts val="0"/>
              </a:spcAft>
            </a:pPr>
            <a:r>
              <a:rPr sz="1750" b="0" i="0">
                <a:solidFill>
                  <a:srgbClr val="183A32"/>
                </a:solidFill>
                <a:latin typeface="Arial"/>
              </a:rPr>
              <a:t>managed-property activities.</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Greater Jakarta and selected other</a:t>
            </a:r>
          </a:p>
          <a:p>
            <a:pPr>
              <a:lnSpc>
                <a:spcPts val="2135"/>
              </a:lnSpc>
              <a:spcBef>
                <a:spcPts val="0"/>
              </a:spcBef>
              <a:spcAft>
                <a:spcPts val="0"/>
              </a:spcAft>
            </a:pPr>
            <a:r>
              <a:rPr sz="1750" b="0" i="0">
                <a:solidFill>
                  <a:srgbClr val="183A32"/>
                </a:solidFill>
                <a:latin typeface="Arial"/>
              </a:rPr>
              <a:t>Indonesian locations.</a:t>
            </a:r>
          </a:p>
        </p:txBody>
      </p:sp>
      <p:sp>
        <p:nvSpPr>
          <p:cNvPr id="18" name="Rectangle 17"/>
          <p:cNvSpPr/>
          <p:nvPr/>
        </p:nvSpPr>
        <p:spPr>
          <a:xfrm>
            <a:off x="685800" y="433806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46625"/>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in 1972; listed in 1994.</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Its present group context is</a:t>
            </a:r>
          </a:p>
          <a:p>
            <a:pPr>
              <a:lnSpc>
                <a:spcPts val="2135"/>
              </a:lnSpc>
              <a:spcBef>
                <a:spcPts val="0"/>
              </a:spcBef>
              <a:spcAft>
                <a:spcPts val="0"/>
              </a:spcAft>
            </a:pPr>
            <a:r>
              <a:rPr sz="1750" b="0" i="0">
                <a:solidFill>
                  <a:srgbClr val="183A32"/>
                </a:solidFill>
                <a:latin typeface="Arial"/>
              </a:rPr>
              <a:t>Sinar Mas Land through BSDE. Do not invent an</a:t>
            </a:r>
          </a:p>
          <a:p>
            <a:pPr>
              <a:lnSpc>
                <a:spcPts val="2135"/>
              </a:lnSpc>
              <a:spcBef>
                <a:spcPts val="0"/>
              </a:spcBef>
              <a:spcAft>
                <a:spcPts val="0"/>
              </a:spcAft>
            </a:pPr>
            <a:r>
              <a:rPr sz="1750" b="0" i="0">
                <a:solidFill>
                  <a:srgbClr val="183A32"/>
                </a:solidFill>
                <a:latin typeface="Arial"/>
              </a:rPr>
              <a:t>individual founder where the reviewed evidence</a:t>
            </a:r>
          </a:p>
          <a:p>
            <a:pPr>
              <a:lnSpc>
                <a:spcPts val="2135"/>
              </a:lnSpc>
              <a:spcBef>
                <a:spcPts val="0"/>
              </a:spcBef>
              <a:spcAft>
                <a:spcPts val="0"/>
              </a:spcAft>
            </a:pPr>
            <a:r>
              <a:rPr sz="1750" b="0" i="0">
                <a:solidFill>
                  <a:srgbClr val="183A32"/>
                </a:solidFill>
                <a:latin typeface="Arial"/>
              </a:rPr>
              <a:t>does not establish one.</a:t>
            </a:r>
          </a:p>
        </p:txBody>
      </p:sp>
      <p:sp>
        <p:nvSpPr>
          <p:cNvPr id="22" name="Rectangle 21"/>
          <p:cNvSpPr/>
          <p:nvPr/>
        </p:nvSpPr>
        <p:spPr>
          <a:xfrm>
            <a:off x="6400800" y="343915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347719"/>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Build on</a:t>
            </a:r>
          </a:p>
          <a:p>
            <a:pPr>
              <a:lnSpc>
                <a:spcPts val="2135"/>
              </a:lnSpc>
              <a:spcBef>
                <a:spcPts val="0"/>
              </a:spcBef>
              <a:spcAft>
                <a:spcPts val="0"/>
              </a:spcAft>
            </a:pPr>
            <a:r>
              <a:rPr sz="1750" b="0" i="0">
                <a:solidFill>
                  <a:srgbClr val="183A32"/>
                </a:solidFill>
                <a:latin typeface="Arial"/>
              </a:rPr>
              <a:t>commercial-development experience while</a:t>
            </a:r>
          </a:p>
          <a:p>
            <a:pPr>
              <a:lnSpc>
                <a:spcPts val="2135"/>
              </a:lnSpc>
              <a:spcBef>
                <a:spcPts val="0"/>
              </a:spcBef>
              <a:spcAft>
                <a:spcPts val="0"/>
              </a:spcAft>
            </a:pPr>
            <a:r>
              <a:rPr sz="1750" b="0" i="0">
                <a:solidFill>
                  <a:srgbClr val="183A32"/>
                </a:solidFill>
                <a:latin typeface="Arial"/>
              </a:rPr>
              <a:t>expanding into residential and township activities.</a:t>
            </a:r>
          </a:p>
        </p:txBody>
      </p:sp>
      <p:sp>
        <p:nvSpPr>
          <p:cNvPr id="24" name="Rectangle 23"/>
          <p:cNvSpPr/>
          <p:nvPr/>
        </p:nvSpPr>
        <p:spPr>
          <a:xfrm>
            <a:off x="6400800" y="4339463"/>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4339463"/>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28816" y="4421759"/>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distinction: DUTI’s financial results are</a:t>
            </a:r>
          </a:p>
          <a:p>
            <a:pPr>
              <a:lnSpc>
                <a:spcPts val="2013"/>
              </a:lnSpc>
              <a:spcBef>
                <a:spcPts val="0"/>
              </a:spcBef>
              <a:spcAft>
                <a:spcPts val="0"/>
              </a:spcAft>
            </a:pPr>
            <a:r>
              <a:rPr sz="1650" b="0" i="0">
                <a:solidFill>
                  <a:srgbClr val="183A32"/>
                </a:solidFill>
                <a:latin typeface="Times New Roman"/>
              </a:rPr>
              <a:t>consolidated within BSDE.</a:t>
            </a:r>
          </a:p>
        </p:txBody>
      </p:sp>
      <p:sp>
        <p:nvSpPr>
          <p:cNvPr id="27" name="TextBox 26"/>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DUTI 2025 annual report — company profile and ownership.</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89–90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Milestones</a:t>
            </a:r>
          </a:p>
        </p:txBody>
      </p:sp>
      <p:graphicFrame>
        <p:nvGraphicFramePr>
          <p:cNvPr id="11" name="Table 10"/>
          <p:cNvGraphicFramePr>
            <a:graphicFrameLocks noGrp="1"/>
          </p:cNvGraphicFramePr>
          <p:nvPr/>
        </p:nvGraphicFramePr>
        <p:xfrm>
          <a:off x="685800" y="2084831"/>
          <a:ext cx="10789919" cy="34676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1972</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Company established</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1987</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Early commercial and residential development</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1989</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Development of the Mangga Dua commercial concept</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1994</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Public listing</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1996–1997</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Kota Wisata and Legenda Wisata development milestones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2010</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Acquisition into BSDE’s consolidated platform</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Subsequent period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Further township and commercial-asset development</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DUTI history, BSDE history.</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89–90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Milestones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Research caution: An official group webpage compresses the establishment and later ownership chronology. The</a:t>
            </a:r>
          </a:p>
          <a:p>
            <a:pPr>
              <a:lnSpc>
                <a:spcPts val="2196"/>
              </a:lnSpc>
              <a:spcBef>
                <a:spcPts val="0"/>
              </a:spcBef>
              <a:spcAft>
                <a:spcPts val="0"/>
              </a:spcAft>
            </a:pPr>
            <a:r>
              <a:rPr sz="1800" b="0" i="0">
                <a:solidFill>
                  <a:srgbClr val="183A32"/>
                </a:solidFill>
                <a:latin typeface="Times New Roman"/>
              </a:rPr>
              <a:t>presentation should not imply that DUTI was founded in 1972 as a subsidiary of BSDE, which was established later.</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DUTI history, BSDE history.</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90–90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How the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DUTI illustrates the interaction between:</a:t>
            </a:r>
          </a:p>
        </p:txBody>
      </p:sp>
      <p:sp>
        <p:nvSpPr>
          <p:cNvPr id="13" name="Rectangle 12"/>
          <p:cNvSpPr/>
          <p:nvPr/>
        </p:nvSpPr>
        <p:spPr>
          <a:xfrm>
            <a:off x="685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907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Property developed for sale.</a:t>
            </a:r>
          </a:p>
        </p:txBody>
      </p:sp>
      <p:sp>
        <p:nvSpPr>
          <p:cNvPr id="15" name="Rectangle 14"/>
          <p:cNvSpPr/>
          <p:nvPr/>
        </p:nvSpPr>
        <p:spPr>
          <a:xfrm>
            <a:off x="685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3402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Commercial properties and related activities.</a:t>
            </a:r>
          </a:p>
        </p:txBody>
      </p:sp>
      <p:sp>
        <p:nvSpPr>
          <p:cNvPr id="17" name="Rectangle 16"/>
          <p:cNvSpPr/>
          <p:nvPr/>
        </p:nvSpPr>
        <p:spPr>
          <a:xfrm>
            <a:off x="685800" y="38811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896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Township expansion.</a:t>
            </a:r>
          </a:p>
        </p:txBody>
      </p:sp>
      <p:sp>
        <p:nvSpPr>
          <p:cNvPr id="19" name="Rectangle 18"/>
          <p:cNvSpPr/>
          <p:nvPr/>
        </p:nvSpPr>
        <p:spPr>
          <a:xfrm>
            <a:off x="685800" y="43305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2391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Capabilities and resources available within a larger group.</a:t>
            </a:r>
          </a:p>
        </p:txBody>
      </p:sp>
      <p:sp>
        <p:nvSpPr>
          <p:cNvPr id="21" name="TextBox 20"/>
          <p:cNvSpPr txBox="1"/>
          <p:nvPr/>
        </p:nvSpPr>
        <p:spPr>
          <a:xfrm>
            <a:off x="685800" y="468858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Experience accumulated across different property formats can support new development</a:t>
            </a:r>
          </a:p>
          <a:p>
            <a:pPr>
              <a:lnSpc>
                <a:spcPts val="2196"/>
              </a:lnSpc>
              <a:spcBef>
                <a:spcPts val="0"/>
              </a:spcBef>
              <a:spcAft>
                <a:spcPts val="0"/>
              </a:spcAft>
            </a:pPr>
            <a:r>
              <a:rPr sz="1800" b="0" i="0">
                <a:solidFill>
                  <a:srgbClr val="183A32"/>
                </a:solidFill>
                <a:latin typeface="Times New Roman"/>
              </a:rPr>
              <a:t>phases.</a:t>
            </a:r>
          </a:p>
        </p:txBody>
      </p:sp>
      <p:sp>
        <p:nvSpPr>
          <p:cNvPr id="22" name="TextBox 2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90–90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How the model works</a:t>
            </a:r>
          </a:p>
        </p:txBody>
      </p:sp>
      <p:sp>
        <p:nvSpPr>
          <p:cNvPr id="11" name="Rectangle 10"/>
          <p:cNvSpPr/>
          <p:nvPr/>
        </p:nvSpPr>
        <p:spPr>
          <a:xfrm>
            <a:off x="685800" y="2084831"/>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084831"/>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2167127"/>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Important qualification: Affiliation does not make capital free, eliminate minority-shareholder interests, or guarantee equal</a:t>
            </a:r>
          </a:p>
          <a:p>
            <a:pPr>
              <a:lnSpc>
                <a:spcPts val="2013"/>
              </a:lnSpc>
              <a:spcBef>
                <a:spcPts val="0"/>
              </a:spcBef>
              <a:spcAft>
                <a:spcPts val="0"/>
              </a:spcAft>
            </a:pPr>
            <a:r>
              <a:rPr sz="1650" b="0" i="0">
                <a:solidFill>
                  <a:srgbClr val="183A32"/>
                </a:solidFill>
                <a:latin typeface="Times New Roman"/>
              </a:rPr>
              <a:t>profitability across projects.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90–91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Financial scale and consolidation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Rp2.73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Rp4.42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approximately Rp422 billion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Total profit for the year: approximately Rp624 billion</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DUTI is a useful operating case, but counting it independently alongside BSDE creates an overlap when assessing</a:t>
            </a:r>
          </a:p>
          <a:p>
            <a:pPr>
              <a:lnSpc>
                <a:spcPts val="2196"/>
              </a:lnSpc>
              <a:spcBef>
                <a:spcPts val="0"/>
              </a:spcBef>
              <a:spcAft>
                <a:spcPts val="0"/>
              </a:spcAft>
            </a:pPr>
            <a:r>
              <a:rPr sz="1800" b="0" i="0">
                <a:solidFill>
                  <a:srgbClr val="183A32"/>
                </a:solidFill>
                <a:latin typeface="Times New Roman"/>
              </a:rPr>
              <a:t>developer groups.</a:t>
            </a:r>
          </a:p>
        </p:txBody>
      </p:sp>
      <p:sp>
        <p:nvSpPr>
          <p:cNvPr id="22" name="TextBox 21"/>
          <p:cNvSpPr txBox="1"/>
          <p:nvPr/>
        </p:nvSpPr>
        <p:spPr>
          <a:xfrm>
            <a:off x="685800" y="5316219"/>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Comparison rule: Choose either an issuer-based comparison or a group-based comparison, then apply the rule</a:t>
            </a:r>
          </a:p>
          <a:p>
            <a:pPr>
              <a:lnSpc>
                <a:spcPts val="2196"/>
              </a:lnSpc>
              <a:spcBef>
                <a:spcPts val="0"/>
              </a:spcBef>
              <a:spcAft>
                <a:spcPts val="0"/>
              </a:spcAft>
            </a:pPr>
            <a:r>
              <a:rPr sz="1800" b="0" i="0">
                <a:solidFill>
                  <a:srgbClr val="183A32"/>
                </a:solidFill>
                <a:latin typeface="Times New Roman"/>
              </a:rPr>
              <a:t>consistently.</a:t>
            </a:r>
          </a:p>
        </p:txBody>
      </p:sp>
      <p:sp>
        <p:nvSpPr>
          <p:cNvPr id="23" name="TextBox 2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DUTI 2025 annual report — financial highlights.</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91–92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development experience</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Mix of development and managed assets</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Access to a broader group platform</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Complex group and subsidiary comparisons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Development revenue remains sensitive to timing</a:t>
            </a:r>
          </a:p>
        </p:txBody>
      </p:sp>
      <p:sp>
        <p:nvSpPr>
          <p:cNvPr id="21" name="TextBox 20"/>
          <p:cNvSpPr txBox="1"/>
          <p:nvPr/>
        </p:nvSpPr>
        <p:spPr>
          <a:xfrm>
            <a:off x="6336792" y="3101086"/>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Different asset formats require different operating</a:t>
            </a:r>
          </a:p>
          <a:p>
            <a:pPr>
              <a:lnSpc>
                <a:spcPts val="1769"/>
              </a:lnSpc>
              <a:spcBef>
                <a:spcPts val="0"/>
              </a:spcBef>
              <a:spcAft>
                <a:spcPts val="0"/>
              </a:spcAft>
            </a:pPr>
            <a:r>
              <a:rPr sz="1450" b="0" i="0">
                <a:solidFill>
                  <a:srgbClr val="183A32"/>
                </a:solidFill>
                <a:latin typeface="Arial"/>
              </a:rPr>
              <a:t>capabilities</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New phases within established locations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Better productivity of existing assets</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reuse or repositioning of mature properties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Changes in retail and commercial demand</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Competition from newer destinations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Affordability, construction, and financing pressures</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92–92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Lessons for TANRISE</a:t>
            </a:r>
          </a:p>
        </p:txBody>
      </p:sp>
      <p:cxnSp>
        <p:nvCxnSpPr>
          <p:cNvPr id="11" name="Connector 10"/>
          <p:cNvCxnSpPr/>
          <p:nvPr/>
        </p:nvCxnSpPr>
        <p:spPr>
          <a:xfrm>
            <a:off x="6062472" y="2084831"/>
            <a:ext cx="0" cy="31318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Make ownership, operation, and brand</a:t>
            </a:r>
          </a:p>
          <a:p>
            <a:pPr>
              <a:lnSpc>
                <a:spcPts val="2135"/>
              </a:lnSpc>
              <a:spcBef>
                <a:spcPts val="0"/>
              </a:spcBef>
              <a:spcAft>
                <a:spcPts val="0"/>
              </a:spcAft>
            </a:pPr>
            <a:r>
              <a:rPr sz="1750" b="0" i="0">
                <a:solidFill>
                  <a:srgbClr val="183A32"/>
                </a:solidFill>
                <a:latin typeface="Arial"/>
              </a:rPr>
              <a:t>endorsement explicit.</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Establish a single project register across the</a:t>
            </a:r>
          </a:p>
          <a:p>
            <a:pPr>
              <a:lnSpc>
                <a:spcPts val="2135"/>
              </a:lnSpc>
              <a:spcBef>
                <a:spcPts val="0"/>
              </a:spcBef>
              <a:spcAft>
                <a:spcPts val="0"/>
              </a:spcAft>
            </a:pPr>
            <a:r>
              <a:rPr sz="1750" b="0" i="0">
                <a:solidFill>
                  <a:srgbClr val="183A32"/>
                </a:solidFill>
                <a:latin typeface="Arial"/>
              </a:rPr>
              <a:t>relevant TANRISE reporting perimeter.</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Separate management arrangements from asset</a:t>
            </a:r>
          </a:p>
          <a:p>
            <a:pPr>
              <a:lnSpc>
                <a:spcPts val="2135"/>
              </a:lnSpc>
              <a:spcBef>
                <a:spcPts val="0"/>
              </a:spcBef>
              <a:spcAft>
                <a:spcPts val="0"/>
              </a:spcAft>
            </a:pPr>
            <a:r>
              <a:rPr sz="1750" b="0" i="0">
                <a:solidFill>
                  <a:srgbClr val="183A32"/>
                </a:solidFill>
                <a:latin typeface="Arial"/>
              </a:rPr>
              <a:t>ownership.</a:t>
            </a:r>
          </a:p>
        </p:txBody>
      </p:sp>
      <p:sp>
        <p:nvSpPr>
          <p:cNvPr id="19" name="Rectangle 18"/>
          <p:cNvSpPr/>
          <p:nvPr/>
        </p:nvSpPr>
        <p:spPr>
          <a:xfrm>
            <a:off x="685800" y="468680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Report project economics before and after</a:t>
            </a:r>
          </a:p>
          <a:p>
            <a:pPr>
              <a:lnSpc>
                <a:spcPts val="2135"/>
              </a:lnSpc>
              <a:spcBef>
                <a:spcPts val="0"/>
              </a:spcBef>
              <a:spcAft>
                <a:spcPts val="0"/>
              </a:spcAft>
            </a:pPr>
            <a:r>
              <a:rPr sz="1750" b="0" i="0">
                <a:solidFill>
                  <a:srgbClr val="183A32"/>
                </a:solidFill>
                <a:latin typeface="Arial"/>
              </a:rPr>
              <a:t>minority interests.</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Avoid double counting projects, revenue, or</a:t>
            </a:r>
          </a:p>
          <a:p>
            <a:pPr>
              <a:lnSpc>
                <a:spcPts val="2135"/>
              </a:lnSpc>
              <a:spcBef>
                <a:spcPts val="0"/>
              </a:spcBef>
              <a:spcAft>
                <a:spcPts val="0"/>
              </a:spcAft>
            </a:pPr>
            <a:r>
              <a:rPr sz="1750" b="0" i="0">
                <a:solidFill>
                  <a:srgbClr val="183A32"/>
                </a:solidFill>
                <a:latin typeface="Arial"/>
              </a:rPr>
              <a:t>earnings across related platforms.</a:t>
            </a:r>
          </a:p>
        </p:txBody>
      </p:sp>
      <p:sp>
        <p:nvSpPr>
          <p:cNvPr id="23" name="Rectangle 22"/>
          <p:cNvSpPr/>
          <p:nvPr/>
        </p:nvSpPr>
        <p:spPr>
          <a:xfrm>
            <a:off x="6400800" y="2805430"/>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Produce a verified map of TANRISE entities,</a:t>
            </a:r>
          </a:p>
          <a:p>
            <a:pPr>
              <a:lnSpc>
                <a:spcPts val="2013"/>
              </a:lnSpc>
              <a:spcBef>
                <a:spcPts val="0"/>
              </a:spcBef>
              <a:spcAft>
                <a:spcPts val="0"/>
              </a:spcAft>
            </a:pPr>
            <a:r>
              <a:rPr sz="1650" b="0" i="0">
                <a:solidFill>
                  <a:srgbClr val="183A32"/>
                </a:solidFill>
                <a:latin typeface="Times New Roman"/>
              </a:rPr>
              <a:t>project companies, assets, operators, and reporting</a:t>
            </a:r>
          </a:p>
          <a:p>
            <a:pPr>
              <a:lnSpc>
                <a:spcPts val="2013"/>
              </a:lnSpc>
              <a:spcBef>
                <a:spcPts val="0"/>
              </a:spcBef>
              <a:spcAft>
                <a:spcPts val="0"/>
              </a:spcAft>
            </a:pPr>
            <a:r>
              <a:rPr sz="1650" b="0" i="0">
                <a:solidFill>
                  <a:srgbClr val="183A32"/>
                </a:solidFill>
                <a:latin typeface="Times New Roman"/>
              </a:rPr>
              <a:t>treatment.</a:t>
            </a:r>
          </a:p>
        </p:txBody>
      </p:sp>
      <p:sp>
        <p:nvSpPr>
          <p:cNvPr id="26" name="Rectangle 25"/>
          <p:cNvSpPr/>
          <p:nvPr/>
        </p:nvSpPr>
        <p:spPr>
          <a:xfrm>
            <a:off x="6400800" y="3889565"/>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889565"/>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971861"/>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A complicated corporate</a:t>
            </a:r>
          </a:p>
          <a:p>
            <a:pPr>
              <a:lnSpc>
                <a:spcPts val="2013"/>
              </a:lnSpc>
              <a:spcBef>
                <a:spcPts val="0"/>
              </a:spcBef>
              <a:spcAft>
                <a:spcPts val="0"/>
              </a:spcAft>
            </a:pPr>
            <a:r>
              <a:rPr sz="1650" b="0" i="0">
                <a:solidFill>
                  <a:srgbClr val="183A32"/>
                </a:solidFill>
                <a:latin typeface="Times New Roman"/>
              </a:rPr>
              <a:t>architecture without a clear commercial or financing</a:t>
            </a:r>
          </a:p>
          <a:p>
            <a:pPr>
              <a:lnSpc>
                <a:spcPts val="2013"/>
              </a:lnSpc>
              <a:spcBef>
                <a:spcPts val="0"/>
              </a:spcBef>
              <a:spcAft>
                <a:spcPts val="0"/>
              </a:spcAft>
            </a:pPr>
            <a:r>
              <a:rPr sz="1650" b="0" i="0">
                <a:solidFill>
                  <a:srgbClr val="183A32"/>
                </a:solidFill>
                <a:latin typeface="Times New Roman"/>
              </a:rPr>
              <a:t>purpose.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92–93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Company background and 5W1H</a:t>
            </a:r>
          </a:p>
        </p:txBody>
      </p:sp>
      <p:cxnSp>
        <p:nvCxnSpPr>
          <p:cNvPr id="11" name="Connector 10"/>
          <p:cNvCxnSpPr/>
          <p:nvPr/>
        </p:nvCxnSpPr>
        <p:spPr>
          <a:xfrm>
            <a:off x="6062472" y="2084831"/>
            <a:ext cx="0" cy="2926652"/>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Alam Sutera Realty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Integrated residential and commercial</a:t>
            </a:r>
          </a:p>
          <a:p>
            <a:pPr>
              <a:lnSpc>
                <a:spcPts val="2135"/>
              </a:lnSpc>
              <a:spcBef>
                <a:spcPts val="0"/>
              </a:spcBef>
              <a:spcAft>
                <a:spcPts val="0"/>
              </a:spcAft>
            </a:pPr>
            <a:r>
              <a:rPr sz="1750" b="0" i="0">
                <a:solidFill>
                  <a:srgbClr val="183A32"/>
                </a:solidFill>
                <a:latin typeface="Arial"/>
              </a:rPr>
              <a:t>development with selected operating assets.</a:t>
            </a:r>
          </a:p>
        </p:txBody>
      </p:sp>
      <p:sp>
        <p:nvSpPr>
          <p:cNvPr id="16" name="Rectangle 15"/>
          <p:cNvSpPr/>
          <p:nvPr/>
        </p:nvSpPr>
        <p:spPr>
          <a:xfrm>
            <a:off x="685800" y="334632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254883"/>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Principal township identities include Alam</a:t>
            </a:r>
          </a:p>
          <a:p>
            <a:pPr>
              <a:lnSpc>
                <a:spcPts val="2135"/>
              </a:lnSpc>
              <a:spcBef>
                <a:spcPts val="0"/>
              </a:spcBef>
              <a:spcAft>
                <a:spcPts val="0"/>
              </a:spcAft>
            </a:pPr>
            <a:r>
              <a:rPr sz="1750" b="0" i="0">
                <a:solidFill>
                  <a:srgbClr val="183A32"/>
                </a:solidFill>
                <a:latin typeface="Arial"/>
              </a:rPr>
              <a:t>Sutera and Suvarna Sutera; the portfolio also</a:t>
            </a:r>
          </a:p>
          <a:p>
            <a:pPr>
              <a:lnSpc>
                <a:spcPts val="2135"/>
              </a:lnSpc>
              <a:spcBef>
                <a:spcPts val="0"/>
              </a:spcBef>
              <a:spcAft>
                <a:spcPts val="0"/>
              </a:spcAft>
            </a:pPr>
            <a:r>
              <a:rPr sz="1750" b="0" i="0">
                <a:solidFill>
                  <a:srgbClr val="183A32"/>
                </a:solidFill>
                <a:latin typeface="Arial"/>
              </a:rPr>
              <a:t>includes GWK Cultural Park in Bali.</a:t>
            </a:r>
          </a:p>
        </p:txBody>
      </p:sp>
      <p:sp>
        <p:nvSpPr>
          <p:cNvPr id="18" name="Rectangle 17"/>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The corporate entity predates the Alam</a:t>
            </a:r>
          </a:p>
          <a:p>
            <a:pPr>
              <a:lnSpc>
                <a:spcPts val="2135"/>
              </a:lnSpc>
              <a:spcBef>
                <a:spcPts val="0"/>
              </a:spcBef>
              <a:spcAft>
                <a:spcPts val="0"/>
              </a:spcAft>
            </a:pPr>
            <a:r>
              <a:rPr sz="1750" b="0" i="0">
                <a:solidFill>
                  <a:srgbClr val="183A32"/>
                </a:solidFill>
                <a:latin typeface="Arial"/>
              </a:rPr>
              <a:t>Sutera development, which began in 1994; public</a:t>
            </a:r>
          </a:p>
          <a:p>
            <a:pPr>
              <a:lnSpc>
                <a:spcPts val="2135"/>
              </a:lnSpc>
              <a:spcBef>
                <a:spcPts val="0"/>
              </a:spcBef>
              <a:spcAft>
                <a:spcPts val="0"/>
              </a:spcAft>
            </a:pPr>
            <a:r>
              <a:rPr sz="1750" b="0" i="0">
                <a:solidFill>
                  <a:srgbClr val="183A32"/>
                </a:solidFill>
                <a:latin typeface="Arial"/>
              </a:rPr>
              <a:t>listing followed in 2007.</a:t>
            </a:r>
          </a:p>
        </p:txBody>
      </p:sp>
      <p:sp>
        <p:nvSpPr>
          <p:cNvPr id="20" name="Rectangle 19"/>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Haryanto Tirtohadiguno and the</a:t>
            </a:r>
          </a:p>
          <a:p>
            <a:pPr>
              <a:lnSpc>
                <a:spcPts val="2135"/>
              </a:lnSpc>
              <a:spcBef>
                <a:spcPts val="0"/>
              </a:spcBef>
              <a:spcAft>
                <a:spcPts val="0"/>
              </a:spcAft>
            </a:pPr>
            <a:r>
              <a:rPr sz="1750" b="0" i="0">
                <a:solidFill>
                  <a:srgbClr val="183A32"/>
                </a:solidFill>
                <a:latin typeface="Arial"/>
              </a:rPr>
              <a:t>founding business-family legacy.</a:t>
            </a:r>
          </a:p>
        </p:txBody>
      </p:sp>
      <p:sp>
        <p:nvSpPr>
          <p:cNvPr id="22" name="Rectangle 21"/>
          <p:cNvSpPr/>
          <p:nvPr/>
        </p:nvSpPr>
        <p:spPr>
          <a:xfrm>
            <a:off x="6400800" y="3888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797172"/>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Build</a:t>
            </a:r>
          </a:p>
          <a:p>
            <a:pPr>
              <a:lnSpc>
                <a:spcPts val="2135"/>
              </a:lnSpc>
              <a:spcBef>
                <a:spcPts val="0"/>
              </a:spcBef>
              <a:spcAft>
                <a:spcPts val="0"/>
              </a:spcAft>
            </a:pPr>
            <a:r>
              <a:rPr sz="1750" b="0" i="0">
                <a:solidFill>
                  <a:srgbClr val="183A32"/>
                </a:solidFill>
                <a:latin typeface="Arial"/>
              </a:rPr>
              <a:t>residential appeal through a coordinated</a:t>
            </a:r>
          </a:p>
          <a:p>
            <a:pPr>
              <a:lnSpc>
                <a:spcPts val="2135"/>
              </a:lnSpc>
              <a:spcBef>
                <a:spcPts val="0"/>
              </a:spcBef>
              <a:spcAft>
                <a:spcPts val="0"/>
              </a:spcAft>
            </a:pPr>
            <a:r>
              <a:rPr sz="1750" b="0" i="0">
                <a:solidFill>
                  <a:srgbClr val="183A32"/>
                </a:solidFill>
                <a:latin typeface="Arial"/>
              </a:rPr>
              <a:t>environment and supporting commercial</a:t>
            </a:r>
          </a:p>
          <a:p>
            <a:pPr>
              <a:lnSpc>
                <a:spcPts val="2135"/>
              </a:lnSpc>
              <a:spcBef>
                <a:spcPts val="0"/>
              </a:spcBef>
              <a:spcAft>
                <a:spcPts val="0"/>
              </a:spcAft>
            </a:pPr>
            <a:r>
              <a:rPr sz="1750" b="0" i="0">
                <a:solidFill>
                  <a:srgbClr val="183A32"/>
                </a:solidFill>
                <a:latin typeface="Arial"/>
              </a:rPr>
              <a:t>functions.</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portfolio overview, 2025 annual report.</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93–93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Development milestones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MILESTONE SEQUENCE</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1994: Alam Sutera township development began.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2007: Public listing.</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2010s: Additional commercial and office functions developed.</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2012: Mall @ Alam Sutera.</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Subsequent period: Further development of Suvarna Sutera and operating assets.</a:t>
            </a:r>
          </a:p>
        </p:txBody>
      </p:sp>
      <p:sp>
        <p:nvSpPr>
          <p:cNvPr id="22" name="Rectangle 21"/>
          <p:cNvSpPr/>
          <p:nvPr/>
        </p:nvSpPr>
        <p:spPr>
          <a:xfrm>
            <a:off x="685800" y="47722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468083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Current portfolio: Township development combined with commercial and tourism-related activities.</a:t>
            </a:r>
          </a:p>
        </p:txBody>
      </p:sp>
      <p:sp>
        <p:nvSpPr>
          <p:cNvPr id="24" name="TextBox 23"/>
          <p:cNvSpPr txBox="1"/>
          <p:nvPr/>
        </p:nvSpPr>
        <p:spPr>
          <a:xfrm>
            <a:off x="685800" y="513029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The company demonstrates both the value of a coherent township identity and the additional</a:t>
            </a:r>
          </a:p>
          <a:p>
            <a:pPr>
              <a:lnSpc>
                <a:spcPts val="2196"/>
              </a:lnSpc>
              <a:spcBef>
                <a:spcPts val="0"/>
              </a:spcBef>
              <a:spcAft>
                <a:spcPts val="0"/>
              </a:spcAft>
            </a:pPr>
            <a:r>
              <a:rPr sz="1800" b="0" i="0">
                <a:solidFill>
                  <a:srgbClr val="183A32"/>
                </a:solidFill>
                <a:latin typeface="Times New Roman"/>
              </a:rPr>
              <a:t>complexity created by diversification.</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Official Alam Sutera overview and portfolio.</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93–94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township model depends on creating confidence in a location through:</a:t>
            </a:r>
          </a:p>
        </p:txBody>
      </p:sp>
      <p:sp>
        <p:nvSpPr>
          <p:cNvPr id="13" name="Rectangle 12"/>
          <p:cNvSpPr/>
          <p:nvPr/>
        </p:nvSpPr>
        <p:spPr>
          <a:xfrm>
            <a:off x="685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907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Access and infrastructure.</a:t>
            </a:r>
          </a:p>
        </p:txBody>
      </p:sp>
      <p:sp>
        <p:nvSpPr>
          <p:cNvPr id="15" name="Rectangle 14"/>
          <p:cNvSpPr/>
          <p:nvPr/>
        </p:nvSpPr>
        <p:spPr>
          <a:xfrm>
            <a:off x="685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3402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Residential delivery.</a:t>
            </a:r>
          </a:p>
        </p:txBody>
      </p:sp>
      <p:sp>
        <p:nvSpPr>
          <p:cNvPr id="17" name="Rectangle 16"/>
          <p:cNvSpPr/>
          <p:nvPr/>
        </p:nvSpPr>
        <p:spPr>
          <a:xfrm>
            <a:off x="685800" y="38811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896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Supporting facilities.</a:t>
            </a:r>
          </a:p>
        </p:txBody>
      </p:sp>
      <p:sp>
        <p:nvSpPr>
          <p:cNvPr id="19" name="Rectangle 18"/>
          <p:cNvSpPr/>
          <p:nvPr/>
        </p:nvSpPr>
        <p:spPr>
          <a:xfrm>
            <a:off x="685800" y="43305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2391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Commercial activity.</a:t>
            </a:r>
          </a:p>
        </p:txBody>
      </p:sp>
      <p:sp>
        <p:nvSpPr>
          <p:cNvPr id="21" name="Rectangle 20"/>
          <p:cNvSpPr/>
          <p:nvPr/>
        </p:nvSpPr>
        <p:spPr>
          <a:xfrm>
            <a:off x="685800" y="47800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6885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Continuing estate quality.</a:t>
            </a:r>
          </a:p>
        </p:txBody>
      </p:sp>
      <p:sp>
        <p:nvSpPr>
          <p:cNvPr id="23" name="TextBox 22"/>
          <p:cNvSpPr txBox="1"/>
          <p:nvPr/>
        </p:nvSpPr>
        <p:spPr>
          <a:xfrm>
            <a:off x="685800" y="513803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A recognisable environment can support customer preference across development phases.</a:t>
            </a:r>
          </a:p>
        </p:txBody>
      </p:sp>
      <p:sp>
        <p:nvSpPr>
          <p:cNvPr id="24" name="TextBox 2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93–94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How the growth model works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tension: Diversification can introduce different demand cycles and operating requirements. Tourism assets,</a:t>
            </a:r>
          </a:p>
          <a:p>
            <a:pPr>
              <a:lnSpc>
                <a:spcPts val="2196"/>
              </a:lnSpc>
              <a:spcBef>
                <a:spcPts val="0"/>
              </a:spcBef>
              <a:spcAft>
                <a:spcPts val="0"/>
              </a:spcAft>
            </a:pPr>
            <a:r>
              <a:rPr sz="1800" b="0" i="0">
                <a:solidFill>
                  <a:srgbClr val="183A32"/>
                </a:solidFill>
                <a:latin typeface="Times New Roman"/>
              </a:rPr>
              <a:t>offices, retail, and residential projects should not be assessed using the same performance measures.</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94–94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Financial results and earnings quality</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Rp2.93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Rp3.43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approximately Rp313 billion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attributable profit: approximately Rp55 billion</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Attributable profit increased despite lower revenue. This requires examination of margins, financing, and other</a:t>
            </a:r>
          </a:p>
          <a:p>
            <a:pPr>
              <a:lnSpc>
                <a:spcPts val="2196"/>
              </a:lnSpc>
              <a:spcBef>
                <a:spcPts val="0"/>
              </a:spcBef>
              <a:spcAft>
                <a:spcPts val="0"/>
              </a:spcAft>
            </a:pPr>
            <a:r>
              <a:rPr sz="1800" b="0" i="0">
                <a:solidFill>
                  <a:srgbClr val="183A32"/>
                </a:solidFill>
                <a:latin typeface="Times New Roman"/>
              </a:rPr>
              <a:t>income or expenses before attributing the improvement to sales growth.</a:t>
            </a:r>
          </a:p>
        </p:txBody>
      </p:sp>
      <p:sp>
        <p:nvSpPr>
          <p:cNvPr id="22" name="TextBox 21"/>
          <p:cNvSpPr txBox="1"/>
          <p:nvPr/>
        </p:nvSpPr>
        <p:spPr>
          <a:xfrm>
            <a:off x="685800" y="531621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Data rule: Do not substitute comprehensive income for net profit.</a:t>
            </a:r>
          </a:p>
        </p:txBody>
      </p:sp>
      <p:sp>
        <p:nvSpPr>
          <p:cNvPr id="23" name="TextBox 2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ASRI 2025 annual report — audited financial statements.</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94–95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township identity</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Integrated residential and commercial environment</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Experience in long-term area development</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Capital committed across different business formats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Financing can reduce flexibility</a:t>
            </a:r>
          </a:p>
        </p:txBody>
      </p:sp>
      <p:sp>
        <p:nvSpPr>
          <p:cNvPr id="21" name="TextBox 20"/>
          <p:cNvSpPr txBox="1"/>
          <p:nvPr/>
        </p:nvSpPr>
        <p:spPr>
          <a:xfrm>
            <a:off x="6336792"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Mature areas require future pipeline replenishment</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Additional phases in suitable locations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Greater productivity of existing assets</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Better alignment of product and local demand</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Competing residential products</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Interest-rate and refinancing pressures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Tourism volatility and environmental risks</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95–96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Lessons for TANRISE</a:t>
            </a:r>
          </a:p>
        </p:txBody>
      </p:sp>
      <p:cxnSp>
        <p:nvCxnSpPr>
          <p:cNvPr id="11" name="Connector 10"/>
          <p:cNvCxnSpPr/>
          <p:nvPr/>
        </p:nvCxnSpPr>
        <p:spPr>
          <a:xfrm>
            <a:off x="6062472" y="2084831"/>
            <a:ext cx="0" cy="287045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Make each development’s promise visible in its</a:t>
            </a:r>
          </a:p>
          <a:p>
            <a:pPr>
              <a:lnSpc>
                <a:spcPts val="2135"/>
              </a:lnSpc>
              <a:spcBef>
                <a:spcPts val="0"/>
              </a:spcBef>
              <a:spcAft>
                <a:spcPts val="0"/>
              </a:spcAft>
            </a:pPr>
            <a:r>
              <a:rPr sz="1750" b="0" i="0">
                <a:solidFill>
                  <a:srgbClr val="183A32"/>
                </a:solidFill>
                <a:latin typeface="Arial"/>
              </a:rPr>
              <a:t>physical environment.</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Protect basic delivery and estate standards.</a:t>
            </a:r>
          </a:p>
        </p:txBody>
      </p:sp>
      <p:sp>
        <p:nvSpPr>
          <p:cNvPr id="17" name="Rectangle 16"/>
          <p:cNvSpPr/>
          <p:nvPr/>
        </p:nvSpPr>
        <p:spPr>
          <a:xfrm>
            <a:off x="685800" y="369506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60362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Replenish the pipeline before mature projects run</a:t>
            </a:r>
          </a:p>
          <a:p>
            <a:pPr>
              <a:lnSpc>
                <a:spcPts val="2135"/>
              </a:lnSpc>
              <a:spcBef>
                <a:spcPts val="0"/>
              </a:spcBef>
              <a:spcAft>
                <a:spcPts val="0"/>
              </a:spcAft>
            </a:pPr>
            <a:r>
              <a:rPr sz="1750" b="0" i="0">
                <a:solidFill>
                  <a:srgbClr val="183A32"/>
                </a:solidFill>
                <a:latin typeface="Arial"/>
              </a:rPr>
              <a:t>short of suitable inventory.</a:t>
            </a:r>
          </a:p>
        </p:txBody>
      </p:sp>
      <p:sp>
        <p:nvSpPr>
          <p:cNvPr id="19" name="Rectangle 18"/>
          <p:cNvSpPr/>
          <p:nvPr/>
        </p:nvSpPr>
        <p:spPr>
          <a:xfrm>
            <a:off x="685800" y="44156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324223"/>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Evaluate diversification against capital availability</a:t>
            </a:r>
          </a:p>
          <a:p>
            <a:pPr>
              <a:lnSpc>
                <a:spcPts val="2135"/>
              </a:lnSpc>
              <a:spcBef>
                <a:spcPts val="0"/>
              </a:spcBef>
              <a:spcAft>
                <a:spcPts val="0"/>
              </a:spcAft>
            </a:pPr>
            <a:r>
              <a:rPr sz="1750" b="0" i="0">
                <a:solidFill>
                  <a:srgbClr val="183A32"/>
                </a:solidFill>
                <a:latin typeface="Arial"/>
              </a:rPr>
              <a:t>and operating capability.</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Test whether a destination attracts repeat use</a:t>
            </a:r>
          </a:p>
          <a:p>
            <a:pPr>
              <a:lnSpc>
                <a:spcPts val="2135"/>
              </a:lnSpc>
              <a:spcBef>
                <a:spcPts val="0"/>
              </a:spcBef>
              <a:spcAft>
                <a:spcPts val="0"/>
              </a:spcAft>
            </a:pPr>
            <a:r>
              <a:rPr sz="1750" b="0" i="0">
                <a:solidFill>
                  <a:srgbClr val="183A32"/>
                </a:solidFill>
                <a:latin typeface="Arial"/>
              </a:rPr>
              <a:t>rather than occasional visits.</a:t>
            </a:r>
          </a:p>
        </p:txBody>
      </p:sp>
      <p:sp>
        <p:nvSpPr>
          <p:cNvPr id="23" name="Rectangle 22"/>
          <p:cNvSpPr/>
          <p:nvPr/>
        </p:nvSpPr>
        <p:spPr>
          <a:xfrm>
            <a:off x="6400800" y="2805430"/>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For Taman Dayu, distinguish permanent</a:t>
            </a:r>
          </a:p>
          <a:p>
            <a:pPr>
              <a:lnSpc>
                <a:spcPts val="2013"/>
              </a:lnSpc>
              <a:spcBef>
                <a:spcPts val="0"/>
              </a:spcBef>
              <a:spcAft>
                <a:spcPts val="0"/>
              </a:spcAft>
            </a:pPr>
            <a:r>
              <a:rPr sz="1650" b="0" i="0">
                <a:solidFill>
                  <a:srgbClr val="183A32"/>
                </a:solidFill>
                <a:latin typeface="Times New Roman"/>
              </a:rPr>
              <a:t>residents, weekday users, weekend visitors, and</a:t>
            </a:r>
          </a:p>
          <a:p>
            <a:pPr>
              <a:lnSpc>
                <a:spcPts val="2013"/>
              </a:lnSpc>
              <a:spcBef>
                <a:spcPts val="0"/>
              </a:spcBef>
              <a:spcAft>
                <a:spcPts val="0"/>
              </a:spcAft>
            </a:pPr>
            <a:r>
              <a:rPr sz="1650" b="0" i="0">
                <a:solidFill>
                  <a:srgbClr val="183A32"/>
                </a:solidFill>
                <a:latin typeface="Times New Roman"/>
              </a:rPr>
              <a:t>event-driven demand.</a:t>
            </a:r>
          </a:p>
        </p:txBody>
      </p:sp>
      <p:sp>
        <p:nvSpPr>
          <p:cNvPr id="26" name="Rectangle 25"/>
          <p:cNvSpPr/>
          <p:nvPr/>
        </p:nvSpPr>
        <p:spPr>
          <a:xfrm>
            <a:off x="6400800" y="3889565"/>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889565"/>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971861"/>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Diversification justified by</a:t>
            </a:r>
          </a:p>
          <a:p>
            <a:pPr>
              <a:lnSpc>
                <a:spcPts val="2013"/>
              </a:lnSpc>
              <a:spcBef>
                <a:spcPts val="0"/>
              </a:spcBef>
              <a:spcAft>
                <a:spcPts val="0"/>
              </a:spcAft>
            </a:pPr>
            <a:r>
              <a:rPr sz="1650" b="0" i="0">
                <a:solidFill>
                  <a:srgbClr val="183A32"/>
                </a:solidFill>
                <a:latin typeface="Times New Roman"/>
              </a:rPr>
              <a:t>the appeal of a destination concept without validated</a:t>
            </a:r>
          </a:p>
          <a:p>
            <a:pPr>
              <a:lnSpc>
                <a:spcPts val="2013"/>
              </a:lnSpc>
              <a:spcBef>
                <a:spcPts val="0"/>
              </a:spcBef>
              <a:spcAft>
                <a:spcPts val="0"/>
              </a:spcAft>
            </a:pPr>
            <a:r>
              <a:rPr sz="1650" b="0" i="0">
                <a:solidFill>
                  <a:srgbClr val="183A32"/>
                </a:solidFill>
                <a:latin typeface="Times New Roman"/>
              </a:rPr>
              <a:t>economics.</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96–96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Company background and 5W1H</a:t>
            </a:r>
          </a:p>
        </p:txBody>
      </p:sp>
      <p:cxnSp>
        <p:nvCxnSpPr>
          <p:cNvPr id="11" name="Connector 10"/>
          <p:cNvCxnSpPr/>
          <p:nvPr/>
        </p:nvCxnSpPr>
        <p:spPr>
          <a:xfrm>
            <a:off x="6062472" y="2084831"/>
            <a:ext cx="0" cy="265328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Jaya Real Property Tbk, part of</a:t>
            </a:r>
          </a:p>
          <a:p>
            <a:pPr>
              <a:lnSpc>
                <a:spcPts val="2135"/>
              </a:lnSpc>
              <a:spcBef>
                <a:spcPts val="0"/>
              </a:spcBef>
              <a:spcAft>
                <a:spcPts val="0"/>
              </a:spcAft>
            </a:pPr>
            <a:r>
              <a:rPr sz="1750" b="0" i="0">
                <a:solidFill>
                  <a:srgbClr val="183A32"/>
                </a:solidFill>
                <a:latin typeface="Arial"/>
              </a:rPr>
              <a:t>Pembangunan Jaya Group.</a:t>
            </a:r>
          </a:p>
        </p:txBody>
      </p:sp>
      <p:sp>
        <p:nvSpPr>
          <p:cNvPr id="14" name="Rectangle 13"/>
          <p:cNvSpPr/>
          <p:nvPr/>
        </p:nvSpPr>
        <p:spPr>
          <a:xfrm>
            <a:off x="685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0543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Residential development, commercial</a:t>
            </a:r>
          </a:p>
          <a:p>
            <a:pPr>
              <a:lnSpc>
                <a:spcPts val="2135"/>
              </a:lnSpc>
              <a:spcBef>
                <a:spcPts val="0"/>
              </a:spcBef>
              <a:spcAft>
                <a:spcPts val="0"/>
              </a:spcAft>
            </a:pPr>
            <a:r>
              <a:rPr sz="1750" b="0" i="0">
                <a:solidFill>
                  <a:srgbClr val="183A32"/>
                </a:solidFill>
                <a:latin typeface="Arial"/>
              </a:rPr>
              <a:t>property, and supporting urban businesses.</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Primarily South Jakarta and Tangerang,</a:t>
            </a:r>
          </a:p>
          <a:p>
            <a:pPr>
              <a:lnSpc>
                <a:spcPts val="2135"/>
              </a:lnSpc>
              <a:spcBef>
                <a:spcPts val="0"/>
              </a:spcBef>
              <a:spcAft>
                <a:spcPts val="0"/>
              </a:spcAft>
            </a:pPr>
            <a:r>
              <a:rPr sz="1750" b="0" i="0">
                <a:solidFill>
                  <a:srgbClr val="183A32"/>
                </a:solidFill>
                <a:latin typeface="Arial"/>
              </a:rPr>
              <a:t>with Bintaro Jaya as its foundational</a:t>
            </a:r>
          </a:p>
          <a:p>
            <a:pPr>
              <a:lnSpc>
                <a:spcPts val="2135"/>
              </a:lnSpc>
              <a:spcBef>
                <a:spcPts val="0"/>
              </a:spcBef>
              <a:spcAft>
                <a:spcPts val="0"/>
              </a:spcAft>
            </a:pPr>
            <a:r>
              <a:rPr sz="1750" b="0" i="0">
                <a:solidFill>
                  <a:srgbClr val="183A32"/>
                </a:solidFill>
                <a:latin typeface="Arial"/>
              </a:rPr>
              <a:t>development.</a:t>
            </a:r>
          </a:p>
        </p:txBody>
      </p:sp>
      <p:sp>
        <p:nvSpPr>
          <p:cNvPr id="18" name="Rectangle 17"/>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as PT Bintaro Raya in 1979;</a:t>
            </a:r>
          </a:p>
          <a:p>
            <a:pPr>
              <a:lnSpc>
                <a:spcPts val="2135"/>
              </a:lnSpc>
              <a:spcBef>
                <a:spcPts val="0"/>
              </a:spcBef>
              <a:spcAft>
                <a:spcPts val="0"/>
              </a:spcAft>
            </a:pPr>
            <a:r>
              <a:rPr sz="1750" b="0" i="0">
                <a:solidFill>
                  <a:srgbClr val="183A32"/>
                </a:solidFill>
                <a:latin typeface="Arial"/>
              </a:rPr>
              <a:t>listed in 1994.</a:t>
            </a:r>
          </a:p>
        </p:txBody>
      </p:sp>
      <p:sp>
        <p:nvSpPr>
          <p:cNvPr id="20" name="Rectangle 19"/>
          <p:cNvSpPr/>
          <p:nvPr/>
        </p:nvSpPr>
        <p:spPr>
          <a:xfrm>
            <a:off x="6400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80543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Pembangunan Jaya Group. Its</a:t>
            </a:r>
          </a:p>
          <a:p>
            <a:pPr>
              <a:lnSpc>
                <a:spcPts val="2135"/>
              </a:lnSpc>
              <a:spcBef>
                <a:spcPts val="0"/>
              </a:spcBef>
              <a:spcAft>
                <a:spcPts val="0"/>
              </a:spcAft>
            </a:pPr>
            <a:r>
              <a:rPr sz="1750" b="0" i="0">
                <a:solidFill>
                  <a:srgbClr val="183A32"/>
                </a:solidFill>
                <a:latin typeface="Arial"/>
              </a:rPr>
              <a:t>broader group history must not be substituted for</a:t>
            </a:r>
          </a:p>
          <a:p>
            <a:pPr>
              <a:lnSpc>
                <a:spcPts val="2135"/>
              </a:lnSpc>
              <a:spcBef>
                <a:spcPts val="0"/>
              </a:spcBef>
              <a:spcAft>
                <a:spcPts val="0"/>
              </a:spcAft>
            </a:pPr>
            <a:r>
              <a:rPr sz="1750" b="0" i="0">
                <a:solidFill>
                  <a:srgbClr val="183A32"/>
                </a:solidFill>
                <a:latin typeface="Arial"/>
              </a:rPr>
              <a:t>the issuer’s own establishment story.</a:t>
            </a:r>
          </a:p>
        </p:txBody>
      </p:sp>
      <p:sp>
        <p:nvSpPr>
          <p:cNvPr id="22" name="Rectangle 21"/>
          <p:cNvSpPr/>
          <p:nvPr/>
        </p:nvSpPr>
        <p:spPr>
          <a:xfrm>
            <a:off x="6400800" y="388861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797173"/>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Serve</a:t>
            </a:r>
          </a:p>
          <a:p>
            <a:pPr>
              <a:lnSpc>
                <a:spcPts val="2135"/>
              </a:lnSpc>
              <a:spcBef>
                <a:spcPts val="0"/>
              </a:spcBef>
              <a:spcAft>
                <a:spcPts val="0"/>
              </a:spcAft>
            </a:pPr>
            <a:r>
              <a:rPr sz="1750" b="0" i="0">
                <a:solidFill>
                  <a:srgbClr val="183A32"/>
                </a:solidFill>
                <a:latin typeface="Arial"/>
              </a:rPr>
              <a:t>residential demand through livable communities,</a:t>
            </a:r>
          </a:p>
          <a:p>
            <a:pPr>
              <a:lnSpc>
                <a:spcPts val="2135"/>
              </a:lnSpc>
              <a:spcBef>
                <a:spcPts val="0"/>
              </a:spcBef>
              <a:spcAft>
                <a:spcPts val="0"/>
              </a:spcAft>
            </a:pPr>
            <a:r>
              <a:rPr sz="1750" b="0" i="0">
                <a:solidFill>
                  <a:srgbClr val="183A32"/>
                </a:solidFill>
                <a:latin typeface="Arial"/>
              </a:rPr>
              <a:t>useful amenities, and connectivity.</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corporate profile, historical annual report.</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96–97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Milestones in community development</a:t>
            </a:r>
          </a:p>
        </p:txBody>
      </p:sp>
      <p:cxnSp>
        <p:nvCxnSpPr>
          <p:cNvPr id="11" name="Connector 10"/>
          <p:cNvCxnSpPr/>
          <p:nvPr/>
        </p:nvCxnSpPr>
        <p:spPr>
          <a:xfrm>
            <a:off x="6062472" y="2084831"/>
            <a:ext cx="0" cy="2690813"/>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1979: Establishment as PT Bintaro Raya.</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Subsequent development: Progressive expansion</a:t>
            </a:r>
          </a:p>
          <a:p>
            <a:pPr>
              <a:lnSpc>
                <a:spcPts val="2135"/>
              </a:lnSpc>
              <a:spcBef>
                <a:spcPts val="0"/>
              </a:spcBef>
              <a:spcAft>
                <a:spcPts val="0"/>
              </a:spcAft>
            </a:pPr>
            <a:r>
              <a:rPr sz="1750" b="0" i="0">
                <a:solidFill>
                  <a:srgbClr val="183A32"/>
                </a:solidFill>
                <a:latin typeface="Arial"/>
              </a:rPr>
              <a:t>of Bintaro Jaya.</a:t>
            </a:r>
          </a:p>
        </p:txBody>
      </p:sp>
      <p:sp>
        <p:nvSpPr>
          <p:cNvPr id="16" name="Rectangle 15"/>
          <p:cNvSpPr/>
          <p:nvPr/>
        </p:nvSpPr>
        <p:spPr>
          <a:xfrm>
            <a:off x="685800" y="334632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254883"/>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1992: Change to the Jaya Real Property name.</a:t>
            </a:r>
          </a:p>
        </p:txBody>
      </p:sp>
      <p:sp>
        <p:nvSpPr>
          <p:cNvPr id="18" name="Rectangle 17"/>
          <p:cNvSpPr/>
          <p:nvPr/>
        </p:nvSpPr>
        <p:spPr>
          <a:xfrm>
            <a:off x="685800" y="379577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04336"/>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1994: Public listing.</a:t>
            </a:r>
          </a:p>
        </p:txBody>
      </p:sp>
      <p:sp>
        <p:nvSpPr>
          <p:cNvPr id="20" name="Rectangle 19"/>
          <p:cNvSpPr/>
          <p:nvPr/>
        </p:nvSpPr>
        <p:spPr>
          <a:xfrm>
            <a:off x="685800" y="424522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153789"/>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Later phases: Additional commercial, leisure, and</a:t>
            </a:r>
          </a:p>
          <a:p>
            <a:pPr>
              <a:lnSpc>
                <a:spcPts val="2135"/>
              </a:lnSpc>
              <a:spcBef>
                <a:spcPts val="0"/>
              </a:spcBef>
              <a:spcAft>
                <a:spcPts val="0"/>
              </a:spcAft>
            </a:pPr>
            <a:r>
              <a:rPr sz="1750" b="0" i="0">
                <a:solidFill>
                  <a:srgbClr val="183A32"/>
                </a:solidFill>
                <a:latin typeface="Arial"/>
              </a:rPr>
              <a:t>supporting urban functions.</a:t>
            </a:r>
          </a:p>
        </p:txBody>
      </p:sp>
      <p:sp>
        <p:nvSpPr>
          <p:cNvPr id="22" name="Rectangle 21"/>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2024: DoubleTree by Hilton Jakarta Bintaro Jaya</a:t>
            </a:r>
          </a:p>
          <a:p>
            <a:pPr>
              <a:lnSpc>
                <a:spcPts val="2135"/>
              </a:lnSpc>
              <a:spcBef>
                <a:spcPts val="0"/>
              </a:spcBef>
              <a:spcAft>
                <a:spcPts val="0"/>
              </a:spcAft>
            </a:pPr>
            <a:r>
              <a:rPr sz="1750" b="0" i="0">
                <a:solidFill>
                  <a:srgbClr val="183A32"/>
                </a:solidFill>
                <a:latin typeface="Arial"/>
              </a:rPr>
              <a:t>opening and Jurangmangu station service</a:t>
            </a:r>
          </a:p>
          <a:p>
            <a:pPr>
              <a:lnSpc>
                <a:spcPts val="2135"/>
              </a:lnSpc>
              <a:spcBef>
                <a:spcPts val="0"/>
              </a:spcBef>
              <a:spcAft>
                <a:spcPts val="0"/>
              </a:spcAft>
            </a:pPr>
            <a:r>
              <a:rPr sz="1750" b="0" i="0">
                <a:solidFill>
                  <a:srgbClr val="183A32"/>
                </a:solidFill>
                <a:latin typeface="Arial"/>
              </a:rPr>
              <a:t>improvements.</a:t>
            </a:r>
          </a:p>
        </p:txBody>
      </p:sp>
      <p:sp>
        <p:nvSpPr>
          <p:cNvPr id="24" name="Rectangle 23"/>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FY2025: Reported revenue approximately Rp3.27</a:t>
            </a:r>
          </a:p>
          <a:p>
            <a:pPr>
              <a:lnSpc>
                <a:spcPts val="2135"/>
              </a:lnSpc>
              <a:spcBef>
                <a:spcPts val="0"/>
              </a:spcBef>
              <a:spcAft>
                <a:spcPts val="0"/>
              </a:spcAft>
            </a:pPr>
            <a:r>
              <a:rPr sz="1750" b="0" i="0">
                <a:solidFill>
                  <a:srgbClr val="183A32"/>
                </a:solidFill>
                <a:latin typeface="Arial"/>
              </a:rPr>
              <a:t>trillion.</a:t>
            </a:r>
          </a:p>
        </p:txBody>
      </p:sp>
      <p:sp>
        <p:nvSpPr>
          <p:cNvPr id="26" name="TextBox 25"/>
          <p:cNvSpPr txBox="1"/>
          <p:nvPr/>
        </p:nvSpPr>
        <p:spPr>
          <a:xfrm>
            <a:off x="6400800" y="379717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The case illustrates the</a:t>
            </a:r>
          </a:p>
          <a:p>
            <a:pPr>
              <a:lnSpc>
                <a:spcPts val="2196"/>
              </a:lnSpc>
              <a:spcBef>
                <a:spcPts val="0"/>
              </a:spcBef>
              <a:spcAft>
                <a:spcPts val="0"/>
              </a:spcAft>
            </a:pPr>
            <a:r>
              <a:rPr sz="1800" b="0" i="0">
                <a:solidFill>
                  <a:srgbClr val="183A32"/>
                </a:solidFill>
                <a:latin typeface="Times New Roman"/>
              </a:rPr>
              <a:t>cumulative value of a location becoming more</a:t>
            </a:r>
          </a:p>
          <a:p>
            <a:pPr>
              <a:lnSpc>
                <a:spcPts val="2196"/>
              </a:lnSpc>
              <a:spcBef>
                <a:spcPts val="0"/>
              </a:spcBef>
              <a:spcAft>
                <a:spcPts val="0"/>
              </a:spcAft>
            </a:pPr>
            <a:r>
              <a:rPr sz="1800" b="0" i="0">
                <a:solidFill>
                  <a:srgbClr val="183A32"/>
                </a:solidFill>
                <a:latin typeface="Times New Roman"/>
              </a:rPr>
              <a:t>convenient and useful over decades.</a:t>
            </a:r>
          </a:p>
        </p:txBody>
      </p:sp>
      <p:sp>
        <p:nvSpPr>
          <p:cNvPr id="27" name="TextBox 26"/>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Historical annual report, official results and announcements.</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97–97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How the growth model works</a:t>
            </a:r>
          </a:p>
        </p:txBody>
      </p:sp>
      <p:cxnSp>
        <p:nvCxnSpPr>
          <p:cNvPr id="11" name="Connector 10"/>
          <p:cNvCxnSpPr/>
          <p:nvPr/>
        </p:nvCxnSpPr>
        <p:spPr>
          <a:xfrm>
            <a:off x="6062472" y="2084831"/>
            <a:ext cx="0" cy="257441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Develop residential communities in successive</a:t>
            </a:r>
          </a:p>
          <a:p>
            <a:pPr>
              <a:lnSpc>
                <a:spcPts val="2135"/>
              </a:lnSpc>
              <a:spcBef>
                <a:spcPts val="0"/>
              </a:spcBef>
              <a:spcAft>
                <a:spcPts val="0"/>
              </a:spcAft>
            </a:pPr>
            <a:r>
              <a:rPr sz="1750" b="0" i="0">
                <a:solidFill>
                  <a:srgbClr val="183A32"/>
                </a:solidFill>
                <a:latin typeface="Arial"/>
              </a:rPr>
              <a:t>phases.</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Improve the practical experience of living in the</a:t>
            </a:r>
          </a:p>
          <a:p>
            <a:pPr>
              <a:lnSpc>
                <a:spcPts val="2135"/>
              </a:lnSpc>
              <a:spcBef>
                <a:spcPts val="0"/>
              </a:spcBef>
              <a:spcAft>
                <a:spcPts val="0"/>
              </a:spcAft>
            </a:pPr>
            <a:r>
              <a:rPr sz="1750" b="0" i="0">
                <a:solidFill>
                  <a:srgbClr val="183A32"/>
                </a:solidFill>
                <a:latin typeface="Arial"/>
              </a:rPr>
              <a:t>area.</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Add commercial functions as the population and</a:t>
            </a:r>
          </a:p>
          <a:p>
            <a:pPr>
              <a:lnSpc>
                <a:spcPts val="2135"/>
              </a:lnSpc>
              <a:spcBef>
                <a:spcPts val="0"/>
              </a:spcBef>
              <a:spcAft>
                <a:spcPts val="0"/>
              </a:spcAft>
            </a:pPr>
            <a:r>
              <a:rPr sz="1750" b="0" i="0">
                <a:solidFill>
                  <a:srgbClr val="183A32"/>
                </a:solidFill>
                <a:latin typeface="Arial"/>
              </a:rPr>
              <a:t>catchment support them.</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Strengthen access and connectivity.</a:t>
            </a:r>
          </a:p>
        </p:txBody>
      </p:sp>
      <p:sp>
        <p:nvSpPr>
          <p:cNvPr id="21" name="Rectangle 20"/>
          <p:cNvSpPr/>
          <p:nvPr/>
        </p:nvSpPr>
        <p:spPr>
          <a:xfrm>
            <a:off x="6400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534285"/>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Manage the area to preserve its appeal.</a:t>
            </a:r>
          </a:p>
        </p:txBody>
      </p:sp>
      <p:sp>
        <p:nvSpPr>
          <p:cNvPr id="23" name="TextBox 22"/>
          <p:cNvSpPr txBox="1"/>
          <p:nvPr/>
        </p:nvSpPr>
        <p:spPr>
          <a:xfrm>
            <a:off x="6400800" y="2983738"/>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Everyday usefulness can be</a:t>
            </a:r>
          </a:p>
          <a:p>
            <a:pPr>
              <a:lnSpc>
                <a:spcPts val="2196"/>
              </a:lnSpc>
              <a:spcBef>
                <a:spcPts val="0"/>
              </a:spcBef>
              <a:spcAft>
                <a:spcPts val="0"/>
              </a:spcAft>
            </a:pPr>
            <a:r>
              <a:rPr sz="1800" b="0" i="0">
                <a:solidFill>
                  <a:srgbClr val="183A32"/>
                </a:solidFill>
                <a:latin typeface="Times New Roman"/>
              </a:rPr>
              <a:t>more durable than a launch campaign.</a:t>
            </a:r>
          </a:p>
        </p:txBody>
      </p:sp>
      <p:sp>
        <p:nvSpPr>
          <p:cNvPr id="24" name="TextBox 23"/>
          <p:cNvSpPr txBox="1"/>
          <p:nvPr/>
        </p:nvSpPr>
        <p:spPr>
          <a:xfrm>
            <a:off x="6400800" y="3719830"/>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qualification: A successful mature township</a:t>
            </a:r>
          </a:p>
          <a:p>
            <a:pPr>
              <a:lnSpc>
                <a:spcPts val="2196"/>
              </a:lnSpc>
              <a:spcBef>
                <a:spcPts val="0"/>
              </a:spcBef>
              <a:spcAft>
                <a:spcPts val="0"/>
              </a:spcAft>
            </a:pPr>
            <a:r>
              <a:rPr sz="1800" b="0" i="0">
                <a:solidFill>
                  <a:srgbClr val="183A32"/>
                </a:solidFill>
                <a:latin typeface="Times New Roman"/>
              </a:rPr>
              <a:t>does not mean every supporting facility should be built</a:t>
            </a:r>
          </a:p>
          <a:p>
            <a:pPr>
              <a:lnSpc>
                <a:spcPts val="2196"/>
              </a:lnSpc>
              <a:spcBef>
                <a:spcPts val="0"/>
              </a:spcBef>
              <a:spcAft>
                <a:spcPts val="0"/>
              </a:spcAft>
            </a:pPr>
            <a:r>
              <a:rPr sz="1800" b="0" i="0">
                <a:solidFill>
                  <a:srgbClr val="183A32"/>
                </a:solidFill>
                <a:latin typeface="Times New Roman"/>
              </a:rPr>
              <a:t>immediately in a new location.</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97–98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Financial scale and disclosure caution</a:t>
            </a:r>
          </a:p>
        </p:txBody>
      </p:sp>
      <p:cxnSp>
        <p:nvCxnSpPr>
          <p:cNvPr id="11" name="Connector 10"/>
          <p:cNvCxnSpPr/>
          <p:nvPr/>
        </p:nvCxnSpPr>
        <p:spPr>
          <a:xfrm>
            <a:off x="6062472" y="2084831"/>
            <a:ext cx="0" cy="2279142"/>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FIGURES DISPLAYED BY THE COMPANY</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approximately Rp3.27 trillion</a:t>
            </a:r>
          </a:p>
        </p:txBody>
      </p:sp>
      <p:sp>
        <p:nvSpPr>
          <p:cNvPr id="15" name="Rectangle 14"/>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883027"/>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Income for the year: approximately Rp1.32 trillion</a:t>
            </a:r>
          </a:p>
        </p:txBody>
      </p:sp>
      <p:sp>
        <p:nvSpPr>
          <p:cNvPr id="17" name="Rectangle 16"/>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332480"/>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Marketing sales: approximately Rp2.47 trillion</a:t>
            </a:r>
          </a:p>
        </p:txBody>
      </p:sp>
      <p:sp>
        <p:nvSpPr>
          <p:cNvPr id="19" name="Rectangle 18"/>
          <p:cNvSpPr/>
          <p:nvPr/>
        </p:nvSpPr>
        <p:spPr>
          <a:xfrm>
            <a:off x="685800" y="3781932"/>
            <a:ext cx="5074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3781932"/>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 y="3864228"/>
            <a:ext cx="4818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Important distinction</a:t>
            </a:r>
          </a:p>
        </p:txBody>
      </p:sp>
      <p:sp>
        <p:nvSpPr>
          <p:cNvPr id="22" name="TextBox 21"/>
          <p:cNvSpPr txBox="1"/>
          <p:nvPr/>
        </p:nvSpPr>
        <p:spPr>
          <a:xfrm>
            <a:off x="6400800" y="20848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headline income figure should not automatically</a:t>
            </a:r>
          </a:p>
          <a:p>
            <a:pPr>
              <a:lnSpc>
                <a:spcPts val="2196"/>
              </a:lnSpc>
              <a:spcBef>
                <a:spcPts val="0"/>
              </a:spcBef>
              <a:spcAft>
                <a:spcPts val="0"/>
              </a:spcAft>
            </a:pPr>
            <a:r>
              <a:rPr sz="1800" b="0" i="0">
                <a:solidFill>
                  <a:srgbClr val="183A32"/>
                </a:solidFill>
                <a:latin typeface="Times New Roman"/>
              </a:rPr>
              <a:t>be treated as profit attributable to owners. The audited</a:t>
            </a:r>
          </a:p>
          <a:p>
            <a:pPr>
              <a:lnSpc>
                <a:spcPts val="2196"/>
              </a:lnSpc>
              <a:spcBef>
                <a:spcPts val="0"/>
              </a:spcBef>
              <a:spcAft>
                <a:spcPts val="0"/>
              </a:spcAft>
            </a:pPr>
            <a:r>
              <a:rPr sz="1800" b="0" i="0">
                <a:solidFill>
                  <a:srgbClr val="183A32"/>
                </a:solidFill>
                <a:latin typeface="Times New Roman"/>
              </a:rPr>
              <a:t>attributable-profit line must be used before building a</a:t>
            </a:r>
          </a:p>
          <a:p>
            <a:pPr>
              <a:lnSpc>
                <a:spcPts val="2196"/>
              </a:lnSpc>
              <a:spcBef>
                <a:spcPts val="0"/>
              </a:spcBef>
              <a:spcAft>
                <a:spcPts val="0"/>
              </a:spcAft>
            </a:pPr>
            <a:r>
              <a:rPr sz="1800" b="0" i="0">
                <a:solidFill>
                  <a:srgbClr val="183A32"/>
                </a:solidFill>
                <a:latin typeface="Times New Roman"/>
              </a:rPr>
              <a:t>uniform profit-ranking chart.</a:t>
            </a:r>
          </a:p>
        </p:txBody>
      </p:sp>
      <p:sp>
        <p:nvSpPr>
          <p:cNvPr id="23" name="TextBox 22"/>
          <p:cNvSpPr txBox="1"/>
          <p:nvPr/>
        </p:nvSpPr>
        <p:spPr>
          <a:xfrm>
            <a:off x="6400800" y="3378707"/>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This case is useful for studying</a:t>
            </a:r>
          </a:p>
          <a:p>
            <a:pPr>
              <a:lnSpc>
                <a:spcPts val="2196"/>
              </a:lnSpc>
              <a:spcBef>
                <a:spcPts val="0"/>
              </a:spcBef>
              <a:spcAft>
                <a:spcPts val="0"/>
              </a:spcAft>
            </a:pPr>
            <a:r>
              <a:rPr sz="1800" b="0" i="0">
                <a:solidFill>
                  <a:srgbClr val="183A32"/>
                </a:solidFill>
                <a:latin typeface="Times New Roman"/>
              </a:rPr>
              <a:t>disciplined community development, rather than</a:t>
            </a:r>
          </a:p>
          <a:p>
            <a:pPr>
              <a:lnSpc>
                <a:spcPts val="2196"/>
              </a:lnSpc>
              <a:spcBef>
                <a:spcPts val="0"/>
              </a:spcBef>
              <a:spcAft>
                <a:spcPts val="0"/>
              </a:spcAft>
            </a:pPr>
            <a:r>
              <a:rPr sz="1800" b="0" i="0">
                <a:solidFill>
                  <a:srgbClr val="183A32"/>
                </a:solidFill>
                <a:latin typeface="Times New Roman"/>
              </a:rPr>
              <a:t>simply pursuing maximum reported revenue.</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Jaya Real Property — official latest results.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98–99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community and location identity</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Integrated residential and commercial functions</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Connectivity and accumulated amenities</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Concentration in a limited number of geographic markets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Mature areas require careful pipeline planning</a:t>
            </a:r>
          </a:p>
        </p:txBody>
      </p:sp>
      <p:sp>
        <p:nvSpPr>
          <p:cNvPr id="21" name="TextBox 20"/>
          <p:cNvSpPr txBox="1"/>
          <p:nvPr/>
        </p:nvSpPr>
        <p:spPr>
          <a:xfrm>
            <a:off x="6336792"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Long development periods tie up capital</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Better use of established catchments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Additional services supported by resident demand</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development and asset improvements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New competing townships</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Infrastructure congestion</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Affordability and mortgage constraints</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99–99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Lessons for TANRISE</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Sell a credible daily-life proposition.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Translate “best concept” into local needs, access, services, and price.</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Sequence commercial development around actual resident demand.</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Make connectivity a measurable part of product selection.</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Treat estate management as part of long-term value creation.</a:t>
            </a:r>
          </a:p>
        </p:txBody>
      </p:sp>
      <p:sp>
        <p:nvSpPr>
          <p:cNvPr id="22" name="Rectangle 21"/>
          <p:cNvSpPr/>
          <p:nvPr/>
        </p:nvSpPr>
        <p:spPr>
          <a:xfrm>
            <a:off x="685800" y="4680839"/>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680839"/>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 y="4763134"/>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Develop a customer journey for a Sidoarjo household covering work, school, shopping, healthcare, travel time, and</a:t>
            </a:r>
          </a:p>
          <a:p>
            <a:pPr>
              <a:lnSpc>
                <a:spcPts val="2013"/>
              </a:lnSpc>
              <a:spcBef>
                <a:spcPts val="0"/>
              </a:spcBef>
              <a:spcAft>
                <a:spcPts val="0"/>
              </a:spcAft>
            </a:pPr>
            <a:r>
              <a:rPr sz="1650" b="0" i="0">
                <a:solidFill>
                  <a:srgbClr val="183A32"/>
                </a:solidFill>
                <a:latin typeface="Times New Roman"/>
              </a:rPr>
              <a:t>monthly housing cost.</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99–99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Lessons for TANRISE</a:t>
            </a:r>
          </a:p>
        </p:txBody>
      </p:sp>
      <p:sp>
        <p:nvSpPr>
          <p:cNvPr id="11" name="Rectangle 10"/>
          <p:cNvSpPr/>
          <p:nvPr/>
        </p:nvSpPr>
        <p:spPr>
          <a:xfrm>
            <a:off x="685800" y="2084831"/>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084831"/>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2167127"/>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Assuming that a new township can immediately reproduce the amenity depth of a mature</a:t>
            </a:r>
          </a:p>
          <a:p>
            <a:pPr>
              <a:lnSpc>
                <a:spcPts val="2013"/>
              </a:lnSpc>
              <a:spcBef>
                <a:spcPts val="0"/>
              </a:spcBef>
              <a:spcAft>
                <a:spcPts val="0"/>
              </a:spcAft>
            </a:pPr>
            <a:r>
              <a:rPr sz="1650" b="0" i="0">
                <a:solidFill>
                  <a:srgbClr val="183A32"/>
                </a:solidFill>
                <a:latin typeface="Times New Roman"/>
              </a:rPr>
              <a:t>community.</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99–99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Company background and 5W1H</a:t>
            </a:r>
          </a:p>
        </p:txBody>
      </p:sp>
      <p:cxnSp>
        <p:nvCxnSpPr>
          <p:cNvPr id="11" name="Connector 10"/>
          <p:cNvCxnSpPr/>
          <p:nvPr/>
        </p:nvCxnSpPr>
        <p:spPr>
          <a:xfrm>
            <a:off x="6062472" y="2084831"/>
            <a:ext cx="0" cy="308210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Pantai Indah Kapuk Dua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A listed property-development platform</a:t>
            </a:r>
          </a:p>
          <a:p>
            <a:pPr>
              <a:lnSpc>
                <a:spcPts val="2135"/>
              </a:lnSpc>
              <a:spcBef>
                <a:spcPts val="0"/>
              </a:spcBef>
              <a:spcAft>
                <a:spcPts val="0"/>
              </a:spcAft>
            </a:pPr>
            <a:r>
              <a:rPr sz="1750" b="0" i="0">
                <a:solidFill>
                  <a:srgbClr val="183A32"/>
                </a:solidFill>
                <a:latin typeface="Arial"/>
              </a:rPr>
              <a:t>associated with the PIK2 area.</a:t>
            </a:r>
          </a:p>
        </p:txBody>
      </p:sp>
      <p:sp>
        <p:nvSpPr>
          <p:cNvPr id="16" name="Rectangle 15"/>
          <p:cNvSpPr/>
          <p:nvPr/>
        </p:nvSpPr>
        <p:spPr>
          <a:xfrm>
            <a:off x="685800" y="334632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254883"/>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The northern Jakarta–Tangerang/Banten</a:t>
            </a:r>
          </a:p>
          <a:p>
            <a:pPr>
              <a:lnSpc>
                <a:spcPts val="2135"/>
              </a:lnSpc>
              <a:spcBef>
                <a:spcPts val="0"/>
              </a:spcBef>
              <a:spcAft>
                <a:spcPts val="0"/>
              </a:spcAft>
            </a:pPr>
            <a:r>
              <a:rPr sz="1750" b="0" i="0">
                <a:solidFill>
                  <a:srgbClr val="183A32"/>
                </a:solidFill>
                <a:latin typeface="Arial"/>
              </a:rPr>
              <a:t>coastal development corridor.</a:t>
            </a:r>
          </a:p>
        </p:txBody>
      </p:sp>
      <p:sp>
        <p:nvSpPr>
          <p:cNvPr id="18" name="Rectangle 17"/>
          <p:cNvSpPr/>
          <p:nvPr/>
        </p:nvSpPr>
        <p:spPr>
          <a:xfrm>
            <a:off x="685800" y="4066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975480"/>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The issuer originated in another industry</a:t>
            </a:r>
          </a:p>
          <a:p>
            <a:pPr>
              <a:lnSpc>
                <a:spcPts val="2135"/>
              </a:lnSpc>
              <a:spcBef>
                <a:spcPts val="0"/>
              </a:spcBef>
              <a:spcAft>
                <a:spcPts val="0"/>
              </a:spcAft>
            </a:pPr>
            <a:r>
              <a:rPr sz="1750" b="0" i="0">
                <a:solidFill>
                  <a:srgbClr val="183A32"/>
                </a:solidFill>
                <a:latin typeface="Arial"/>
              </a:rPr>
              <a:t>and listed in 2018; its property transformation</a:t>
            </a:r>
          </a:p>
          <a:p>
            <a:pPr>
              <a:lnSpc>
                <a:spcPts val="2135"/>
              </a:lnSpc>
              <a:spcBef>
                <a:spcPts val="0"/>
              </a:spcBef>
              <a:spcAft>
                <a:spcPts val="0"/>
              </a:spcAft>
            </a:pPr>
            <a:r>
              <a:rPr sz="1750" b="0" i="0">
                <a:solidFill>
                  <a:srgbClr val="183A32"/>
                </a:solidFill>
                <a:latin typeface="Arial"/>
              </a:rPr>
              <a:t>followed a controlling-shareholder change in</a:t>
            </a:r>
          </a:p>
          <a:p>
            <a:pPr>
              <a:lnSpc>
                <a:spcPts val="2135"/>
              </a:lnSpc>
              <a:spcBef>
                <a:spcPts val="0"/>
              </a:spcBef>
              <a:spcAft>
                <a:spcPts val="0"/>
              </a:spcAft>
            </a:pPr>
            <a:r>
              <a:rPr sz="1750" b="0" i="0">
                <a:solidFill>
                  <a:srgbClr val="183A32"/>
                </a:solidFill>
                <a:latin typeface="Arial"/>
              </a:rPr>
              <a:t>2021.</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PT Multi Artha Pratama, with</a:t>
            </a:r>
          </a:p>
          <a:p>
            <a:pPr>
              <a:lnSpc>
                <a:spcPts val="2135"/>
              </a:lnSpc>
              <a:spcBef>
                <a:spcPts val="0"/>
              </a:spcBef>
              <a:spcAft>
                <a:spcPts val="0"/>
              </a:spcAft>
            </a:pPr>
            <a:r>
              <a:rPr sz="1750" b="0" i="0">
                <a:solidFill>
                  <a:srgbClr val="183A32"/>
                </a:solidFill>
                <a:latin typeface="Arial"/>
              </a:rPr>
              <a:t>sponsorship associated with Agung Sedayu</a:t>
            </a:r>
          </a:p>
          <a:p>
            <a:pPr>
              <a:lnSpc>
                <a:spcPts val="2135"/>
              </a:lnSpc>
              <a:spcBef>
                <a:spcPts val="0"/>
              </a:spcBef>
              <a:spcAft>
                <a:spcPts val="0"/>
              </a:spcAft>
            </a:pPr>
            <a:r>
              <a:rPr sz="1750" b="0" i="0">
                <a:solidFill>
                  <a:srgbClr val="183A32"/>
                </a:solidFill>
                <a:latin typeface="Arial"/>
              </a:rPr>
              <a:t>Group and Salim Group.</a:t>
            </a:r>
          </a:p>
        </p:txBody>
      </p:sp>
      <p:sp>
        <p:nvSpPr>
          <p:cNvPr id="22" name="Rectangle 21"/>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076574"/>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Combine</a:t>
            </a:r>
          </a:p>
          <a:p>
            <a:pPr>
              <a:lnSpc>
                <a:spcPts val="2135"/>
              </a:lnSpc>
              <a:spcBef>
                <a:spcPts val="0"/>
              </a:spcBef>
              <a:spcAft>
                <a:spcPts val="0"/>
              </a:spcAft>
            </a:pPr>
            <a:r>
              <a:rPr sz="1750" b="0" i="0">
                <a:solidFill>
                  <a:srgbClr val="183A32"/>
                </a:solidFill>
                <a:latin typeface="Arial"/>
              </a:rPr>
              <a:t>a large development pipeline, sponsor</a:t>
            </a:r>
          </a:p>
          <a:p>
            <a:pPr>
              <a:lnSpc>
                <a:spcPts val="2135"/>
              </a:lnSpc>
              <a:spcBef>
                <a:spcPts val="0"/>
              </a:spcBef>
              <a:spcAft>
                <a:spcPts val="0"/>
              </a:spcAft>
            </a:pPr>
            <a:r>
              <a:rPr sz="1750" b="0" i="0">
                <a:solidFill>
                  <a:srgbClr val="183A32"/>
                </a:solidFill>
                <a:latin typeface="Arial"/>
              </a:rPr>
              <a:t>capabilities, corporate transactions, and</a:t>
            </a:r>
          </a:p>
          <a:p>
            <a:pPr>
              <a:lnSpc>
                <a:spcPts val="2135"/>
              </a:lnSpc>
              <a:spcBef>
                <a:spcPts val="0"/>
              </a:spcBef>
              <a:spcAft>
                <a:spcPts val="0"/>
              </a:spcAft>
            </a:pPr>
            <a:r>
              <a:rPr sz="1750" b="0" i="0">
                <a:solidFill>
                  <a:srgbClr val="183A32"/>
                </a:solidFill>
                <a:latin typeface="Arial"/>
              </a:rPr>
              <a:t>capital-market funding.</a:t>
            </a:r>
          </a:p>
        </p:txBody>
      </p:sp>
      <p:sp>
        <p:nvSpPr>
          <p:cNvPr id="24" name="TextBox 23"/>
          <p:cNvSpPr txBox="1"/>
          <p:nvPr/>
        </p:nvSpPr>
        <p:spPr>
          <a:xfrm>
            <a:off x="6400800" y="4339463"/>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Key distinction: PANI is not the entirety of either</a:t>
            </a:r>
          </a:p>
          <a:p>
            <a:pPr>
              <a:lnSpc>
                <a:spcPts val="2196"/>
              </a:lnSpc>
              <a:spcBef>
                <a:spcPts val="0"/>
              </a:spcBef>
              <a:spcAft>
                <a:spcPts val="0"/>
              </a:spcAft>
            </a:pPr>
            <a:r>
              <a:rPr sz="1800" b="0" i="0">
                <a:solidFill>
                  <a:srgbClr val="183A32"/>
                </a:solidFill>
                <a:latin typeface="Times New Roman"/>
              </a:rPr>
              <a:t>sponsor group or every asset carrying the PIK identity.</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Official company history.</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100–100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233</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The transformation was accelerated by corporate</a:t>
            </a:r>
          </a:p>
          <a:p>
            <a:pPr>
              <a:lnSpc>
                <a:spcPts val="3502"/>
              </a:lnSpc>
              <a:spcBef>
                <a:spcPts val="0"/>
              </a:spcBef>
              <a:spcAft>
                <a:spcPts val="0"/>
              </a:spcAft>
            </a:pPr>
            <a:r>
              <a:rPr sz="3100" b="0" i="0">
                <a:solidFill>
                  <a:srgbClr val="153F35"/>
                </a:solidFill>
                <a:latin typeface="Arial"/>
              </a:rPr>
              <a:t>actions</a:t>
            </a:r>
          </a:p>
        </p:txBody>
      </p:sp>
      <p:graphicFrame>
        <p:nvGraphicFramePr>
          <p:cNvPr id="11" name="Table 10"/>
          <p:cNvGraphicFramePr>
            <a:graphicFrameLocks noGrp="1"/>
          </p:cNvGraphicFramePr>
          <p:nvPr/>
        </p:nvGraphicFramePr>
        <p:xfrm>
          <a:off x="685800" y="2169921"/>
          <a:ext cx="10789919" cy="34676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2001</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Commercial operations in can packaging</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2018</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Public listing</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2021</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Change in controlling shareholder</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2022</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Rights issue and property-platform expansion</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2023</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Further rights issue of approximately Rp10.5 trillion</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2024</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Private placements raising approximately Rp6.5 trillion</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2025</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CBDK subsidiary listing and further development of the operating platform</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PANI official history and corporate-action chronology.</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100–100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234</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The transformation was accelerated by corporate</a:t>
            </a:r>
          </a:p>
          <a:p>
            <a:pPr>
              <a:lnSpc>
                <a:spcPts val="3502"/>
              </a:lnSpc>
              <a:spcBef>
                <a:spcPts val="0"/>
              </a:spcBef>
              <a:spcAft>
                <a:spcPts val="0"/>
              </a:spcAft>
            </a:pPr>
            <a:r>
              <a:rPr sz="3100" b="0" i="0">
                <a:solidFill>
                  <a:srgbClr val="153F35"/>
                </a:solidFill>
                <a:latin typeface="Arial"/>
              </a:rPr>
              <a:t>actions</a:t>
            </a:r>
          </a:p>
        </p:txBody>
      </p:sp>
      <p:sp>
        <p:nvSpPr>
          <p:cNvPr id="11" name="TextBox 10"/>
          <p:cNvSpPr txBox="1"/>
          <p:nvPr/>
        </p:nvSpPr>
        <p:spPr>
          <a:xfrm>
            <a:off x="685800" y="216992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This is not a simple story of a small developer growing exclusively through retained profits.</a:t>
            </a:r>
          </a:p>
          <a:p>
            <a:pPr>
              <a:lnSpc>
                <a:spcPts val="2196"/>
              </a:lnSpc>
              <a:spcBef>
                <a:spcPts val="0"/>
              </a:spcBef>
              <a:spcAft>
                <a:spcPts val="0"/>
              </a:spcAft>
            </a:pPr>
            <a:r>
              <a:rPr sz="1800" b="0" i="0">
                <a:solidFill>
                  <a:srgbClr val="183A32"/>
                </a:solidFill>
                <a:latin typeface="Times New Roman"/>
              </a:rPr>
              <a:t>Capital raising and asset acquisition are central to the case.</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PANI official history and corporate-action chronology.</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101–101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model connects:</a:t>
            </a:r>
          </a:p>
        </p:txBody>
      </p:sp>
      <p:sp>
        <p:nvSpPr>
          <p:cNvPr id="13" name="Rectangle 12"/>
          <p:cNvSpPr/>
          <p:nvPr/>
        </p:nvSpPr>
        <p:spPr>
          <a:xfrm>
            <a:off x="685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907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Sponsor development experience.</a:t>
            </a:r>
          </a:p>
        </p:txBody>
      </p:sp>
      <p:sp>
        <p:nvSpPr>
          <p:cNvPr id="15" name="Rectangle 14"/>
          <p:cNvSpPr/>
          <p:nvPr/>
        </p:nvSpPr>
        <p:spPr>
          <a:xfrm>
            <a:off x="685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3402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Access to a substantial project pipeline.</a:t>
            </a:r>
          </a:p>
        </p:txBody>
      </p:sp>
      <p:sp>
        <p:nvSpPr>
          <p:cNvPr id="17" name="Rectangle 16"/>
          <p:cNvSpPr/>
          <p:nvPr/>
        </p:nvSpPr>
        <p:spPr>
          <a:xfrm>
            <a:off x="685800" y="38811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896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Capital raised through listed entities.</a:t>
            </a:r>
          </a:p>
        </p:txBody>
      </p:sp>
      <p:sp>
        <p:nvSpPr>
          <p:cNvPr id="19" name="Rectangle 18"/>
          <p:cNvSpPr/>
          <p:nvPr/>
        </p:nvSpPr>
        <p:spPr>
          <a:xfrm>
            <a:off x="685800" y="43305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2391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Residential and commercial handovers.</a:t>
            </a:r>
          </a:p>
        </p:txBody>
      </p:sp>
      <p:sp>
        <p:nvSpPr>
          <p:cNvPr id="21" name="Rectangle 20"/>
          <p:cNvSpPr/>
          <p:nvPr/>
        </p:nvSpPr>
        <p:spPr>
          <a:xfrm>
            <a:off x="685800" y="47800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6885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Destination and connectivity investments intended to strengthen area demand.</a:t>
            </a:r>
          </a:p>
        </p:txBody>
      </p:sp>
      <p:sp>
        <p:nvSpPr>
          <p:cNvPr id="23" name="TextBox 22"/>
          <p:cNvSpPr txBox="1"/>
          <p:nvPr/>
        </p:nvSpPr>
        <p:spPr>
          <a:xfrm>
            <a:off x="685800" y="513803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Funding capacity and coordinated development can accelerate the scale of a platform.</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Evidence reference: PANI financial-results release.</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101–101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How the growth model works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Trade-offs: Dilution, transaction governance, land readiness, infrastructure delivery, and concentration all require</a:t>
            </a:r>
          </a:p>
          <a:p>
            <a:pPr>
              <a:lnSpc>
                <a:spcPts val="2196"/>
              </a:lnSpc>
              <a:spcBef>
                <a:spcPts val="0"/>
              </a:spcBef>
              <a:spcAft>
                <a:spcPts val="0"/>
              </a:spcAft>
            </a:pPr>
            <a:r>
              <a:rPr sz="1800" b="0" i="0">
                <a:solidFill>
                  <a:srgbClr val="183A32"/>
                </a:solidFill>
                <a:latin typeface="Times New Roman"/>
              </a:rPr>
              <a:t>close attention.</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Evidence reference: PANI financial-results release.</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101–101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Financial scale and the limits of headline growth</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approximately Rp4.3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the parent: approximately Rp1.1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Reported revenue growth: approximately 52%</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Reported attributable-profit growth: approximately 83%</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results demonstrate expansion of the listed platform. They do not, by themselves, separate organic</a:t>
            </a:r>
          </a:p>
          <a:p>
            <a:pPr>
              <a:lnSpc>
                <a:spcPts val="2196"/>
              </a:lnSpc>
              <a:spcBef>
                <a:spcPts val="0"/>
              </a:spcBef>
              <a:spcAft>
                <a:spcPts val="0"/>
              </a:spcAft>
            </a:pPr>
            <a:r>
              <a:rPr sz="1800" b="0" i="0">
                <a:solidFill>
                  <a:srgbClr val="183A32"/>
                </a:solidFill>
                <a:latin typeface="Times New Roman"/>
              </a:rPr>
              <a:t>development growth from the effects of acquired assets, funding, or changes in the reporting perimeter.</a:t>
            </a:r>
          </a:p>
        </p:txBody>
      </p:sp>
      <p:sp>
        <p:nvSpPr>
          <p:cNvPr id="22" name="TextBox 2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PANI FY2025 financial-results release.</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102–102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Sponsor capabilities and capital-market access</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Large coordinated development opportunity</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Ability to combine residential and commercial activity</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Geographic concentration</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Dependence on infrastructure and staged delivery</a:t>
            </a:r>
          </a:p>
        </p:txBody>
      </p:sp>
      <p:sp>
        <p:nvSpPr>
          <p:cNvPr id="21" name="TextBox 20"/>
          <p:cNvSpPr txBox="1"/>
          <p:nvPr/>
        </p:nvSpPr>
        <p:spPr>
          <a:xfrm>
            <a:off x="6336792"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Corporate actions complicate organic-growth assessment</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More activity within the development corridor</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Additional employment and destination functions</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Development of selected operating income</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Affordability and speculative-demand cycles</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Land, permitting, and infrastructure execution risks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Coastal physical risks and environmental obligations</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103–103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Lessons for TANRISE</a:t>
            </a:r>
          </a:p>
        </p:txBody>
      </p:sp>
      <p:cxnSp>
        <p:nvCxnSpPr>
          <p:cNvPr id="11" name="Connector 10"/>
          <p:cNvCxnSpPr/>
          <p:nvPr/>
        </p:nvCxnSpPr>
        <p:spPr>
          <a:xfrm>
            <a:off x="6062472" y="2084831"/>
            <a:ext cx="0" cy="31318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Consider strategic investors, partnerships, and</a:t>
            </a:r>
          </a:p>
          <a:p>
            <a:pPr>
              <a:lnSpc>
                <a:spcPts val="2135"/>
              </a:lnSpc>
              <a:spcBef>
                <a:spcPts val="0"/>
              </a:spcBef>
              <a:spcAft>
                <a:spcPts val="0"/>
              </a:spcAft>
            </a:pPr>
            <a:r>
              <a:rPr sz="1750" b="0" i="0">
                <a:solidFill>
                  <a:srgbClr val="183A32"/>
                </a:solidFill>
                <a:latin typeface="Arial"/>
              </a:rPr>
              <a:t>capital raising as possible tools.</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Match funding commitments to a verified</a:t>
            </a:r>
          </a:p>
          <a:p>
            <a:pPr>
              <a:lnSpc>
                <a:spcPts val="2135"/>
              </a:lnSpc>
              <a:spcBef>
                <a:spcPts val="0"/>
              </a:spcBef>
              <a:spcAft>
                <a:spcPts val="0"/>
              </a:spcAft>
            </a:pPr>
            <a:r>
              <a:rPr sz="1750" b="0" i="0">
                <a:solidFill>
                  <a:srgbClr val="183A32"/>
                </a:solidFill>
                <a:latin typeface="Arial"/>
              </a:rPr>
              <a:t>development pipeline.</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Evaluate acquisitions using cash flow, legal</a:t>
            </a:r>
          </a:p>
          <a:p>
            <a:pPr>
              <a:lnSpc>
                <a:spcPts val="2135"/>
              </a:lnSpc>
              <a:spcBef>
                <a:spcPts val="0"/>
              </a:spcBef>
              <a:spcAft>
                <a:spcPts val="0"/>
              </a:spcAft>
            </a:pPr>
            <a:r>
              <a:rPr sz="1750" b="0" i="0">
                <a:solidFill>
                  <a:srgbClr val="183A32"/>
                </a:solidFill>
                <a:latin typeface="Arial"/>
              </a:rPr>
              <a:t>readiness, and management capacity.</a:t>
            </a:r>
          </a:p>
        </p:txBody>
      </p:sp>
      <p:sp>
        <p:nvSpPr>
          <p:cNvPr id="19" name="Rectangle 18"/>
          <p:cNvSpPr/>
          <p:nvPr/>
        </p:nvSpPr>
        <p:spPr>
          <a:xfrm>
            <a:off x="685800" y="468680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Distinguish growth created through operations</a:t>
            </a:r>
          </a:p>
          <a:p>
            <a:pPr>
              <a:lnSpc>
                <a:spcPts val="2135"/>
              </a:lnSpc>
              <a:spcBef>
                <a:spcPts val="0"/>
              </a:spcBef>
              <a:spcAft>
                <a:spcPts val="0"/>
              </a:spcAft>
            </a:pPr>
            <a:r>
              <a:rPr sz="1750" b="0" i="0">
                <a:solidFill>
                  <a:srgbClr val="183A32"/>
                </a:solidFill>
                <a:latin typeface="Arial"/>
              </a:rPr>
              <a:t>from growth created through transactions.</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Preserve shareholder economics when seeking</a:t>
            </a:r>
          </a:p>
          <a:p>
            <a:pPr>
              <a:lnSpc>
                <a:spcPts val="2135"/>
              </a:lnSpc>
              <a:spcBef>
                <a:spcPts val="0"/>
              </a:spcBef>
              <a:spcAft>
                <a:spcPts val="0"/>
              </a:spcAft>
            </a:pPr>
            <a:r>
              <a:rPr sz="1750" b="0" i="0">
                <a:solidFill>
                  <a:srgbClr val="183A32"/>
                </a:solidFill>
                <a:latin typeface="Arial"/>
              </a:rPr>
              <a:t>scale.</a:t>
            </a:r>
          </a:p>
        </p:txBody>
      </p:sp>
      <p:sp>
        <p:nvSpPr>
          <p:cNvPr id="23" name="Rectangle 22"/>
          <p:cNvSpPr/>
          <p:nvPr/>
        </p:nvSpPr>
        <p:spPr>
          <a:xfrm>
            <a:off x="6400800" y="2805430"/>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Compare organic growth, land partnerships,</a:t>
            </a:r>
          </a:p>
          <a:p>
            <a:pPr>
              <a:lnSpc>
                <a:spcPts val="2013"/>
              </a:lnSpc>
              <a:spcBef>
                <a:spcPts val="0"/>
              </a:spcBef>
              <a:spcAft>
                <a:spcPts val="0"/>
              </a:spcAft>
            </a:pPr>
            <a:r>
              <a:rPr sz="1650" b="0" i="0">
                <a:solidFill>
                  <a:srgbClr val="183A32"/>
                </a:solidFill>
                <a:latin typeface="Times New Roman"/>
              </a:rPr>
              <a:t>and acquisition-led growth under one funding and return</a:t>
            </a:r>
          </a:p>
          <a:p>
            <a:pPr>
              <a:lnSpc>
                <a:spcPts val="2013"/>
              </a:lnSpc>
              <a:spcBef>
                <a:spcPts val="0"/>
              </a:spcBef>
              <a:spcAft>
                <a:spcPts val="0"/>
              </a:spcAft>
            </a:pPr>
            <a:r>
              <a:rPr sz="1650" b="0" i="0">
                <a:solidFill>
                  <a:srgbClr val="183A32"/>
                </a:solidFill>
                <a:latin typeface="Times New Roman"/>
              </a:rPr>
              <a:t>framework.</a:t>
            </a:r>
          </a:p>
        </p:txBody>
      </p:sp>
      <p:sp>
        <p:nvSpPr>
          <p:cNvPr id="26" name="Rectangle 25"/>
          <p:cNvSpPr/>
          <p:nvPr/>
        </p:nvSpPr>
        <p:spPr>
          <a:xfrm>
            <a:off x="6400800" y="3889565"/>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889565"/>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971861"/>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Assuming that</a:t>
            </a:r>
          </a:p>
          <a:p>
            <a:pPr>
              <a:lnSpc>
                <a:spcPts val="2013"/>
              </a:lnSpc>
              <a:spcBef>
                <a:spcPts val="0"/>
              </a:spcBef>
              <a:spcAft>
                <a:spcPts val="0"/>
              </a:spcAft>
            </a:pPr>
            <a:r>
              <a:rPr sz="1650" b="0" i="0">
                <a:solidFill>
                  <a:srgbClr val="183A32"/>
                </a:solidFill>
                <a:latin typeface="Times New Roman"/>
              </a:rPr>
              <a:t>public-market capital will be available on favourable</a:t>
            </a:r>
          </a:p>
          <a:p>
            <a:pPr>
              <a:lnSpc>
                <a:spcPts val="2013"/>
              </a:lnSpc>
              <a:spcBef>
                <a:spcPts val="0"/>
              </a:spcBef>
              <a:spcAft>
                <a:spcPts val="0"/>
              </a:spcAft>
            </a:pPr>
            <a:r>
              <a:rPr sz="1650" b="0" i="0">
                <a:solidFill>
                  <a:srgbClr val="183A32"/>
                </a:solidFill>
                <a:latin typeface="Times New Roman"/>
              </a:rPr>
              <a:t>terms whenever needed.</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103–104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Ten companies, different sources of competitive advantage</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SYNTHESIS</a:t>
            </a:r>
          </a:p>
        </p:txBody>
      </p:sp>
      <p:graphicFrame>
        <p:nvGraphicFramePr>
          <p:cNvPr id="12" name="Table 11"/>
          <p:cNvGraphicFramePr>
            <a:graphicFrameLocks noGrp="1"/>
          </p:cNvGraphicFramePr>
          <p:nvPr/>
        </p:nvGraphicFramePr>
        <p:xfrm>
          <a:off x="685800" y="2433574"/>
          <a:ext cx="10789919" cy="303415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Developer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useful capability to study</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BSDE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Long-term township development and pipeline coordination</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LPKR</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Affordability, portfolio complexity, and strategic refocusing</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CTRA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Partnership-based replication across markets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SMRA</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Township sequencing and activation</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PWON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Retained-asset operations and recurring income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APLN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Mixed-use economics and capital allocation</a:t>
                      </a:r>
                    </a:p>
                  </a:txBody>
                  <a:tcPr marL="109728" marR="109728" marT="82296" marB="0" anchor="t">
                    <a:solidFill>
                      <a:srgbClr val="E9E8DC"/>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103–104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Ten companies, different sources of competitive advantage</a:t>
            </a:r>
          </a:p>
        </p:txBody>
      </p:sp>
      <p:graphicFrame>
        <p:nvGraphicFramePr>
          <p:cNvPr id="11" name="Table 10"/>
          <p:cNvGraphicFramePr>
            <a:graphicFrameLocks noGrp="1"/>
          </p:cNvGraphicFramePr>
          <p:nvPr/>
        </p:nvGraphicFramePr>
        <p:xfrm>
          <a:off x="685800" y="2084831"/>
          <a:ext cx="10789919" cy="216725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Developer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useful capability to study</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DUTI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Project platforms within a consolidated group</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ASRI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Township identity, diversification, and funding discipline</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JRPT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Community usefulness and connectivity</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PANI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Sponsor-backed expansion and capital-market transactions</a:t>
                      </a:r>
                    </a:p>
                  </a:txBody>
                  <a:tcPr marL="109728" marR="109728" marT="82296" marB="0" anchor="t">
                    <a:solidFill>
                      <a:srgbClr val="E9E8DC"/>
                    </a:solidFill>
                    <a:lnL>
                      <a:noFill/>
                    </a:lnL>
                    <a:lnR>
                      <a:noFill/>
                    </a:lnR>
                    <a:lnT>
                      <a:noFill/>
                    </a:lnT>
                    <a:lnB>
                      <a:noFill/>
                    </a:lnB>
                  </a:tcPr>
                </a:tc>
              </a:tr>
            </a:tbl>
          </a:graphicData>
        </a:graphic>
      </p:graphicFrame>
      <p:sp>
        <p:nvSpPr>
          <p:cNvPr id="12" name="Rectangle 11"/>
          <p:cNvSpPr/>
          <p:nvPr/>
        </p:nvSpPr>
        <p:spPr>
          <a:xfrm>
            <a:off x="685800" y="4434967"/>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434967"/>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4517263"/>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conclusion: No single competitor provides a complete model for TANRISE.</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104–105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TANRISE can adopt, adapt, or defer</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a:t>
            </a:r>
          </a:p>
        </p:txBody>
      </p:sp>
      <p:graphicFrame>
        <p:nvGraphicFramePr>
          <p:cNvPr id="12" name="Table 11"/>
          <p:cNvGraphicFramePr>
            <a:graphicFrameLocks noGrp="1"/>
          </p:cNvGraphicFramePr>
          <p:nvPr/>
        </p:nvGraphicFramePr>
        <p:xfrm>
          <a:off x="685800" y="2433574"/>
          <a:ext cx="10789919" cy="2662932"/>
        </p:xfrm>
        <a:graphic>
          <a:graphicData uri="http://schemas.openxmlformats.org/drawingml/2006/table">
            <a:tbl>
              <a:tblPr firstRow="1" bandRow="1">
                <a:tableStyleId>{5C22544A-7EE6-4342-B048-85BDC9FD1C3A}</a:tableStyleId>
              </a:tblPr>
              <a:tblGrid>
                <a:gridCol w="2373782"/>
                <a:gridCol w="3236976"/>
                <a:gridCol w="5179161"/>
              </a:tblGrid>
              <a:tr h="665733">
                <a:tc>
                  <a:txBody>
                    <a:bodyPr wrap="none"/>
                    <a:lstStyle/>
                    <a:p>
                      <a:pPr>
                        <a:lnSpc>
                          <a:spcPts val="1829"/>
                        </a:lnSpc>
                        <a:spcBef>
                          <a:spcPts val="0"/>
                        </a:spcBef>
                        <a:spcAft>
                          <a:spcPts val="0"/>
                        </a:spcAft>
                      </a:pPr>
                      <a:r>
                        <a:rPr sz="1550" b="1">
                          <a:solidFill>
                            <a:srgbClr val="F6F2E9"/>
                          </a:solidFill>
                          <a:latin typeface="Arial"/>
                        </a:rPr>
                        <a:t>Adopt as operating</a:t>
                      </a:r>
                    </a:p>
                    <a:p>
                      <a:pPr>
                        <a:lnSpc>
                          <a:spcPts val="1829"/>
                        </a:lnSpc>
                        <a:spcBef>
                          <a:spcPts val="0"/>
                        </a:spcBef>
                        <a:spcAft>
                          <a:spcPts val="0"/>
                        </a:spcAft>
                      </a:pPr>
                      <a:r>
                        <a:rPr sz="1550" b="1">
                          <a:solidFill>
                            <a:srgbClr val="F6F2E9"/>
                          </a:solidFill>
                          <a:latin typeface="Arial"/>
                        </a:rPr>
                        <a:t>discipline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Adapt through pilots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Defer until prerequisites exist</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Verified project and land</a:t>
                      </a:r>
                    </a:p>
                    <a:p>
                      <a:pPr>
                        <a:lnSpc>
                          <a:spcPts val="1829"/>
                        </a:lnSpc>
                        <a:spcBef>
                          <a:spcPts val="0"/>
                        </a:spcBef>
                        <a:spcAft>
                          <a:spcPts val="0"/>
                        </a:spcAft>
                      </a:pPr>
                      <a:r>
                        <a:rPr sz="1550" b="0">
                          <a:solidFill>
                            <a:srgbClr val="183A32"/>
                          </a:solidFill>
                          <a:latin typeface="Arial"/>
                        </a:rPr>
                        <a:t>register</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Landowner partnerships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Very large speculative anchors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Affordability and</a:t>
                      </a:r>
                    </a:p>
                    <a:p>
                      <a:pPr>
                        <a:lnSpc>
                          <a:spcPts val="1829"/>
                        </a:lnSpc>
                        <a:spcBef>
                          <a:spcPts val="0"/>
                        </a:spcBef>
                        <a:spcAft>
                          <a:spcPts val="0"/>
                        </a:spcAft>
                      </a:pPr>
                      <a:r>
                        <a:rPr sz="1550" b="0">
                          <a:solidFill>
                            <a:srgbClr val="183A32"/>
                          </a:solidFill>
                          <a:latin typeface="Arial"/>
                        </a:rPr>
                        <a:t>customer research</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Employer-linked residential</a:t>
                      </a:r>
                    </a:p>
                    <a:p>
                      <a:pPr>
                        <a:lnSpc>
                          <a:spcPts val="1829"/>
                        </a:lnSpc>
                        <a:spcBef>
                          <a:spcPts val="0"/>
                        </a:spcBef>
                        <a:spcAft>
                          <a:spcPts val="0"/>
                        </a:spcAft>
                      </a:pPr>
                      <a:r>
                        <a:rPr sz="1550" b="0">
                          <a:solidFill>
                            <a:srgbClr val="183A32"/>
                          </a:solidFill>
                          <a:latin typeface="Arial"/>
                        </a:rPr>
                        <a:t>demand</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Broad geographic expansion</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Phased development</a:t>
                      </a:r>
                    </a:p>
                    <a:p>
                      <a:pPr>
                        <a:lnSpc>
                          <a:spcPts val="1829"/>
                        </a:lnSpc>
                        <a:spcBef>
                          <a:spcPts val="0"/>
                        </a:spcBef>
                        <a:spcAft>
                          <a:spcPts val="0"/>
                        </a:spcAft>
                      </a:pPr>
                      <a:r>
                        <a:rPr sz="1550" b="0">
                          <a:solidFill>
                            <a:srgbClr val="183A32"/>
                          </a:solidFill>
                          <a:latin typeface="Arial"/>
                        </a:rPr>
                        <a:t>and cash planning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Smaller community and</a:t>
                      </a:r>
                    </a:p>
                    <a:p>
                      <a:pPr>
                        <a:lnSpc>
                          <a:spcPts val="1829"/>
                        </a:lnSpc>
                        <a:spcBef>
                          <a:spcPts val="0"/>
                        </a:spcBef>
                        <a:spcAft>
                          <a:spcPts val="0"/>
                        </a:spcAft>
                      </a:pPr>
                      <a:r>
                        <a:rPr sz="1550" b="0">
                          <a:solidFill>
                            <a:srgbClr val="183A32"/>
                          </a:solidFill>
                          <a:latin typeface="Arial"/>
                        </a:rPr>
                        <a:t>commercial facilities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Major acquisitions without integration capacity</a:t>
                      </a:r>
                    </a:p>
                  </a:txBody>
                  <a:tcPr marL="109728" marR="109728" marT="82296" marB="0" anchor="t">
                    <a:solidFill>
                      <a:srgbClr val="F6F2E9"/>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104–105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TANRISE can adopt, adapt, or defer</a:t>
            </a:r>
          </a:p>
        </p:txBody>
      </p:sp>
      <p:graphicFrame>
        <p:nvGraphicFramePr>
          <p:cNvPr id="11" name="Table 10"/>
          <p:cNvGraphicFramePr>
            <a:graphicFrameLocks noGrp="1"/>
          </p:cNvGraphicFramePr>
          <p:nvPr/>
        </p:nvGraphicFramePr>
        <p:xfrm>
          <a:off x="685800" y="2084831"/>
          <a:ext cx="10789919" cy="2229483"/>
        </p:xfrm>
        <a:graphic>
          <a:graphicData uri="http://schemas.openxmlformats.org/drawingml/2006/table">
            <a:tbl>
              <a:tblPr firstRow="1" bandRow="1">
                <a:tableStyleId>{5C22544A-7EE6-4342-B048-85BDC9FD1C3A}</a:tableStyleId>
              </a:tblPr>
              <a:tblGrid>
                <a:gridCol w="2373782"/>
                <a:gridCol w="3236976"/>
                <a:gridCol w="5179161"/>
              </a:tblGrid>
              <a:tr h="665733">
                <a:tc>
                  <a:txBody>
                    <a:bodyPr wrap="none"/>
                    <a:lstStyle/>
                    <a:p>
                      <a:pPr>
                        <a:lnSpc>
                          <a:spcPts val="1829"/>
                        </a:lnSpc>
                        <a:spcBef>
                          <a:spcPts val="0"/>
                        </a:spcBef>
                        <a:spcAft>
                          <a:spcPts val="0"/>
                        </a:spcAft>
                      </a:pPr>
                      <a:r>
                        <a:rPr sz="1550" b="1">
                          <a:solidFill>
                            <a:srgbClr val="F6F2E9"/>
                          </a:solidFill>
                          <a:latin typeface="Arial"/>
                        </a:rPr>
                        <a:t>Adopt as operating</a:t>
                      </a:r>
                    </a:p>
                    <a:p>
                      <a:pPr>
                        <a:lnSpc>
                          <a:spcPts val="1829"/>
                        </a:lnSpc>
                        <a:spcBef>
                          <a:spcPts val="0"/>
                        </a:spcBef>
                        <a:spcAft>
                          <a:spcPts val="0"/>
                        </a:spcAft>
                      </a:pPr>
                      <a:r>
                        <a:rPr sz="1550" b="1">
                          <a:solidFill>
                            <a:srgbClr val="F6F2E9"/>
                          </a:solidFill>
                          <a:latin typeface="Arial"/>
                        </a:rPr>
                        <a:t>discipline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Adapt through pilots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Defer until prerequisites exist</a:t>
                      </a:r>
                    </a:p>
                  </a:txBody>
                  <a:tcPr marL="109728" marR="109728" marT="82296" marB="0" anchor="t">
                    <a:solidFill>
                      <a:srgbClr val="153F35"/>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Inventory and</a:t>
                      </a:r>
                    </a:p>
                    <a:p>
                      <a:pPr>
                        <a:lnSpc>
                          <a:spcPts val="1829"/>
                        </a:lnSpc>
                        <a:spcBef>
                          <a:spcPts val="0"/>
                        </a:spcBef>
                        <a:spcAft>
                          <a:spcPts val="0"/>
                        </a:spcAft>
                      </a:pPr>
                      <a:r>
                        <a:rPr sz="1550" b="0">
                          <a:solidFill>
                            <a:srgbClr val="183A32"/>
                          </a:solidFill>
                          <a:latin typeface="Arial"/>
                        </a:rPr>
                        <a:t>asset-productivity</a:t>
                      </a:r>
                    </a:p>
                    <a:p>
                      <a:pPr>
                        <a:lnSpc>
                          <a:spcPts val="1829"/>
                        </a:lnSpc>
                        <a:spcBef>
                          <a:spcPts val="0"/>
                        </a:spcBef>
                        <a:spcAft>
                          <a:spcPts val="0"/>
                        </a:spcAft>
                      </a:pPr>
                      <a:r>
                        <a:rPr sz="1550" b="0">
                          <a:solidFill>
                            <a:srgbClr val="183A32"/>
                          </a:solidFill>
                          <a:latin typeface="Arial"/>
                        </a:rPr>
                        <a:t>reviews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Selective recurring-income</a:t>
                      </a:r>
                    </a:p>
                    <a:p>
                      <a:pPr>
                        <a:lnSpc>
                          <a:spcPts val="1829"/>
                        </a:lnSpc>
                        <a:spcBef>
                          <a:spcPts val="0"/>
                        </a:spcBef>
                        <a:spcAft>
                          <a:spcPts val="0"/>
                        </a:spcAft>
                      </a:pPr>
                      <a:r>
                        <a:rPr sz="1550" b="0">
                          <a:solidFill>
                            <a:srgbClr val="183A32"/>
                          </a:solidFill>
                          <a:latin typeface="Arial"/>
                        </a:rPr>
                        <a:t>investments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Complex mixed-use development without funding</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Clear owner/operator</a:t>
                      </a:r>
                    </a:p>
                    <a:p>
                      <a:pPr>
                        <a:lnSpc>
                          <a:spcPts val="1829"/>
                        </a:lnSpc>
                        <a:spcBef>
                          <a:spcPts val="0"/>
                        </a:spcBef>
                        <a:spcAft>
                          <a:spcPts val="0"/>
                        </a:spcAft>
                      </a:pPr>
                      <a:r>
                        <a:rPr sz="1550" b="0">
                          <a:solidFill>
                            <a:srgbClr val="183A32"/>
                          </a:solidFill>
                          <a:latin typeface="Arial"/>
                        </a:rPr>
                        <a:t>responsibilities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New locations after repeatable</a:t>
                      </a:r>
                    </a:p>
                    <a:p>
                      <a:pPr>
                        <a:lnSpc>
                          <a:spcPts val="1829"/>
                        </a:lnSpc>
                        <a:spcBef>
                          <a:spcPts val="0"/>
                        </a:spcBef>
                        <a:spcAft>
                          <a:spcPts val="0"/>
                        </a:spcAft>
                      </a:pPr>
                      <a:r>
                        <a:rPr sz="1550" b="0">
                          <a:solidFill>
                            <a:srgbClr val="183A32"/>
                          </a:solidFill>
                          <a:latin typeface="Arial"/>
                        </a:rPr>
                        <a:t>delivery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Diversification driven mainly by image</a:t>
                      </a:r>
                    </a:p>
                  </a:txBody>
                  <a:tcPr marL="109728" marR="109728" marT="82296" marB="0" anchor="t">
                    <a:solidFill>
                      <a:srgbClr val="E9E8DC"/>
                    </a:solidFill>
                    <a:lnL>
                      <a:noFill/>
                    </a:lnL>
                    <a:lnR>
                      <a:noFill/>
                    </a:lnR>
                    <a:lnT>
                      <a:noFill/>
                    </a:lnT>
                    <a:lnB>
                      <a:noFill/>
                    </a:lnB>
                  </a:tcPr>
                </a:tc>
              </a:tr>
            </a:tbl>
          </a:graphicData>
        </a:graphic>
      </p:graphicFrame>
      <p:sp>
        <p:nvSpPr>
          <p:cNvPr id="12" name="Rectangle 11"/>
          <p:cNvSpPr/>
          <p:nvPr/>
        </p:nvSpPr>
        <p:spPr>
          <a:xfrm>
            <a:off x="685800" y="4497196"/>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497196"/>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4579492"/>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message: TANRISE should copy decision quality before copying portfolio breadth.</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105–106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TANRISE’s current economics should shape the growth plan</a:t>
            </a:r>
          </a:p>
        </p:txBody>
      </p:sp>
      <p:cxnSp>
        <p:nvCxnSpPr>
          <p:cNvPr id="11" name="Connector 10"/>
          <p:cNvCxnSpPr/>
          <p:nvPr/>
        </p:nvCxnSpPr>
        <p:spPr>
          <a:xfrm>
            <a:off x="6062472" y="2084831"/>
            <a:ext cx="0" cy="260223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AUDITED BASELINE</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Consolidated revenue: approximately Rp410.7</a:t>
            </a:r>
          </a:p>
          <a:p>
            <a:pPr>
              <a:lnSpc>
                <a:spcPts val="2135"/>
              </a:lnSpc>
              <a:spcBef>
                <a:spcPts val="0"/>
              </a:spcBef>
              <a:spcAft>
                <a:spcPts val="0"/>
              </a:spcAft>
            </a:pPr>
            <a:r>
              <a:rPr sz="1750" b="0" i="0">
                <a:solidFill>
                  <a:srgbClr val="183A32"/>
                </a:solidFill>
                <a:latin typeface="Arial"/>
              </a:rPr>
              <a:t>billion</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approximately</a:t>
            </a:r>
          </a:p>
          <a:p>
            <a:pPr>
              <a:lnSpc>
                <a:spcPts val="2135"/>
              </a:lnSpc>
              <a:spcBef>
                <a:spcPts val="0"/>
              </a:spcBef>
              <a:spcAft>
                <a:spcPts val="0"/>
              </a:spcAft>
            </a:pPr>
            <a:r>
              <a:rPr sz="1750" b="0" i="0">
                <a:solidFill>
                  <a:srgbClr val="183A32"/>
                </a:solidFill>
                <a:latin typeface="Arial"/>
              </a:rPr>
              <a:t>Rp87.2 billion</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Hotel revenue: approximately Rp180.5 billion</a:t>
            </a:r>
          </a:p>
        </p:txBody>
      </p:sp>
      <p:sp>
        <p:nvSpPr>
          <p:cNvPr id="19" name="Rectangle 18"/>
          <p:cNvSpPr/>
          <p:nvPr/>
        </p:nvSpPr>
        <p:spPr>
          <a:xfrm>
            <a:off x="685800" y="44156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324223"/>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Apartment sales: approximately Rp151.4 billion</a:t>
            </a:r>
          </a:p>
        </p:txBody>
      </p:sp>
      <p:sp>
        <p:nvSpPr>
          <p:cNvPr id="21" name="TextBox 20"/>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INTERPRETATION</a:t>
            </a:r>
          </a:p>
        </p:txBody>
      </p:sp>
      <p:sp>
        <p:nvSpPr>
          <p:cNvPr id="22" name="TextBox 21"/>
          <p:cNvSpPr txBox="1"/>
          <p:nvPr/>
        </p:nvSpPr>
        <p:spPr>
          <a:xfrm>
            <a:off x="6400800" y="243357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existing revenue mix differs from the leadership</a:t>
            </a:r>
          </a:p>
          <a:p>
            <a:pPr>
              <a:lnSpc>
                <a:spcPts val="2196"/>
              </a:lnSpc>
              <a:spcBef>
                <a:spcPts val="0"/>
              </a:spcBef>
              <a:spcAft>
                <a:spcPts val="0"/>
              </a:spcAft>
            </a:pPr>
            <a:r>
              <a:rPr sz="1800" b="0" i="0">
                <a:solidFill>
                  <a:srgbClr val="183A32"/>
                </a:solidFill>
                <a:latin typeface="Times New Roman"/>
              </a:rPr>
              <a:t>ambition to make residential and</a:t>
            </a:r>
          </a:p>
          <a:p>
            <a:pPr>
              <a:lnSpc>
                <a:spcPts val="2196"/>
              </a:lnSpc>
              <a:spcBef>
                <a:spcPts val="0"/>
              </a:spcBef>
              <a:spcAft>
                <a:spcPts val="0"/>
              </a:spcAft>
            </a:pPr>
            <a:r>
              <a:rPr sz="1800" b="0" i="0">
                <a:solidFill>
                  <a:srgbClr val="183A32"/>
                </a:solidFill>
                <a:latin typeface="Times New Roman"/>
              </a:rPr>
              <a:t>industrial/warehousing the main growth engines.</a:t>
            </a:r>
          </a:p>
        </p:txBody>
      </p:sp>
      <p:sp>
        <p:nvSpPr>
          <p:cNvPr id="23" name="TextBox 22"/>
          <p:cNvSpPr txBox="1"/>
          <p:nvPr/>
        </p:nvSpPr>
        <p:spPr>
          <a:xfrm>
            <a:off x="6400800" y="3448558"/>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That creates a practical transition question: how will</a:t>
            </a:r>
          </a:p>
          <a:p>
            <a:pPr>
              <a:lnSpc>
                <a:spcPts val="2196"/>
              </a:lnSpc>
              <a:spcBef>
                <a:spcPts val="0"/>
              </a:spcBef>
              <a:spcAft>
                <a:spcPts val="0"/>
              </a:spcAft>
            </a:pPr>
            <a:r>
              <a:rPr sz="1800" b="0" i="0">
                <a:solidFill>
                  <a:srgbClr val="183A32"/>
                </a:solidFill>
                <a:latin typeface="Times New Roman"/>
              </a:rPr>
              <a:t>TANRISE fund and execute new growth while</a:t>
            </a:r>
          </a:p>
          <a:p>
            <a:pPr>
              <a:lnSpc>
                <a:spcPts val="2196"/>
              </a:lnSpc>
              <a:spcBef>
                <a:spcPts val="0"/>
              </a:spcBef>
              <a:spcAft>
                <a:spcPts val="0"/>
              </a:spcAft>
            </a:pPr>
            <a:r>
              <a:rPr sz="1800" b="0" i="0">
                <a:solidFill>
                  <a:srgbClr val="183A32"/>
                </a:solidFill>
                <a:latin typeface="Times New Roman"/>
              </a:rPr>
              <a:t>maintaining or improving the productivity of existing</a:t>
            </a:r>
          </a:p>
          <a:p>
            <a:pPr>
              <a:lnSpc>
                <a:spcPts val="2196"/>
              </a:lnSpc>
              <a:spcBef>
                <a:spcPts val="0"/>
              </a:spcBef>
              <a:spcAft>
                <a:spcPts val="0"/>
              </a:spcAft>
            </a:pPr>
            <a:r>
              <a:rPr sz="1800" b="0" i="0">
                <a:solidFill>
                  <a:srgbClr val="183A32"/>
                </a:solidFill>
                <a:latin typeface="Times New Roman"/>
              </a:rPr>
              <a:t>assets?</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TANRISE FY2025 audited statements — revenue note 27 and profit-attribution statement.</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106–107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2035 ambition requires a moving-target calculation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ILLUSTRATIVE REVENUE SCENARIOS, NOT FORECASTS</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PWON’s FY2025 revenue of approximately Rp7.11 trillion is the fifth-highest within this selected cohort.</a:t>
            </a:r>
          </a:p>
        </p:txBody>
      </p:sp>
      <p:sp>
        <p:nvSpPr>
          <p:cNvPr id="13" name="TextBox 12"/>
          <p:cNvSpPr txBox="1"/>
          <p:nvPr/>
        </p:nvSpPr>
        <p:spPr>
          <a:xfrm>
            <a:off x="685800" y="28907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Starting from TANRISE’s FY2025 revenue of approximately Rp0.411 trillion:</a:t>
            </a:r>
          </a:p>
        </p:txBody>
      </p:sp>
      <p:graphicFrame>
        <p:nvGraphicFramePr>
          <p:cNvPr id="14" name="Table 13"/>
          <p:cNvGraphicFramePr>
            <a:graphicFrameLocks noGrp="1"/>
          </p:cNvGraphicFramePr>
          <p:nvPr/>
        </p:nvGraphicFramePr>
        <p:xfrm>
          <a:off x="685800" y="3347974"/>
          <a:ext cx="10789919" cy="2198367"/>
        </p:xfrm>
        <a:graphic>
          <a:graphicData uri="http://schemas.openxmlformats.org/drawingml/2006/table">
            <a:tbl>
              <a:tblPr firstRow="1" bandRow="1">
                <a:tableStyleId>{5C22544A-7EE6-4342-B048-85BDC9FD1C3A}</a:tableStyleId>
              </a:tblPr>
              <a:tblGrid>
                <a:gridCol w="2373782"/>
                <a:gridCol w="3236976"/>
                <a:gridCol w="5179161"/>
              </a:tblGrid>
              <a:tr h="898017">
                <a:tc>
                  <a:txBody>
                    <a:bodyPr wrap="none"/>
                    <a:lstStyle/>
                    <a:p>
                      <a:pPr>
                        <a:lnSpc>
                          <a:spcPts val="1829"/>
                        </a:lnSpc>
                        <a:spcBef>
                          <a:spcPts val="0"/>
                        </a:spcBef>
                        <a:spcAft>
                          <a:spcPts val="0"/>
                        </a:spcAft>
                      </a:pPr>
                      <a:r>
                        <a:rPr sz="1550" b="1">
                          <a:solidFill>
                            <a:srgbClr val="F6F2E9"/>
                          </a:solidFill>
                          <a:latin typeface="Arial"/>
                        </a:rPr>
                        <a:t>Assumed annual</a:t>
                      </a:r>
                    </a:p>
                    <a:p>
                      <a:pPr>
                        <a:lnSpc>
                          <a:spcPts val="1829"/>
                        </a:lnSpc>
                        <a:spcBef>
                          <a:spcPts val="0"/>
                        </a:spcBef>
                        <a:spcAft>
                          <a:spcPts val="0"/>
                        </a:spcAft>
                      </a:pPr>
                      <a:r>
                        <a:rPr sz="1550" b="1">
                          <a:solidFill>
                            <a:srgbClr val="F6F2E9"/>
                          </a:solidFill>
                          <a:latin typeface="Arial"/>
                        </a:rPr>
                        <a:t>growth of that</a:t>
                      </a:r>
                    </a:p>
                    <a:p>
                      <a:pPr>
                        <a:lnSpc>
                          <a:spcPts val="1829"/>
                        </a:lnSpc>
                        <a:spcBef>
                          <a:spcPts val="0"/>
                        </a:spcBef>
                        <a:spcAft>
                          <a:spcPts val="0"/>
                        </a:spcAft>
                      </a:pPr>
                      <a:r>
                        <a:rPr sz="1550" b="1">
                          <a:solidFill>
                            <a:srgbClr val="F6F2E9"/>
                          </a:solidFill>
                          <a:latin typeface="Arial"/>
                        </a:rPr>
                        <a:t>benchmark</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Illustrative benchmark in 2035</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TANRISE revenue CAGR required, 2025–2035</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0%</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Rp7.11 trillion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33.0%</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3%</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Rp9.56 trillion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37.0%</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5%</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Rp11.58 trillion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39.6%</a:t>
                      </a:r>
                    </a:p>
                  </a:txBody>
                  <a:tcPr marL="109728" marR="109728" marT="82296" marB="0" anchor="t">
                    <a:solidFill>
                      <a:srgbClr val="F6F2E9"/>
                    </a:solidFill>
                    <a:lnL>
                      <a:noFill/>
                    </a:lnL>
                    <a:lnR>
                      <a:noFill/>
                    </a:lnR>
                    <a:lnT>
                      <a:noFill/>
                    </a:lnT>
                    <a:lnB>
                      <a:noFill/>
                    </a:lnB>
                  </a:tcPr>
                </a:tc>
              </a:tr>
            </a:tbl>
          </a:graphicData>
        </a:graphic>
      </p:graphicFrame>
      <p:sp>
        <p:nvSpPr>
          <p:cNvPr id="15" name="TextBox 1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PWON audited baseline, TANRISE audited baseline. Calculations are analyst-derived.</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106–107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2035 ambition requires a moving-target calculation</a:t>
            </a:r>
          </a:p>
        </p:txBody>
      </p:sp>
      <p:graphicFrame>
        <p:nvGraphicFramePr>
          <p:cNvPr id="11" name="Table 10"/>
          <p:cNvGraphicFramePr>
            <a:graphicFrameLocks noGrp="1"/>
          </p:cNvGraphicFramePr>
          <p:nvPr/>
        </p:nvGraphicFramePr>
        <p:xfrm>
          <a:off x="685800" y="2084831"/>
          <a:ext cx="10789919" cy="1331467"/>
        </p:xfrm>
        <a:graphic>
          <a:graphicData uri="http://schemas.openxmlformats.org/drawingml/2006/table">
            <a:tbl>
              <a:tblPr firstRow="1" bandRow="1">
                <a:tableStyleId>{5C22544A-7EE6-4342-B048-85BDC9FD1C3A}</a:tableStyleId>
              </a:tblPr>
              <a:tblGrid>
                <a:gridCol w="2373782"/>
                <a:gridCol w="3236976"/>
                <a:gridCol w="5179161"/>
              </a:tblGrid>
              <a:tr h="898017">
                <a:tc>
                  <a:txBody>
                    <a:bodyPr wrap="none"/>
                    <a:lstStyle/>
                    <a:p>
                      <a:pPr>
                        <a:lnSpc>
                          <a:spcPts val="1829"/>
                        </a:lnSpc>
                        <a:spcBef>
                          <a:spcPts val="0"/>
                        </a:spcBef>
                        <a:spcAft>
                          <a:spcPts val="0"/>
                        </a:spcAft>
                      </a:pPr>
                      <a:r>
                        <a:rPr sz="1550" b="1">
                          <a:solidFill>
                            <a:srgbClr val="F6F2E9"/>
                          </a:solidFill>
                          <a:latin typeface="Arial"/>
                        </a:rPr>
                        <a:t>Assumed annual</a:t>
                      </a:r>
                    </a:p>
                    <a:p>
                      <a:pPr>
                        <a:lnSpc>
                          <a:spcPts val="1829"/>
                        </a:lnSpc>
                        <a:spcBef>
                          <a:spcPts val="0"/>
                        </a:spcBef>
                        <a:spcAft>
                          <a:spcPts val="0"/>
                        </a:spcAft>
                      </a:pPr>
                      <a:r>
                        <a:rPr sz="1550" b="1">
                          <a:solidFill>
                            <a:srgbClr val="F6F2E9"/>
                          </a:solidFill>
                          <a:latin typeface="Arial"/>
                        </a:rPr>
                        <a:t>growth of that</a:t>
                      </a:r>
                    </a:p>
                    <a:p>
                      <a:pPr>
                        <a:lnSpc>
                          <a:spcPts val="1829"/>
                        </a:lnSpc>
                        <a:spcBef>
                          <a:spcPts val="0"/>
                        </a:spcBef>
                        <a:spcAft>
                          <a:spcPts val="0"/>
                        </a:spcAft>
                      </a:pPr>
                      <a:r>
                        <a:rPr sz="1550" b="1">
                          <a:solidFill>
                            <a:srgbClr val="F6F2E9"/>
                          </a:solidFill>
                          <a:latin typeface="Arial"/>
                        </a:rPr>
                        <a:t>benchmark</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Illustrative benchmark in 2035</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TANRISE revenue CAGR required, 2025–2035</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8%</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Rp15.35 trillion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43.6%</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362661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13" name="TextBox 12"/>
          <p:cNvSpPr txBox="1"/>
          <p:nvPr/>
        </p:nvSpPr>
        <p:spPr>
          <a:xfrm>
            <a:off x="685800" y="394792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Reaching the current benchmark requires approximately 17.3 times TANRISE’s FY2025 revenue. Competitors may</a:t>
            </a:r>
          </a:p>
          <a:p>
            <a:pPr>
              <a:lnSpc>
                <a:spcPts val="2196"/>
              </a:lnSpc>
              <a:spcBef>
                <a:spcPts val="0"/>
              </a:spcBef>
              <a:spcAft>
                <a:spcPts val="0"/>
              </a:spcAft>
            </a:pPr>
            <a:r>
              <a:rPr sz="1800" b="0" i="0">
                <a:solidFill>
                  <a:srgbClr val="183A32"/>
                </a:solidFill>
                <a:latin typeface="Times New Roman"/>
              </a:rPr>
              <a:t>grow, decline, merge, or change their portfolios.</a:t>
            </a:r>
          </a:p>
        </p:txBody>
      </p:sp>
      <p:sp>
        <p:nvSpPr>
          <p:cNvPr id="14" name="TextBox 13"/>
          <p:cNvSpPr txBox="1"/>
          <p:nvPr/>
        </p:nvSpPr>
        <p:spPr>
          <a:xfrm>
            <a:off x="685800" y="468401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This calculation does not prove national Top Five status or address the separate profit ambition.</a:t>
            </a:r>
          </a:p>
        </p:txBody>
      </p:sp>
      <p:sp>
        <p:nvSpPr>
          <p:cNvPr id="15" name="TextBox 14"/>
          <p:cNvSpPr txBox="1"/>
          <p:nvPr/>
        </p:nvSpPr>
        <p:spPr>
          <a:xfrm>
            <a:off x="685800" y="514121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Calculation: Benchmark × (1 + assumed growth)¹⁰; required CAGR = (2035 benchmark ÷ TANRISE baseline)¹⁄¹⁰ −</a:t>
            </a:r>
          </a:p>
          <a:p>
            <a:pPr>
              <a:lnSpc>
                <a:spcPts val="2196"/>
              </a:lnSpc>
              <a:spcBef>
                <a:spcPts val="0"/>
              </a:spcBef>
              <a:spcAft>
                <a:spcPts val="0"/>
              </a:spcAft>
            </a:pPr>
            <a:r>
              <a:rPr sz="1800" b="0" i="0">
                <a:solidFill>
                  <a:srgbClr val="183A32"/>
                </a:solidFill>
                <a:latin typeface="Times New Roman"/>
              </a:rPr>
              <a:t>1.</a:t>
            </a:r>
          </a:p>
        </p:txBody>
      </p:sp>
      <p:sp>
        <p:nvSpPr>
          <p:cNvPr id="16" name="TextBox 15"/>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PWON audited baseline, TANRISE audited baseline. Calculations are analyst-derived.</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107–107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Proposed TANRISE capability roadmap</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2026–2027: Establish the operating foundation</a:t>
            </a:r>
          </a:p>
        </p:txBody>
      </p:sp>
      <p:sp>
        <p:nvSpPr>
          <p:cNvPr id="12" name="Rectangle 11"/>
          <p:cNvSpPr/>
          <p:nvPr/>
        </p:nvSpPr>
        <p:spPr>
          <a:xfrm>
            <a:off x="685800" y="26334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5420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Verify land, projects, ownership, and pipeline readiness.</a:t>
            </a:r>
          </a:p>
        </p:txBody>
      </p:sp>
      <p:sp>
        <p:nvSpPr>
          <p:cNvPr id="14" name="Rectangle 13"/>
          <p:cNvSpPr/>
          <p:nvPr/>
        </p:nvSpPr>
        <p:spPr>
          <a:xfrm>
            <a:off x="685800" y="30829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9914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Validate priority customer segments.</a:t>
            </a:r>
          </a:p>
        </p:txBody>
      </p:sp>
      <p:sp>
        <p:nvSpPr>
          <p:cNvPr id="16" name="Rectangle 15"/>
          <p:cNvSpPr/>
          <p:nvPr/>
        </p:nvSpPr>
        <p:spPr>
          <a:xfrm>
            <a:off x="685800" y="35323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4409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Improve capital productivity in existing assets.</a:t>
            </a:r>
          </a:p>
        </p:txBody>
      </p:sp>
      <p:sp>
        <p:nvSpPr>
          <p:cNvPr id="18" name="Rectangle 17"/>
          <p:cNvSpPr/>
          <p:nvPr/>
        </p:nvSpPr>
        <p:spPr>
          <a:xfrm>
            <a:off x="685800" y="398183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89039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Strengthen project leadership and financial controls.</a:t>
            </a:r>
          </a:p>
        </p:txBody>
      </p:sp>
      <p:sp>
        <p:nvSpPr>
          <p:cNvPr id="20" name="TextBox 19"/>
          <p:cNvSpPr txBox="1"/>
          <p:nvPr/>
        </p:nvSpPr>
        <p:spPr>
          <a:xfrm>
            <a:off x="685800" y="433984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2028–2030: Demonstrate repeatability</a:t>
            </a:r>
          </a:p>
        </p:txBody>
      </p:sp>
      <p:sp>
        <p:nvSpPr>
          <p:cNvPr id="21" name="Rectangle 20"/>
          <p:cNvSpPr/>
          <p:nvPr/>
        </p:nvSpPr>
        <p:spPr>
          <a:xfrm>
            <a:off x="685800" y="48884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7970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Deliver successive residential phases.</a:t>
            </a:r>
          </a:p>
        </p:txBody>
      </p:sp>
      <p:sp>
        <p:nvSpPr>
          <p:cNvPr id="23" name="Rectangle 22"/>
          <p:cNvSpPr/>
          <p:nvPr/>
        </p:nvSpPr>
        <p:spPr>
          <a:xfrm>
            <a:off x="685800" y="53379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52464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Expand industrial/warehousing activity where demand is evidenced.</a:t>
            </a:r>
          </a:p>
        </p:txBody>
      </p:sp>
      <p:sp>
        <p:nvSpPr>
          <p:cNvPr id="25" name="Rectangle 24"/>
          <p:cNvSpPr/>
          <p:nvPr/>
        </p:nvSpPr>
        <p:spPr>
          <a:xfrm>
            <a:off x="685800" y="578738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569594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Prove partnership governance and project economics.</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107–107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Proposed TANRISE capability roadmap</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Add recurring assets selectively.</a:t>
            </a:r>
          </a:p>
        </p:txBody>
      </p:sp>
      <p:sp>
        <p:nvSpPr>
          <p:cNvPr id="13" name="TextBox 12"/>
          <p:cNvSpPr txBox="1"/>
          <p:nvPr/>
        </p:nvSpPr>
        <p:spPr>
          <a:xfrm>
            <a:off x="685800" y="2534285"/>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2031–2033: Scale proven capabilities</a:t>
            </a:r>
          </a:p>
        </p:txBody>
      </p:sp>
      <p:sp>
        <p:nvSpPr>
          <p:cNvPr id="14" name="Rectangle 13"/>
          <p:cNvSpPr/>
          <p:nvPr/>
        </p:nvSpPr>
        <p:spPr>
          <a:xfrm>
            <a:off x="685800" y="30829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9914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Replicate successful models in suitable markets.</a:t>
            </a:r>
          </a:p>
        </p:txBody>
      </p:sp>
      <p:sp>
        <p:nvSpPr>
          <p:cNvPr id="16" name="Rectangle 15"/>
          <p:cNvSpPr/>
          <p:nvPr/>
        </p:nvSpPr>
        <p:spPr>
          <a:xfrm>
            <a:off x="685800" y="35323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4409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Consider acquisitions only with funding and integration capacity.</a:t>
            </a:r>
          </a:p>
        </p:txBody>
      </p:sp>
      <p:sp>
        <p:nvSpPr>
          <p:cNvPr id="18" name="Rectangle 17"/>
          <p:cNvSpPr/>
          <p:nvPr/>
        </p:nvSpPr>
        <p:spPr>
          <a:xfrm>
            <a:off x="685800" y="398183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89039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Expand organisational capacity alongside the pipeline.</a:t>
            </a:r>
          </a:p>
        </p:txBody>
      </p:sp>
      <p:sp>
        <p:nvSpPr>
          <p:cNvPr id="20" name="TextBox 19"/>
          <p:cNvSpPr txBox="1"/>
          <p:nvPr/>
        </p:nvSpPr>
        <p:spPr>
          <a:xfrm>
            <a:off x="685800" y="433984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2034–2035: Assess competitive position</a:t>
            </a:r>
          </a:p>
        </p:txBody>
      </p:sp>
      <p:sp>
        <p:nvSpPr>
          <p:cNvPr id="21" name="Rectangle 20"/>
          <p:cNvSpPr/>
          <p:nvPr/>
        </p:nvSpPr>
        <p:spPr>
          <a:xfrm>
            <a:off x="685800" y="48884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7970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Recalculate the market benchmark.</a:t>
            </a:r>
          </a:p>
        </p:txBody>
      </p:sp>
      <p:sp>
        <p:nvSpPr>
          <p:cNvPr id="23" name="Rectangle 22"/>
          <p:cNvSpPr/>
          <p:nvPr/>
        </p:nvSpPr>
        <p:spPr>
          <a:xfrm>
            <a:off x="685800" y="53379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52464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Compare revenue and attributable profit separately.</a:t>
            </a:r>
          </a:p>
        </p:txBody>
      </p:sp>
      <p:sp>
        <p:nvSpPr>
          <p:cNvPr id="25" name="Rectangle 24"/>
          <p:cNvSpPr/>
          <p:nvPr/>
        </p:nvSpPr>
        <p:spPr>
          <a:xfrm>
            <a:off x="685800" y="578738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569594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Test cash generation, returns, and resilience.</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107–108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Measures that connect ambition to execution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MANAGEMENT SCORECARD</a:t>
            </a:r>
          </a:p>
        </p:txBody>
      </p:sp>
      <p:graphicFrame>
        <p:nvGraphicFramePr>
          <p:cNvPr id="12" name="Table 11"/>
          <p:cNvGraphicFramePr>
            <a:graphicFrameLocks noGrp="1"/>
          </p:cNvGraphicFramePr>
          <p:nvPr/>
        </p:nvGraphicFramePr>
        <p:xfrm>
          <a:off x="685800" y="2433574"/>
          <a:ext cx="10789919" cy="303415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Area</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Measures</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Market position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Revenue and attributable-profit position within a defined peer universe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Demand</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Qualified leads, conversion, mortgage approval, cancellations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Development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Launch readiness, absorption, construction progress, handover timeliness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Cash</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Collections, project cash requirements, liquidity headroom</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Land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Legally ready pipeline, replenishment, infrastructure readiness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Capital productivity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Inventory age, asset cash contribution, return on invested capital</a:t>
                      </a:r>
                    </a:p>
                  </a:txBody>
                  <a:tcPr marL="109728" marR="109728" marT="82296" marB="0" anchor="t">
                    <a:solidFill>
                      <a:srgbClr val="E9E8DC"/>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107–108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Measures that connect ambition to execution</a:t>
            </a:r>
          </a:p>
        </p:txBody>
      </p:sp>
      <p:graphicFrame>
        <p:nvGraphicFramePr>
          <p:cNvPr id="11" name="Table 10"/>
          <p:cNvGraphicFramePr>
            <a:graphicFrameLocks noGrp="1"/>
          </p:cNvGraphicFramePr>
          <p:nvPr/>
        </p:nvGraphicFramePr>
        <p:xfrm>
          <a:off x="685800" y="2084831"/>
          <a:ext cx="10789919" cy="1532633"/>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Area</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Measures</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Recurring operations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Occupancy, income collection, operating cash contribution, maintenance</a:t>
                      </a:r>
                    </a:p>
                    <a:p>
                      <a:pPr>
                        <a:lnSpc>
                          <a:spcPts val="1829"/>
                        </a:lnSpc>
                        <a:spcBef>
                          <a:spcPts val="0"/>
                        </a:spcBef>
                        <a:spcAft>
                          <a:spcPts val="0"/>
                        </a:spcAft>
                      </a:pPr>
                      <a:r>
                        <a:rPr sz="1550" b="0">
                          <a:solidFill>
                            <a:srgbClr val="183A32"/>
                          </a:solidFill>
                          <a:latin typeface="Arial"/>
                        </a:rPr>
                        <a:t>requirements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Organisation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Project leadership capacity, delivery workload, reporting reliability</a:t>
                      </a:r>
                    </a:p>
                  </a:txBody>
                  <a:tcPr marL="109728" marR="109728" marT="82296" marB="0" anchor="t">
                    <a:solidFill>
                      <a:srgbClr val="E9E8DC"/>
                    </a:solidFill>
                    <a:lnL>
                      <a:noFill/>
                    </a:lnL>
                    <a:lnR>
                      <a:noFill/>
                    </a:lnR>
                    <a:lnT>
                      <a:noFill/>
                    </a:lnT>
                    <a:lnB>
                      <a:noFill/>
                    </a:lnB>
                  </a:tcPr>
                </a:tc>
              </a:tr>
            </a:tbl>
          </a:graphicData>
        </a:graphic>
      </p:graphicFrame>
      <p:sp>
        <p:nvSpPr>
          <p:cNvPr id="12" name="Rectangle 11"/>
          <p:cNvSpPr/>
          <p:nvPr/>
        </p:nvSpPr>
        <p:spPr>
          <a:xfrm>
            <a:off x="685800" y="3800347"/>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800347"/>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3882643"/>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message: Revenue rank is an outcome. These measures show whether the business can sustain it.</a:t>
            </a:r>
          </a:p>
        </p:txBody>
      </p:sp>
      <p:sp>
        <p:nvSpPr>
          <p:cNvPr id="15" name="Rectangle 14"/>
          <p:cNvSpPr/>
          <p:nvPr/>
        </p:nvSpPr>
        <p:spPr>
          <a:xfrm>
            <a:off x="685800" y="4368990"/>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368990"/>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4451286"/>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Status: Proposed framework; numerical targets require TANRISE baseline data and approval.</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109–109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Research gaps before committing to a Top Five plan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MARKET-DEFINITION GAPS</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Is the ambition based on listed issuers, consolidated groups, or all Indonesian developers?</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Are private developers included?</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treatment applies to subsidiaries and mixed-sector businesses?</a:t>
            </a:r>
          </a:p>
        </p:txBody>
      </p:sp>
      <p:sp>
        <p:nvSpPr>
          <p:cNvPr id="18" name="TextBox 17"/>
          <p:cNvSpPr txBox="1"/>
          <p:nvPr/>
        </p:nvSpPr>
        <p:spPr>
          <a:xfrm>
            <a:off x="685800" y="3809364"/>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FINANCIAL GAPS</a:t>
            </a:r>
          </a:p>
        </p:txBody>
      </p:sp>
      <p:sp>
        <p:nvSpPr>
          <p:cNvPr id="19" name="Rectangle 18"/>
          <p:cNvSpPr/>
          <p:nvPr/>
        </p:nvSpPr>
        <p:spPr>
          <a:xfrm>
            <a:off x="685800" y="42221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1306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 complete attributable-profit comparison using consistent definitions.</a:t>
            </a:r>
          </a:p>
        </p:txBody>
      </p:sp>
      <p:sp>
        <p:nvSpPr>
          <p:cNvPr id="21" name="Rectangle 20"/>
          <p:cNvSpPr/>
          <p:nvPr/>
        </p:nvSpPr>
        <p:spPr>
          <a:xfrm>
            <a:off x="685800" y="46715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58012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Normalisation of material disposals and other exceptional transactions.</a:t>
            </a:r>
          </a:p>
        </p:txBody>
      </p:sp>
      <p:sp>
        <p:nvSpPr>
          <p:cNvPr id="23" name="Rectangle 22"/>
          <p:cNvSpPr/>
          <p:nvPr/>
        </p:nvSpPr>
        <p:spPr>
          <a:xfrm>
            <a:off x="685800" y="51210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502958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Project-level cash requirements and available funding.</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109–109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TANRISE-specific gaps</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Verified land and project pipeline.</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Capacity of each project to support the required revenue scale.</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Household and employer demand for Sidoarjo.</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Industrial/warehousing tenant requirements.</a:t>
            </a:r>
          </a:p>
        </p:txBody>
      </p:sp>
      <p:sp>
        <p:nvSpPr>
          <p:cNvPr id="19" name="Rectangle 18"/>
          <p:cNvSpPr/>
          <p:nvPr/>
        </p:nvSpPr>
        <p:spPr>
          <a:xfrm>
            <a:off x="685800" y="39740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38826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Asset-productivity options for existing holdings.</a:t>
            </a:r>
          </a:p>
        </p:txBody>
      </p:sp>
      <p:sp>
        <p:nvSpPr>
          <p:cNvPr id="21" name="Rectangle 20"/>
          <p:cNvSpPr/>
          <p:nvPr/>
        </p:nvSpPr>
        <p:spPr>
          <a:xfrm>
            <a:off x="685800" y="44235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3320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Management and delivery capacity.</a:t>
            </a:r>
          </a:p>
        </p:txBody>
      </p:sp>
      <p:sp>
        <p:nvSpPr>
          <p:cNvPr id="23" name="Rectangle 22"/>
          <p:cNvSpPr/>
          <p:nvPr/>
        </p:nvSpPr>
        <p:spPr>
          <a:xfrm>
            <a:off x="685800" y="4781549"/>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4781549"/>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 y="4863845"/>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message: The ambition becomes actionable when the missing operating and financial evidence is resolved.</a:t>
            </a:r>
          </a:p>
        </p:txBody>
      </p:sp>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Designer research and asset brief</a:t>
            </a:r>
          </a:p>
        </p:txBody>
      </p:sp>
      <p:cxnSp>
        <p:nvCxnSpPr>
          <p:cNvPr id="11" name="Connector 10"/>
          <p:cNvCxnSpPr/>
          <p:nvPr/>
        </p:nvCxnSpPr>
        <p:spPr>
          <a:xfrm>
            <a:off x="6062472" y="2084831"/>
            <a:ext cx="0" cy="270300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RECOMMENDED VISUAL MATERIALS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Ownership diagrams: Distinguish group, issuer,</a:t>
            </a:r>
          </a:p>
          <a:p>
            <a:pPr>
              <a:lnSpc>
                <a:spcPts val="2135"/>
              </a:lnSpc>
              <a:spcBef>
                <a:spcPts val="0"/>
              </a:spcBef>
              <a:spcAft>
                <a:spcPts val="0"/>
              </a:spcAft>
            </a:pPr>
            <a:r>
              <a:rPr sz="1750" b="0" i="0">
                <a:solidFill>
                  <a:srgbClr val="183A32"/>
                </a:solidFill>
                <a:latin typeface="Arial"/>
              </a:rPr>
              <a:t>subsidiary, project owner, and operator.</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Company timelines: Separate operating</a:t>
            </a:r>
          </a:p>
          <a:p>
            <a:pPr>
              <a:lnSpc>
                <a:spcPts val="2135"/>
              </a:lnSpc>
              <a:spcBef>
                <a:spcPts val="0"/>
              </a:spcBef>
              <a:spcAft>
                <a:spcPts val="0"/>
              </a:spcAft>
            </a:pPr>
            <a:r>
              <a:rPr sz="1750" b="0" i="0">
                <a:solidFill>
                  <a:srgbClr val="183A32"/>
                </a:solidFill>
                <a:latin typeface="Arial"/>
              </a:rPr>
              <a:t>milestones from corporate transactions.</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Project maps: Use verified locations and label</a:t>
            </a:r>
          </a:p>
          <a:p>
            <a:pPr>
              <a:lnSpc>
                <a:spcPts val="2135"/>
              </a:lnSpc>
              <a:spcBef>
                <a:spcPts val="0"/>
              </a:spcBef>
              <a:spcAft>
                <a:spcPts val="0"/>
              </a:spcAft>
            </a:pPr>
            <a:r>
              <a:rPr sz="1750" b="0" i="0">
                <a:solidFill>
                  <a:srgbClr val="183A32"/>
                </a:solidFill>
                <a:latin typeface="Arial"/>
              </a:rPr>
              <a:t>selected examples rather than implying</a:t>
            </a:r>
          </a:p>
          <a:p>
            <a:pPr>
              <a:lnSpc>
                <a:spcPts val="2135"/>
              </a:lnSpc>
              <a:spcBef>
                <a:spcPts val="0"/>
              </a:spcBef>
              <a:spcAft>
                <a:spcPts val="0"/>
              </a:spcAft>
            </a:pPr>
            <a:r>
              <a:rPr sz="1750" b="0" i="0">
                <a:solidFill>
                  <a:srgbClr val="183A32"/>
                </a:solidFill>
                <a:latin typeface="Arial"/>
              </a:rPr>
              <a:t>exhaustive coverage.</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Financial charts: Preserve reporting period,</a:t>
            </a:r>
          </a:p>
          <a:p>
            <a:pPr>
              <a:lnSpc>
                <a:spcPts val="2135"/>
              </a:lnSpc>
              <a:spcBef>
                <a:spcPts val="0"/>
              </a:spcBef>
              <a:spcAft>
                <a:spcPts val="0"/>
              </a:spcAft>
            </a:pPr>
            <a:r>
              <a:rPr sz="1750" b="0" i="0">
                <a:solidFill>
                  <a:srgbClr val="183A32"/>
                </a:solidFill>
                <a:latin typeface="Arial"/>
              </a:rPr>
              <a:t>units, profit definition, and consolidation caveats.</a:t>
            </a:r>
          </a:p>
        </p:txBody>
      </p:sp>
      <p:sp>
        <p:nvSpPr>
          <p:cNvPr id="21" name="Rectangle 20"/>
          <p:cNvSpPr/>
          <p:nvPr/>
        </p:nvSpPr>
        <p:spPr>
          <a:xfrm>
            <a:off x="6400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80543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Business-model diagrams: Label these as</a:t>
            </a:r>
          </a:p>
          <a:p>
            <a:pPr>
              <a:lnSpc>
                <a:spcPts val="2135"/>
              </a:lnSpc>
              <a:spcBef>
                <a:spcPts val="0"/>
              </a:spcBef>
              <a:spcAft>
                <a:spcPts val="0"/>
              </a:spcAft>
            </a:pPr>
            <a:r>
              <a:rPr sz="1750" b="0" i="0">
                <a:solidFill>
                  <a:srgbClr val="183A32"/>
                </a:solidFill>
                <a:latin typeface="Arial"/>
              </a:rPr>
              <a:t>analytical interpretations.</a:t>
            </a:r>
          </a:p>
        </p:txBody>
      </p:sp>
      <p:sp>
        <p:nvSpPr>
          <p:cNvPr id="23" name="Rectangle 22"/>
          <p:cNvSpPr/>
          <p:nvPr/>
        </p:nvSpPr>
        <p:spPr>
          <a:xfrm>
            <a:off x="6400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526027"/>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6. SWOT matrices: Label as analyst assessment.</a:t>
            </a:r>
          </a:p>
        </p:txBody>
      </p:sp>
      <p:sp>
        <p:nvSpPr>
          <p:cNvPr id="25" name="Rectangle 24"/>
          <p:cNvSpPr/>
          <p:nvPr/>
        </p:nvSpPr>
        <p:spPr>
          <a:xfrm>
            <a:off x="6400800" y="4066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975480"/>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7. TANRISE roadmap: Label as proposed.</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4</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Designer research and asset brief</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8. Project imagery: Use official photographs, masterplans, or annual-report images with permission where</a:t>
            </a:r>
          </a:p>
          <a:p>
            <a:pPr>
              <a:lnSpc>
                <a:spcPts val="2135"/>
              </a:lnSpc>
              <a:spcBef>
                <a:spcPts val="0"/>
              </a:spcBef>
              <a:spcAft>
                <a:spcPts val="0"/>
              </a:spcAft>
            </a:pPr>
            <a:r>
              <a:rPr sz="1750" b="0" i="0">
                <a:solidFill>
                  <a:srgbClr val="183A32"/>
                </a:solidFill>
                <a:latin typeface="Arial"/>
              </a:rPr>
              <a:t>required.</a:t>
            </a:r>
          </a:p>
        </p:txBody>
      </p:sp>
      <p:sp>
        <p:nvSpPr>
          <p:cNvPr id="13" name="TextBox 12"/>
          <p:cNvSpPr txBox="1"/>
          <p:nvPr/>
        </p:nvSpPr>
        <p:spPr>
          <a:xfrm>
            <a:off x="685800" y="2832862"/>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SUGGESTED COMPANY IMAGERY</a:t>
            </a:r>
          </a:p>
        </p:txBody>
      </p:sp>
      <p:graphicFrame>
        <p:nvGraphicFramePr>
          <p:cNvPr id="14" name="Table 13"/>
          <p:cNvGraphicFramePr>
            <a:graphicFrameLocks noGrp="1"/>
          </p:cNvGraphicFramePr>
          <p:nvPr/>
        </p:nvGraphicFramePr>
        <p:xfrm>
          <a:off x="685800" y="3154172"/>
          <a:ext cx="10789919" cy="26007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Company</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Useful visual subjects</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BSDE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BSD City masterplan and township infrastructure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LPKR</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Lippo Village and residential product examples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CTRA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Examples of projects in different cities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SMRA</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Township phasing and functioning commercial anchors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PWON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Tunjungan City, Gandaria City, Kota Kasablanka</a:t>
                      </a:r>
                    </a:p>
                  </a:txBody>
                  <a:tcPr marL="109728" marR="109728" marT="82296" marB="0" anchor="t">
                    <a:solidFill>
                      <a:srgbClr val="F6F2E9"/>
                    </a:solidFill>
                    <a:lnL>
                      <a:noFill/>
                    </a:lnL>
                    <a:lnR>
                      <a:noFill/>
                    </a:lnR>
                    <a:lnT>
                      <a:noFill/>
                    </a:lnT>
                    <a:lnB>
                      <a:noFill/>
                    </a:lnB>
                  </a:tcPr>
                </a:tc>
              </a:tr>
            </a:tbl>
          </a:graphicData>
        </a:graphic>
      </p:graphicFrame>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4</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Designer research and asset brief</a:t>
            </a:r>
          </a:p>
        </p:txBody>
      </p:sp>
      <p:graphicFrame>
        <p:nvGraphicFramePr>
          <p:cNvPr id="11" name="Table 10"/>
          <p:cNvGraphicFramePr>
            <a:graphicFrameLocks noGrp="1"/>
          </p:cNvGraphicFramePr>
          <p:nvPr/>
        </p:nvGraphicFramePr>
        <p:xfrm>
          <a:off x="685800" y="2084831"/>
          <a:ext cx="10789919" cy="26007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Company</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Useful visual subjects</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APLN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Mixed-use developments and contrasting asset formats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DUTI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Mangga Dua and township examples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ASRI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Alam Sutera, Suvarna Sutera, and separately labelled GWK</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JRPT</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Bintaro Jaya, everyday amenities, and connectivity</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PANI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PIK2 development area and corporate-action chronology</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4895850"/>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IMAGE-USE INSTRUCTION</a:t>
            </a:r>
          </a:p>
        </p:txBody>
      </p:sp>
      <p:sp>
        <p:nvSpPr>
          <p:cNvPr id="13" name="TextBox 12"/>
          <p:cNvSpPr txBox="1"/>
          <p:nvPr/>
        </p:nvSpPr>
        <p:spPr>
          <a:xfrm>
            <a:off x="685800" y="5217160"/>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Official website availability does not establish an open licence. Record the image owner, source, publication date,</a:t>
            </a:r>
          </a:p>
          <a:p>
            <a:pPr>
              <a:lnSpc>
                <a:spcPts val="2196"/>
              </a:lnSpc>
              <a:spcBef>
                <a:spcPts val="0"/>
              </a:spcBef>
              <a:spcAft>
                <a:spcPts val="0"/>
              </a:spcAft>
            </a:pPr>
            <a:r>
              <a:rPr sz="1800" b="0" i="0">
                <a:solidFill>
                  <a:srgbClr val="183A32"/>
                </a:solidFill>
                <a:latin typeface="Times New Roman"/>
              </a:rPr>
              <a:t>and permission or licence status. Keep architectural renderings clearly labelled as renderings.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R72.4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Final research principle</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TANRISE’s advantage should come from a focused growth model that it can fund, deliver, and repeat—supported by</a:t>
            </a:r>
          </a:p>
          <a:p>
            <a:pPr>
              <a:lnSpc>
                <a:spcPts val="2196"/>
              </a:lnSpc>
              <a:spcBef>
                <a:spcPts val="0"/>
              </a:spcBef>
              <a:spcAft>
                <a:spcPts val="0"/>
              </a:spcAft>
            </a:pPr>
            <a:r>
              <a:rPr sz="1800" b="0" i="0">
                <a:solidFill>
                  <a:srgbClr val="183A32"/>
                </a:solidFill>
                <a:latin typeface="Times New Roman"/>
              </a:rPr>
              <a:t>a credible brand and measurable customer value.</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4 / 4</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SUPPLEMENTARY 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DEEP DIVE</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257</a:t>
            </a:r>
          </a:p>
        </p:txBody>
      </p:sp>
      <p:sp>
        <p:nvSpPr>
          <p:cNvPr id="10" name="TextBox 9"/>
          <p:cNvSpPr txBox="1"/>
          <p:nvPr/>
        </p:nvSpPr>
        <p:spPr>
          <a:xfrm>
            <a:off x="685800" y="1353312"/>
            <a:ext cx="10789920" cy="643636"/>
          </a:xfrm>
          <a:prstGeom prst="rect">
            <a:avLst/>
          </a:prstGeom>
          <a:noFill/>
        </p:spPr>
        <p:txBody>
          <a:bodyPr wrap="none" lIns="0" rIns="0" tIns="0" bIns="0">
            <a:spAutoFit/>
          </a:bodyPr>
          <a:lstStyle/>
          <a:p>
            <a:pPr>
              <a:lnSpc>
                <a:spcPts val="4600"/>
              </a:lnSpc>
              <a:spcBef>
                <a:spcPts val="0"/>
              </a:spcBef>
              <a:spcAft>
                <a:spcPts val="0"/>
              </a:spcAft>
            </a:pPr>
            <a:r>
              <a:rPr sz="4600" b="0" i="0">
                <a:solidFill>
                  <a:srgbClr val="AD843F"/>
                </a:solidFill>
                <a:latin typeface="Times New Roman"/>
              </a:rPr>
              <a:t>DEEP DIVE</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Competitive Strategy Deep Dive</a:t>
            </a:r>
          </a:p>
        </p:txBody>
      </p:sp>
      <p:sp>
        <p:nvSpPr>
          <p:cNvPr id="12" name="TextBox 11"/>
          <p:cNvSpPr txBox="1"/>
          <p:nvPr/>
        </p:nvSpPr>
        <p:spPr>
          <a:xfrm>
            <a:off x="6400800" y="5230368"/>
            <a:ext cx="4572000" cy="586232"/>
          </a:xfrm>
          <a:prstGeom prst="rect">
            <a:avLst/>
          </a:prstGeom>
          <a:noFill/>
        </p:spPr>
        <p:txBody>
          <a:bodyPr wrap="none" lIns="0" rIns="0" tIns="0" bIns="0">
            <a:spAutoFit/>
          </a:bodyPr>
          <a:lstStyle/>
          <a:p>
            <a:pPr>
              <a:lnSpc>
                <a:spcPts val="2074"/>
              </a:lnSpc>
              <a:spcBef>
                <a:spcPts val="0"/>
              </a:spcBef>
              <a:spcAft>
                <a:spcPts val="0"/>
              </a:spcAft>
            </a:pPr>
            <a:r>
              <a:rPr sz="1700" b="0" i="1">
                <a:solidFill>
                  <a:srgbClr val="F6F2E9"/>
                </a:solidFill>
                <a:latin typeface="Times New Roman"/>
              </a:rPr>
              <a:t>How Indonesia’s Major Developers Build Demand,</a:t>
            </a:r>
          </a:p>
          <a:p>
            <a:pPr>
              <a:lnSpc>
                <a:spcPts val="2074"/>
              </a:lnSpc>
              <a:spcBef>
                <a:spcPts val="0"/>
              </a:spcBef>
              <a:spcAft>
                <a:spcPts val="0"/>
              </a:spcAft>
            </a:pPr>
            <a:r>
              <a:rPr sz="1700" b="0" i="1">
                <a:solidFill>
                  <a:srgbClr val="F6F2E9"/>
                </a:solidFill>
                <a:latin typeface="Times New Roman"/>
              </a:rPr>
              <a:t>Trust, and Financial Scale</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111–112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makes a developer’s strategy effective?</a:t>
            </a:r>
          </a:p>
        </p:txBody>
      </p:sp>
      <p:cxnSp>
        <p:nvCxnSpPr>
          <p:cNvPr id="11" name="Connector 10"/>
          <p:cNvCxnSpPr/>
          <p:nvPr/>
        </p:nvCxnSpPr>
        <p:spPr>
          <a:xfrm>
            <a:off x="6062472" y="2084831"/>
            <a:ext cx="0" cy="30977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developer’s competitive advantage comes from how</a:t>
            </a:r>
          </a:p>
          <a:p>
            <a:pPr>
              <a:lnSpc>
                <a:spcPts val="2196"/>
              </a:lnSpc>
              <a:spcBef>
                <a:spcPts val="0"/>
              </a:spcBef>
              <a:spcAft>
                <a:spcPts val="0"/>
              </a:spcAft>
            </a:pPr>
            <a:r>
              <a:rPr sz="1800" b="0" i="0">
                <a:solidFill>
                  <a:srgbClr val="183A32"/>
                </a:solidFill>
                <a:latin typeface="Times New Roman"/>
              </a:rPr>
              <a:t>several decisions reinforce one another:</a:t>
            </a:r>
          </a:p>
        </p:txBody>
      </p:sp>
      <p:sp>
        <p:nvSpPr>
          <p:cNvPr id="13" name="Rectangle 12"/>
          <p:cNvSpPr/>
          <p:nvPr/>
        </p:nvSpPr>
        <p:spPr>
          <a:xfrm>
            <a:off x="685800" y="291236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2092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Market selection: Which customers and</a:t>
            </a:r>
          </a:p>
          <a:p>
            <a:pPr>
              <a:lnSpc>
                <a:spcPts val="2135"/>
              </a:lnSpc>
              <a:spcBef>
                <a:spcPts val="0"/>
              </a:spcBef>
              <a:spcAft>
                <a:spcPts val="0"/>
              </a:spcAft>
            </a:pPr>
            <a:r>
              <a:rPr sz="1750" b="0" i="0">
                <a:solidFill>
                  <a:srgbClr val="183A32"/>
                </a:solidFill>
                <a:latin typeface="Arial"/>
              </a:rPr>
              <a:t>locations does it prioritise?</a:t>
            </a:r>
          </a:p>
        </p:txBody>
      </p:sp>
      <p:sp>
        <p:nvSpPr>
          <p:cNvPr id="15" name="Rectangle 14"/>
          <p:cNvSpPr/>
          <p:nvPr/>
        </p:nvSpPr>
        <p:spPr>
          <a:xfrm>
            <a:off x="685800" y="36329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54152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Product economics: What can those customers</a:t>
            </a:r>
          </a:p>
          <a:p>
            <a:pPr>
              <a:lnSpc>
                <a:spcPts val="2135"/>
              </a:lnSpc>
              <a:spcBef>
                <a:spcPts val="0"/>
              </a:spcBef>
              <a:spcAft>
                <a:spcPts val="0"/>
              </a:spcAft>
            </a:pPr>
            <a:r>
              <a:rPr sz="1750" b="0" i="0">
                <a:solidFill>
                  <a:srgbClr val="183A32"/>
                </a:solidFill>
                <a:latin typeface="Arial"/>
              </a:rPr>
              <a:t>afford, and what can the developer deliver</a:t>
            </a:r>
          </a:p>
          <a:p>
            <a:pPr>
              <a:lnSpc>
                <a:spcPts val="2135"/>
              </a:lnSpc>
              <a:spcBef>
                <a:spcPts val="0"/>
              </a:spcBef>
              <a:spcAft>
                <a:spcPts val="0"/>
              </a:spcAft>
            </a:pPr>
            <a:r>
              <a:rPr sz="1750" b="0" i="0">
                <a:solidFill>
                  <a:srgbClr val="183A32"/>
                </a:solidFill>
                <a:latin typeface="Arial"/>
              </a:rPr>
              <a:t>profitably?</a:t>
            </a:r>
          </a:p>
        </p:txBody>
      </p:sp>
      <p:sp>
        <p:nvSpPr>
          <p:cNvPr id="17" name="Rectangle 16"/>
          <p:cNvSpPr/>
          <p:nvPr/>
        </p:nvSpPr>
        <p:spPr>
          <a:xfrm>
            <a:off x="685800" y="462470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453326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Brand strategy: What gives customers,</a:t>
            </a:r>
          </a:p>
          <a:p>
            <a:pPr>
              <a:lnSpc>
                <a:spcPts val="2135"/>
              </a:lnSpc>
              <a:spcBef>
                <a:spcPts val="0"/>
              </a:spcBef>
              <a:spcAft>
                <a:spcPts val="0"/>
              </a:spcAft>
            </a:pPr>
            <a:r>
              <a:rPr sz="1750" b="0" i="0">
                <a:solidFill>
                  <a:srgbClr val="183A32"/>
                </a:solidFill>
                <a:latin typeface="Arial"/>
              </a:rPr>
              <a:t>landowners, banks, and tenants confidence?</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Demand creation: Why would people want to</a:t>
            </a:r>
          </a:p>
          <a:p>
            <a:pPr>
              <a:lnSpc>
                <a:spcPts val="2135"/>
              </a:lnSpc>
              <a:spcBef>
                <a:spcPts val="0"/>
              </a:spcBef>
              <a:spcAft>
                <a:spcPts val="0"/>
              </a:spcAft>
            </a:pPr>
            <a:r>
              <a:rPr sz="1750" b="0" i="0">
                <a:solidFill>
                  <a:srgbClr val="183A32"/>
                </a:solidFill>
                <a:latin typeface="Arial"/>
              </a:rPr>
              <a:t>live, work, or operate there?</a:t>
            </a:r>
          </a:p>
        </p:txBody>
      </p:sp>
      <p:sp>
        <p:nvSpPr>
          <p:cNvPr id="21" name="Rectangle 20"/>
          <p:cNvSpPr/>
          <p:nvPr/>
        </p:nvSpPr>
        <p:spPr>
          <a:xfrm>
            <a:off x="6400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80543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Sales conversion: How does the developer</a:t>
            </a:r>
          </a:p>
          <a:p>
            <a:pPr>
              <a:lnSpc>
                <a:spcPts val="2135"/>
              </a:lnSpc>
              <a:spcBef>
                <a:spcPts val="0"/>
              </a:spcBef>
              <a:spcAft>
                <a:spcPts val="0"/>
              </a:spcAft>
            </a:pPr>
            <a:r>
              <a:rPr sz="1750" b="0" i="0">
                <a:solidFill>
                  <a:srgbClr val="183A32"/>
                </a:solidFill>
                <a:latin typeface="Arial"/>
              </a:rPr>
              <a:t>remove obstacles between interest and</a:t>
            </a:r>
          </a:p>
          <a:p>
            <a:pPr>
              <a:lnSpc>
                <a:spcPts val="2135"/>
              </a:lnSpc>
              <a:spcBef>
                <a:spcPts val="0"/>
              </a:spcBef>
              <a:spcAft>
                <a:spcPts val="0"/>
              </a:spcAft>
            </a:pPr>
            <a:r>
              <a:rPr sz="1750" b="0" i="0">
                <a:solidFill>
                  <a:srgbClr val="183A32"/>
                </a:solidFill>
                <a:latin typeface="Arial"/>
              </a:rPr>
              <a:t>purchase?</a:t>
            </a:r>
          </a:p>
        </p:txBody>
      </p:sp>
      <p:sp>
        <p:nvSpPr>
          <p:cNvPr id="23" name="Rectangle 22"/>
          <p:cNvSpPr/>
          <p:nvPr/>
        </p:nvSpPr>
        <p:spPr>
          <a:xfrm>
            <a:off x="6400800" y="388861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797173"/>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6. Capital strategy: How does it fund the next</a:t>
            </a:r>
          </a:p>
          <a:p>
            <a:pPr>
              <a:lnSpc>
                <a:spcPts val="2135"/>
              </a:lnSpc>
              <a:spcBef>
                <a:spcPts val="0"/>
              </a:spcBef>
              <a:spcAft>
                <a:spcPts val="0"/>
              </a:spcAft>
            </a:pPr>
            <a:r>
              <a:rPr sz="1750" b="0" i="0">
                <a:solidFill>
                  <a:srgbClr val="183A32"/>
                </a:solidFill>
                <a:latin typeface="Arial"/>
              </a:rPr>
              <a:t>phase without exhausting cash?</a:t>
            </a:r>
          </a:p>
        </p:txBody>
      </p:sp>
      <p:sp>
        <p:nvSpPr>
          <p:cNvPr id="25" name="Rectangle 24"/>
          <p:cNvSpPr/>
          <p:nvPr/>
        </p:nvSpPr>
        <p:spPr>
          <a:xfrm>
            <a:off x="6400800" y="460921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451777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7. Delivery: Does the completed experience</a:t>
            </a:r>
          </a:p>
          <a:p>
            <a:pPr>
              <a:lnSpc>
                <a:spcPts val="2135"/>
              </a:lnSpc>
              <a:spcBef>
                <a:spcPts val="0"/>
              </a:spcBef>
              <a:spcAft>
                <a:spcPts val="0"/>
              </a:spcAft>
            </a:pPr>
            <a:r>
              <a:rPr sz="1750" b="0" i="0">
                <a:solidFill>
                  <a:srgbClr val="183A32"/>
                </a:solidFill>
                <a:latin typeface="Arial"/>
              </a:rPr>
              <a:t>support the next launch?</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111–112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makes a developer’s strategy effective?</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Analytical principle: A strong campaign cannot permanently compensate for an unsuitable location, unaffordable</a:t>
            </a:r>
          </a:p>
          <a:p>
            <a:pPr>
              <a:lnSpc>
                <a:spcPts val="2196"/>
              </a:lnSpc>
              <a:spcBef>
                <a:spcPts val="0"/>
              </a:spcBef>
              <a:spcAft>
                <a:spcPts val="0"/>
              </a:spcAft>
            </a:pPr>
            <a:r>
              <a:rPr sz="1800" b="0" i="0">
                <a:solidFill>
                  <a:srgbClr val="183A32"/>
                </a:solidFill>
                <a:latin typeface="Times New Roman"/>
              </a:rPr>
              <a:t>product, or unreliable delivery.</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112–113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brands operate at different levels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ANALYTICAL INTERPRETATION OF THE OBSERVED PORTFOLIOS</a:t>
            </a:r>
          </a:p>
        </p:txBody>
      </p:sp>
      <p:graphicFrame>
        <p:nvGraphicFramePr>
          <p:cNvPr id="12" name="Table 11"/>
          <p:cNvGraphicFramePr>
            <a:graphicFrameLocks noGrp="1"/>
          </p:cNvGraphicFramePr>
          <p:nvPr/>
        </p:nvGraphicFramePr>
        <p:xfrm>
          <a:off x="685800" y="2433574"/>
          <a:ext cx="10789919" cy="3127500"/>
        </p:xfrm>
        <a:graphic>
          <a:graphicData uri="http://schemas.openxmlformats.org/drawingml/2006/table">
            <a:tbl>
              <a:tblPr firstRow="1" bandRow="1">
                <a:tableStyleId>{5C22544A-7EE6-4342-B048-85BDC9FD1C3A}</a:tableStyleId>
              </a:tblPr>
              <a:tblGrid>
                <a:gridCol w="2373782"/>
                <a:gridCol w="3236976"/>
                <a:gridCol w="5179161"/>
              </a:tblGrid>
              <a:tr h="665733">
                <a:tc>
                  <a:txBody>
                    <a:bodyPr wrap="none"/>
                    <a:lstStyle/>
                    <a:p>
                      <a:pPr>
                        <a:lnSpc>
                          <a:spcPts val="1829"/>
                        </a:lnSpc>
                        <a:spcBef>
                          <a:spcPts val="0"/>
                        </a:spcBef>
                        <a:spcAft>
                          <a:spcPts val="0"/>
                        </a:spcAft>
                      </a:pPr>
                      <a:r>
                        <a:rPr sz="1550" b="1">
                          <a:solidFill>
                            <a:srgbClr val="F6F2E9"/>
                          </a:solidFill>
                          <a:latin typeface="Arial"/>
                        </a:rPr>
                        <a:t>Developer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useful brand mechanism</a:t>
                      </a:r>
                    </a:p>
                    <a:p>
                      <a:pPr>
                        <a:lnSpc>
                          <a:spcPts val="1829"/>
                        </a:lnSpc>
                        <a:spcBef>
                          <a:spcPts val="0"/>
                        </a:spcBef>
                        <a:spcAft>
                          <a:spcPts val="0"/>
                        </a:spcAft>
                      </a:pPr>
                      <a:r>
                        <a:rPr sz="1550" b="1">
                          <a:solidFill>
                            <a:srgbClr val="F6F2E9"/>
                          </a:solidFill>
                          <a:latin typeface="Arial"/>
                        </a:rPr>
                        <a:t>to examine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Commercial purpose</a:t>
                      </a:r>
                    </a:p>
                  </a:txBody>
                  <a:tcPr marL="109728" marR="109728" marT="82296" marB="0" anchor="t">
                    <a:solidFill>
                      <a:srgbClr val="153F35"/>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BSDE / Sinar Mas Land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Corporate endorsement + BSD</a:t>
                      </a:r>
                    </a:p>
                    <a:p>
                      <a:pPr>
                        <a:lnSpc>
                          <a:spcPts val="1829"/>
                        </a:lnSpc>
                        <a:spcBef>
                          <a:spcPts val="0"/>
                        </a:spcBef>
                        <a:spcAft>
                          <a:spcPts val="0"/>
                        </a:spcAft>
                      </a:pPr>
                      <a:r>
                        <a:rPr sz="1550" b="0">
                          <a:solidFill>
                            <a:srgbClr val="183A32"/>
                          </a:solidFill>
                          <a:latin typeface="Arial"/>
                        </a:rPr>
                        <a:t>destination identity + cluster</a:t>
                      </a:r>
                    </a:p>
                    <a:p>
                      <a:pPr>
                        <a:lnSpc>
                          <a:spcPts val="1829"/>
                        </a:lnSpc>
                        <a:spcBef>
                          <a:spcPts val="0"/>
                        </a:spcBef>
                        <a:spcAft>
                          <a:spcPts val="0"/>
                        </a:spcAft>
                      </a:pPr>
                      <a:r>
                        <a:rPr sz="1550" b="0">
                          <a:solidFill>
                            <a:srgbClr val="183A32"/>
                          </a:solidFill>
                          <a:latin typeface="Arial"/>
                        </a:rPr>
                        <a:t>brands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Combine delivery confidence with different product</a:t>
                      </a:r>
                    </a:p>
                    <a:p>
                      <a:pPr>
                        <a:lnSpc>
                          <a:spcPts val="1829"/>
                        </a:lnSpc>
                        <a:spcBef>
                          <a:spcPts val="0"/>
                        </a:spcBef>
                        <a:spcAft>
                          <a:spcPts val="0"/>
                        </a:spcAft>
                      </a:pPr>
                      <a:r>
                        <a:rPr sz="1550" b="0">
                          <a:solidFill>
                            <a:srgbClr val="183A32"/>
                          </a:solidFill>
                          <a:latin typeface="Arial"/>
                        </a:rPr>
                        <a:t>propositions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Lippo Karawaci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Township identity + clearly</a:t>
                      </a:r>
                    </a:p>
                    <a:p>
                      <a:pPr>
                        <a:lnSpc>
                          <a:spcPts val="1829"/>
                        </a:lnSpc>
                        <a:spcBef>
                          <a:spcPts val="0"/>
                        </a:spcBef>
                        <a:spcAft>
                          <a:spcPts val="0"/>
                        </a:spcAft>
                      </a:pPr>
                      <a:r>
                        <a:rPr sz="1550" b="0">
                          <a:solidFill>
                            <a:srgbClr val="183A32"/>
                          </a:solidFill>
                          <a:latin typeface="Arial"/>
                        </a:rPr>
                        <a:t>differentiated housing series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Make products relevant to distinct budgets and</a:t>
                      </a:r>
                    </a:p>
                    <a:p>
                      <a:pPr>
                        <a:lnSpc>
                          <a:spcPts val="1829"/>
                        </a:lnSpc>
                        <a:spcBef>
                          <a:spcPts val="0"/>
                        </a:spcBef>
                        <a:spcAft>
                          <a:spcPts val="0"/>
                        </a:spcAft>
                      </a:pPr>
                      <a:r>
                        <a:rPr sz="1550" b="0">
                          <a:solidFill>
                            <a:srgbClr val="183A32"/>
                          </a:solidFill>
                          <a:latin typeface="Arial"/>
                        </a:rPr>
                        <a:t>household needs</a:t>
                      </a:r>
                    </a:p>
                  </a:txBody>
                  <a:tcPr marL="109728" marR="109728" marT="82296" marB="0" anchor="t">
                    <a:solidFill>
                      <a:srgbClr val="E9E8DC"/>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Ciputra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Recognisable development</a:t>
                      </a:r>
                    </a:p>
                    <a:p>
                      <a:pPr>
                        <a:lnSpc>
                          <a:spcPts val="1829"/>
                        </a:lnSpc>
                        <a:spcBef>
                          <a:spcPts val="0"/>
                        </a:spcBef>
                        <a:spcAft>
                          <a:spcPts val="0"/>
                        </a:spcAft>
                      </a:pPr>
                      <a:r>
                        <a:rPr sz="1550" b="0">
                          <a:solidFill>
                            <a:srgbClr val="183A32"/>
                          </a:solidFill>
                          <a:latin typeface="Arial"/>
                        </a:rPr>
                        <a:t>identity across locally adapted</a:t>
                      </a:r>
                    </a:p>
                    <a:p>
                      <a:pPr>
                        <a:lnSpc>
                          <a:spcPts val="1829"/>
                        </a:lnSpc>
                        <a:spcBef>
                          <a:spcPts val="0"/>
                        </a:spcBef>
                        <a:spcAft>
                          <a:spcPts val="0"/>
                        </a:spcAft>
                      </a:pPr>
                      <a:r>
                        <a:rPr sz="1550" b="0">
                          <a:solidFill>
                            <a:srgbClr val="183A32"/>
                          </a:solidFill>
                          <a:latin typeface="Arial"/>
                        </a:rPr>
                        <a:t>projects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Transfer confidence across cities and attract land</a:t>
                      </a:r>
                    </a:p>
                    <a:p>
                      <a:pPr>
                        <a:lnSpc>
                          <a:spcPts val="1829"/>
                        </a:lnSpc>
                        <a:spcBef>
                          <a:spcPts val="0"/>
                        </a:spcBef>
                        <a:spcAft>
                          <a:spcPts val="0"/>
                        </a:spcAft>
                      </a:pPr>
                      <a:r>
                        <a:rPr sz="1550" b="0">
                          <a:solidFill>
                            <a:srgbClr val="183A32"/>
                          </a:solidFill>
                          <a:latin typeface="Arial"/>
                        </a:rPr>
                        <a:t>partners</a:t>
                      </a:r>
                    </a:p>
                  </a:txBody>
                  <a:tcPr marL="109728" marR="109728" marT="82296" marB="0" anchor="t">
                    <a:solidFill>
                      <a:srgbClr val="F6F2E9"/>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112–113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brands operate at different levels</a:t>
            </a:r>
          </a:p>
        </p:txBody>
      </p:sp>
      <p:graphicFrame>
        <p:nvGraphicFramePr>
          <p:cNvPr id="11" name="Table 10"/>
          <p:cNvGraphicFramePr>
            <a:graphicFrameLocks noGrp="1"/>
          </p:cNvGraphicFramePr>
          <p:nvPr/>
        </p:nvGraphicFramePr>
        <p:xfrm>
          <a:off x="685800" y="2084831"/>
          <a:ext cx="10789919" cy="3560949"/>
        </p:xfrm>
        <a:graphic>
          <a:graphicData uri="http://schemas.openxmlformats.org/drawingml/2006/table">
            <a:tbl>
              <a:tblPr firstRow="1" bandRow="1">
                <a:tableStyleId>{5C22544A-7EE6-4342-B048-85BDC9FD1C3A}</a:tableStyleId>
              </a:tblPr>
              <a:tblGrid>
                <a:gridCol w="2373782"/>
                <a:gridCol w="3236976"/>
                <a:gridCol w="5179161"/>
              </a:tblGrid>
              <a:tr h="665733">
                <a:tc>
                  <a:txBody>
                    <a:bodyPr wrap="none"/>
                    <a:lstStyle/>
                    <a:p>
                      <a:pPr>
                        <a:lnSpc>
                          <a:spcPts val="1829"/>
                        </a:lnSpc>
                        <a:spcBef>
                          <a:spcPts val="0"/>
                        </a:spcBef>
                        <a:spcAft>
                          <a:spcPts val="0"/>
                        </a:spcAft>
                      </a:pPr>
                      <a:r>
                        <a:rPr sz="1550" b="1">
                          <a:solidFill>
                            <a:srgbClr val="F6F2E9"/>
                          </a:solidFill>
                          <a:latin typeface="Arial"/>
                        </a:rPr>
                        <a:t>Developer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useful brand mechanism</a:t>
                      </a:r>
                    </a:p>
                    <a:p>
                      <a:pPr>
                        <a:lnSpc>
                          <a:spcPts val="1829"/>
                        </a:lnSpc>
                        <a:spcBef>
                          <a:spcPts val="0"/>
                        </a:spcBef>
                        <a:spcAft>
                          <a:spcPts val="0"/>
                        </a:spcAft>
                      </a:pPr>
                      <a:r>
                        <a:rPr sz="1550" b="1">
                          <a:solidFill>
                            <a:srgbClr val="F6F2E9"/>
                          </a:solidFill>
                          <a:latin typeface="Arial"/>
                        </a:rPr>
                        <a:t>to examine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Commercial purpose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Summarecon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Corporate name closely attached</a:t>
                      </a:r>
                    </a:p>
                    <a:p>
                      <a:pPr>
                        <a:lnSpc>
                          <a:spcPts val="1829"/>
                        </a:lnSpc>
                        <a:spcBef>
                          <a:spcPts val="0"/>
                        </a:spcBef>
                        <a:spcAft>
                          <a:spcPts val="0"/>
                        </a:spcAft>
                      </a:pPr>
                      <a:r>
                        <a:rPr sz="1550" b="0">
                          <a:solidFill>
                            <a:srgbClr val="183A32"/>
                          </a:solidFill>
                          <a:latin typeface="Arial"/>
                        </a:rPr>
                        <a:t>to township names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Transfer expectations from established places to new</a:t>
                      </a:r>
                    </a:p>
                    <a:p>
                      <a:pPr>
                        <a:lnSpc>
                          <a:spcPts val="1829"/>
                        </a:lnSpc>
                        <a:spcBef>
                          <a:spcPts val="0"/>
                        </a:spcBef>
                        <a:spcAft>
                          <a:spcPts val="0"/>
                        </a:spcAft>
                      </a:pPr>
                      <a:r>
                        <a:rPr sz="1550" b="0">
                          <a:solidFill>
                            <a:srgbClr val="183A32"/>
                          </a:solidFill>
                          <a:latin typeface="Arial"/>
                        </a:rPr>
                        <a:t>developments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Pakuwon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Strong destination brands within</a:t>
                      </a:r>
                    </a:p>
                    <a:p>
                      <a:pPr>
                        <a:lnSpc>
                          <a:spcPts val="1829"/>
                        </a:lnSpc>
                        <a:spcBef>
                          <a:spcPts val="0"/>
                        </a:spcBef>
                        <a:spcAft>
                          <a:spcPts val="0"/>
                        </a:spcAft>
                      </a:pPr>
                      <a:r>
                        <a:rPr sz="1550" b="0">
                          <a:solidFill>
                            <a:srgbClr val="183A32"/>
                          </a:solidFill>
                          <a:latin typeface="Arial"/>
                        </a:rPr>
                        <a:t>an operating portfolio</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Attract visitors, tenants, residents, and hotel customers</a:t>
                      </a:r>
                    </a:p>
                  </a:txBody>
                  <a:tcPr marL="109728" marR="109728" marT="82296" marB="0" anchor="t">
                    <a:solidFill>
                      <a:srgbClr val="E9E8DC"/>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Agung Podomoro</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Developer endorsement + project</a:t>
                      </a:r>
                    </a:p>
                    <a:p>
                      <a:pPr>
                        <a:lnSpc>
                          <a:spcPts val="1829"/>
                        </a:lnSpc>
                        <a:spcBef>
                          <a:spcPts val="0"/>
                        </a:spcBef>
                        <a:spcAft>
                          <a:spcPts val="0"/>
                        </a:spcAft>
                      </a:pPr>
                      <a:r>
                        <a:rPr sz="1550" b="0">
                          <a:solidFill>
                            <a:srgbClr val="183A32"/>
                          </a:solidFill>
                          <a:latin typeface="Arial"/>
                        </a:rPr>
                        <a:t>identity + tangible design</a:t>
                      </a:r>
                    </a:p>
                    <a:p>
                      <a:pPr>
                        <a:lnSpc>
                          <a:spcPts val="1829"/>
                        </a:lnSpc>
                        <a:spcBef>
                          <a:spcPts val="0"/>
                        </a:spcBef>
                        <a:spcAft>
                          <a:spcPts val="0"/>
                        </a:spcAft>
                      </a:pPr>
                      <a:r>
                        <a:rPr sz="1550" b="0">
                          <a:solidFill>
                            <a:srgbClr val="183A32"/>
                          </a:solidFill>
                          <a:latin typeface="Arial"/>
                        </a:rPr>
                        <a:t>propositions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Make products recognisable and easier to evaluate</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Duta Pertiwi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Township brands combined with</a:t>
                      </a:r>
                    </a:p>
                    <a:p>
                      <a:pPr>
                        <a:lnSpc>
                          <a:spcPts val="1829"/>
                        </a:lnSpc>
                        <a:spcBef>
                          <a:spcPts val="0"/>
                        </a:spcBef>
                        <a:spcAft>
                          <a:spcPts val="0"/>
                        </a:spcAft>
                      </a:pPr>
                      <a:r>
                        <a:rPr sz="1550" b="0">
                          <a:solidFill>
                            <a:srgbClr val="183A32"/>
                          </a:solidFill>
                          <a:latin typeface="Arial"/>
                        </a:rPr>
                        <a:t>specialist partner brands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Add credible capabilities to existing locations</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112–113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brands operate at different levels</a:t>
            </a:r>
          </a:p>
        </p:txBody>
      </p:sp>
      <p:graphicFrame>
        <p:nvGraphicFramePr>
          <p:cNvPr id="11" name="Table 10"/>
          <p:cNvGraphicFramePr>
            <a:graphicFrameLocks noGrp="1"/>
          </p:cNvGraphicFramePr>
          <p:nvPr/>
        </p:nvGraphicFramePr>
        <p:xfrm>
          <a:off x="685800" y="2084831"/>
          <a:ext cx="10789919" cy="3127500"/>
        </p:xfrm>
        <a:graphic>
          <a:graphicData uri="http://schemas.openxmlformats.org/drawingml/2006/table">
            <a:tbl>
              <a:tblPr firstRow="1" bandRow="1">
                <a:tableStyleId>{5C22544A-7EE6-4342-B048-85BDC9FD1C3A}</a:tableStyleId>
              </a:tblPr>
              <a:tblGrid>
                <a:gridCol w="2373782"/>
                <a:gridCol w="3236976"/>
                <a:gridCol w="5179161"/>
              </a:tblGrid>
              <a:tr h="665733">
                <a:tc>
                  <a:txBody>
                    <a:bodyPr wrap="none"/>
                    <a:lstStyle/>
                    <a:p>
                      <a:pPr>
                        <a:lnSpc>
                          <a:spcPts val="1829"/>
                        </a:lnSpc>
                        <a:spcBef>
                          <a:spcPts val="0"/>
                        </a:spcBef>
                        <a:spcAft>
                          <a:spcPts val="0"/>
                        </a:spcAft>
                      </a:pPr>
                      <a:r>
                        <a:rPr sz="1550" b="1">
                          <a:solidFill>
                            <a:srgbClr val="F6F2E9"/>
                          </a:solidFill>
                          <a:latin typeface="Arial"/>
                        </a:rPr>
                        <a:t>Developer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useful brand mechanism</a:t>
                      </a:r>
                    </a:p>
                    <a:p>
                      <a:pPr>
                        <a:lnSpc>
                          <a:spcPts val="1829"/>
                        </a:lnSpc>
                        <a:spcBef>
                          <a:spcPts val="0"/>
                        </a:spcBef>
                        <a:spcAft>
                          <a:spcPts val="0"/>
                        </a:spcAft>
                      </a:pPr>
                      <a:r>
                        <a:rPr sz="1550" b="1">
                          <a:solidFill>
                            <a:srgbClr val="F6F2E9"/>
                          </a:solidFill>
                          <a:latin typeface="Arial"/>
                        </a:rPr>
                        <a:t>to examine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Commercial purpose</a:t>
                      </a:r>
                    </a:p>
                  </a:txBody>
                  <a:tcPr marL="109728" marR="109728" marT="82296" marB="0" anchor="t">
                    <a:solidFill>
                      <a:srgbClr val="153F35"/>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Alam Sutera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Place identity supported by a</a:t>
                      </a:r>
                    </a:p>
                    <a:p>
                      <a:pPr>
                        <a:lnSpc>
                          <a:spcPts val="1829"/>
                        </a:lnSpc>
                        <a:spcBef>
                          <a:spcPts val="0"/>
                        </a:spcBef>
                        <a:spcAft>
                          <a:spcPts val="0"/>
                        </a:spcAft>
                      </a:pPr>
                      <a:r>
                        <a:rPr sz="1550" b="0">
                          <a:solidFill>
                            <a:srgbClr val="183A32"/>
                          </a:solidFill>
                          <a:latin typeface="Arial"/>
                        </a:rPr>
                        <a:t>range of project and cluster</a:t>
                      </a:r>
                    </a:p>
                    <a:p>
                      <a:pPr>
                        <a:lnSpc>
                          <a:spcPts val="1829"/>
                        </a:lnSpc>
                        <a:spcBef>
                          <a:spcPts val="0"/>
                        </a:spcBef>
                        <a:spcAft>
                          <a:spcPts val="0"/>
                        </a:spcAft>
                      </a:pPr>
                      <a:r>
                        <a:rPr sz="1550" b="0">
                          <a:solidFill>
                            <a:srgbClr val="183A32"/>
                          </a:solidFill>
                          <a:latin typeface="Arial"/>
                        </a:rPr>
                        <a:t>propositions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Serve different purchasing capacities without one</a:t>
                      </a:r>
                    </a:p>
                    <a:p>
                      <a:pPr>
                        <a:lnSpc>
                          <a:spcPts val="1829"/>
                        </a:lnSpc>
                        <a:spcBef>
                          <a:spcPts val="0"/>
                        </a:spcBef>
                        <a:spcAft>
                          <a:spcPts val="0"/>
                        </a:spcAft>
                      </a:pPr>
                      <a:r>
                        <a:rPr sz="1550" b="0">
                          <a:solidFill>
                            <a:srgbClr val="183A32"/>
                          </a:solidFill>
                          <a:latin typeface="Arial"/>
                        </a:rPr>
                        <a:t>uniform offer</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Jaya Real Property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Established place brands</a:t>
                      </a:r>
                    </a:p>
                    <a:p>
                      <a:pPr>
                        <a:lnSpc>
                          <a:spcPts val="1829"/>
                        </a:lnSpc>
                        <a:spcBef>
                          <a:spcPts val="0"/>
                        </a:spcBef>
                        <a:spcAft>
                          <a:spcPts val="0"/>
                        </a:spcAft>
                      </a:pPr>
                      <a:r>
                        <a:rPr sz="1550" b="0">
                          <a:solidFill>
                            <a:srgbClr val="183A32"/>
                          </a:solidFill>
                          <a:latin typeface="Arial"/>
                        </a:rPr>
                        <a:t>supported by practical livability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Sell an everyday living environment</a:t>
                      </a:r>
                    </a:p>
                  </a:txBody>
                  <a:tcPr marL="109728" marR="109728" marT="82296" marB="0" anchor="t">
                    <a:solidFill>
                      <a:srgbClr val="E9E8DC"/>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PANI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PIK2 destination identity</a:t>
                      </a:r>
                    </a:p>
                    <a:p>
                      <a:pPr>
                        <a:lnSpc>
                          <a:spcPts val="1829"/>
                        </a:lnSpc>
                        <a:spcBef>
                          <a:spcPts val="0"/>
                        </a:spcBef>
                        <a:spcAft>
                          <a:spcPts val="0"/>
                        </a:spcAft>
                      </a:pPr>
                      <a:r>
                        <a:rPr sz="1550" b="0">
                          <a:solidFill>
                            <a:srgbClr val="183A32"/>
                          </a:solidFill>
                          <a:latin typeface="Arial"/>
                        </a:rPr>
                        <a:t>supporting multiple product</a:t>
                      </a:r>
                    </a:p>
                    <a:p>
                      <a:pPr>
                        <a:lnSpc>
                          <a:spcPts val="1829"/>
                        </a:lnSpc>
                        <a:spcBef>
                          <a:spcPts val="0"/>
                        </a:spcBef>
                        <a:spcAft>
                          <a:spcPts val="0"/>
                        </a:spcAft>
                      </a:pPr>
                      <a:r>
                        <a:rPr sz="1550" b="0">
                          <a:solidFill>
                            <a:srgbClr val="183A32"/>
                          </a:solidFill>
                          <a:latin typeface="Arial"/>
                        </a:rPr>
                        <a:t>categories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Connect residential and commercial demand to an</a:t>
                      </a:r>
                    </a:p>
                    <a:p>
                      <a:pPr>
                        <a:lnSpc>
                          <a:spcPts val="1829"/>
                        </a:lnSpc>
                        <a:spcBef>
                          <a:spcPts val="0"/>
                        </a:spcBef>
                        <a:spcAft>
                          <a:spcPts val="0"/>
                        </a:spcAft>
                      </a:pPr>
                      <a:r>
                        <a:rPr sz="1550" b="0">
                          <a:solidFill>
                            <a:srgbClr val="183A32"/>
                          </a:solidFill>
                          <a:latin typeface="Arial"/>
                        </a:rPr>
                        <a:t>expanding location</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539521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are analytical descriptions, not claims that the companies formally use these exact brand-strategy terms.</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113–114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Building an economic identity for the location</a:t>
            </a:r>
          </a:p>
        </p:txBody>
      </p:sp>
      <p:cxnSp>
        <p:nvCxnSpPr>
          <p:cNvPr id="11" name="Connector 10"/>
          <p:cNvCxnSpPr/>
          <p:nvPr/>
        </p:nvCxnSpPr>
        <p:spPr>
          <a:xfrm>
            <a:off x="6062472" y="2084831"/>
            <a:ext cx="0" cy="305733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STRATEGIC DECISION</a:t>
            </a:r>
          </a:p>
        </p:txBody>
      </p:sp>
      <p:sp>
        <p:nvSpPr>
          <p:cNvPr id="13" name="TextBox 12"/>
          <p:cNvSpPr txBox="1"/>
          <p:nvPr/>
        </p:nvSpPr>
        <p:spPr>
          <a:xfrm>
            <a:off x="685800" y="2433574"/>
            <a:ext cx="5074920" cy="229057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BSD’s Digital Hub was introduced in 2017 as a</a:t>
            </a:r>
          </a:p>
          <a:p>
            <a:pPr>
              <a:lnSpc>
                <a:spcPts val="2196"/>
              </a:lnSpc>
              <a:spcBef>
                <a:spcPts val="0"/>
              </a:spcBef>
              <a:spcAft>
                <a:spcPts val="0"/>
              </a:spcAft>
            </a:pPr>
            <a:r>
              <a:rPr sz="1800" b="0" i="0">
                <a:solidFill>
                  <a:srgbClr val="183A32"/>
                </a:solidFill>
                <a:latin typeface="Times New Roman"/>
              </a:rPr>
              <a:t>dedicated technology and digital-business area. An</a:t>
            </a:r>
          </a:p>
          <a:p>
            <a:pPr>
              <a:lnSpc>
                <a:spcPts val="2196"/>
              </a:lnSpc>
              <a:spcBef>
                <a:spcPts val="0"/>
              </a:spcBef>
              <a:spcAft>
                <a:spcPts val="0"/>
              </a:spcAft>
            </a:pPr>
            <a:r>
              <a:rPr sz="1800" b="0" i="0">
                <a:solidFill>
                  <a:srgbClr val="183A32"/>
                </a:solidFill>
                <a:latin typeface="Times New Roman"/>
              </a:rPr>
              <a:t>official 2021 disclosure identified an ecosystem</a:t>
            </a:r>
          </a:p>
          <a:p>
            <a:pPr>
              <a:lnSpc>
                <a:spcPts val="2196"/>
              </a:lnSpc>
              <a:spcBef>
                <a:spcPts val="0"/>
              </a:spcBef>
              <a:spcAft>
                <a:spcPts val="0"/>
              </a:spcAft>
            </a:pPr>
            <a:r>
              <a:rPr sz="1800" b="0" i="0">
                <a:solidFill>
                  <a:srgbClr val="183A32"/>
                </a:solidFill>
                <a:latin typeface="Times New Roman"/>
              </a:rPr>
              <a:t>including Apple Developer Academy, Traveloka,</a:t>
            </a:r>
          </a:p>
          <a:p>
            <a:pPr>
              <a:lnSpc>
                <a:spcPts val="2196"/>
              </a:lnSpc>
              <a:spcBef>
                <a:spcPts val="0"/>
              </a:spcBef>
              <a:spcAft>
                <a:spcPts val="0"/>
              </a:spcAft>
            </a:pPr>
            <a:r>
              <a:rPr sz="1800" b="0" i="0">
                <a:solidFill>
                  <a:srgbClr val="183A32"/>
                </a:solidFill>
                <a:latin typeface="Times New Roman"/>
              </a:rPr>
              <a:t>NTT, SIRCLO, and other businesses. These are</a:t>
            </a:r>
          </a:p>
          <a:p>
            <a:pPr>
              <a:lnSpc>
                <a:spcPts val="2196"/>
              </a:lnSpc>
              <a:spcBef>
                <a:spcPts val="0"/>
              </a:spcBef>
              <a:spcAft>
                <a:spcPts val="0"/>
              </a:spcAft>
            </a:pPr>
            <a:r>
              <a:rPr sz="1800" b="0" i="0">
                <a:solidFill>
                  <a:srgbClr val="183A32"/>
                </a:solidFill>
                <a:latin typeface="Times New Roman"/>
              </a:rPr>
              <a:t>different forms of participation; they should not all be</a:t>
            </a:r>
          </a:p>
          <a:p>
            <a:pPr>
              <a:lnSpc>
                <a:spcPts val="2196"/>
              </a:lnSpc>
              <a:spcBef>
                <a:spcPts val="0"/>
              </a:spcBef>
              <a:spcAft>
                <a:spcPts val="0"/>
              </a:spcAft>
            </a:pPr>
            <a:r>
              <a:rPr sz="1800" b="0" i="0">
                <a:solidFill>
                  <a:srgbClr val="183A32"/>
                </a:solidFill>
                <a:latin typeface="Times New Roman"/>
              </a:rPr>
              <a:t>described as identical tenants or investments. Source:</a:t>
            </a:r>
          </a:p>
          <a:p>
            <a:pPr>
              <a:lnSpc>
                <a:spcPts val="2196"/>
              </a:lnSpc>
              <a:spcBef>
                <a:spcPts val="0"/>
              </a:spcBef>
              <a:spcAft>
                <a:spcPts val="0"/>
              </a:spcAft>
            </a:pPr>
            <a:r>
              <a:rPr sz="1800" b="0" i="0">
                <a:solidFill>
                  <a:srgbClr val="183A32"/>
                </a:solidFill>
                <a:latin typeface="Times New Roman"/>
              </a:rPr>
              <a:t>Sinar Mas Land’s Digital Hub disclosure.</a:t>
            </a:r>
          </a:p>
        </p:txBody>
      </p:sp>
      <p:sp>
        <p:nvSpPr>
          <p:cNvPr id="14" name="TextBox 13"/>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5" name="TextBox 14"/>
          <p:cNvSpPr txBox="1"/>
          <p:nvPr/>
        </p:nvSpPr>
        <p:spPr>
          <a:xfrm>
            <a:off x="6400800" y="243357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BSD is being positioned as a place with an economic</a:t>
            </a:r>
          </a:p>
          <a:p>
            <a:pPr>
              <a:lnSpc>
                <a:spcPts val="2196"/>
              </a:lnSpc>
              <a:spcBef>
                <a:spcPts val="0"/>
              </a:spcBef>
              <a:spcAft>
                <a:spcPts val="0"/>
              </a:spcAft>
            </a:pPr>
            <a:r>
              <a:rPr sz="1800" b="0" i="0">
                <a:solidFill>
                  <a:srgbClr val="183A32"/>
                </a:solidFill>
                <a:latin typeface="Times New Roman"/>
              </a:rPr>
              <a:t>purpose, beyond its residential inventory. Technology</a:t>
            </a:r>
          </a:p>
          <a:p>
            <a:pPr>
              <a:lnSpc>
                <a:spcPts val="2196"/>
              </a:lnSpc>
              <a:spcBef>
                <a:spcPts val="0"/>
              </a:spcBef>
              <a:spcAft>
                <a:spcPts val="0"/>
              </a:spcAft>
            </a:pPr>
            <a:r>
              <a:rPr sz="1800" b="0" i="0">
                <a:solidFill>
                  <a:srgbClr val="183A32"/>
                </a:solidFill>
                <a:latin typeface="Times New Roman"/>
              </a:rPr>
              <a:t>businesses and education provide tangible support for</a:t>
            </a:r>
          </a:p>
          <a:p>
            <a:pPr>
              <a:lnSpc>
                <a:spcPts val="2196"/>
              </a:lnSpc>
              <a:spcBef>
                <a:spcPts val="0"/>
              </a:spcBef>
              <a:spcAft>
                <a:spcPts val="0"/>
              </a:spcAft>
            </a:pPr>
            <a:r>
              <a:rPr sz="1800" b="0" i="0">
                <a:solidFill>
                  <a:srgbClr val="183A32"/>
                </a:solidFill>
                <a:latin typeface="Times New Roman"/>
              </a:rPr>
              <a:t>that identity.</a:t>
            </a:r>
          </a:p>
        </p:txBody>
      </p:sp>
      <p:sp>
        <p:nvSpPr>
          <p:cNvPr id="16" name="TextBox 15"/>
          <p:cNvSpPr txBox="1"/>
          <p:nvPr/>
        </p:nvSpPr>
        <p:spPr>
          <a:xfrm>
            <a:off x="6400800" y="3754882"/>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MECHANISM</a:t>
            </a:r>
          </a:p>
        </p:txBody>
      </p:sp>
      <p:sp>
        <p:nvSpPr>
          <p:cNvPr id="17" name="Rectangle 16"/>
          <p:cNvSpPr/>
          <p:nvPr/>
        </p:nvSpPr>
        <p:spPr>
          <a:xfrm>
            <a:off x="6400800" y="4167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407619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Employers create reasons to travel to the area.</a:t>
            </a:r>
          </a:p>
        </p:txBody>
      </p:sp>
      <p:sp>
        <p:nvSpPr>
          <p:cNvPr id="19" name="Rectangle 18"/>
          <p:cNvSpPr/>
          <p:nvPr/>
        </p:nvSpPr>
        <p:spPr>
          <a:xfrm>
            <a:off x="6400800" y="461708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452564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Education and talent activity make the location</a:t>
            </a:r>
          </a:p>
          <a:p>
            <a:pPr>
              <a:lnSpc>
                <a:spcPts val="2135"/>
              </a:lnSpc>
              <a:spcBef>
                <a:spcPts val="0"/>
              </a:spcBef>
              <a:spcAft>
                <a:spcPts val="0"/>
              </a:spcAft>
            </a:pPr>
            <a:r>
              <a:rPr sz="1750" b="0" i="0">
                <a:solidFill>
                  <a:srgbClr val="183A32"/>
                </a:solidFill>
                <a:latin typeface="Arial"/>
              </a:rPr>
              <a:t>more relevant to businesses.</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113–114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Building an economic identity for the location</a:t>
            </a:r>
          </a:p>
        </p:txBody>
      </p:sp>
      <p:cxnSp>
        <p:nvCxnSpPr>
          <p:cNvPr id="11" name="Connector 10"/>
          <p:cNvCxnSpPr/>
          <p:nvPr/>
        </p:nvCxnSpPr>
        <p:spPr>
          <a:xfrm>
            <a:off x="6062472" y="2084831"/>
            <a:ext cx="0" cy="2676716"/>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Workers, students, and visitors can support</a:t>
            </a:r>
          </a:p>
          <a:p>
            <a:pPr>
              <a:lnSpc>
                <a:spcPts val="2135"/>
              </a:lnSpc>
              <a:spcBef>
                <a:spcPts val="0"/>
              </a:spcBef>
              <a:spcAft>
                <a:spcPts val="0"/>
              </a:spcAft>
            </a:pPr>
            <a:r>
              <a:rPr sz="1750" b="0" i="0">
                <a:solidFill>
                  <a:srgbClr val="183A32"/>
                </a:solidFill>
                <a:latin typeface="Arial"/>
              </a:rPr>
              <a:t>surrounding services.</a:t>
            </a:r>
          </a:p>
        </p:txBody>
      </p:sp>
      <p:sp>
        <p:nvSpPr>
          <p:cNvPr id="14" name="Rectangle 13"/>
          <p:cNvSpPr/>
          <p:nvPr/>
        </p:nvSpPr>
        <p:spPr>
          <a:xfrm>
            <a:off x="685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0543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The broader activity base can improve the</a:t>
            </a:r>
          </a:p>
          <a:p>
            <a:pPr>
              <a:lnSpc>
                <a:spcPts val="2135"/>
              </a:lnSpc>
              <a:spcBef>
                <a:spcPts val="0"/>
              </a:spcBef>
              <a:spcAft>
                <a:spcPts val="0"/>
              </a:spcAft>
            </a:pPr>
            <a:r>
              <a:rPr sz="1750" b="0" i="0">
                <a:solidFill>
                  <a:srgbClr val="183A32"/>
                </a:solidFill>
                <a:latin typeface="Arial"/>
              </a:rPr>
              <a:t>proposition for residential and commercial</a:t>
            </a:r>
          </a:p>
          <a:p>
            <a:pPr>
              <a:lnSpc>
                <a:spcPts val="2135"/>
              </a:lnSpc>
              <a:spcBef>
                <a:spcPts val="0"/>
              </a:spcBef>
              <a:spcAft>
                <a:spcPts val="0"/>
              </a:spcAft>
            </a:pPr>
            <a:r>
              <a:rPr sz="1750" b="0" i="0">
                <a:solidFill>
                  <a:srgbClr val="183A32"/>
                </a:solidFill>
                <a:latin typeface="Arial"/>
              </a:rPr>
              <a:t>property.</a:t>
            </a:r>
          </a:p>
        </p:txBody>
      </p:sp>
      <p:sp>
        <p:nvSpPr>
          <p:cNvPr id="16" name="TextBox 15"/>
          <p:cNvSpPr txBox="1"/>
          <p:nvPr/>
        </p:nvSpPr>
        <p:spPr>
          <a:xfrm>
            <a:off x="685800" y="3797173"/>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important strategic move is recruiting the</a:t>
            </a:r>
          </a:p>
          <a:p>
            <a:pPr>
              <a:lnSpc>
                <a:spcPts val="2196"/>
              </a:lnSpc>
              <a:spcBef>
                <a:spcPts val="0"/>
              </a:spcBef>
              <a:spcAft>
                <a:spcPts val="0"/>
              </a:spcAft>
            </a:pPr>
            <a:r>
              <a:rPr sz="1800" b="0" i="0">
                <a:solidFill>
                  <a:srgbClr val="183A32"/>
                </a:solidFill>
                <a:latin typeface="Times New Roman"/>
              </a:rPr>
              <a:t>organisations that make the destination promise</a:t>
            </a:r>
          </a:p>
          <a:p>
            <a:pPr>
              <a:lnSpc>
                <a:spcPts val="2196"/>
              </a:lnSpc>
              <a:spcBef>
                <a:spcPts val="0"/>
              </a:spcBef>
              <a:spcAft>
                <a:spcPts val="0"/>
              </a:spcAft>
            </a:pPr>
            <a:r>
              <a:rPr sz="1800" b="0" i="0">
                <a:solidFill>
                  <a:srgbClr val="183A32"/>
                </a:solidFill>
                <a:latin typeface="Times New Roman"/>
              </a:rPr>
              <a:t>credible.</a:t>
            </a:r>
          </a:p>
        </p:txBody>
      </p:sp>
      <p:sp>
        <p:nvSpPr>
          <p:cNvPr id="17" name="TextBox 16"/>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CAN BE EFFECTIVE</a:t>
            </a:r>
          </a:p>
        </p:txBody>
      </p:sp>
      <p:sp>
        <p:nvSpPr>
          <p:cNvPr id="18" name="TextBox 17"/>
          <p:cNvSpPr txBox="1"/>
          <p:nvPr/>
        </p:nvSpPr>
        <p:spPr>
          <a:xfrm>
            <a:off x="6400800" y="243357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location connected to employment and education</a:t>
            </a:r>
          </a:p>
          <a:p>
            <a:pPr>
              <a:lnSpc>
                <a:spcPts val="2196"/>
              </a:lnSpc>
              <a:spcBef>
                <a:spcPts val="0"/>
              </a:spcBef>
              <a:spcAft>
                <a:spcPts val="0"/>
              </a:spcAft>
            </a:pPr>
            <a:r>
              <a:rPr sz="1800" b="0" i="0">
                <a:solidFill>
                  <a:srgbClr val="183A32"/>
                </a:solidFill>
                <a:latin typeface="Times New Roman"/>
              </a:rPr>
              <a:t>can address a more enduring need than a residential</a:t>
            </a:r>
          </a:p>
          <a:p>
            <a:pPr>
              <a:lnSpc>
                <a:spcPts val="2196"/>
              </a:lnSpc>
              <a:spcBef>
                <a:spcPts val="0"/>
              </a:spcBef>
              <a:spcAft>
                <a:spcPts val="0"/>
              </a:spcAft>
            </a:pPr>
            <a:r>
              <a:rPr sz="1800" b="0" i="0">
                <a:solidFill>
                  <a:srgbClr val="183A32"/>
                </a:solidFill>
                <a:latin typeface="Times New Roman"/>
              </a:rPr>
              <a:t>theme alone.</a:t>
            </a:r>
          </a:p>
        </p:txBody>
      </p:sp>
      <p:sp>
        <p:nvSpPr>
          <p:cNvPr id="19" name="TextBox 18"/>
          <p:cNvSpPr txBox="1"/>
          <p:nvPr/>
        </p:nvSpPr>
        <p:spPr>
          <a:xfrm>
            <a:off x="6400800" y="3475989"/>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EVIDENCE LIMIT</a:t>
            </a:r>
          </a:p>
        </p:txBody>
      </p:sp>
      <p:sp>
        <p:nvSpPr>
          <p:cNvPr id="20" name="TextBox 19"/>
          <p:cNvSpPr txBox="1"/>
          <p:nvPr/>
        </p:nvSpPr>
        <p:spPr>
          <a:xfrm>
            <a:off x="6400800" y="3797300"/>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reviewed disclosure does not quantify how much</a:t>
            </a:r>
          </a:p>
          <a:p>
            <a:pPr>
              <a:lnSpc>
                <a:spcPts val="2196"/>
              </a:lnSpc>
              <a:spcBef>
                <a:spcPts val="0"/>
              </a:spcBef>
              <a:spcAft>
                <a:spcPts val="0"/>
              </a:spcAft>
            </a:pPr>
            <a:r>
              <a:rPr sz="1800" b="0" i="0">
                <a:solidFill>
                  <a:srgbClr val="183A32"/>
                </a:solidFill>
                <a:latin typeface="Times New Roman"/>
              </a:rPr>
              <a:t>Digital Hub increased housing prices, absorption, or</a:t>
            </a:r>
          </a:p>
          <a:p>
            <a:pPr>
              <a:lnSpc>
                <a:spcPts val="2196"/>
              </a:lnSpc>
              <a:spcBef>
                <a:spcPts val="0"/>
              </a:spcBef>
              <a:spcAft>
                <a:spcPts val="0"/>
              </a:spcAft>
            </a:pPr>
            <a:r>
              <a:rPr sz="1800" b="0" i="0">
                <a:solidFill>
                  <a:srgbClr val="183A32"/>
                </a:solidFill>
                <a:latin typeface="Times New Roman"/>
              </a:rPr>
              <a:t>profit.</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114–115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265</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Combining brand confidence with purchase-friction</a:t>
            </a:r>
          </a:p>
          <a:p>
            <a:pPr>
              <a:lnSpc>
                <a:spcPts val="3502"/>
              </a:lnSpc>
              <a:spcBef>
                <a:spcPts val="0"/>
              </a:spcBef>
              <a:spcAft>
                <a:spcPts val="0"/>
              </a:spcAft>
            </a:pPr>
            <a:r>
              <a:rPr sz="3100" b="0" i="0">
                <a:solidFill>
                  <a:srgbClr val="153F35"/>
                </a:solidFill>
                <a:latin typeface="Arial"/>
              </a:rPr>
              <a:t>removal</a:t>
            </a:r>
          </a:p>
        </p:txBody>
      </p:sp>
      <p:sp>
        <p:nvSpPr>
          <p:cNvPr id="11" name="TextBox 10"/>
          <p:cNvSpPr txBox="1"/>
          <p:nvPr/>
        </p:nvSpPr>
        <p:spPr>
          <a:xfrm>
            <a:off x="685800" y="219735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MARKETING EXECUTION</a:t>
            </a:r>
          </a:p>
        </p:txBody>
      </p:sp>
      <p:sp>
        <p:nvSpPr>
          <p:cNvPr id="12" name="TextBox 11"/>
          <p:cNvSpPr txBox="1"/>
          <p:nvPr/>
        </p:nvSpPr>
        <p:spPr>
          <a:xfrm>
            <a:off x="685800" y="2518664"/>
            <a:ext cx="10789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2025 Move in Quickly programme used three sales periods and product-dependent incentives, including price</a:t>
            </a:r>
          </a:p>
          <a:p>
            <a:pPr>
              <a:lnSpc>
                <a:spcPts val="2196"/>
              </a:lnSpc>
              <a:spcBef>
                <a:spcPts val="0"/>
              </a:spcBef>
              <a:spcAft>
                <a:spcPts val="0"/>
              </a:spcAft>
            </a:pPr>
            <a:r>
              <a:rPr sz="1800" b="0" i="0">
                <a:solidFill>
                  <a:srgbClr val="183A32"/>
                </a:solidFill>
                <a:latin typeface="Times New Roman"/>
              </a:rPr>
              <a:t>reductions, down-payment support, transaction-cost relief, and other benefits. Separate participation in BCA Expo</a:t>
            </a:r>
          </a:p>
          <a:p>
            <a:pPr>
              <a:lnSpc>
                <a:spcPts val="2196"/>
              </a:lnSpc>
              <a:spcBef>
                <a:spcPts val="0"/>
              </a:spcBef>
              <a:spcAft>
                <a:spcPts val="0"/>
              </a:spcAft>
            </a:pPr>
            <a:r>
              <a:rPr sz="1800" b="0" i="0">
                <a:solidFill>
                  <a:srgbClr val="183A32"/>
                </a:solidFill>
                <a:latin typeface="Times New Roman"/>
              </a:rPr>
              <a:t>placed property offers alongside a financing-related customer occasion. These were historical offers subject to</a:t>
            </a:r>
          </a:p>
          <a:p>
            <a:pPr>
              <a:lnSpc>
                <a:spcPts val="2196"/>
              </a:lnSpc>
              <a:spcBef>
                <a:spcPts val="0"/>
              </a:spcBef>
              <a:spcAft>
                <a:spcPts val="0"/>
              </a:spcAft>
            </a:pPr>
            <a:r>
              <a:rPr sz="1800" b="0" i="0">
                <a:solidFill>
                  <a:srgbClr val="183A32"/>
                </a:solidFill>
                <a:latin typeface="Times New Roman"/>
              </a:rPr>
              <a:t>conditions, not current universal prices. Sources: programme structure, BCA Expo campaign.</a:t>
            </a:r>
          </a:p>
        </p:txBody>
      </p:sp>
      <p:sp>
        <p:nvSpPr>
          <p:cNvPr id="13" name="TextBox 12"/>
          <p:cNvSpPr txBox="1"/>
          <p:nvPr/>
        </p:nvSpPr>
        <p:spPr>
          <a:xfrm>
            <a:off x="685800" y="3839972"/>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4" name="TextBox 13"/>
          <p:cNvSpPr txBox="1"/>
          <p:nvPr/>
        </p:nvSpPr>
        <p:spPr>
          <a:xfrm>
            <a:off x="685800" y="416128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customer can trust a developer and want its product while still being unable to transact.</a:t>
            </a:r>
          </a:p>
        </p:txBody>
      </p:sp>
      <p:sp>
        <p:nvSpPr>
          <p:cNvPr id="15" name="TextBox 14"/>
          <p:cNvSpPr txBox="1"/>
          <p:nvPr/>
        </p:nvSpPr>
        <p:spPr>
          <a:xfrm>
            <a:off x="685800" y="461848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Different incentives address different obstacles:</a:t>
            </a:r>
          </a:p>
        </p:txBody>
      </p:sp>
      <p:graphicFrame>
        <p:nvGraphicFramePr>
          <p:cNvPr id="16" name="Table 15"/>
          <p:cNvGraphicFramePr>
            <a:graphicFrameLocks noGrp="1"/>
          </p:cNvGraphicFramePr>
          <p:nvPr/>
        </p:nvGraphicFramePr>
        <p:xfrm>
          <a:off x="685800" y="5075682"/>
          <a:ext cx="10789919" cy="8669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Obstacle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Relevant commercial response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Insufficient initial cash</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Down-payment support</a:t>
                      </a:r>
                    </a:p>
                  </a:txBody>
                  <a:tcPr marL="109728" marR="109728" marT="82296" marB="0" anchor="t">
                    <a:solidFill>
                      <a:srgbClr val="F6F2E9"/>
                    </a:solidFill>
                    <a:lnL>
                      <a:noFill/>
                    </a:lnL>
                    <a:lnR>
                      <a:noFill/>
                    </a:lnR>
                    <a:lnT>
                      <a:noFill/>
                    </a:lnT>
                    <a:lnB>
                      <a:noFill/>
                    </a:lnB>
                  </a:tcPr>
                </a:tc>
              </a:tr>
            </a:tbl>
          </a:graphicData>
        </a:graphic>
      </p:graphicFrame>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114–115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Combining brand confidence with purchase-friction</a:t>
            </a:r>
          </a:p>
          <a:p>
            <a:pPr>
              <a:lnSpc>
                <a:spcPts val="3502"/>
              </a:lnSpc>
              <a:spcBef>
                <a:spcPts val="0"/>
              </a:spcBef>
              <a:spcAft>
                <a:spcPts val="0"/>
              </a:spcAft>
            </a:pPr>
            <a:r>
              <a:rPr sz="3100" b="0" i="0">
                <a:solidFill>
                  <a:srgbClr val="153F35"/>
                </a:solidFill>
                <a:latin typeface="Arial"/>
              </a:rPr>
              <a:t>removal</a:t>
            </a:r>
          </a:p>
        </p:txBody>
      </p:sp>
      <p:graphicFrame>
        <p:nvGraphicFramePr>
          <p:cNvPr id="11" name="Table 10"/>
          <p:cNvGraphicFramePr>
            <a:graphicFrameLocks noGrp="1"/>
          </p:cNvGraphicFramePr>
          <p:nvPr/>
        </p:nvGraphicFramePr>
        <p:xfrm>
          <a:off x="685800" y="2169921"/>
          <a:ext cx="10789919" cy="216725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Obstacle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Relevant commercial response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High all-in acquisition cost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Tax or transaction-fee assistance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Uncertainty about financing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Bank-linked sales channels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Delayed decision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Clearly defined campaign periods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Difficulty comparing inventory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Searchable product information and sales support</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685800" y="4547489"/>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IMPLICATION</a:t>
            </a:r>
          </a:p>
        </p:txBody>
      </p:sp>
      <p:sp>
        <p:nvSpPr>
          <p:cNvPr id="13" name="TextBox 12"/>
          <p:cNvSpPr txBox="1"/>
          <p:nvPr/>
        </p:nvSpPr>
        <p:spPr>
          <a:xfrm>
            <a:off x="685800" y="486879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Marketing is coordinating inventory, financing, timing, and communication—not merely generating awareness.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114–115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application</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Identify the actual barrier for each priority segment before designing a promotion. Track the net realised selling price</a:t>
            </a:r>
          </a:p>
          <a:p>
            <a:pPr>
              <a:lnSpc>
                <a:spcPts val="2196"/>
              </a:lnSpc>
              <a:spcBef>
                <a:spcPts val="0"/>
              </a:spcBef>
              <a:spcAft>
                <a:spcPts val="0"/>
              </a:spcAft>
            </a:pPr>
            <a:r>
              <a:rPr sz="1800" b="0" i="0">
                <a:solidFill>
                  <a:srgbClr val="183A32"/>
                </a:solidFill>
                <a:latin typeface="Times New Roman"/>
              </a:rPr>
              <a:t>and collections after incentives, rather than celebrating bookings alone.</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115–116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Changing the product to reach a different customer</a:t>
            </a:r>
          </a:p>
        </p:txBody>
      </p:sp>
      <p:cxnSp>
        <p:nvCxnSpPr>
          <p:cNvPr id="11" name="Connector 10"/>
          <p:cNvCxnSpPr/>
          <p:nvPr/>
        </p:nvCxnSpPr>
        <p:spPr>
          <a:xfrm>
            <a:off x="6062472" y="2084831"/>
            <a:ext cx="0" cy="344576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STRATEGIC DECISION</a:t>
            </a:r>
          </a:p>
        </p:txBody>
      </p:sp>
      <p:sp>
        <p:nvSpPr>
          <p:cNvPr id="13" name="TextBox 12"/>
          <p:cNvSpPr txBox="1"/>
          <p:nvPr/>
        </p:nvSpPr>
        <p:spPr>
          <a:xfrm>
            <a:off x="685800" y="243357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Lippo’s sustainability reporting describes market</a:t>
            </a:r>
          </a:p>
          <a:p>
            <a:pPr>
              <a:lnSpc>
                <a:spcPts val="2196"/>
              </a:lnSpc>
              <a:spcBef>
                <a:spcPts val="0"/>
              </a:spcBef>
              <a:spcAft>
                <a:spcPts val="0"/>
              </a:spcAft>
            </a:pPr>
            <a:r>
              <a:rPr sz="1800" b="0" i="0">
                <a:solidFill>
                  <a:srgbClr val="183A32"/>
                </a:solidFill>
                <a:latin typeface="Times New Roman"/>
              </a:rPr>
              <a:t>studies and ethnographic research into younger</a:t>
            </a:r>
          </a:p>
          <a:p>
            <a:pPr>
              <a:lnSpc>
                <a:spcPts val="2196"/>
              </a:lnSpc>
              <a:spcBef>
                <a:spcPts val="0"/>
              </a:spcBef>
              <a:spcAft>
                <a:spcPts val="0"/>
              </a:spcAft>
            </a:pPr>
            <a:r>
              <a:rPr sz="1800" b="0" i="0">
                <a:solidFill>
                  <a:srgbClr val="183A32"/>
                </a:solidFill>
                <a:latin typeface="Times New Roman"/>
              </a:rPr>
              <a:t>Indonesian buyers. It links that work to housing</a:t>
            </a:r>
          </a:p>
          <a:p>
            <a:pPr>
              <a:lnSpc>
                <a:spcPts val="2196"/>
              </a:lnSpc>
              <a:spcBef>
                <a:spcPts val="0"/>
              </a:spcBef>
              <a:spcAft>
                <a:spcPts val="0"/>
              </a:spcAft>
            </a:pPr>
            <a:r>
              <a:rPr sz="1800" b="0" i="0">
                <a:solidFill>
                  <a:srgbClr val="183A32"/>
                </a:solidFill>
                <a:latin typeface="Times New Roman"/>
              </a:rPr>
              <a:t>products at different price points and a shift toward</a:t>
            </a:r>
          </a:p>
          <a:p>
            <a:pPr>
              <a:lnSpc>
                <a:spcPts val="2196"/>
              </a:lnSpc>
              <a:spcBef>
                <a:spcPts val="0"/>
              </a:spcBef>
              <a:spcAft>
                <a:spcPts val="0"/>
              </a:spcAft>
            </a:pPr>
            <a:r>
              <a:rPr sz="1800" b="0" i="0">
                <a:solidFill>
                  <a:srgbClr val="183A32"/>
                </a:solidFill>
                <a:latin typeface="Times New Roman"/>
              </a:rPr>
              <a:t>community-oriented living environments.</a:t>
            </a:r>
          </a:p>
        </p:txBody>
      </p:sp>
      <p:sp>
        <p:nvSpPr>
          <p:cNvPr id="14" name="TextBox 13"/>
          <p:cNvSpPr txBox="1"/>
          <p:nvPr/>
        </p:nvSpPr>
        <p:spPr>
          <a:xfrm>
            <a:off x="685800" y="4006342"/>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XYZ Livin was presented at approximately</a:t>
            </a:r>
          </a:p>
          <a:p>
            <a:pPr>
              <a:lnSpc>
                <a:spcPts val="2196"/>
              </a:lnSpc>
              <a:spcBef>
                <a:spcPts val="0"/>
              </a:spcBef>
              <a:spcAft>
                <a:spcPts val="0"/>
              </a:spcAft>
            </a:pPr>
            <a:r>
              <a:rPr sz="1800" b="0" i="0">
                <a:solidFill>
                  <a:srgbClr val="183A32"/>
                </a:solidFill>
                <a:latin typeface="Times New Roman"/>
              </a:rPr>
              <a:t>Rp300–600 million, targeting young families and</a:t>
            </a:r>
          </a:p>
          <a:p>
            <a:pPr>
              <a:lnSpc>
                <a:spcPts val="2196"/>
              </a:lnSpc>
              <a:spcBef>
                <a:spcPts val="0"/>
              </a:spcBef>
              <a:spcAft>
                <a:spcPts val="0"/>
              </a:spcAft>
            </a:pPr>
            <a:r>
              <a:rPr sz="1800" b="0" i="0">
                <a:solidFill>
                  <a:srgbClr val="183A32"/>
                </a:solidFill>
                <a:latin typeface="Times New Roman"/>
              </a:rPr>
              <a:t>professionals. These were historical disclosed prices.</a:t>
            </a:r>
          </a:p>
          <a:p>
            <a:pPr>
              <a:lnSpc>
                <a:spcPts val="2196"/>
              </a:lnSpc>
              <a:spcBef>
                <a:spcPts val="0"/>
              </a:spcBef>
              <a:spcAft>
                <a:spcPts val="0"/>
              </a:spcAft>
            </a:pPr>
            <a:r>
              <a:rPr sz="1800" b="0" i="0">
                <a:solidFill>
                  <a:srgbClr val="183A32"/>
                </a:solidFill>
                <a:latin typeface="Times New Roman"/>
              </a:rPr>
              <a:t>Source: Lippo’s product-research and XYZ Livin</a:t>
            </a:r>
          </a:p>
          <a:p>
            <a:pPr>
              <a:lnSpc>
                <a:spcPts val="2196"/>
              </a:lnSpc>
              <a:spcBef>
                <a:spcPts val="0"/>
              </a:spcBef>
              <a:spcAft>
                <a:spcPts val="0"/>
              </a:spcAft>
            </a:pPr>
            <a:r>
              <a:rPr sz="1800" b="0" i="0">
                <a:solidFill>
                  <a:srgbClr val="183A32"/>
                </a:solidFill>
                <a:latin typeface="Times New Roman"/>
              </a:rPr>
              <a:t>discussion.</a:t>
            </a:r>
          </a:p>
        </p:txBody>
      </p:sp>
      <p:sp>
        <p:nvSpPr>
          <p:cNvPr id="15" name="TextBox 14"/>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6" name="TextBox 15"/>
          <p:cNvSpPr txBox="1"/>
          <p:nvPr/>
        </p:nvSpPr>
        <p:spPr>
          <a:xfrm>
            <a:off x="6400800" y="243357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Product-series identities allow the developer to</a:t>
            </a:r>
          </a:p>
          <a:p>
            <a:pPr>
              <a:lnSpc>
                <a:spcPts val="2196"/>
              </a:lnSpc>
              <a:spcBef>
                <a:spcPts val="0"/>
              </a:spcBef>
              <a:spcAft>
                <a:spcPts val="0"/>
              </a:spcAft>
            </a:pPr>
            <a:r>
              <a:rPr sz="1800" b="0" i="0">
                <a:solidFill>
                  <a:srgbClr val="183A32"/>
                </a:solidFill>
                <a:latin typeface="Times New Roman"/>
              </a:rPr>
              <a:t>communicate different combinations of affordability,</a:t>
            </a:r>
          </a:p>
          <a:p>
            <a:pPr>
              <a:lnSpc>
                <a:spcPts val="2196"/>
              </a:lnSpc>
              <a:spcBef>
                <a:spcPts val="0"/>
              </a:spcBef>
              <a:spcAft>
                <a:spcPts val="0"/>
              </a:spcAft>
            </a:pPr>
            <a:r>
              <a:rPr sz="1800" b="0" i="0">
                <a:solidFill>
                  <a:srgbClr val="183A32"/>
                </a:solidFill>
                <a:latin typeface="Times New Roman"/>
              </a:rPr>
              <a:t>layout, functionality, and aspiration within a larger</a:t>
            </a:r>
          </a:p>
          <a:p>
            <a:pPr>
              <a:lnSpc>
                <a:spcPts val="2196"/>
              </a:lnSpc>
              <a:spcBef>
                <a:spcPts val="0"/>
              </a:spcBef>
              <a:spcAft>
                <a:spcPts val="0"/>
              </a:spcAft>
            </a:pPr>
            <a:r>
              <a:rPr sz="1800" b="0" i="0">
                <a:solidFill>
                  <a:srgbClr val="183A32"/>
                </a:solidFill>
                <a:latin typeface="Times New Roman"/>
              </a:rPr>
              <a:t>township.</a:t>
            </a:r>
          </a:p>
        </p:txBody>
      </p:sp>
      <p:sp>
        <p:nvSpPr>
          <p:cNvPr id="17" name="TextBox 16"/>
          <p:cNvSpPr txBox="1"/>
          <p:nvPr/>
        </p:nvSpPr>
        <p:spPr>
          <a:xfrm>
            <a:off x="6400800" y="3754882"/>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MECHANISM</a:t>
            </a:r>
          </a:p>
        </p:txBody>
      </p:sp>
      <p:sp>
        <p:nvSpPr>
          <p:cNvPr id="18" name="TextBox 17"/>
          <p:cNvSpPr txBox="1"/>
          <p:nvPr/>
        </p:nvSpPr>
        <p:spPr>
          <a:xfrm>
            <a:off x="6400800" y="4076191"/>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strategic sequence is:</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115–116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Changing the product to reach a different customer</a:t>
            </a:r>
          </a:p>
        </p:txBody>
      </p:sp>
      <p:sp>
        <p:nvSpPr>
          <p:cNvPr id="11" name="Rectangle 10"/>
          <p:cNvSpPr/>
          <p:nvPr/>
        </p:nvSpPr>
        <p:spPr>
          <a:xfrm>
            <a:off x="685800"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231136"/>
            <a:ext cx="2327148" cy="477773"/>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Understand purchasing</a:t>
            </a:r>
          </a:p>
          <a:p>
            <a:pPr>
              <a:lnSpc>
                <a:spcPts val="1647"/>
              </a:lnSpc>
              <a:spcBef>
                <a:spcPts val="0"/>
              </a:spcBef>
              <a:spcAft>
                <a:spcPts val="0"/>
              </a:spcAft>
            </a:pPr>
            <a:r>
              <a:rPr sz="1350" b="0" i="0">
                <a:solidFill>
                  <a:srgbClr val="F6F2E9"/>
                </a:solidFill>
                <a:latin typeface="Arial"/>
              </a:rPr>
              <a:t>capacity</a:t>
            </a:r>
          </a:p>
        </p:txBody>
      </p:sp>
      <p:sp>
        <p:nvSpPr>
          <p:cNvPr id="13" name="TextBox 12"/>
          <p:cNvSpPr txBox="1"/>
          <p:nvPr/>
        </p:nvSpPr>
        <p:spPr>
          <a:xfrm>
            <a:off x="3282696"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4" name="Rectangle 13"/>
          <p:cNvSpPr/>
          <p:nvPr/>
        </p:nvSpPr>
        <p:spPr>
          <a:xfrm>
            <a:off x="3433572"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3300" y="2231136"/>
            <a:ext cx="2327148"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redesign the product</a:t>
            </a:r>
          </a:p>
        </p:txBody>
      </p:sp>
      <p:sp>
        <p:nvSpPr>
          <p:cNvPr id="16" name="TextBox 15"/>
          <p:cNvSpPr txBox="1"/>
          <p:nvPr/>
        </p:nvSpPr>
        <p:spPr>
          <a:xfrm>
            <a:off x="6030468"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7" name="Rectangle 16"/>
          <p:cNvSpPr/>
          <p:nvPr/>
        </p:nvSpPr>
        <p:spPr>
          <a:xfrm>
            <a:off x="6181344"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1072" y="2231136"/>
            <a:ext cx="2327148" cy="477773"/>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define the relevant lifestyle</a:t>
            </a:r>
          </a:p>
          <a:p>
            <a:pPr>
              <a:lnSpc>
                <a:spcPts val="1647"/>
              </a:lnSpc>
              <a:spcBef>
                <a:spcPts val="0"/>
              </a:spcBef>
              <a:spcAft>
                <a:spcPts val="0"/>
              </a:spcAft>
            </a:pPr>
            <a:r>
              <a:rPr sz="1350" b="0" i="0">
                <a:solidFill>
                  <a:srgbClr val="F6F2E9"/>
                </a:solidFill>
                <a:latin typeface="Arial"/>
              </a:rPr>
              <a:t>proposition</a:t>
            </a:r>
          </a:p>
        </p:txBody>
      </p:sp>
      <p:sp>
        <p:nvSpPr>
          <p:cNvPr id="19" name="TextBox 18"/>
          <p:cNvSpPr txBox="1"/>
          <p:nvPr/>
        </p:nvSpPr>
        <p:spPr>
          <a:xfrm>
            <a:off x="8778240"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20" name="Rectangle 19"/>
          <p:cNvSpPr/>
          <p:nvPr/>
        </p:nvSpPr>
        <p:spPr>
          <a:xfrm>
            <a:off x="8929116"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8844" y="2231136"/>
            <a:ext cx="2327148"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organise financing and selling.</a:t>
            </a:r>
          </a:p>
        </p:txBody>
      </p:sp>
      <p:sp>
        <p:nvSpPr>
          <p:cNvPr id="22" name="TextBox 21"/>
          <p:cNvSpPr txBox="1"/>
          <p:nvPr/>
        </p:nvSpPr>
        <p:spPr>
          <a:xfrm>
            <a:off x="685800" y="322783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This is more consequential than applying a youthful campaign to an unchanged, unaffordable house.</a:t>
            </a:r>
          </a:p>
        </p:txBody>
      </p:sp>
      <p:sp>
        <p:nvSpPr>
          <p:cNvPr id="23" name="TextBox 22"/>
          <p:cNvSpPr txBox="1"/>
          <p:nvPr/>
        </p:nvSpPr>
        <p:spPr>
          <a:xfrm>
            <a:off x="685800" y="37124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IT CAN BE EFFECTIVE</a:t>
            </a:r>
          </a:p>
        </p:txBody>
      </p:sp>
      <p:sp>
        <p:nvSpPr>
          <p:cNvPr id="24" name="TextBox 23"/>
          <p:cNvSpPr txBox="1"/>
          <p:nvPr/>
        </p:nvSpPr>
        <p:spPr>
          <a:xfrm>
            <a:off x="685800" y="4033773"/>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lower total ticket can expand the pool of eligible buyers. Functional design can help smaller homes remain</a:t>
            </a:r>
          </a:p>
          <a:p>
            <a:pPr>
              <a:lnSpc>
                <a:spcPts val="2196"/>
              </a:lnSpc>
              <a:spcBef>
                <a:spcPts val="0"/>
              </a:spcBef>
              <a:spcAft>
                <a:spcPts val="0"/>
              </a:spcAft>
            </a:pPr>
            <a:r>
              <a:rPr sz="1800" b="0" i="0">
                <a:solidFill>
                  <a:srgbClr val="183A32"/>
                </a:solidFill>
                <a:latin typeface="Times New Roman"/>
              </a:rPr>
              <a:t>desirable.</a:t>
            </a:r>
          </a:p>
        </p:txBody>
      </p:sp>
      <p:sp>
        <p:nvSpPr>
          <p:cNvPr id="25" name="Rectangle 24"/>
          <p:cNvSpPr/>
          <p:nvPr/>
        </p:nvSpPr>
        <p:spPr>
          <a:xfrm>
            <a:off x="685800" y="4769865"/>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4769865"/>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 y="4852161"/>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trade-off</a:t>
            </a:r>
          </a:p>
        </p:txBody>
      </p:sp>
      <p:sp>
        <p:nvSpPr>
          <p:cNvPr id="28" name="TextBox 2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D05.3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115–116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Changing the product to reach a different customer</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Lower ticket prices must still support adequate margins, acceptable living quality, and manageable infrastructure</a:t>
            </a:r>
          </a:p>
          <a:p>
            <a:pPr>
              <a:lnSpc>
                <a:spcPts val="2196"/>
              </a:lnSpc>
              <a:spcBef>
                <a:spcPts val="0"/>
              </a:spcBef>
              <a:spcAft>
                <a:spcPts val="0"/>
              </a:spcAft>
            </a:pPr>
            <a:r>
              <a:rPr sz="1800" b="0" i="0">
                <a:solidFill>
                  <a:srgbClr val="183A32"/>
                </a:solidFill>
                <a:latin typeface="Times New Roman"/>
              </a:rPr>
              <a:t>costs per unit.</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116–117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271</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Turning an affordable proposition into a repeatable</a:t>
            </a:r>
          </a:p>
          <a:p>
            <a:pPr>
              <a:lnSpc>
                <a:spcPts val="3502"/>
              </a:lnSpc>
              <a:spcBef>
                <a:spcPts val="0"/>
              </a:spcBef>
              <a:spcAft>
                <a:spcPts val="0"/>
              </a:spcAft>
            </a:pPr>
            <a:r>
              <a:rPr sz="3100" b="0" i="0">
                <a:solidFill>
                  <a:srgbClr val="153F35"/>
                </a:solidFill>
                <a:latin typeface="Arial"/>
              </a:rPr>
              <a:t>launch system</a:t>
            </a:r>
          </a:p>
        </p:txBody>
      </p:sp>
      <p:cxnSp>
        <p:nvCxnSpPr>
          <p:cNvPr id="11" name="Connector 10"/>
          <p:cNvCxnSpPr/>
          <p:nvPr/>
        </p:nvCxnSpPr>
        <p:spPr>
          <a:xfrm>
            <a:off x="6062472" y="2169921"/>
            <a:ext cx="0" cy="316458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RESULTS</a:t>
            </a:r>
          </a:p>
        </p:txBody>
      </p:sp>
      <p:sp>
        <p:nvSpPr>
          <p:cNvPr id="13" name="TextBox 12"/>
          <p:cNvSpPr txBox="1"/>
          <p:nvPr/>
        </p:nvSpPr>
        <p:spPr>
          <a:xfrm>
            <a:off x="685800" y="251866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LPKR reported FY2024 marketing sales of</a:t>
            </a:r>
          </a:p>
          <a:p>
            <a:pPr>
              <a:lnSpc>
                <a:spcPts val="2196"/>
              </a:lnSpc>
              <a:spcBef>
                <a:spcPts val="0"/>
              </a:spcBef>
              <a:spcAft>
                <a:spcPts val="0"/>
              </a:spcAft>
            </a:pPr>
            <a:r>
              <a:rPr sz="1800" b="0" i="0">
                <a:solidFill>
                  <a:srgbClr val="183A32"/>
                </a:solidFill>
                <a:latin typeface="Times New Roman"/>
              </a:rPr>
              <a:t>approximately Rp6.01 trillion, up 17%, with residential</a:t>
            </a:r>
          </a:p>
          <a:p>
            <a:pPr>
              <a:lnSpc>
                <a:spcPts val="2196"/>
              </a:lnSpc>
              <a:spcBef>
                <a:spcPts val="0"/>
              </a:spcBef>
              <a:spcAft>
                <a:spcPts val="0"/>
              </a:spcAft>
            </a:pPr>
            <a:r>
              <a:rPr sz="1800" b="0" i="0">
                <a:solidFill>
                  <a:srgbClr val="183A32"/>
                </a:solidFill>
                <a:latin typeface="Times New Roman"/>
              </a:rPr>
              <a:t>products contributing 64%. It identified continuing</a:t>
            </a:r>
          </a:p>
          <a:p>
            <a:pPr>
              <a:lnSpc>
                <a:spcPts val="2196"/>
              </a:lnSpc>
              <a:spcBef>
                <a:spcPts val="0"/>
              </a:spcBef>
              <a:spcAft>
                <a:spcPts val="0"/>
              </a:spcAft>
            </a:pPr>
            <a:r>
              <a:rPr sz="1800" b="0" i="0">
                <a:solidFill>
                  <a:srgbClr val="183A32"/>
                </a:solidFill>
                <a:latin typeface="Times New Roman"/>
              </a:rPr>
              <a:t>demand for earlier housing series and contributions</a:t>
            </a:r>
          </a:p>
          <a:p>
            <a:pPr>
              <a:lnSpc>
                <a:spcPts val="2196"/>
              </a:lnSpc>
              <a:spcBef>
                <a:spcPts val="0"/>
              </a:spcBef>
              <a:spcAft>
                <a:spcPts val="0"/>
              </a:spcAft>
            </a:pPr>
            <a:r>
              <a:rPr sz="1800" b="0" i="0">
                <a:solidFill>
                  <a:srgbClr val="183A32"/>
                </a:solidFill>
                <a:latin typeface="Times New Roman"/>
              </a:rPr>
              <a:t>from subsequent launches.</a:t>
            </a:r>
          </a:p>
        </p:txBody>
      </p:sp>
      <p:sp>
        <p:nvSpPr>
          <p:cNvPr id="14" name="TextBox 13"/>
          <p:cNvSpPr txBox="1"/>
          <p:nvPr/>
        </p:nvSpPr>
        <p:spPr>
          <a:xfrm>
            <a:off x="685800" y="40914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company also reported that first-stage Park</a:t>
            </a:r>
          </a:p>
          <a:p>
            <a:pPr>
              <a:lnSpc>
                <a:spcPts val="2196"/>
              </a:lnSpc>
              <a:spcBef>
                <a:spcPts val="0"/>
              </a:spcBef>
              <a:spcAft>
                <a:spcPts val="0"/>
              </a:spcAft>
            </a:pPr>
            <a:r>
              <a:rPr sz="1800" b="0" i="0">
                <a:solidFill>
                  <a:srgbClr val="183A32"/>
                </a:solidFill>
                <a:latin typeface="Times New Roman"/>
              </a:rPr>
              <a:t>Serpong handovers began in November 2024, within</a:t>
            </a:r>
          </a:p>
          <a:p>
            <a:pPr>
              <a:lnSpc>
                <a:spcPts val="2196"/>
              </a:lnSpc>
              <a:spcBef>
                <a:spcPts val="0"/>
              </a:spcBef>
              <a:spcAft>
                <a:spcPts val="0"/>
              </a:spcAft>
            </a:pPr>
            <a:r>
              <a:rPr sz="1800" b="0" i="0">
                <a:solidFill>
                  <a:srgbClr val="183A32"/>
                </a:solidFill>
                <a:latin typeface="Times New Roman"/>
              </a:rPr>
              <a:t>less than 18 months. These are issuer-reported results.</a:t>
            </a:r>
          </a:p>
          <a:p>
            <a:pPr>
              <a:lnSpc>
                <a:spcPts val="2196"/>
              </a:lnSpc>
              <a:spcBef>
                <a:spcPts val="0"/>
              </a:spcBef>
              <a:spcAft>
                <a:spcPts val="0"/>
              </a:spcAft>
            </a:pPr>
            <a:r>
              <a:rPr sz="1800" b="0" i="0">
                <a:solidFill>
                  <a:srgbClr val="183A32"/>
                </a:solidFill>
                <a:latin typeface="Times New Roman"/>
              </a:rPr>
              <a:t>Source: LPKR’s March 2025 sales announcement.</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6" name="Rectangle 15"/>
          <p:cNvSpPr/>
          <p:nvPr/>
        </p:nvSpPr>
        <p:spPr>
          <a:xfrm>
            <a:off x="6400800" y="261010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251866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 recognisable product family reduces the need</a:t>
            </a:r>
          </a:p>
          <a:p>
            <a:pPr>
              <a:lnSpc>
                <a:spcPts val="2135"/>
              </a:lnSpc>
              <a:spcBef>
                <a:spcPts val="0"/>
              </a:spcBef>
              <a:spcAft>
                <a:spcPts val="0"/>
              </a:spcAft>
            </a:pPr>
            <a:r>
              <a:rPr sz="1750" b="0" i="0">
                <a:solidFill>
                  <a:srgbClr val="183A32"/>
                </a:solidFill>
                <a:latin typeface="Arial"/>
              </a:rPr>
              <a:t>to explain every new release from zero.</a:t>
            </a:r>
          </a:p>
        </p:txBody>
      </p:sp>
      <p:sp>
        <p:nvSpPr>
          <p:cNvPr id="18" name="Rectangle 17"/>
          <p:cNvSpPr/>
          <p:nvPr/>
        </p:nvSpPr>
        <p:spPr>
          <a:xfrm>
            <a:off x="6400800" y="333070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23926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Multiple formats provide a price and functionality</a:t>
            </a:r>
          </a:p>
          <a:p>
            <a:pPr>
              <a:lnSpc>
                <a:spcPts val="2135"/>
              </a:lnSpc>
              <a:spcBef>
                <a:spcPts val="0"/>
              </a:spcBef>
              <a:spcAft>
                <a:spcPts val="0"/>
              </a:spcAft>
            </a:pPr>
            <a:r>
              <a:rPr sz="1750" b="0" i="0">
                <a:solidFill>
                  <a:srgbClr val="183A32"/>
                </a:solidFill>
                <a:latin typeface="Arial"/>
              </a:rPr>
              <a:t>ladder.</a:t>
            </a:r>
          </a:p>
        </p:txBody>
      </p:sp>
      <p:sp>
        <p:nvSpPr>
          <p:cNvPr id="20" name="Rectangle 19"/>
          <p:cNvSpPr/>
          <p:nvPr/>
        </p:nvSpPr>
        <p:spPr>
          <a:xfrm>
            <a:off x="6400800" y="405129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3959859"/>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Successive phases let the developer respond to</a:t>
            </a:r>
          </a:p>
          <a:p>
            <a:pPr>
              <a:lnSpc>
                <a:spcPts val="2135"/>
              </a:lnSpc>
              <a:spcBef>
                <a:spcPts val="0"/>
              </a:spcBef>
              <a:spcAft>
                <a:spcPts val="0"/>
              </a:spcAft>
            </a:pPr>
            <a:r>
              <a:rPr sz="1750" b="0" i="0">
                <a:solidFill>
                  <a:srgbClr val="183A32"/>
                </a:solidFill>
                <a:latin typeface="Arial"/>
              </a:rPr>
              <a:t>demand.</a:t>
            </a:r>
          </a:p>
        </p:txBody>
      </p:sp>
      <p:sp>
        <p:nvSpPr>
          <p:cNvPr id="22" name="TextBox 2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116–117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272</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Turning an affordable proposition into a repeatable</a:t>
            </a:r>
          </a:p>
          <a:p>
            <a:pPr>
              <a:lnSpc>
                <a:spcPts val="3502"/>
              </a:lnSpc>
              <a:spcBef>
                <a:spcPts val="0"/>
              </a:spcBef>
              <a:spcAft>
                <a:spcPts val="0"/>
              </a:spcAft>
            </a:pPr>
            <a:r>
              <a:rPr sz="3100" b="0" i="0">
                <a:solidFill>
                  <a:srgbClr val="153F35"/>
                </a:solidFill>
                <a:latin typeface="Arial"/>
              </a:rPr>
              <a:t>launch system</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Visible delivery gives later buyers evidence beyond renderings.</a:t>
            </a:r>
          </a:p>
        </p:txBody>
      </p:sp>
      <p:sp>
        <p:nvSpPr>
          <p:cNvPr id="13" name="TextBox 12"/>
          <p:cNvSpPr txBox="1"/>
          <p:nvPr/>
        </p:nvSpPr>
        <p:spPr>
          <a:xfrm>
            <a:off x="685800" y="264680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WHAT THE EVIDENCE DOES NOT ESTABLISH</a:t>
            </a:r>
          </a:p>
        </p:txBody>
      </p:sp>
      <p:sp>
        <p:nvSpPr>
          <p:cNvPr id="14" name="TextBox 13"/>
          <p:cNvSpPr txBox="1"/>
          <p:nvPr/>
        </p:nvSpPr>
        <p:spPr>
          <a:xfrm>
            <a:off x="685800" y="2968117"/>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 does not isolate the contribution of naming, digital advertising, affordability, financing, or broader market</a:t>
            </a:r>
          </a:p>
          <a:p>
            <a:pPr>
              <a:lnSpc>
                <a:spcPts val="2196"/>
              </a:lnSpc>
              <a:spcBef>
                <a:spcPts val="0"/>
              </a:spcBef>
              <a:spcAft>
                <a:spcPts val="0"/>
              </a:spcAft>
            </a:pPr>
            <a:r>
              <a:rPr sz="1800" b="0" i="0">
                <a:solidFill>
                  <a:srgbClr val="183A32"/>
                </a:solidFill>
                <a:latin typeface="Times New Roman"/>
              </a:rPr>
              <a:t>conditions.</a:t>
            </a:r>
          </a:p>
        </p:txBody>
      </p:sp>
      <p:sp>
        <p:nvSpPr>
          <p:cNvPr id="15" name="TextBox 14"/>
          <p:cNvSpPr txBox="1"/>
          <p:nvPr/>
        </p:nvSpPr>
        <p:spPr>
          <a:xfrm>
            <a:off x="685800" y="373164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6" name="TextBox 15"/>
          <p:cNvSpPr txBox="1"/>
          <p:nvPr/>
        </p:nvSpPr>
        <p:spPr>
          <a:xfrm>
            <a:off x="685800" y="4052950"/>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Sidoarjo, define specific household segments and their payment capacity before deciding the product range.</a:t>
            </a:r>
          </a:p>
          <a:p>
            <a:pPr>
              <a:lnSpc>
                <a:spcPts val="2196"/>
              </a:lnSpc>
              <a:spcBef>
                <a:spcPts val="0"/>
              </a:spcBef>
              <a:spcAft>
                <a:spcPts val="0"/>
              </a:spcAft>
            </a:pPr>
            <a:r>
              <a:rPr sz="1800" b="0" i="0">
                <a:solidFill>
                  <a:srgbClr val="183A32"/>
                </a:solidFill>
                <a:latin typeface="Times New Roman"/>
              </a:rPr>
              <a:t>Validate whether the preferred format meets both customer needs and project economics.</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117–118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Using the brand to acquire business opportunities</a:t>
            </a:r>
          </a:p>
        </p:txBody>
      </p:sp>
      <p:cxnSp>
        <p:nvCxnSpPr>
          <p:cNvPr id="11" name="Connector 10"/>
          <p:cNvCxnSpPr/>
          <p:nvPr/>
        </p:nvCxnSpPr>
        <p:spPr>
          <a:xfrm>
            <a:off x="6062472" y="2084831"/>
            <a:ext cx="0" cy="3164586"/>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BUSINESS STRATEGY</a:t>
            </a:r>
          </a:p>
        </p:txBody>
      </p:sp>
      <p:sp>
        <p:nvSpPr>
          <p:cNvPr id="13" name="TextBox 12"/>
          <p:cNvSpPr txBox="1"/>
          <p:nvPr/>
        </p:nvSpPr>
        <p:spPr>
          <a:xfrm>
            <a:off x="685800" y="243357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Ciputra’s 2025 reporting describes joint operations,</a:t>
            </a:r>
          </a:p>
          <a:p>
            <a:pPr>
              <a:lnSpc>
                <a:spcPts val="2196"/>
              </a:lnSpc>
              <a:spcBef>
                <a:spcPts val="0"/>
              </a:spcBef>
              <a:spcAft>
                <a:spcPts val="0"/>
              </a:spcAft>
            </a:pPr>
            <a:r>
              <a:rPr sz="1800" b="0" i="0">
                <a:solidFill>
                  <a:srgbClr val="183A32"/>
                </a:solidFill>
                <a:latin typeface="Times New Roman"/>
              </a:rPr>
              <a:t>joint ventures, and strategic partnerships. Partners</a:t>
            </a:r>
          </a:p>
          <a:p>
            <a:pPr>
              <a:lnSpc>
                <a:spcPts val="2196"/>
              </a:lnSpc>
              <a:spcBef>
                <a:spcPts val="0"/>
              </a:spcBef>
              <a:spcAft>
                <a:spcPts val="0"/>
              </a:spcAft>
            </a:pPr>
            <a:r>
              <a:rPr sz="1800" b="0" i="0">
                <a:solidFill>
                  <a:srgbClr val="183A32"/>
                </a:solidFill>
                <a:latin typeface="Times New Roman"/>
              </a:rPr>
              <a:t>generally contribute land, while Ciputra provides</a:t>
            </a:r>
          </a:p>
          <a:p>
            <a:pPr>
              <a:lnSpc>
                <a:spcPts val="2196"/>
              </a:lnSpc>
              <a:spcBef>
                <a:spcPts val="0"/>
              </a:spcBef>
              <a:spcAft>
                <a:spcPts val="0"/>
              </a:spcAft>
            </a:pPr>
            <a:r>
              <a:rPr sz="1800" b="0" i="0">
                <a:solidFill>
                  <a:srgbClr val="183A32"/>
                </a:solidFill>
                <a:latin typeface="Times New Roman"/>
              </a:rPr>
              <a:t>planning, construction, marketing, and sales</a:t>
            </a:r>
          </a:p>
          <a:p>
            <a:pPr>
              <a:lnSpc>
                <a:spcPts val="2196"/>
              </a:lnSpc>
              <a:spcBef>
                <a:spcPts val="0"/>
              </a:spcBef>
              <a:spcAft>
                <a:spcPts val="0"/>
              </a:spcAft>
            </a:pPr>
            <a:r>
              <a:rPr sz="1800" b="0" i="0">
                <a:solidFill>
                  <a:srgbClr val="183A32"/>
                </a:solidFill>
                <a:latin typeface="Times New Roman"/>
              </a:rPr>
              <a:t>capabilities.</a:t>
            </a:r>
          </a:p>
        </p:txBody>
      </p:sp>
      <p:sp>
        <p:nvSpPr>
          <p:cNvPr id="14" name="TextBox 13"/>
          <p:cNvSpPr txBox="1"/>
          <p:nvPr/>
        </p:nvSpPr>
        <p:spPr>
          <a:xfrm>
            <a:off x="685800" y="4006342"/>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Its investor presentation explicitly connects continued</a:t>
            </a:r>
          </a:p>
          <a:p>
            <a:pPr>
              <a:lnSpc>
                <a:spcPts val="2196"/>
              </a:lnSpc>
              <a:spcBef>
                <a:spcPts val="0"/>
              </a:spcBef>
              <a:spcAft>
                <a:spcPts val="0"/>
              </a:spcAft>
            </a:pPr>
            <a:r>
              <a:rPr sz="1800" b="0" i="0">
                <a:solidFill>
                  <a:srgbClr val="183A32"/>
                </a:solidFill>
                <a:latin typeface="Times New Roman"/>
              </a:rPr>
              <a:t>joint-operation schemes with leveraging Ciputra brand</a:t>
            </a:r>
          </a:p>
          <a:p>
            <a:pPr>
              <a:lnSpc>
                <a:spcPts val="2196"/>
              </a:lnSpc>
              <a:spcBef>
                <a:spcPts val="0"/>
              </a:spcBef>
              <a:spcAft>
                <a:spcPts val="0"/>
              </a:spcAft>
            </a:pPr>
            <a:r>
              <a:rPr sz="1800" b="0" i="0">
                <a:solidFill>
                  <a:srgbClr val="183A32"/>
                </a:solidFill>
                <a:latin typeface="Times New Roman"/>
              </a:rPr>
              <a:t>equity. Sources: 2025 annual report, joint operations,</a:t>
            </a:r>
          </a:p>
          <a:p>
            <a:pPr>
              <a:lnSpc>
                <a:spcPts val="2196"/>
              </a:lnSpc>
              <a:spcBef>
                <a:spcPts val="0"/>
              </a:spcBef>
              <a:spcAft>
                <a:spcPts val="0"/>
              </a:spcAft>
            </a:pPr>
            <a:r>
              <a:rPr sz="1800" b="0" i="0">
                <a:solidFill>
                  <a:srgbClr val="183A32"/>
                </a:solidFill>
                <a:latin typeface="Times New Roman"/>
              </a:rPr>
              <a:t>growth-strategy presentation.</a:t>
            </a:r>
          </a:p>
        </p:txBody>
      </p:sp>
      <p:sp>
        <p:nvSpPr>
          <p:cNvPr id="15" name="TextBox 14"/>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6" name="TextBox 15"/>
          <p:cNvSpPr txBox="1"/>
          <p:nvPr/>
        </p:nvSpPr>
        <p:spPr>
          <a:xfrm>
            <a:off x="6400800" y="2433574"/>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brand serves two customers:</a:t>
            </a:r>
          </a:p>
        </p:txBody>
      </p:sp>
      <p:sp>
        <p:nvSpPr>
          <p:cNvPr id="17" name="Rectangle 16"/>
          <p:cNvSpPr/>
          <p:nvPr/>
        </p:nvSpPr>
        <p:spPr>
          <a:xfrm>
            <a:off x="6400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2890774"/>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Homebuyers: Confidence in the development.</a:t>
            </a:r>
          </a:p>
        </p:txBody>
      </p:sp>
      <p:sp>
        <p:nvSpPr>
          <p:cNvPr id="19" name="Rectangle 18"/>
          <p:cNvSpPr/>
          <p:nvPr/>
        </p:nvSpPr>
        <p:spPr>
          <a:xfrm>
            <a:off x="6400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3402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Landowners: Confidence that the developer can</a:t>
            </a:r>
          </a:p>
          <a:p>
            <a:pPr>
              <a:lnSpc>
                <a:spcPts val="2135"/>
              </a:lnSpc>
              <a:spcBef>
                <a:spcPts val="0"/>
              </a:spcBef>
              <a:spcAft>
                <a:spcPts val="0"/>
              </a:spcAft>
            </a:pPr>
            <a:r>
              <a:rPr sz="1750" b="0" i="0">
                <a:solidFill>
                  <a:srgbClr val="183A32"/>
                </a:solidFill>
                <a:latin typeface="Arial"/>
              </a:rPr>
              <a:t>turn land into a commercially viable project.</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117–118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Why this is strategically powerful</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Reputation can improve access to opportunities, not only sales conversion.</a:t>
            </a:r>
          </a:p>
        </p:txBody>
      </p:sp>
      <p:sp>
        <p:nvSpPr>
          <p:cNvPr id="12" name="TextBox 11"/>
          <p:cNvSpPr txBox="1"/>
          <p:nvPr/>
        </p:nvSpPr>
        <p:spPr>
          <a:xfrm>
            <a:off x="685800" y="254203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landowner with limited development capability may value a partner that can organise design, permissions,</a:t>
            </a:r>
          </a:p>
          <a:p>
            <a:pPr>
              <a:lnSpc>
                <a:spcPts val="2196"/>
              </a:lnSpc>
              <a:spcBef>
                <a:spcPts val="0"/>
              </a:spcBef>
              <a:spcAft>
                <a:spcPts val="0"/>
              </a:spcAft>
            </a:pPr>
            <a:r>
              <a:rPr sz="1800" b="0" i="0">
                <a:solidFill>
                  <a:srgbClr val="183A32"/>
                </a:solidFill>
                <a:latin typeface="Times New Roman"/>
              </a:rPr>
              <a:t>construction, selling, and delivery.</a:t>
            </a:r>
          </a:p>
        </p:txBody>
      </p:sp>
      <p:sp>
        <p:nvSpPr>
          <p:cNvPr id="13" name="TextBox 12"/>
          <p:cNvSpPr txBox="1"/>
          <p:nvPr/>
        </p:nvSpPr>
        <p:spPr>
          <a:xfrm>
            <a:off x="685800" y="330555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ECONOMIC MECHANISM</a:t>
            </a:r>
          </a:p>
        </p:txBody>
      </p:sp>
      <p:sp>
        <p:nvSpPr>
          <p:cNvPr id="14" name="TextBox 13"/>
          <p:cNvSpPr txBox="1"/>
          <p:nvPr/>
        </p:nvSpPr>
        <p:spPr>
          <a:xfrm>
            <a:off x="685800" y="362686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Partnerships can reduce the need for outright upfront land acquisition and introduce local knowledge. They do not</a:t>
            </a:r>
          </a:p>
          <a:p>
            <a:pPr>
              <a:lnSpc>
                <a:spcPts val="2196"/>
              </a:lnSpc>
              <a:spcBef>
                <a:spcPts val="0"/>
              </a:spcBef>
              <a:spcAft>
                <a:spcPts val="0"/>
              </a:spcAft>
            </a:pPr>
            <a:r>
              <a:rPr sz="1800" b="0" i="0">
                <a:solidFill>
                  <a:srgbClr val="183A32"/>
                </a:solidFill>
                <a:latin typeface="Times New Roman"/>
              </a:rPr>
              <a:t>eliminate development expenditure, governance risk, or the partner’s share of profits.</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118–119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275</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Standardising capabilities while adapting products</a:t>
            </a:r>
          </a:p>
          <a:p>
            <a:pPr>
              <a:lnSpc>
                <a:spcPts val="3502"/>
              </a:lnSpc>
              <a:spcBef>
                <a:spcPts val="0"/>
              </a:spcBef>
              <a:spcAft>
                <a:spcPts val="0"/>
              </a:spcAft>
            </a:pPr>
            <a:r>
              <a:rPr sz="3100" b="0" i="0">
                <a:solidFill>
                  <a:srgbClr val="153F35"/>
                </a:solidFill>
                <a:latin typeface="Arial"/>
              </a:rPr>
              <a:t>locally</a:t>
            </a:r>
          </a:p>
        </p:txBody>
      </p:sp>
      <p:sp>
        <p:nvSpPr>
          <p:cNvPr id="11" name="TextBox 10"/>
          <p:cNvSpPr txBox="1"/>
          <p:nvPr/>
        </p:nvSpPr>
        <p:spPr>
          <a:xfrm>
            <a:off x="685800" y="219735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STRATEGIC DIRECTION</a:t>
            </a:r>
          </a:p>
        </p:txBody>
      </p:sp>
      <p:sp>
        <p:nvSpPr>
          <p:cNvPr id="12" name="TextBox 11"/>
          <p:cNvSpPr txBox="1"/>
          <p:nvPr/>
        </p:nvSpPr>
        <p:spPr>
          <a:xfrm>
            <a:off x="685800" y="251866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Ciputra’s investor materials combine geographic diversification, continued land replenishment, innovative launches,</a:t>
            </a:r>
          </a:p>
          <a:p>
            <a:pPr>
              <a:lnSpc>
                <a:spcPts val="2196"/>
              </a:lnSpc>
              <a:spcBef>
                <a:spcPts val="0"/>
              </a:spcBef>
              <a:spcAft>
                <a:spcPts val="0"/>
              </a:spcAft>
            </a:pPr>
            <a:r>
              <a:rPr sz="1800" b="0" i="0">
                <a:solidFill>
                  <a:srgbClr val="183A32"/>
                </a:solidFill>
                <a:latin typeface="Times New Roman"/>
              </a:rPr>
              <a:t>complementary amenities, and prudent capital management. Source: Ciputra growth-strategy presentation.</a:t>
            </a:r>
          </a:p>
        </p:txBody>
      </p:sp>
      <p:sp>
        <p:nvSpPr>
          <p:cNvPr id="13" name="TextBox 12"/>
          <p:cNvSpPr txBox="1"/>
          <p:nvPr/>
        </p:nvSpPr>
        <p:spPr>
          <a:xfrm>
            <a:off x="685800" y="328218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HOW THE SYSTEM WORKS — ANALYSIS</a:t>
            </a:r>
          </a:p>
        </p:txBody>
      </p:sp>
      <p:sp>
        <p:nvSpPr>
          <p:cNvPr id="14" name="TextBox 13"/>
          <p:cNvSpPr txBox="1"/>
          <p:nvPr/>
        </p:nvSpPr>
        <p:spPr>
          <a:xfrm>
            <a:off x="685800" y="3603498"/>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replicable component is the development organisation:</a:t>
            </a:r>
          </a:p>
        </p:txBody>
      </p:sp>
      <p:sp>
        <p:nvSpPr>
          <p:cNvPr id="15" name="Rectangle 14"/>
          <p:cNvSpPr/>
          <p:nvPr/>
        </p:nvSpPr>
        <p:spPr>
          <a:xfrm>
            <a:off x="685800" y="415213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406069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Project feasibility.</a:t>
            </a:r>
          </a:p>
        </p:txBody>
      </p:sp>
      <p:sp>
        <p:nvSpPr>
          <p:cNvPr id="17" name="Rectangle 16"/>
          <p:cNvSpPr/>
          <p:nvPr/>
        </p:nvSpPr>
        <p:spPr>
          <a:xfrm>
            <a:off x="685800" y="460159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451015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Design and procurement discipline.</a:t>
            </a:r>
          </a:p>
        </p:txBody>
      </p:sp>
      <p:sp>
        <p:nvSpPr>
          <p:cNvPr id="19" name="Rectangle 18"/>
          <p:cNvSpPr/>
          <p:nvPr/>
        </p:nvSpPr>
        <p:spPr>
          <a:xfrm>
            <a:off x="685800" y="505104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95960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Sales management.</a:t>
            </a:r>
          </a:p>
        </p:txBody>
      </p:sp>
      <p:sp>
        <p:nvSpPr>
          <p:cNvPr id="21" name="Rectangle 20"/>
          <p:cNvSpPr/>
          <p:nvPr/>
        </p:nvSpPr>
        <p:spPr>
          <a:xfrm>
            <a:off x="685800" y="550049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540905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Financial controls.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118–119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Standardising capabilities while adapting products</a:t>
            </a:r>
          </a:p>
          <a:p>
            <a:pPr>
              <a:lnSpc>
                <a:spcPts val="3502"/>
              </a:lnSpc>
              <a:spcBef>
                <a:spcPts val="0"/>
              </a:spcBef>
              <a:spcAft>
                <a:spcPts val="0"/>
              </a:spcAft>
            </a:pPr>
            <a:r>
              <a:rPr sz="3100" b="0" i="0">
                <a:solidFill>
                  <a:srgbClr val="153F35"/>
                </a:solidFill>
                <a:latin typeface="Arial"/>
              </a:rPr>
              <a:t>locally</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Construction and handover processes.</a:t>
            </a:r>
          </a:p>
        </p:txBody>
      </p:sp>
      <p:sp>
        <p:nvSpPr>
          <p:cNvPr id="13" name="TextBox 12"/>
          <p:cNvSpPr txBox="1"/>
          <p:nvPr/>
        </p:nvSpPr>
        <p:spPr>
          <a:xfrm>
            <a:off x="685800" y="26193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locally adaptable component is the customer offer:</a:t>
            </a:r>
          </a:p>
        </p:txBody>
      </p:sp>
      <p:sp>
        <p:nvSpPr>
          <p:cNvPr id="14" name="Rectangle 13"/>
          <p:cNvSpPr/>
          <p:nvPr/>
        </p:nvSpPr>
        <p:spPr>
          <a:xfrm>
            <a:off x="685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076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Price.</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Unit configuration.</a:t>
            </a:r>
          </a:p>
        </p:txBody>
      </p:sp>
      <p:sp>
        <p:nvSpPr>
          <p:cNvPr id="18" name="Rectangle 17"/>
          <p:cNvSpPr/>
          <p:nvPr/>
        </p:nvSpPr>
        <p:spPr>
          <a:xfrm>
            <a:off x="685800" y="4066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975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Release size.</a:t>
            </a:r>
          </a:p>
        </p:txBody>
      </p:sp>
      <p:sp>
        <p:nvSpPr>
          <p:cNvPr id="20" name="Rectangle 19"/>
          <p:cNvSpPr/>
          <p:nvPr/>
        </p:nvSpPr>
        <p:spPr>
          <a:xfrm>
            <a:off x="685800" y="451637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42493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Amenity priorities.</a:t>
            </a:r>
          </a:p>
        </p:txBody>
      </p:sp>
      <p:sp>
        <p:nvSpPr>
          <p:cNvPr id="22" name="Rectangle 21"/>
          <p:cNvSpPr/>
          <p:nvPr/>
        </p:nvSpPr>
        <p:spPr>
          <a:xfrm>
            <a:off x="685800" y="496582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487438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Communication and distribution channels.</a:t>
            </a:r>
          </a:p>
        </p:txBody>
      </p:sp>
      <p:sp>
        <p:nvSpPr>
          <p:cNvPr id="24" name="TextBox 23"/>
          <p:cNvSpPr txBox="1"/>
          <p:nvPr/>
        </p:nvSpPr>
        <p:spPr>
          <a:xfrm>
            <a:off x="685800" y="5351272"/>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CAN BE EFFECTIVE</a:t>
            </a:r>
          </a:p>
        </p:txBody>
      </p:sp>
      <p:sp>
        <p:nvSpPr>
          <p:cNvPr id="25" name="TextBox 24"/>
          <p:cNvSpPr txBox="1"/>
          <p:nvPr/>
        </p:nvSpPr>
        <p:spPr>
          <a:xfrm>
            <a:off x="685800" y="567258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company can reuse operating knowledge without assuming that customers in every city want the same home.</a:t>
            </a:r>
          </a:p>
        </p:txBody>
      </p:sp>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D08.3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118–119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Brand implication</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common development identity provides reassurance; project-level propositions supply local relevance.</a:t>
            </a:r>
          </a:p>
        </p:txBody>
      </p:sp>
      <p:sp>
        <p:nvSpPr>
          <p:cNvPr id="12" name="TextBox 11"/>
          <p:cNvSpPr txBox="1"/>
          <p:nvPr/>
        </p:nvSpPr>
        <p:spPr>
          <a:xfrm>
            <a:off x="685800" y="25694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3" name="TextBox 12"/>
          <p:cNvSpPr txBox="1"/>
          <p:nvPr/>
        </p:nvSpPr>
        <p:spPr>
          <a:xfrm>
            <a:off x="685800" y="28907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Create a repeatable development system before attempting rapid geographic expansion. A landowner-partnership</a:t>
            </a:r>
          </a:p>
          <a:p>
            <a:pPr>
              <a:lnSpc>
                <a:spcPts val="2196"/>
              </a:lnSpc>
              <a:spcBef>
                <a:spcPts val="0"/>
              </a:spcBef>
              <a:spcAft>
                <a:spcPts val="0"/>
              </a:spcAft>
            </a:pPr>
            <a:r>
              <a:rPr sz="1800" b="0" i="0">
                <a:solidFill>
                  <a:srgbClr val="183A32"/>
                </a:solidFill>
                <a:latin typeface="Times New Roman"/>
              </a:rPr>
              <a:t>proposal should specify TANRISE’s capabilities, governance, funding responsibilities, and delivery record.</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119–120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278</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Transferring the reputation of an established</a:t>
            </a:r>
          </a:p>
          <a:p>
            <a:pPr>
              <a:lnSpc>
                <a:spcPts val="3502"/>
              </a:lnSpc>
              <a:spcBef>
                <a:spcPts val="0"/>
              </a:spcBef>
              <a:spcAft>
                <a:spcPts val="0"/>
              </a:spcAft>
            </a:pPr>
            <a:r>
              <a:rPr sz="3100" b="0" i="0">
                <a:solidFill>
                  <a:srgbClr val="153F35"/>
                </a:solidFill>
                <a:latin typeface="Arial"/>
              </a:rPr>
              <a:t>place</a:t>
            </a:r>
          </a:p>
        </p:txBody>
      </p:sp>
      <p:cxnSp>
        <p:nvCxnSpPr>
          <p:cNvPr id="11" name="Connector 10"/>
          <p:cNvCxnSpPr/>
          <p:nvPr/>
        </p:nvCxnSpPr>
        <p:spPr>
          <a:xfrm>
            <a:off x="6062472" y="2169921"/>
            <a:ext cx="0" cy="316458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BRAND EXECUTION</a:t>
            </a:r>
          </a:p>
        </p:txBody>
      </p:sp>
      <p:sp>
        <p:nvSpPr>
          <p:cNvPr id="13" name="TextBox 12"/>
          <p:cNvSpPr txBox="1"/>
          <p:nvPr/>
        </p:nvSpPr>
        <p:spPr>
          <a:xfrm>
            <a:off x="685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Summarecon Crown Gading launched using the theme</a:t>
            </a:r>
          </a:p>
          <a:p>
            <a:pPr>
              <a:lnSpc>
                <a:spcPts val="2196"/>
              </a:lnSpc>
              <a:spcBef>
                <a:spcPts val="0"/>
              </a:spcBef>
              <a:spcAft>
                <a:spcPts val="0"/>
              </a:spcAft>
            </a:pPr>
            <a:r>
              <a:rPr sz="1800" b="0" i="0">
                <a:solidFill>
                  <a:srgbClr val="183A32"/>
                </a:solidFill>
                <a:latin typeface="Times New Roman"/>
              </a:rPr>
              <a:t>“New City, New Kelapa Gading.” The launch</a:t>
            </a:r>
          </a:p>
          <a:p>
            <a:pPr>
              <a:lnSpc>
                <a:spcPts val="2196"/>
              </a:lnSpc>
              <a:spcBef>
                <a:spcPts val="0"/>
              </a:spcBef>
              <a:spcAft>
                <a:spcPts val="0"/>
              </a:spcAft>
            </a:pPr>
            <a:r>
              <a:rPr sz="1800" b="0" i="0">
                <a:solidFill>
                  <a:srgbClr val="183A32"/>
                </a:solidFill>
                <a:latin typeface="Times New Roman"/>
              </a:rPr>
              <a:t>explicitly connected the new township with the</a:t>
            </a:r>
          </a:p>
          <a:p>
            <a:pPr>
              <a:lnSpc>
                <a:spcPts val="2196"/>
              </a:lnSpc>
              <a:spcBef>
                <a:spcPts val="0"/>
              </a:spcBef>
              <a:spcAft>
                <a:spcPts val="0"/>
              </a:spcAft>
            </a:pPr>
            <a:r>
              <a:rPr sz="1800" b="0" i="0">
                <a:solidFill>
                  <a:srgbClr val="183A32"/>
                </a:solidFill>
                <a:latin typeface="Times New Roman"/>
              </a:rPr>
              <a:t>company’s established Kelapa Gading development.</a:t>
            </a:r>
          </a:p>
        </p:txBody>
      </p:sp>
      <p:sp>
        <p:nvSpPr>
          <p:cNvPr id="14" name="TextBox 13"/>
          <p:cNvSpPr txBox="1"/>
          <p:nvPr/>
        </p:nvSpPr>
        <p:spPr>
          <a:xfrm>
            <a:off x="685800" y="3812540"/>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its November 2022 launch, the company reported</a:t>
            </a:r>
          </a:p>
          <a:p>
            <a:pPr>
              <a:lnSpc>
                <a:spcPts val="2196"/>
              </a:lnSpc>
              <a:spcBef>
                <a:spcPts val="0"/>
              </a:spcBef>
              <a:spcAft>
                <a:spcPts val="0"/>
              </a:spcAft>
            </a:pPr>
            <a:r>
              <a:rPr sz="1800" b="0" i="0">
                <a:solidFill>
                  <a:srgbClr val="183A32"/>
                </a:solidFill>
                <a:latin typeface="Times New Roman"/>
              </a:rPr>
              <a:t>an initial offering of 244 homes, expanded through</a:t>
            </a:r>
          </a:p>
          <a:p>
            <a:pPr>
              <a:lnSpc>
                <a:spcPts val="2196"/>
              </a:lnSpc>
              <a:spcBef>
                <a:spcPts val="0"/>
              </a:spcBef>
              <a:spcAft>
                <a:spcPts val="0"/>
              </a:spcAft>
            </a:pPr>
            <a:r>
              <a:rPr sz="1800" b="0" i="0">
                <a:solidFill>
                  <a:srgbClr val="183A32"/>
                </a:solidFill>
                <a:latin typeface="Times New Roman"/>
              </a:rPr>
              <a:t>additional stages to 390 reported sales over six hours,</a:t>
            </a:r>
          </a:p>
          <a:p>
            <a:pPr>
              <a:lnSpc>
                <a:spcPts val="2196"/>
              </a:lnSpc>
              <a:spcBef>
                <a:spcPts val="0"/>
              </a:spcBef>
              <a:spcAft>
                <a:spcPts val="0"/>
              </a:spcAft>
            </a:pPr>
            <a:r>
              <a:rPr sz="1800" b="0" i="0">
                <a:solidFill>
                  <a:srgbClr val="183A32"/>
                </a:solidFill>
                <a:latin typeface="Times New Roman"/>
              </a:rPr>
              <a:t>with a stated sales value of approximately Rp827</a:t>
            </a:r>
          </a:p>
          <a:p>
            <a:pPr>
              <a:lnSpc>
                <a:spcPts val="2196"/>
              </a:lnSpc>
              <a:spcBef>
                <a:spcPts val="0"/>
              </a:spcBef>
              <a:spcAft>
                <a:spcPts val="0"/>
              </a:spcAft>
            </a:pPr>
            <a:r>
              <a:rPr sz="1800" b="0" i="0">
                <a:solidFill>
                  <a:srgbClr val="183A32"/>
                </a:solidFill>
                <a:latin typeface="Times New Roman"/>
              </a:rPr>
              <a:t>billion. Source: Crown Gading launch release.</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BRAND MECHANISM MATTERS — ANALYSIS</a:t>
            </a:r>
          </a:p>
        </p:txBody>
      </p:sp>
      <p:sp>
        <p:nvSpPr>
          <p:cNvPr id="16" name="TextBox 15"/>
          <p:cNvSpPr txBox="1"/>
          <p:nvPr/>
        </p:nvSpPr>
        <p:spPr>
          <a:xfrm>
            <a:off x="6400800" y="251866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new township asks customers to believe in a future</a:t>
            </a:r>
          </a:p>
          <a:p>
            <a:pPr>
              <a:lnSpc>
                <a:spcPts val="2196"/>
              </a:lnSpc>
              <a:spcBef>
                <a:spcPts val="0"/>
              </a:spcBef>
              <a:spcAft>
                <a:spcPts val="0"/>
              </a:spcAft>
            </a:pPr>
            <a:r>
              <a:rPr sz="1800" b="0" i="0">
                <a:solidFill>
                  <a:srgbClr val="183A32"/>
                </a:solidFill>
                <a:latin typeface="Times New Roman"/>
              </a:rPr>
              <a:t>environment.</a:t>
            </a:r>
          </a:p>
        </p:txBody>
      </p:sp>
      <p:sp>
        <p:nvSpPr>
          <p:cNvPr id="17" name="TextBox 16"/>
          <p:cNvSpPr txBox="1"/>
          <p:nvPr/>
        </p:nvSpPr>
        <p:spPr>
          <a:xfrm>
            <a:off x="6400800" y="3254756"/>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Referencing a familiar, functioning development gives</a:t>
            </a:r>
          </a:p>
          <a:p>
            <a:pPr>
              <a:lnSpc>
                <a:spcPts val="2196"/>
              </a:lnSpc>
              <a:spcBef>
                <a:spcPts val="0"/>
              </a:spcBef>
              <a:spcAft>
                <a:spcPts val="0"/>
              </a:spcAft>
            </a:pPr>
            <a:r>
              <a:rPr sz="1800" b="0" i="0">
                <a:solidFill>
                  <a:srgbClr val="183A32"/>
                </a:solidFill>
                <a:latin typeface="Times New Roman"/>
              </a:rPr>
              <a:t>buyers a concrete model for that future. The</a:t>
            </a:r>
          </a:p>
          <a:p>
            <a:pPr>
              <a:lnSpc>
                <a:spcPts val="2196"/>
              </a:lnSpc>
              <a:spcBef>
                <a:spcPts val="0"/>
              </a:spcBef>
              <a:spcAft>
                <a:spcPts val="0"/>
              </a:spcAft>
            </a:pPr>
            <a:r>
              <a:rPr sz="1800" b="0" i="0">
                <a:solidFill>
                  <a:srgbClr val="183A32"/>
                </a:solidFill>
                <a:latin typeface="Times New Roman"/>
              </a:rPr>
              <a:t>developer’s track record helps reduce the perceived</a:t>
            </a:r>
          </a:p>
          <a:p>
            <a:pPr>
              <a:lnSpc>
                <a:spcPts val="2196"/>
              </a:lnSpc>
              <a:spcBef>
                <a:spcPts val="0"/>
              </a:spcBef>
              <a:spcAft>
                <a:spcPts val="0"/>
              </a:spcAft>
            </a:pPr>
            <a:r>
              <a:rPr sz="1800" b="0" i="0">
                <a:solidFill>
                  <a:srgbClr val="183A32"/>
                </a:solidFill>
                <a:latin typeface="Times New Roman"/>
              </a:rPr>
              <a:t>risk of buying before the new location matures.</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119–120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Business implication</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Past delivery can support demand for new land and new phases.</a:t>
            </a:r>
          </a:p>
        </p:txBody>
      </p:sp>
      <p:sp>
        <p:nvSpPr>
          <p:cNvPr id="12" name="TextBox 11"/>
          <p:cNvSpPr txBox="1"/>
          <p:nvPr/>
        </p:nvSpPr>
        <p:spPr>
          <a:xfrm>
            <a:off x="685800" y="25694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EVIDENCE CAUTION</a:t>
            </a:r>
          </a:p>
        </p:txBody>
      </p:sp>
      <p:sp>
        <p:nvSpPr>
          <p:cNvPr id="13" name="TextBox 12"/>
          <p:cNvSpPr txBox="1"/>
          <p:nvPr/>
        </p:nvSpPr>
        <p:spPr>
          <a:xfrm>
            <a:off x="685800" y="28907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Launch sales are not the same as completed handovers or audited recognised revenue. The release does not establish</a:t>
            </a:r>
          </a:p>
          <a:p>
            <a:pPr>
              <a:lnSpc>
                <a:spcPts val="2196"/>
              </a:lnSpc>
              <a:spcBef>
                <a:spcPts val="0"/>
              </a:spcBef>
              <a:spcAft>
                <a:spcPts val="0"/>
              </a:spcAft>
            </a:pPr>
            <a:r>
              <a:rPr sz="1800" b="0" i="0">
                <a:solidFill>
                  <a:srgbClr val="183A32"/>
                </a:solidFill>
                <a:latin typeface="Times New Roman"/>
              </a:rPr>
              <a:t>how many purchases later cancelled.</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120–121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280</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Selling the next economic layer of the</a:t>
            </a:r>
          </a:p>
          <a:p>
            <a:pPr>
              <a:lnSpc>
                <a:spcPts val="3502"/>
              </a:lnSpc>
              <a:spcBef>
                <a:spcPts val="0"/>
              </a:spcBef>
              <a:spcAft>
                <a:spcPts val="0"/>
              </a:spcAft>
            </a:pPr>
            <a:r>
              <a:rPr sz="3100" b="0" i="0">
                <a:solidFill>
                  <a:srgbClr val="153F35"/>
                </a:solidFill>
                <a:latin typeface="Arial"/>
              </a:rPr>
              <a:t>township</a:t>
            </a:r>
          </a:p>
        </p:txBody>
      </p:sp>
      <p:cxnSp>
        <p:nvCxnSpPr>
          <p:cNvPr id="11" name="Connector 10"/>
          <p:cNvCxnSpPr/>
          <p:nvPr/>
        </p:nvCxnSpPr>
        <p:spPr>
          <a:xfrm>
            <a:off x="6062472" y="2169921"/>
            <a:ext cx="0" cy="316458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SEQUENCE</a:t>
            </a:r>
          </a:p>
        </p:txBody>
      </p:sp>
      <p:sp>
        <p:nvSpPr>
          <p:cNvPr id="13" name="TextBox 12"/>
          <p:cNvSpPr txBox="1"/>
          <p:nvPr/>
        </p:nvSpPr>
        <p:spPr>
          <a:xfrm>
            <a:off x="685800" y="251866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After the initial residential launch, Crown Gading</a:t>
            </a:r>
          </a:p>
          <a:p>
            <a:pPr>
              <a:lnSpc>
                <a:spcPts val="2196"/>
              </a:lnSpc>
              <a:spcBef>
                <a:spcPts val="0"/>
              </a:spcBef>
              <a:spcAft>
                <a:spcPts val="0"/>
              </a:spcAft>
            </a:pPr>
            <a:r>
              <a:rPr sz="1800" b="0" i="0">
                <a:solidFill>
                  <a:srgbClr val="183A32"/>
                </a:solidFill>
                <a:latin typeface="Times New Roman"/>
              </a:rPr>
              <a:t>introduced Gading Bulevar Commercial in September</a:t>
            </a:r>
          </a:p>
          <a:p>
            <a:pPr>
              <a:lnSpc>
                <a:spcPts val="2196"/>
              </a:lnSpc>
              <a:spcBef>
                <a:spcPts val="0"/>
              </a:spcBef>
              <a:spcAft>
                <a:spcPts val="0"/>
              </a:spcAft>
            </a:pPr>
            <a:r>
              <a:rPr sz="1800" b="0" i="0">
                <a:solidFill>
                  <a:srgbClr val="183A32"/>
                </a:solidFill>
                <a:latin typeface="Times New Roman"/>
              </a:rPr>
              <a:t>2023. The company reported 66 shophouses sold,</a:t>
            </a:r>
          </a:p>
          <a:p>
            <a:pPr>
              <a:lnSpc>
                <a:spcPts val="2196"/>
              </a:lnSpc>
              <a:spcBef>
                <a:spcPts val="0"/>
              </a:spcBef>
              <a:spcAft>
                <a:spcPts val="0"/>
              </a:spcAft>
            </a:pPr>
            <a:r>
              <a:rPr sz="1800" b="0" i="0">
                <a:solidFill>
                  <a:srgbClr val="183A32"/>
                </a:solidFill>
                <a:latin typeface="Times New Roman"/>
              </a:rPr>
              <a:t>across successive stages, with a stated sales value of</a:t>
            </a:r>
          </a:p>
          <a:p>
            <a:pPr>
              <a:lnSpc>
                <a:spcPts val="2196"/>
              </a:lnSpc>
              <a:spcBef>
                <a:spcPts val="0"/>
              </a:spcBef>
              <a:spcAft>
                <a:spcPts val="0"/>
              </a:spcAft>
            </a:pPr>
            <a:r>
              <a:rPr sz="1800" b="0" i="0">
                <a:solidFill>
                  <a:srgbClr val="183A32"/>
                </a:solidFill>
                <a:latin typeface="Times New Roman"/>
              </a:rPr>
              <a:t>approximately Rp200 billion.</a:t>
            </a:r>
          </a:p>
        </p:txBody>
      </p:sp>
      <p:sp>
        <p:nvSpPr>
          <p:cNvPr id="14" name="TextBox 13"/>
          <p:cNvSpPr txBox="1"/>
          <p:nvPr/>
        </p:nvSpPr>
        <p:spPr>
          <a:xfrm>
            <a:off x="685800" y="40914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proposition highlighted gateway positioning,</a:t>
            </a:r>
          </a:p>
          <a:p>
            <a:pPr>
              <a:lnSpc>
                <a:spcPts val="2196"/>
              </a:lnSpc>
              <a:spcBef>
                <a:spcPts val="0"/>
              </a:spcBef>
              <a:spcAft>
                <a:spcPts val="0"/>
              </a:spcAft>
            </a:pPr>
            <a:r>
              <a:rPr sz="1800" b="0" i="0">
                <a:solidFill>
                  <a:srgbClr val="183A32"/>
                </a:solidFill>
                <a:latin typeface="Times New Roman"/>
              </a:rPr>
              <a:t>boulevard access, future facilities, and named</a:t>
            </a:r>
          </a:p>
          <a:p>
            <a:pPr>
              <a:lnSpc>
                <a:spcPts val="2196"/>
              </a:lnSpc>
              <a:spcBef>
                <a:spcPts val="0"/>
              </a:spcBef>
              <a:spcAft>
                <a:spcPts val="0"/>
              </a:spcAft>
            </a:pPr>
            <a:r>
              <a:rPr sz="1800" b="0" i="0">
                <a:solidFill>
                  <a:srgbClr val="183A32"/>
                </a:solidFill>
                <a:latin typeface="Times New Roman"/>
              </a:rPr>
              <a:t>businesses preparing to operate. Source: Gading</a:t>
            </a:r>
          </a:p>
          <a:p>
            <a:pPr>
              <a:lnSpc>
                <a:spcPts val="2196"/>
              </a:lnSpc>
              <a:spcBef>
                <a:spcPts val="0"/>
              </a:spcBef>
              <a:spcAft>
                <a:spcPts val="0"/>
              </a:spcAft>
            </a:pPr>
            <a:r>
              <a:rPr sz="1800" b="0" i="0">
                <a:solidFill>
                  <a:srgbClr val="183A32"/>
                </a:solidFill>
                <a:latin typeface="Times New Roman"/>
              </a:rPr>
              <a:t>Bulevar launch release.</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6" name="TextBox 15"/>
          <p:cNvSpPr txBox="1"/>
          <p:nvPr/>
        </p:nvSpPr>
        <p:spPr>
          <a:xfrm>
            <a:off x="6400800" y="251866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Residential buyers and commercial buyers require</a:t>
            </a:r>
          </a:p>
          <a:p>
            <a:pPr>
              <a:lnSpc>
                <a:spcPts val="2196"/>
              </a:lnSpc>
              <a:spcBef>
                <a:spcPts val="0"/>
              </a:spcBef>
              <a:spcAft>
                <a:spcPts val="0"/>
              </a:spcAft>
            </a:pPr>
            <a:r>
              <a:rPr sz="1800" b="0" i="0">
                <a:solidFill>
                  <a:srgbClr val="183A32"/>
                </a:solidFill>
                <a:latin typeface="Times New Roman"/>
              </a:rPr>
              <a:t>different arguments:</a:t>
            </a:r>
          </a:p>
        </p:txBody>
      </p:sp>
      <p:sp>
        <p:nvSpPr>
          <p:cNvPr id="17" name="Rectangle 16"/>
          <p:cNvSpPr/>
          <p:nvPr/>
        </p:nvSpPr>
        <p:spPr>
          <a:xfrm>
            <a:off x="6400800" y="334619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3254756"/>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 household evaluates living quality and</a:t>
            </a:r>
          </a:p>
          <a:p>
            <a:pPr>
              <a:lnSpc>
                <a:spcPts val="2135"/>
              </a:lnSpc>
              <a:spcBef>
                <a:spcPts val="0"/>
              </a:spcBef>
              <a:spcAft>
                <a:spcPts val="0"/>
              </a:spcAft>
            </a:pPr>
            <a:r>
              <a:rPr sz="1750" b="0" i="0">
                <a:solidFill>
                  <a:srgbClr val="183A32"/>
                </a:solidFill>
                <a:latin typeface="Arial"/>
              </a:rPr>
              <a:t>affordability.</a:t>
            </a:r>
          </a:p>
        </p:txBody>
      </p:sp>
      <p:sp>
        <p:nvSpPr>
          <p:cNvPr id="19" name="Rectangle 18"/>
          <p:cNvSpPr/>
          <p:nvPr/>
        </p:nvSpPr>
        <p:spPr>
          <a:xfrm>
            <a:off x="6400800" y="406679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97535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 business evaluates access, visibility,</a:t>
            </a:r>
          </a:p>
          <a:p>
            <a:pPr>
              <a:lnSpc>
                <a:spcPts val="2135"/>
              </a:lnSpc>
              <a:spcBef>
                <a:spcPts val="0"/>
              </a:spcBef>
              <a:spcAft>
                <a:spcPts val="0"/>
              </a:spcAft>
            </a:pPr>
            <a:r>
              <a:rPr sz="1750" b="0" i="0">
                <a:solidFill>
                  <a:srgbClr val="183A32"/>
                </a:solidFill>
                <a:latin typeface="Arial"/>
              </a:rPr>
              <a:t>catchment, and customer activity.</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120–121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281</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Selling the next economic layer of the</a:t>
            </a:r>
          </a:p>
          <a:p>
            <a:pPr>
              <a:lnSpc>
                <a:spcPts val="3502"/>
              </a:lnSpc>
              <a:spcBef>
                <a:spcPts val="0"/>
              </a:spcBef>
              <a:spcAft>
                <a:spcPts val="0"/>
              </a:spcAft>
            </a:pPr>
            <a:r>
              <a:rPr sz="3100" b="0" i="0">
                <a:solidFill>
                  <a:srgbClr val="153F35"/>
                </a:solidFill>
                <a:latin typeface="Arial"/>
              </a:rPr>
              <a:t>township</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An investor evaluates likely occupancy, income, and resale prospects.</a:t>
            </a:r>
          </a:p>
        </p:txBody>
      </p:sp>
      <p:sp>
        <p:nvSpPr>
          <p:cNvPr id="13" name="TextBox 12"/>
          <p:cNvSpPr txBox="1"/>
          <p:nvPr/>
        </p:nvSpPr>
        <p:spPr>
          <a:xfrm>
            <a:off x="685800" y="26193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marketing story changes with the product’s economic function.</a:t>
            </a:r>
          </a:p>
        </p:txBody>
      </p:sp>
      <p:sp>
        <p:nvSpPr>
          <p:cNvPr id="14" name="Rectangle 13"/>
          <p:cNvSpPr/>
          <p:nvPr/>
        </p:nvSpPr>
        <p:spPr>
          <a:xfrm>
            <a:off x="685800" y="3076574"/>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076574"/>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 y="3158870"/>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distinction</a:t>
            </a:r>
          </a:p>
        </p:txBody>
      </p:sp>
      <p:sp>
        <p:nvSpPr>
          <p:cNvPr id="17" name="TextBox 16"/>
          <p:cNvSpPr txBox="1"/>
          <p:nvPr/>
        </p:nvSpPr>
        <p:spPr>
          <a:xfrm>
            <a:off x="685800" y="3645217"/>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Early residential sales can support interest in commercial property, but they do not prove sufficient occupied</a:t>
            </a:r>
          </a:p>
          <a:p>
            <a:pPr>
              <a:lnSpc>
                <a:spcPts val="2196"/>
              </a:lnSpc>
              <a:spcBef>
                <a:spcPts val="0"/>
              </a:spcBef>
              <a:spcAft>
                <a:spcPts val="0"/>
              </a:spcAft>
            </a:pPr>
            <a:r>
              <a:rPr sz="1800" b="0" i="0">
                <a:solidFill>
                  <a:srgbClr val="183A32"/>
                </a:solidFill>
                <a:latin typeface="Times New Roman"/>
              </a:rPr>
              <a:t>households or sustainable tenant turnover.</a:t>
            </a:r>
          </a:p>
        </p:txBody>
      </p:sp>
      <p:sp>
        <p:nvSpPr>
          <p:cNvPr id="18" name="TextBox 17"/>
          <p:cNvSpPr txBox="1"/>
          <p:nvPr/>
        </p:nvSpPr>
        <p:spPr>
          <a:xfrm>
            <a:off x="685800" y="440874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9" name="TextBox 18"/>
          <p:cNvSpPr txBox="1"/>
          <p:nvPr/>
        </p:nvSpPr>
        <p:spPr>
          <a:xfrm>
            <a:off x="685800" y="473005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Separate household marketing from business-occupier marketing. For commercial phases, show verified catchment</a:t>
            </a:r>
          </a:p>
          <a:p>
            <a:pPr>
              <a:lnSpc>
                <a:spcPts val="2196"/>
              </a:lnSpc>
              <a:spcBef>
                <a:spcPts val="0"/>
              </a:spcBef>
              <a:spcAft>
                <a:spcPts val="0"/>
              </a:spcAft>
            </a:pPr>
            <a:r>
              <a:rPr sz="1800" b="0" i="0">
                <a:solidFill>
                  <a:srgbClr val="183A32"/>
                </a:solidFill>
                <a:latin typeface="Times New Roman"/>
              </a:rPr>
              <a:t>and operating demand rather than relying on residential launch success.</a:t>
            </a:r>
          </a:p>
        </p:txBody>
      </p:sp>
      <p:sp>
        <p:nvSpPr>
          <p:cNvPr id="20" name="TextBox 19"/>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121–121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The marketing customer is also the tenant</a:t>
            </a:r>
          </a:p>
        </p:txBody>
      </p:sp>
      <p:cxnSp>
        <p:nvCxnSpPr>
          <p:cNvPr id="11" name="Connector 10"/>
          <p:cNvCxnSpPr/>
          <p:nvPr/>
        </p:nvCxnSpPr>
        <p:spPr>
          <a:xfrm>
            <a:off x="6062472" y="2084831"/>
            <a:ext cx="0" cy="292379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OPERATING STRATEGY</a:t>
            </a:r>
          </a:p>
        </p:txBody>
      </p:sp>
      <p:sp>
        <p:nvSpPr>
          <p:cNvPr id="13" name="TextBox 12"/>
          <p:cNvSpPr txBox="1"/>
          <p:nvPr/>
        </p:nvSpPr>
        <p:spPr>
          <a:xfrm>
            <a:off x="685800" y="243357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Pakuwon’s 2025 report describes selective tenant-mix</a:t>
            </a:r>
          </a:p>
          <a:p>
            <a:pPr>
              <a:lnSpc>
                <a:spcPts val="2196"/>
              </a:lnSpc>
              <a:spcBef>
                <a:spcPts val="0"/>
              </a:spcBef>
              <a:spcAft>
                <a:spcPts val="0"/>
              </a:spcAft>
            </a:pPr>
            <a:r>
              <a:rPr sz="1800" b="0" i="0">
                <a:solidFill>
                  <a:srgbClr val="183A32"/>
                </a:solidFill>
                <a:latin typeface="Times New Roman"/>
              </a:rPr>
              <a:t>curation, prioritising food and beverage, entertainment,</a:t>
            </a:r>
          </a:p>
          <a:p>
            <a:pPr>
              <a:lnSpc>
                <a:spcPts val="2196"/>
              </a:lnSpc>
              <a:spcBef>
                <a:spcPts val="0"/>
              </a:spcBef>
              <a:spcAft>
                <a:spcPts val="0"/>
              </a:spcAft>
            </a:pPr>
            <a:r>
              <a:rPr sz="1800" b="0" i="0">
                <a:solidFill>
                  <a:srgbClr val="183A32"/>
                </a:solidFill>
                <a:latin typeface="Times New Roman"/>
              </a:rPr>
              <a:t>and lifestyle uses, together with experience-based</a:t>
            </a:r>
          </a:p>
          <a:p>
            <a:pPr>
              <a:lnSpc>
                <a:spcPts val="2196"/>
              </a:lnSpc>
              <a:spcBef>
                <a:spcPts val="0"/>
              </a:spcBef>
              <a:spcAft>
                <a:spcPts val="0"/>
              </a:spcAft>
            </a:pPr>
            <a:r>
              <a:rPr sz="1800" b="0" i="0">
                <a:solidFill>
                  <a:srgbClr val="183A32"/>
                </a:solidFill>
                <a:latin typeface="Times New Roman"/>
              </a:rPr>
              <a:t>marketing and digital integration. Source: Pakuwon</a:t>
            </a:r>
          </a:p>
          <a:p>
            <a:pPr>
              <a:lnSpc>
                <a:spcPts val="2196"/>
              </a:lnSpc>
              <a:spcBef>
                <a:spcPts val="0"/>
              </a:spcBef>
              <a:spcAft>
                <a:spcPts val="0"/>
              </a:spcAft>
            </a:pPr>
            <a:r>
              <a:rPr sz="1800" b="0" i="0">
                <a:solidFill>
                  <a:srgbClr val="183A32"/>
                </a:solidFill>
                <a:latin typeface="Times New Roman"/>
              </a:rPr>
              <a:t>2025 annual report, marketing discussion.</a:t>
            </a:r>
          </a:p>
        </p:txBody>
      </p:sp>
      <p:sp>
        <p:nvSpPr>
          <p:cNvPr id="14" name="TextBox 13"/>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5" name="TextBox 14"/>
          <p:cNvSpPr txBox="1"/>
          <p:nvPr/>
        </p:nvSpPr>
        <p:spPr>
          <a:xfrm>
            <a:off x="6400800" y="243357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mall brand must create value for two connected</a:t>
            </a:r>
          </a:p>
          <a:p>
            <a:pPr>
              <a:lnSpc>
                <a:spcPts val="2196"/>
              </a:lnSpc>
              <a:spcBef>
                <a:spcPts val="0"/>
              </a:spcBef>
              <a:spcAft>
                <a:spcPts val="0"/>
              </a:spcAft>
            </a:pPr>
            <a:r>
              <a:rPr sz="1800" b="0" i="0">
                <a:solidFill>
                  <a:srgbClr val="183A32"/>
                </a:solidFill>
                <a:latin typeface="Times New Roman"/>
              </a:rPr>
              <a:t>audiences:</a:t>
            </a:r>
          </a:p>
        </p:txBody>
      </p:sp>
      <p:sp>
        <p:nvSpPr>
          <p:cNvPr id="16" name="Rectangle 15"/>
          <p:cNvSpPr/>
          <p:nvPr/>
        </p:nvSpPr>
        <p:spPr>
          <a:xfrm>
            <a:off x="6400800" y="326110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3169666"/>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Visitors need reasons to return.</a:t>
            </a:r>
          </a:p>
        </p:txBody>
      </p:sp>
      <p:sp>
        <p:nvSpPr>
          <p:cNvPr id="18" name="Rectangle 17"/>
          <p:cNvSpPr/>
          <p:nvPr/>
        </p:nvSpPr>
        <p:spPr>
          <a:xfrm>
            <a:off x="6400800" y="371055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619119"/>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Tenants need commercially useful customer</a:t>
            </a:r>
          </a:p>
          <a:p>
            <a:pPr>
              <a:lnSpc>
                <a:spcPts val="2135"/>
              </a:lnSpc>
              <a:spcBef>
                <a:spcPts val="0"/>
              </a:spcBef>
              <a:spcAft>
                <a:spcPts val="0"/>
              </a:spcAft>
            </a:pPr>
            <a:r>
              <a:rPr sz="1750" b="0" i="0">
                <a:solidFill>
                  <a:srgbClr val="183A32"/>
                </a:solidFill>
                <a:latin typeface="Arial"/>
              </a:rPr>
              <a:t>traffic.</a:t>
            </a:r>
          </a:p>
        </p:txBody>
      </p:sp>
      <p:sp>
        <p:nvSpPr>
          <p:cNvPr id="20" name="TextBox 19"/>
          <p:cNvSpPr txBox="1"/>
          <p:nvPr/>
        </p:nvSpPr>
        <p:spPr>
          <a:xfrm>
            <a:off x="6400800" y="4367149"/>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MECHANISM</a:t>
            </a:r>
          </a:p>
        </p:txBody>
      </p:sp>
      <p:sp>
        <p:nvSpPr>
          <p:cNvPr id="21" name="Rectangle 20"/>
          <p:cNvSpPr/>
          <p:nvPr/>
        </p:nvSpPr>
        <p:spPr>
          <a:xfrm>
            <a:off x="6400800" y="477989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4688459"/>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Recruit a relevant tenant mix.</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121–121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The marketing customer is also the tenant</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Make the destination useful and enjoyable.</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Encourage repeat visits and time spent.</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Support tenant trading.</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Sustain leasing demand and rental income.</a:t>
            </a:r>
          </a:p>
        </p:txBody>
      </p:sp>
      <p:sp>
        <p:nvSpPr>
          <p:cNvPr id="19" name="TextBox 18"/>
          <p:cNvSpPr txBox="1"/>
          <p:nvPr/>
        </p:nvSpPr>
        <p:spPr>
          <a:xfrm>
            <a:off x="685800" y="3910075"/>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IT CAN BE EFFECTIVE</a:t>
            </a:r>
          </a:p>
        </p:txBody>
      </p:sp>
      <p:sp>
        <p:nvSpPr>
          <p:cNvPr id="20" name="TextBox 19"/>
          <p:cNvSpPr txBox="1"/>
          <p:nvPr/>
        </p:nvSpPr>
        <p:spPr>
          <a:xfrm>
            <a:off x="685800" y="423138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operating asset becomes a continuing customer-acquisition environment for its tenants.</a:t>
            </a:r>
          </a:p>
        </p:txBody>
      </p:sp>
      <p:sp>
        <p:nvSpPr>
          <p:cNvPr id="21" name="Rectangle 20"/>
          <p:cNvSpPr/>
          <p:nvPr/>
        </p:nvSpPr>
        <p:spPr>
          <a:xfrm>
            <a:off x="685800" y="4688586"/>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4688586"/>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 y="4770881"/>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Important qualification</a:t>
            </a:r>
          </a:p>
        </p:txBody>
      </p:sp>
      <p:sp>
        <p:nvSpPr>
          <p:cNvPr id="24" name="TextBox 23"/>
          <p:cNvSpPr txBox="1"/>
          <p:nvPr/>
        </p:nvSpPr>
        <p:spPr>
          <a:xfrm>
            <a:off x="685800" y="52572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Footfall alone is insufficient. A crowded event can generate weak tenant spending or poor returns after activation</a:t>
            </a:r>
          </a:p>
          <a:p>
            <a:pPr>
              <a:lnSpc>
                <a:spcPts val="2196"/>
              </a:lnSpc>
              <a:spcBef>
                <a:spcPts val="0"/>
              </a:spcBef>
              <a:spcAft>
                <a:spcPts val="0"/>
              </a:spcAft>
            </a:pPr>
            <a:r>
              <a:rPr sz="1800" b="0" i="0">
                <a:solidFill>
                  <a:srgbClr val="183A32"/>
                </a:solidFill>
                <a:latin typeface="Times New Roman"/>
              </a:rPr>
              <a:t>costs.</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122–122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Reinvesting in the reasons people visit</a:t>
            </a:r>
          </a:p>
        </p:txBody>
      </p:sp>
      <p:cxnSp>
        <p:nvCxnSpPr>
          <p:cNvPr id="11" name="Connector 10"/>
          <p:cNvCxnSpPr/>
          <p:nvPr/>
        </p:nvCxnSpPr>
        <p:spPr>
          <a:xfrm>
            <a:off x="6062472" y="2084831"/>
            <a:ext cx="0" cy="3164586"/>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EXECUTION</a:t>
            </a:r>
          </a:p>
        </p:txBody>
      </p:sp>
      <p:sp>
        <p:nvSpPr>
          <p:cNvPr id="13" name="TextBox 12"/>
          <p:cNvSpPr txBox="1"/>
          <p:nvPr/>
        </p:nvSpPr>
        <p:spPr>
          <a:xfrm>
            <a:off x="685800" y="243357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Pakuwon’s 2024 report describes new sports-fashion,</a:t>
            </a:r>
          </a:p>
          <a:p>
            <a:pPr>
              <a:lnSpc>
                <a:spcPts val="2196"/>
              </a:lnSpc>
              <a:spcBef>
                <a:spcPts val="0"/>
              </a:spcBef>
              <a:spcAft>
                <a:spcPts val="0"/>
              </a:spcAft>
            </a:pPr>
            <a:r>
              <a:rPr sz="1800" b="0" i="0">
                <a:solidFill>
                  <a:srgbClr val="183A32"/>
                </a:solidFill>
                <a:latin typeface="Times New Roman"/>
              </a:rPr>
              <a:t>food, beauty, and entertainment tenants, alongside</a:t>
            </a:r>
          </a:p>
          <a:p>
            <a:pPr>
              <a:lnSpc>
                <a:spcPts val="2196"/>
              </a:lnSpc>
              <a:spcBef>
                <a:spcPts val="0"/>
              </a:spcBef>
              <a:spcAft>
                <a:spcPts val="0"/>
              </a:spcAft>
            </a:pPr>
            <a:r>
              <a:rPr sz="1800" b="0" i="0">
                <a:solidFill>
                  <a:srgbClr val="183A32"/>
                </a:solidFill>
                <a:latin typeface="Times New Roman"/>
              </a:rPr>
              <a:t>events intended to attract visitors and support tenant</a:t>
            </a:r>
          </a:p>
          <a:p>
            <a:pPr>
              <a:lnSpc>
                <a:spcPts val="2196"/>
              </a:lnSpc>
              <a:spcBef>
                <a:spcPts val="0"/>
              </a:spcBef>
              <a:spcAft>
                <a:spcPts val="0"/>
              </a:spcAft>
            </a:pPr>
            <a:r>
              <a:rPr sz="1800" b="0" i="0">
                <a:solidFill>
                  <a:srgbClr val="183A32"/>
                </a:solidFill>
                <a:latin typeface="Times New Roman"/>
              </a:rPr>
              <a:t>sales.</a:t>
            </a:r>
          </a:p>
        </p:txBody>
      </p:sp>
      <p:sp>
        <p:nvSpPr>
          <p:cNvPr id="14" name="TextBox 13"/>
          <p:cNvSpPr txBox="1"/>
          <p:nvPr/>
        </p:nvSpPr>
        <p:spPr>
          <a:xfrm>
            <a:off x="685800" y="3727449"/>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company reported approximately 95% mall</a:t>
            </a:r>
          </a:p>
          <a:p>
            <a:pPr>
              <a:lnSpc>
                <a:spcPts val="2196"/>
              </a:lnSpc>
              <a:spcBef>
                <a:spcPts val="0"/>
              </a:spcBef>
              <a:spcAft>
                <a:spcPts val="0"/>
              </a:spcAft>
            </a:pPr>
            <a:r>
              <a:rPr sz="1800" b="0" i="0">
                <a:solidFill>
                  <a:srgbClr val="183A32"/>
                </a:solidFill>
                <a:latin typeface="Times New Roman"/>
              </a:rPr>
              <a:t>occupancy and 10% growth in shopping-centre</a:t>
            </a:r>
          </a:p>
          <a:p>
            <a:pPr>
              <a:lnSpc>
                <a:spcPts val="2196"/>
              </a:lnSpc>
              <a:spcBef>
                <a:spcPts val="0"/>
              </a:spcBef>
              <a:spcAft>
                <a:spcPts val="0"/>
              </a:spcAft>
            </a:pPr>
            <a:r>
              <a:rPr sz="1800" b="0" i="0">
                <a:solidFill>
                  <a:srgbClr val="183A32"/>
                </a:solidFill>
                <a:latin typeface="Times New Roman"/>
              </a:rPr>
              <a:t>revenue for that year. These are concurrent operating</a:t>
            </a:r>
          </a:p>
          <a:p>
            <a:pPr>
              <a:lnSpc>
                <a:spcPts val="2196"/>
              </a:lnSpc>
              <a:spcBef>
                <a:spcPts val="0"/>
              </a:spcBef>
              <a:spcAft>
                <a:spcPts val="0"/>
              </a:spcAft>
            </a:pPr>
            <a:r>
              <a:rPr sz="1800" b="0" i="0">
                <a:solidFill>
                  <a:srgbClr val="183A32"/>
                </a:solidFill>
                <a:latin typeface="Times New Roman"/>
              </a:rPr>
              <a:t>results, not proof that events alone caused the growth.</a:t>
            </a:r>
          </a:p>
          <a:p>
            <a:pPr>
              <a:lnSpc>
                <a:spcPts val="2196"/>
              </a:lnSpc>
              <a:spcBef>
                <a:spcPts val="0"/>
              </a:spcBef>
              <a:spcAft>
                <a:spcPts val="0"/>
              </a:spcAft>
            </a:pPr>
            <a:r>
              <a:rPr sz="1800" b="0" i="0">
                <a:solidFill>
                  <a:srgbClr val="183A32"/>
                </a:solidFill>
                <a:latin typeface="Times New Roman"/>
              </a:rPr>
              <a:t>Source: Pakuwon revised 2024 annual report.</a:t>
            </a:r>
          </a:p>
        </p:txBody>
      </p:sp>
      <p:sp>
        <p:nvSpPr>
          <p:cNvPr id="15" name="TextBox 14"/>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IS MORE THAN PROMOTION — ANALYSIS</a:t>
            </a:r>
          </a:p>
        </p:txBody>
      </p:sp>
      <p:sp>
        <p:nvSpPr>
          <p:cNvPr id="16" name="TextBox 15"/>
          <p:cNvSpPr txBox="1"/>
          <p:nvPr/>
        </p:nvSpPr>
        <p:spPr>
          <a:xfrm>
            <a:off x="6400800" y="243357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Tenant selection changes the product itself. Events and</a:t>
            </a:r>
          </a:p>
          <a:p>
            <a:pPr>
              <a:lnSpc>
                <a:spcPts val="2196"/>
              </a:lnSpc>
              <a:spcBef>
                <a:spcPts val="0"/>
              </a:spcBef>
              <a:spcAft>
                <a:spcPts val="0"/>
              </a:spcAft>
            </a:pPr>
            <a:r>
              <a:rPr sz="1800" b="0" i="0">
                <a:solidFill>
                  <a:srgbClr val="183A32"/>
                </a:solidFill>
                <a:latin typeface="Times New Roman"/>
              </a:rPr>
              <a:t>communication then amplify that product.</a:t>
            </a:r>
          </a:p>
        </p:txBody>
      </p:sp>
      <p:sp>
        <p:nvSpPr>
          <p:cNvPr id="17" name="TextBox 16"/>
          <p:cNvSpPr txBox="1"/>
          <p:nvPr/>
        </p:nvSpPr>
        <p:spPr>
          <a:xfrm>
            <a:off x="6400800" y="3169666"/>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 operator must continuously decide:</a:t>
            </a:r>
          </a:p>
        </p:txBody>
      </p:sp>
      <p:sp>
        <p:nvSpPr>
          <p:cNvPr id="18" name="Rectangle 17"/>
          <p:cNvSpPr/>
          <p:nvPr/>
        </p:nvSpPr>
        <p:spPr>
          <a:xfrm>
            <a:off x="6400800" y="371830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626866"/>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Which categories attract the desired catchment?</a:t>
            </a:r>
          </a:p>
        </p:txBody>
      </p:sp>
      <p:sp>
        <p:nvSpPr>
          <p:cNvPr id="20" name="TextBox 19"/>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122–122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Reinvesting in the reasons people visit</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Which tenants deserve additional space?</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Which areas need improvement?</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Which activities generate repeat visits?</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Does incremental income justify reinvestment?</a:t>
            </a:r>
          </a:p>
        </p:txBody>
      </p:sp>
      <p:sp>
        <p:nvSpPr>
          <p:cNvPr id="19" name="TextBox 18"/>
          <p:cNvSpPr txBox="1"/>
          <p:nvPr/>
        </p:nvSpPr>
        <p:spPr>
          <a:xfrm>
            <a:off x="685800" y="3910075"/>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20" name="TextBox 19"/>
          <p:cNvSpPr txBox="1"/>
          <p:nvPr/>
        </p:nvSpPr>
        <p:spPr>
          <a:xfrm>
            <a:off x="685800" y="423138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retained commercial or hospitality assets, evaluate the operating proposition before increasing promotion.</a:t>
            </a:r>
          </a:p>
          <a:p>
            <a:pPr>
              <a:lnSpc>
                <a:spcPts val="2196"/>
              </a:lnSpc>
              <a:spcBef>
                <a:spcPts val="0"/>
              </a:spcBef>
              <a:spcAft>
                <a:spcPts val="0"/>
              </a:spcAft>
            </a:pPr>
            <a:r>
              <a:rPr sz="1800" b="0" i="0">
                <a:solidFill>
                  <a:srgbClr val="183A32"/>
                </a:solidFill>
                <a:latin typeface="Times New Roman"/>
              </a:rPr>
              <a:t>Measure repeat use, customer spending, occupancy quality, and net cash contribution.</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122–123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Turning a design concept into a</a:t>
            </a:r>
          </a:p>
          <a:p>
            <a:pPr>
              <a:lnSpc>
                <a:spcPts val="3502"/>
              </a:lnSpc>
              <a:spcBef>
                <a:spcPts val="0"/>
              </a:spcBef>
              <a:spcAft>
                <a:spcPts val="0"/>
              </a:spcAft>
            </a:pPr>
            <a:r>
              <a:rPr sz="3100" b="0" i="0">
                <a:solidFill>
                  <a:srgbClr val="153F35"/>
                </a:solidFill>
                <a:latin typeface="Arial"/>
              </a:rPr>
              <a:t>recognisable offer</a:t>
            </a:r>
          </a:p>
        </p:txBody>
      </p:sp>
      <p:cxnSp>
        <p:nvCxnSpPr>
          <p:cNvPr id="11" name="Connector 10"/>
          <p:cNvCxnSpPr/>
          <p:nvPr/>
        </p:nvCxnSpPr>
        <p:spPr>
          <a:xfrm>
            <a:off x="6062472" y="2169921"/>
            <a:ext cx="0" cy="344576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PRODUCT STRATEGY</a:t>
            </a:r>
          </a:p>
        </p:txBody>
      </p:sp>
      <p:sp>
        <p:nvSpPr>
          <p:cNvPr id="13" name="TextBox 12"/>
          <p:cNvSpPr txBox="1"/>
          <p:nvPr/>
        </p:nvSpPr>
        <p:spPr>
          <a:xfrm>
            <a:off x="685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In 2025, Agung Podomoro promoted The Garden</a:t>
            </a:r>
          </a:p>
          <a:p>
            <a:pPr>
              <a:lnSpc>
                <a:spcPts val="2196"/>
              </a:lnSpc>
              <a:spcBef>
                <a:spcPts val="0"/>
              </a:spcBef>
              <a:spcAft>
                <a:spcPts val="0"/>
              </a:spcAft>
            </a:pPr>
            <a:r>
              <a:rPr sz="1800" b="0" i="0">
                <a:solidFill>
                  <a:srgbClr val="183A32"/>
                </a:solidFill>
                <a:latin typeface="Times New Roman"/>
              </a:rPr>
              <a:t>House, incorporating courtyard design across several</a:t>
            </a:r>
          </a:p>
          <a:p>
            <a:pPr>
              <a:lnSpc>
                <a:spcPts val="2196"/>
              </a:lnSpc>
              <a:spcBef>
                <a:spcPts val="0"/>
              </a:spcBef>
              <a:spcAft>
                <a:spcPts val="0"/>
              </a:spcAft>
            </a:pPr>
            <a:r>
              <a:rPr sz="1800" b="0" i="0">
                <a:solidFill>
                  <a:srgbClr val="183A32"/>
                </a:solidFill>
                <a:latin typeface="Times New Roman"/>
              </a:rPr>
              <a:t>projects, including Podomoro Park Bandung and Kota</a:t>
            </a:r>
          </a:p>
          <a:p>
            <a:pPr>
              <a:lnSpc>
                <a:spcPts val="2196"/>
              </a:lnSpc>
              <a:spcBef>
                <a:spcPts val="0"/>
              </a:spcBef>
              <a:spcAft>
                <a:spcPts val="0"/>
              </a:spcAft>
            </a:pPr>
            <a:r>
              <a:rPr sz="1800" b="0" i="0">
                <a:solidFill>
                  <a:srgbClr val="183A32"/>
                </a:solidFill>
                <a:latin typeface="Times New Roman"/>
              </a:rPr>
              <a:t>Podomoro Tenjo.</a:t>
            </a:r>
          </a:p>
        </p:txBody>
      </p:sp>
      <p:sp>
        <p:nvSpPr>
          <p:cNvPr id="14" name="TextBox 13"/>
          <p:cNvSpPr txBox="1"/>
          <p:nvPr/>
        </p:nvSpPr>
        <p:spPr>
          <a:xfrm>
            <a:off x="685800" y="3812540"/>
            <a:ext cx="5074920" cy="1732787"/>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Its annual report also describes efficient unit</a:t>
            </a:r>
          </a:p>
          <a:p>
            <a:pPr>
              <a:lnSpc>
                <a:spcPts val="2196"/>
              </a:lnSpc>
              <a:spcBef>
                <a:spcPts val="0"/>
              </a:spcBef>
              <a:spcAft>
                <a:spcPts val="0"/>
              </a:spcAft>
            </a:pPr>
            <a:r>
              <a:rPr sz="1800" b="0" i="0">
                <a:solidFill>
                  <a:srgbClr val="183A32"/>
                </a:solidFill>
                <a:latin typeface="Times New Roman"/>
              </a:rPr>
              <a:t>configurations, differentiated price ranges, flexible</a:t>
            </a:r>
          </a:p>
          <a:p>
            <a:pPr>
              <a:lnSpc>
                <a:spcPts val="2196"/>
              </a:lnSpc>
              <a:spcBef>
                <a:spcPts val="0"/>
              </a:spcBef>
              <a:spcAft>
                <a:spcPts val="0"/>
              </a:spcAft>
            </a:pPr>
            <a:r>
              <a:rPr sz="1800" b="0" i="0">
                <a:solidFill>
                  <a:srgbClr val="183A32"/>
                </a:solidFill>
                <a:latin typeface="Times New Roman"/>
              </a:rPr>
              <a:t>payment arrangements, customer-database</a:t>
            </a:r>
          </a:p>
          <a:p>
            <a:pPr>
              <a:lnSpc>
                <a:spcPts val="2196"/>
              </a:lnSpc>
              <a:spcBef>
                <a:spcPts val="0"/>
              </a:spcBef>
              <a:spcAft>
                <a:spcPts val="0"/>
              </a:spcAft>
            </a:pPr>
            <a:r>
              <a:rPr sz="1800" b="0" i="0">
                <a:solidFill>
                  <a:srgbClr val="183A32"/>
                </a:solidFill>
                <a:latin typeface="Times New Roman"/>
              </a:rPr>
              <a:t>management, agent cooperation, and online booking</a:t>
            </a:r>
          </a:p>
          <a:p>
            <a:pPr>
              <a:lnSpc>
                <a:spcPts val="2196"/>
              </a:lnSpc>
              <a:spcBef>
                <a:spcPts val="0"/>
              </a:spcBef>
              <a:spcAft>
                <a:spcPts val="0"/>
              </a:spcAft>
            </a:pPr>
            <a:r>
              <a:rPr sz="1800" b="0" i="0">
                <a:solidFill>
                  <a:srgbClr val="183A32"/>
                </a:solidFill>
                <a:latin typeface="Times New Roman"/>
              </a:rPr>
              <a:t>development. Sources: Garden House announcement,</a:t>
            </a:r>
          </a:p>
          <a:p>
            <a:pPr>
              <a:lnSpc>
                <a:spcPts val="2196"/>
              </a:lnSpc>
              <a:spcBef>
                <a:spcPts val="0"/>
              </a:spcBef>
              <a:spcAft>
                <a:spcPts val="0"/>
              </a:spcAft>
            </a:pPr>
            <a:r>
              <a:rPr sz="1800" b="0" i="0">
                <a:solidFill>
                  <a:srgbClr val="183A32"/>
                </a:solidFill>
                <a:latin typeface="Times New Roman"/>
              </a:rPr>
              <a:t>2025 annual report, marketing and pricing.</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6" name="TextBox 15"/>
          <p:cNvSpPr txBox="1"/>
          <p:nvPr/>
        </p:nvSpPr>
        <p:spPr>
          <a:xfrm>
            <a:off x="6400800" y="251866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visible design feature provides a more concrete</a:t>
            </a:r>
          </a:p>
          <a:p>
            <a:pPr>
              <a:lnSpc>
                <a:spcPts val="2196"/>
              </a:lnSpc>
              <a:spcBef>
                <a:spcPts val="0"/>
              </a:spcBef>
              <a:spcAft>
                <a:spcPts val="0"/>
              </a:spcAft>
            </a:pPr>
            <a:r>
              <a:rPr sz="1800" b="0" i="0">
                <a:solidFill>
                  <a:srgbClr val="183A32"/>
                </a:solidFill>
                <a:latin typeface="Times New Roman"/>
              </a:rPr>
              <a:t>proposition than a broad claim about modern or</a:t>
            </a:r>
          </a:p>
          <a:p>
            <a:pPr>
              <a:lnSpc>
                <a:spcPts val="2196"/>
              </a:lnSpc>
              <a:spcBef>
                <a:spcPts val="0"/>
              </a:spcBef>
              <a:spcAft>
                <a:spcPts val="0"/>
              </a:spcAft>
            </a:pPr>
            <a:r>
              <a:rPr sz="1800" b="0" i="0">
                <a:solidFill>
                  <a:srgbClr val="183A32"/>
                </a:solidFill>
                <a:latin typeface="Times New Roman"/>
              </a:rPr>
              <a:t>sustainable living.</a:t>
            </a:r>
          </a:p>
        </p:txBody>
      </p:sp>
      <p:sp>
        <p:nvSpPr>
          <p:cNvPr id="17" name="TextBox 16"/>
          <p:cNvSpPr txBox="1"/>
          <p:nvPr/>
        </p:nvSpPr>
        <p:spPr>
          <a:xfrm>
            <a:off x="6400800" y="3561079"/>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a:t>
            </a:r>
          </a:p>
        </p:txBody>
      </p:sp>
      <p:sp>
        <p:nvSpPr>
          <p:cNvPr id="18" name="TextBox 17"/>
          <p:cNvSpPr txBox="1"/>
          <p:nvPr/>
        </p:nvSpPr>
        <p:spPr>
          <a:xfrm>
            <a:off x="6400800" y="3882389"/>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Customers can assess how the feature changes their</a:t>
            </a:r>
          </a:p>
          <a:p>
            <a:pPr>
              <a:lnSpc>
                <a:spcPts val="2196"/>
              </a:lnSpc>
              <a:spcBef>
                <a:spcPts val="0"/>
              </a:spcBef>
              <a:spcAft>
                <a:spcPts val="0"/>
              </a:spcAft>
            </a:pPr>
            <a:r>
              <a:rPr sz="1800" b="0" i="0">
                <a:solidFill>
                  <a:srgbClr val="183A32"/>
                </a:solidFill>
                <a:latin typeface="Times New Roman"/>
              </a:rPr>
              <a:t>daily experience: light, ventilation, privacy, usable</a:t>
            </a:r>
          </a:p>
          <a:p>
            <a:pPr>
              <a:lnSpc>
                <a:spcPts val="2196"/>
              </a:lnSpc>
              <a:spcBef>
                <a:spcPts val="0"/>
              </a:spcBef>
              <a:spcAft>
                <a:spcPts val="0"/>
              </a:spcAft>
            </a:pPr>
            <a:r>
              <a:rPr sz="1800" b="0" i="0">
                <a:solidFill>
                  <a:srgbClr val="183A32"/>
                </a:solidFill>
                <a:latin typeface="Times New Roman"/>
              </a:rPr>
              <a:t>space, and maintenance.</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122–123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Business trade-off</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distinctive feature must justify its cost and fit the target household. A courtyard is not automatically valuable in</a:t>
            </a:r>
          </a:p>
          <a:p>
            <a:pPr>
              <a:lnSpc>
                <a:spcPts val="2196"/>
              </a:lnSpc>
              <a:spcBef>
                <a:spcPts val="0"/>
              </a:spcBef>
              <a:spcAft>
                <a:spcPts val="0"/>
              </a:spcAft>
            </a:pPr>
            <a:r>
              <a:rPr sz="1800" b="0" i="0">
                <a:solidFill>
                  <a:srgbClr val="183A32"/>
                </a:solidFill>
                <a:latin typeface="Times New Roman"/>
              </a:rPr>
              <a:t>every plot configuration or price segment.</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123–124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288</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Bringing the demonstration closer to</a:t>
            </a:r>
          </a:p>
          <a:p>
            <a:pPr>
              <a:lnSpc>
                <a:spcPts val="3502"/>
              </a:lnSpc>
              <a:spcBef>
                <a:spcPts val="0"/>
              </a:spcBef>
              <a:spcAft>
                <a:spcPts val="0"/>
              </a:spcAft>
            </a:pPr>
            <a:r>
              <a:rPr sz="3100" b="0" i="0">
                <a:solidFill>
                  <a:srgbClr val="153F35"/>
                </a:solidFill>
                <a:latin typeface="Arial"/>
              </a:rPr>
              <a:t>buyers</a:t>
            </a:r>
          </a:p>
        </p:txBody>
      </p:sp>
      <p:cxnSp>
        <p:nvCxnSpPr>
          <p:cNvPr id="11" name="Connector 10"/>
          <p:cNvCxnSpPr/>
          <p:nvPr/>
        </p:nvCxnSpPr>
        <p:spPr>
          <a:xfrm>
            <a:off x="6062472" y="2169921"/>
            <a:ext cx="0" cy="2925319"/>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MARKETING EXECUTION</a:t>
            </a:r>
          </a:p>
        </p:txBody>
      </p:sp>
      <p:sp>
        <p:nvSpPr>
          <p:cNvPr id="13" name="TextBox 12"/>
          <p:cNvSpPr txBox="1"/>
          <p:nvPr/>
        </p:nvSpPr>
        <p:spPr>
          <a:xfrm>
            <a:off x="685800" y="251866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In October 2025, Kota Podomoro Tenjo opened two</a:t>
            </a:r>
          </a:p>
          <a:p>
            <a:pPr>
              <a:lnSpc>
                <a:spcPts val="2196"/>
              </a:lnSpc>
              <a:spcBef>
                <a:spcPts val="0"/>
              </a:spcBef>
              <a:spcAft>
                <a:spcPts val="0"/>
              </a:spcAft>
            </a:pPr>
            <a:r>
              <a:rPr sz="1800" b="0" i="0">
                <a:solidFill>
                  <a:srgbClr val="183A32"/>
                </a:solidFill>
                <a:latin typeface="Times New Roman"/>
              </a:rPr>
              <a:t>show units at its marketing gallery in Central Park,</a:t>
            </a:r>
          </a:p>
          <a:p>
            <a:pPr>
              <a:lnSpc>
                <a:spcPts val="2196"/>
              </a:lnSpc>
              <a:spcBef>
                <a:spcPts val="0"/>
              </a:spcBef>
              <a:spcAft>
                <a:spcPts val="0"/>
              </a:spcAft>
            </a:pPr>
            <a:r>
              <a:rPr sz="1800" b="0" i="0">
                <a:solidFill>
                  <a:srgbClr val="183A32"/>
                </a:solidFill>
                <a:latin typeface="Times New Roman"/>
              </a:rPr>
              <a:t>Jakarta. The launch included product-knowledge</a:t>
            </a:r>
          </a:p>
          <a:p>
            <a:pPr>
              <a:lnSpc>
                <a:spcPts val="2196"/>
              </a:lnSpc>
              <a:spcBef>
                <a:spcPts val="0"/>
              </a:spcBef>
              <a:spcAft>
                <a:spcPts val="0"/>
              </a:spcAft>
            </a:pPr>
            <a:r>
              <a:rPr sz="1800" b="0" i="0">
                <a:solidFill>
                  <a:srgbClr val="183A32"/>
                </a:solidFill>
                <a:latin typeface="Times New Roman"/>
              </a:rPr>
              <a:t>sessions and an agent gathering. Source: official</a:t>
            </a:r>
          </a:p>
          <a:p>
            <a:pPr>
              <a:lnSpc>
                <a:spcPts val="2196"/>
              </a:lnSpc>
              <a:spcBef>
                <a:spcPts val="0"/>
              </a:spcBef>
              <a:spcAft>
                <a:spcPts val="0"/>
              </a:spcAft>
            </a:pPr>
            <a:r>
              <a:rPr sz="1800" b="0" i="0">
                <a:solidFill>
                  <a:srgbClr val="183A32"/>
                </a:solidFill>
                <a:latin typeface="Times New Roman"/>
              </a:rPr>
              <a:t>show-unit announcement.</a:t>
            </a:r>
          </a:p>
        </p:txBody>
      </p:sp>
      <p:sp>
        <p:nvSpPr>
          <p:cNvPr id="14" name="TextBox 13"/>
          <p:cNvSpPr txBox="1"/>
          <p:nvPr/>
        </p:nvSpPr>
        <p:spPr>
          <a:xfrm>
            <a:off x="685800" y="4118864"/>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5" name="TextBox 14"/>
          <p:cNvSpPr txBox="1"/>
          <p:nvPr/>
        </p:nvSpPr>
        <p:spPr>
          <a:xfrm>
            <a:off x="685800" y="444017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a project outside the buyer’s regular travel pattern,</a:t>
            </a:r>
          </a:p>
          <a:p>
            <a:pPr>
              <a:lnSpc>
                <a:spcPts val="2196"/>
              </a:lnSpc>
              <a:spcBef>
                <a:spcPts val="0"/>
              </a:spcBef>
              <a:spcAft>
                <a:spcPts val="0"/>
              </a:spcAft>
            </a:pPr>
            <a:r>
              <a:rPr sz="1800" b="0" i="0">
                <a:solidFill>
                  <a:srgbClr val="183A32"/>
                </a:solidFill>
                <a:latin typeface="Times New Roman"/>
              </a:rPr>
              <a:t>the first site visit can be a significant obstacle.</a:t>
            </a:r>
          </a:p>
        </p:txBody>
      </p:sp>
      <p:sp>
        <p:nvSpPr>
          <p:cNvPr id="16" name="TextBox 15"/>
          <p:cNvSpPr txBox="1"/>
          <p:nvPr/>
        </p:nvSpPr>
        <p:spPr>
          <a:xfrm>
            <a:off x="6400800" y="2169921"/>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 accessible demonstration location can:</a:t>
            </a:r>
          </a:p>
        </p:txBody>
      </p:sp>
      <p:sp>
        <p:nvSpPr>
          <p:cNvPr id="17" name="Rectangle 16"/>
          <p:cNvSpPr/>
          <p:nvPr/>
        </p:nvSpPr>
        <p:spPr>
          <a:xfrm>
            <a:off x="6400800" y="27185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262712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Make initial product evaluation easier.</a:t>
            </a:r>
          </a:p>
        </p:txBody>
      </p:sp>
      <p:sp>
        <p:nvSpPr>
          <p:cNvPr id="19" name="Rectangle 18"/>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Help salespeople explain layouts and</a:t>
            </a:r>
          </a:p>
          <a:p>
            <a:pPr>
              <a:lnSpc>
                <a:spcPts val="2135"/>
              </a:lnSpc>
              <a:spcBef>
                <a:spcPts val="0"/>
              </a:spcBef>
              <a:spcAft>
                <a:spcPts val="0"/>
              </a:spcAft>
            </a:pPr>
            <a:r>
              <a:rPr sz="1750" b="0" i="0">
                <a:solidFill>
                  <a:srgbClr val="183A32"/>
                </a:solidFill>
                <a:latin typeface="Arial"/>
              </a:rPr>
              <a:t>specifications.</a:t>
            </a:r>
          </a:p>
        </p:txBody>
      </p:sp>
      <p:sp>
        <p:nvSpPr>
          <p:cNvPr id="21" name="Rectangle 20"/>
          <p:cNvSpPr/>
          <p:nvPr/>
        </p:nvSpPr>
        <p:spPr>
          <a:xfrm>
            <a:off x="6400800" y="3888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797172"/>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Train agents around a consistent proposition.</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123–124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289</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Bringing the demonstration closer to</a:t>
            </a:r>
          </a:p>
          <a:p>
            <a:pPr>
              <a:lnSpc>
                <a:spcPts val="3502"/>
              </a:lnSpc>
              <a:spcBef>
                <a:spcPts val="0"/>
              </a:spcBef>
              <a:spcAft>
                <a:spcPts val="0"/>
              </a:spcAft>
            </a:pPr>
            <a:r>
              <a:rPr sz="3100" b="0" i="0">
                <a:solidFill>
                  <a:srgbClr val="153F35"/>
                </a:solidFill>
                <a:latin typeface="Arial"/>
              </a:rPr>
              <a:t>buyers</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Qualify buyers before a longer project visit.</a:t>
            </a:r>
          </a:p>
        </p:txBody>
      </p:sp>
      <p:sp>
        <p:nvSpPr>
          <p:cNvPr id="13" name="TextBox 12"/>
          <p:cNvSpPr txBox="1"/>
          <p:nvPr/>
        </p:nvSpPr>
        <p:spPr>
          <a:xfrm>
            <a:off x="685800" y="264680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WHAT REMAINS UNPROVEN</a:t>
            </a:r>
          </a:p>
        </p:txBody>
      </p:sp>
      <p:sp>
        <p:nvSpPr>
          <p:cNvPr id="14" name="TextBox 13"/>
          <p:cNvSpPr txBox="1"/>
          <p:nvPr/>
        </p:nvSpPr>
        <p:spPr>
          <a:xfrm>
            <a:off x="685800" y="2968117"/>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announcement does not disclose incremental sales, acquisition cost, or conversion compared with other channels.</a:t>
            </a:r>
          </a:p>
        </p:txBody>
      </p:sp>
      <p:sp>
        <p:nvSpPr>
          <p:cNvPr id="15" name="TextBox 14"/>
          <p:cNvSpPr txBox="1"/>
          <p:nvPr/>
        </p:nvSpPr>
        <p:spPr>
          <a:xfrm>
            <a:off x="685800" y="345274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6" name="TextBox 15"/>
          <p:cNvSpPr txBox="1"/>
          <p:nvPr/>
        </p:nvSpPr>
        <p:spPr>
          <a:xfrm>
            <a:off x="685800" y="3774059"/>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Test demonstration spaces near the priority customer catchment—including employer locations where</a:t>
            </a:r>
          </a:p>
          <a:p>
            <a:pPr>
              <a:lnSpc>
                <a:spcPts val="2196"/>
              </a:lnSpc>
              <a:spcBef>
                <a:spcPts val="0"/>
              </a:spcBef>
              <a:spcAft>
                <a:spcPts val="0"/>
              </a:spcAft>
            </a:pPr>
            <a:r>
              <a:rPr sz="1800" b="0" i="0">
                <a:solidFill>
                  <a:srgbClr val="183A32"/>
                </a:solidFill>
                <a:latin typeface="Times New Roman"/>
              </a:rPr>
              <a:t>appropriate—before committing to a large permanent sales facility.</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124–124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290</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Borrowing specialist capability through</a:t>
            </a:r>
          </a:p>
          <a:p>
            <a:pPr>
              <a:lnSpc>
                <a:spcPts val="3502"/>
              </a:lnSpc>
              <a:spcBef>
                <a:spcPts val="0"/>
              </a:spcBef>
              <a:spcAft>
                <a:spcPts val="0"/>
              </a:spcAft>
            </a:pPr>
            <a:r>
              <a:rPr sz="3100" b="0" i="0">
                <a:solidFill>
                  <a:srgbClr val="153F35"/>
                </a:solidFill>
                <a:latin typeface="Arial"/>
              </a:rPr>
              <a:t>partnerships</a:t>
            </a:r>
          </a:p>
        </p:txBody>
      </p:sp>
      <p:cxnSp>
        <p:nvCxnSpPr>
          <p:cNvPr id="11" name="Connector 10"/>
          <p:cNvCxnSpPr/>
          <p:nvPr/>
        </p:nvCxnSpPr>
        <p:spPr>
          <a:xfrm>
            <a:off x="6062472" y="2169921"/>
            <a:ext cx="0" cy="2883409"/>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BUSINESS DEVELOPMENT</a:t>
            </a:r>
          </a:p>
        </p:txBody>
      </p:sp>
      <p:sp>
        <p:nvSpPr>
          <p:cNvPr id="13" name="TextBox 12"/>
          <p:cNvSpPr txBox="1"/>
          <p:nvPr/>
        </p:nvSpPr>
        <p:spPr>
          <a:xfrm>
            <a:off x="685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DUTI’s 2025 report describes a collaboration through</a:t>
            </a:r>
          </a:p>
          <a:p>
            <a:pPr>
              <a:lnSpc>
                <a:spcPts val="2196"/>
              </a:lnSpc>
              <a:spcBef>
                <a:spcPts val="0"/>
              </a:spcBef>
              <a:spcAft>
                <a:spcPts val="0"/>
              </a:spcAft>
            </a:pPr>
            <a:r>
              <a:rPr sz="1800" b="0" i="0">
                <a:solidFill>
                  <a:srgbClr val="183A32"/>
                </a:solidFill>
                <a:latin typeface="Times New Roman"/>
              </a:rPr>
              <a:t>a subsidiary with Sumitomo Forestry Indonesia for</a:t>
            </a:r>
          </a:p>
          <a:p>
            <a:pPr>
              <a:lnSpc>
                <a:spcPts val="2196"/>
              </a:lnSpc>
              <a:spcBef>
                <a:spcPts val="0"/>
              </a:spcBef>
              <a:spcAft>
                <a:spcPts val="0"/>
              </a:spcAft>
            </a:pPr>
            <a:r>
              <a:rPr sz="1800" b="0" i="0">
                <a:solidFill>
                  <a:srgbClr val="183A32"/>
                </a:solidFill>
                <a:latin typeface="Times New Roman"/>
              </a:rPr>
              <a:t>Kota Wisata Ecovia, including the initial Orlens</a:t>
            </a:r>
          </a:p>
          <a:p>
            <a:pPr>
              <a:lnSpc>
                <a:spcPts val="2196"/>
              </a:lnSpc>
              <a:spcBef>
                <a:spcPts val="0"/>
              </a:spcBef>
              <a:spcAft>
                <a:spcPts val="0"/>
              </a:spcAft>
            </a:pPr>
            <a:r>
              <a:rPr sz="1800" b="0" i="0">
                <a:solidFill>
                  <a:srgbClr val="183A32"/>
                </a:solidFill>
                <a:latin typeface="Times New Roman"/>
              </a:rPr>
              <a:t>cluster.</a:t>
            </a:r>
          </a:p>
        </p:txBody>
      </p:sp>
      <p:sp>
        <p:nvSpPr>
          <p:cNvPr id="14" name="TextBox 13"/>
          <p:cNvSpPr txBox="1"/>
          <p:nvPr/>
        </p:nvSpPr>
        <p:spPr>
          <a:xfrm>
            <a:off x="685800" y="3812540"/>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same report describes ARTOTEL Living World</a:t>
            </a:r>
          </a:p>
          <a:p>
            <a:pPr>
              <a:lnSpc>
                <a:spcPts val="2196"/>
              </a:lnSpc>
              <a:spcBef>
                <a:spcPts val="0"/>
              </a:spcBef>
              <a:spcAft>
                <a:spcPts val="0"/>
              </a:spcAft>
            </a:pPr>
            <a:r>
              <a:rPr sz="1800" b="0" i="0">
                <a:solidFill>
                  <a:srgbClr val="183A32"/>
                </a:solidFill>
                <a:latin typeface="Times New Roman"/>
              </a:rPr>
              <a:t>Kota Wisata, which began operating in August 2025.</a:t>
            </a:r>
          </a:p>
          <a:p>
            <a:pPr>
              <a:lnSpc>
                <a:spcPts val="2196"/>
              </a:lnSpc>
              <a:spcBef>
                <a:spcPts val="0"/>
              </a:spcBef>
              <a:spcAft>
                <a:spcPts val="0"/>
              </a:spcAft>
            </a:pPr>
            <a:r>
              <a:rPr sz="1800" b="0" i="0">
                <a:solidFill>
                  <a:srgbClr val="183A32"/>
                </a:solidFill>
                <a:latin typeface="Times New Roman"/>
              </a:rPr>
              <a:t>Source: DUTI 2025 annual report, management</a:t>
            </a:r>
          </a:p>
          <a:p>
            <a:pPr>
              <a:lnSpc>
                <a:spcPts val="2196"/>
              </a:lnSpc>
              <a:spcBef>
                <a:spcPts val="0"/>
              </a:spcBef>
              <a:spcAft>
                <a:spcPts val="0"/>
              </a:spcAft>
            </a:pPr>
            <a:r>
              <a:rPr sz="1800" b="0" i="0">
                <a:solidFill>
                  <a:srgbClr val="183A32"/>
                </a:solidFill>
                <a:latin typeface="Times New Roman"/>
              </a:rPr>
              <a:t>discussion and portfolio development.</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6" name="TextBox 15"/>
          <p:cNvSpPr txBox="1"/>
          <p:nvPr/>
        </p:nvSpPr>
        <p:spPr>
          <a:xfrm>
            <a:off x="6400800" y="251866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Different partners can supply different forms of</a:t>
            </a:r>
          </a:p>
          <a:p>
            <a:pPr>
              <a:lnSpc>
                <a:spcPts val="2196"/>
              </a:lnSpc>
              <a:spcBef>
                <a:spcPts val="0"/>
              </a:spcBef>
              <a:spcAft>
                <a:spcPts val="0"/>
              </a:spcAft>
            </a:pPr>
            <a:r>
              <a:rPr sz="1800" b="0" i="0">
                <a:solidFill>
                  <a:srgbClr val="183A32"/>
                </a:solidFill>
                <a:latin typeface="Times New Roman"/>
              </a:rPr>
              <a:t>credibility:</a:t>
            </a:r>
          </a:p>
        </p:txBody>
      </p:sp>
      <p:sp>
        <p:nvSpPr>
          <p:cNvPr id="17" name="Rectangle 16"/>
          <p:cNvSpPr/>
          <p:nvPr/>
        </p:nvSpPr>
        <p:spPr>
          <a:xfrm>
            <a:off x="6400800" y="334619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3254756"/>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Development or design expertise.</a:t>
            </a:r>
          </a:p>
        </p:txBody>
      </p:sp>
      <p:sp>
        <p:nvSpPr>
          <p:cNvPr id="19" name="Rectangle 18"/>
          <p:cNvSpPr/>
          <p:nvPr/>
        </p:nvSpPr>
        <p:spPr>
          <a:xfrm>
            <a:off x="6400800" y="379564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704209"/>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Retail and tenant relationships.</a:t>
            </a:r>
          </a:p>
        </p:txBody>
      </p:sp>
      <p:sp>
        <p:nvSpPr>
          <p:cNvPr id="21" name="Rectangle 20"/>
          <p:cNvSpPr/>
          <p:nvPr/>
        </p:nvSpPr>
        <p:spPr>
          <a:xfrm>
            <a:off x="6400800" y="424510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4153662"/>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Hotel operations.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124–124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291</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Borrowing specialist capability through</a:t>
            </a:r>
          </a:p>
          <a:p>
            <a:pPr>
              <a:lnSpc>
                <a:spcPts val="3502"/>
              </a:lnSpc>
              <a:spcBef>
                <a:spcPts val="0"/>
              </a:spcBef>
              <a:spcAft>
                <a:spcPts val="0"/>
              </a:spcAft>
            </a:pPr>
            <a:r>
              <a:rPr sz="3100" b="0" i="0">
                <a:solidFill>
                  <a:srgbClr val="153F35"/>
                </a:solidFill>
                <a:latin typeface="Arial"/>
              </a:rPr>
              <a:t>partnerships</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 recognisable customer proposition.</a:t>
            </a:r>
          </a:p>
        </p:txBody>
      </p:sp>
      <p:sp>
        <p:nvSpPr>
          <p:cNvPr id="13" name="TextBox 12"/>
          <p:cNvSpPr txBox="1"/>
          <p:nvPr/>
        </p:nvSpPr>
        <p:spPr>
          <a:xfrm>
            <a:off x="685800" y="264680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CAN BE EFFECTIVE</a:t>
            </a:r>
          </a:p>
        </p:txBody>
      </p:sp>
      <p:sp>
        <p:nvSpPr>
          <p:cNvPr id="14" name="TextBox 13"/>
          <p:cNvSpPr txBox="1"/>
          <p:nvPr/>
        </p:nvSpPr>
        <p:spPr>
          <a:xfrm>
            <a:off x="685800" y="2968117"/>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developer can add a function to the township without independently building every specialist capability.</a:t>
            </a:r>
          </a:p>
        </p:txBody>
      </p:sp>
      <p:sp>
        <p:nvSpPr>
          <p:cNvPr id="15" name="Rectangle 14"/>
          <p:cNvSpPr/>
          <p:nvPr/>
        </p:nvSpPr>
        <p:spPr>
          <a:xfrm>
            <a:off x="685800" y="3425317"/>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425317"/>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3507612"/>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trade-off</a:t>
            </a:r>
          </a:p>
        </p:txBody>
      </p:sp>
      <p:sp>
        <p:nvSpPr>
          <p:cNvPr id="18" name="TextBox 17"/>
          <p:cNvSpPr txBox="1"/>
          <p:nvPr/>
        </p:nvSpPr>
        <p:spPr>
          <a:xfrm>
            <a:off x="685800" y="3993959"/>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Partnerships require clear economics, control rights, service standards, and accountability. A well-known partner’s</a:t>
            </a:r>
          </a:p>
          <a:p>
            <a:pPr>
              <a:lnSpc>
                <a:spcPts val="2196"/>
              </a:lnSpc>
              <a:spcBef>
                <a:spcPts val="0"/>
              </a:spcBef>
              <a:spcAft>
                <a:spcPts val="0"/>
              </a:spcAft>
            </a:pPr>
            <a:r>
              <a:rPr sz="1800" b="0" i="0">
                <a:solidFill>
                  <a:srgbClr val="183A32"/>
                </a:solidFill>
                <a:latin typeface="Times New Roman"/>
              </a:rPr>
              <a:t>name does not itself establish attractive project returns.</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125–125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292</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Using operating destinations to deepen the</a:t>
            </a:r>
          </a:p>
          <a:p>
            <a:pPr>
              <a:lnSpc>
                <a:spcPts val="3502"/>
              </a:lnSpc>
              <a:spcBef>
                <a:spcPts val="0"/>
              </a:spcBef>
              <a:spcAft>
                <a:spcPts val="0"/>
              </a:spcAft>
            </a:pPr>
            <a:r>
              <a:rPr sz="3100" b="0" i="0">
                <a:solidFill>
                  <a:srgbClr val="153F35"/>
                </a:solidFill>
                <a:latin typeface="Arial"/>
              </a:rPr>
              <a:t>township proposition</a:t>
            </a:r>
          </a:p>
        </p:txBody>
      </p:sp>
      <p:cxnSp>
        <p:nvCxnSpPr>
          <p:cNvPr id="11" name="Connector 10"/>
          <p:cNvCxnSpPr/>
          <p:nvPr/>
        </p:nvCxnSpPr>
        <p:spPr>
          <a:xfrm>
            <a:off x="6062472" y="2169921"/>
            <a:ext cx="0" cy="316458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EXAMPLE</a:t>
            </a:r>
          </a:p>
        </p:txBody>
      </p:sp>
      <p:sp>
        <p:nvSpPr>
          <p:cNvPr id="13" name="TextBox 12"/>
          <p:cNvSpPr txBox="1"/>
          <p:nvPr/>
        </p:nvSpPr>
        <p:spPr>
          <a:xfrm>
            <a:off x="685800" y="251866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Living World’s official portfolio records its Kota</a:t>
            </a:r>
          </a:p>
          <a:p>
            <a:pPr>
              <a:lnSpc>
                <a:spcPts val="2196"/>
              </a:lnSpc>
              <a:spcBef>
                <a:spcPts val="0"/>
              </a:spcBef>
              <a:spcAft>
                <a:spcPts val="0"/>
              </a:spcAft>
            </a:pPr>
            <a:r>
              <a:rPr sz="1800" b="0" i="0">
                <a:solidFill>
                  <a:srgbClr val="183A32"/>
                </a:solidFill>
                <a:latin typeface="Times New Roman"/>
              </a:rPr>
              <a:t>Wisata opening in 2024 and Grand Wisata opening in</a:t>
            </a:r>
          </a:p>
          <a:p>
            <a:pPr>
              <a:lnSpc>
                <a:spcPts val="2196"/>
              </a:lnSpc>
              <a:spcBef>
                <a:spcPts val="0"/>
              </a:spcBef>
              <a:spcAft>
                <a:spcPts val="0"/>
              </a:spcAft>
            </a:pPr>
            <a:r>
              <a:rPr sz="1800" b="0" i="0">
                <a:solidFill>
                  <a:srgbClr val="183A32"/>
                </a:solidFill>
                <a:latin typeface="Times New Roman"/>
              </a:rPr>
              <a:t>February 2025. Its retail proposition combines</a:t>
            </a:r>
          </a:p>
          <a:p>
            <a:pPr>
              <a:lnSpc>
                <a:spcPts val="2196"/>
              </a:lnSpc>
              <a:spcBef>
                <a:spcPts val="0"/>
              </a:spcBef>
              <a:spcAft>
                <a:spcPts val="0"/>
              </a:spcAft>
            </a:pPr>
            <a:r>
              <a:rPr sz="1800" b="0" i="0">
                <a:solidFill>
                  <a:srgbClr val="183A32"/>
                </a:solidFill>
                <a:latin typeface="Times New Roman"/>
              </a:rPr>
              <a:t>home-related shopping, lifestyle, food, and</a:t>
            </a:r>
          </a:p>
          <a:p>
            <a:pPr>
              <a:lnSpc>
                <a:spcPts val="2196"/>
              </a:lnSpc>
              <a:spcBef>
                <a:spcPts val="0"/>
              </a:spcBef>
              <a:spcAft>
                <a:spcPts val="0"/>
              </a:spcAft>
            </a:pPr>
            <a:r>
              <a:rPr sz="1800" b="0" i="0">
                <a:solidFill>
                  <a:srgbClr val="183A32"/>
                </a:solidFill>
                <a:latin typeface="Times New Roman"/>
              </a:rPr>
              <a:t>entertainment.</a:t>
            </a:r>
          </a:p>
        </p:txBody>
      </p:sp>
      <p:sp>
        <p:nvSpPr>
          <p:cNvPr id="14" name="TextBox 13"/>
          <p:cNvSpPr txBox="1"/>
          <p:nvPr/>
        </p:nvSpPr>
        <p:spPr>
          <a:xfrm>
            <a:off x="685800" y="40914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Grand Wisata destination also used a</a:t>
            </a:r>
          </a:p>
          <a:p>
            <a:pPr>
              <a:lnSpc>
                <a:spcPts val="2196"/>
              </a:lnSpc>
              <a:spcBef>
                <a:spcPts val="0"/>
              </a:spcBef>
              <a:spcAft>
                <a:spcPts val="0"/>
              </a:spcAft>
            </a:pPr>
            <a:r>
              <a:rPr sz="1800" b="0" i="0">
                <a:solidFill>
                  <a:srgbClr val="183A32"/>
                </a:solidFill>
                <a:latin typeface="Times New Roman"/>
              </a:rPr>
              <a:t>purchase-linked rewards programme supported by the</a:t>
            </a:r>
          </a:p>
          <a:p>
            <a:pPr>
              <a:lnSpc>
                <a:spcPts val="2196"/>
              </a:lnSpc>
              <a:spcBef>
                <a:spcPts val="0"/>
              </a:spcBef>
              <a:spcAft>
                <a:spcPts val="0"/>
              </a:spcAft>
            </a:pPr>
            <a:r>
              <a:rPr sz="1800" b="0" i="0">
                <a:solidFill>
                  <a:srgbClr val="183A32"/>
                </a:solidFill>
                <a:latin typeface="Times New Roman"/>
              </a:rPr>
              <a:t>MyLiving application. Sources: Kawan Lama’s Living</a:t>
            </a:r>
          </a:p>
          <a:p>
            <a:pPr>
              <a:lnSpc>
                <a:spcPts val="2196"/>
              </a:lnSpc>
              <a:spcBef>
                <a:spcPts val="0"/>
              </a:spcBef>
              <a:spcAft>
                <a:spcPts val="0"/>
              </a:spcAft>
            </a:pPr>
            <a:r>
              <a:rPr sz="1800" b="0" i="0">
                <a:solidFill>
                  <a:srgbClr val="183A32"/>
                </a:solidFill>
                <a:latin typeface="Times New Roman"/>
              </a:rPr>
              <a:t>World portfolio, Grand Wisata rewards programme.</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6" name="TextBox 15"/>
          <p:cNvSpPr txBox="1"/>
          <p:nvPr/>
        </p:nvSpPr>
        <p:spPr>
          <a:xfrm>
            <a:off x="6400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functioning destination can give residents and</a:t>
            </a:r>
          </a:p>
          <a:p>
            <a:pPr>
              <a:lnSpc>
                <a:spcPts val="2196"/>
              </a:lnSpc>
              <a:spcBef>
                <a:spcPts val="0"/>
              </a:spcBef>
              <a:spcAft>
                <a:spcPts val="0"/>
              </a:spcAft>
            </a:pPr>
            <a:r>
              <a:rPr sz="1800" b="0" i="0">
                <a:solidFill>
                  <a:srgbClr val="183A32"/>
                </a:solidFill>
                <a:latin typeface="Times New Roman"/>
              </a:rPr>
              <a:t>surrounding customers recurring reasons to visit. A</a:t>
            </a:r>
          </a:p>
          <a:p>
            <a:pPr>
              <a:lnSpc>
                <a:spcPts val="2196"/>
              </a:lnSpc>
              <a:spcBef>
                <a:spcPts val="0"/>
              </a:spcBef>
              <a:spcAft>
                <a:spcPts val="0"/>
              </a:spcAft>
            </a:pPr>
            <a:r>
              <a:rPr sz="1800" b="0" i="0">
                <a:solidFill>
                  <a:srgbClr val="183A32"/>
                </a:solidFill>
                <a:latin typeface="Times New Roman"/>
              </a:rPr>
              <a:t>rewards programme can support identifiable customer</a:t>
            </a:r>
          </a:p>
          <a:p>
            <a:pPr>
              <a:lnSpc>
                <a:spcPts val="2196"/>
              </a:lnSpc>
              <a:spcBef>
                <a:spcPts val="0"/>
              </a:spcBef>
              <a:spcAft>
                <a:spcPts val="0"/>
              </a:spcAft>
            </a:pPr>
            <a:r>
              <a:rPr sz="1800" b="0" i="0">
                <a:solidFill>
                  <a:srgbClr val="183A32"/>
                </a:solidFill>
                <a:latin typeface="Times New Roman"/>
              </a:rPr>
              <a:t>relationships and repeat purchasing.</a:t>
            </a:r>
          </a:p>
        </p:txBody>
      </p:sp>
      <p:sp>
        <p:nvSpPr>
          <p:cNvPr id="17" name="TextBox 16"/>
          <p:cNvSpPr txBox="1"/>
          <p:nvPr/>
        </p:nvSpPr>
        <p:spPr>
          <a:xfrm>
            <a:off x="6400800" y="3839972"/>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QUESTION</a:t>
            </a:r>
          </a:p>
        </p:txBody>
      </p:sp>
      <p:sp>
        <p:nvSpPr>
          <p:cNvPr id="18" name="TextBox 17"/>
          <p:cNvSpPr txBox="1"/>
          <p:nvPr/>
        </p:nvSpPr>
        <p:spPr>
          <a:xfrm>
            <a:off x="6400800" y="416128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Does the asset earn an adequate direct return, improve</a:t>
            </a:r>
          </a:p>
          <a:p>
            <a:pPr>
              <a:lnSpc>
                <a:spcPts val="2196"/>
              </a:lnSpc>
              <a:spcBef>
                <a:spcPts val="0"/>
              </a:spcBef>
              <a:spcAft>
                <a:spcPts val="0"/>
              </a:spcAft>
            </a:pPr>
            <a:r>
              <a:rPr sz="1800" b="0" i="0">
                <a:solidFill>
                  <a:srgbClr val="183A32"/>
                </a:solidFill>
                <a:latin typeface="Times New Roman"/>
              </a:rPr>
              <a:t>surrounding property demand, or both? Those benefits</a:t>
            </a:r>
          </a:p>
          <a:p>
            <a:pPr>
              <a:lnSpc>
                <a:spcPts val="2196"/>
              </a:lnSpc>
              <a:spcBef>
                <a:spcPts val="0"/>
              </a:spcBef>
              <a:spcAft>
                <a:spcPts val="0"/>
              </a:spcAft>
            </a:pPr>
            <a:r>
              <a:rPr sz="1800" b="0" i="0">
                <a:solidFill>
                  <a:srgbClr val="183A32"/>
                </a:solidFill>
                <a:latin typeface="Times New Roman"/>
              </a:rPr>
              <a:t>must be tested separately.</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125–125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application</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Before launching a membership or loyalty programme, establish a service or destination that people already have a</a:t>
            </a:r>
          </a:p>
          <a:p>
            <a:pPr>
              <a:lnSpc>
                <a:spcPts val="2196"/>
              </a:lnSpc>
              <a:spcBef>
                <a:spcPts val="0"/>
              </a:spcBef>
              <a:spcAft>
                <a:spcPts val="0"/>
              </a:spcAft>
            </a:pPr>
            <a:r>
              <a:rPr sz="1800" b="0" i="0">
                <a:solidFill>
                  <a:srgbClr val="183A32"/>
                </a:solidFill>
                <a:latin typeface="Times New Roman"/>
              </a:rPr>
              <a:t>reason to use repeatedly.</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125–126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Segmenting the payment proposition</a:t>
            </a:r>
          </a:p>
        </p:txBody>
      </p:sp>
      <p:cxnSp>
        <p:nvCxnSpPr>
          <p:cNvPr id="11" name="Connector 10"/>
          <p:cNvCxnSpPr/>
          <p:nvPr/>
        </p:nvCxnSpPr>
        <p:spPr>
          <a:xfrm>
            <a:off x="6062472" y="2084831"/>
            <a:ext cx="0" cy="303885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CUSTOMER BEHAVIOUR</a:t>
            </a:r>
          </a:p>
        </p:txBody>
      </p:sp>
      <p:sp>
        <p:nvSpPr>
          <p:cNvPr id="13" name="TextBox 12"/>
          <p:cNvSpPr txBox="1"/>
          <p:nvPr/>
        </p:nvSpPr>
        <p:spPr>
          <a:xfrm>
            <a:off x="685800" y="243357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ASRI’s 1H2025 investor presentation shows a</a:t>
            </a:r>
          </a:p>
          <a:p>
            <a:pPr>
              <a:lnSpc>
                <a:spcPts val="2196"/>
              </a:lnSpc>
              <a:spcBef>
                <a:spcPts val="0"/>
              </a:spcBef>
              <a:spcAft>
                <a:spcPts val="0"/>
              </a:spcAft>
            </a:pPr>
            <a:r>
              <a:rPr sz="1800" b="0" i="0">
                <a:solidFill>
                  <a:srgbClr val="183A32"/>
                </a:solidFill>
                <a:latin typeface="Times New Roman"/>
              </a:rPr>
              <a:t>materially different payment mix between its locations:</a:t>
            </a:r>
          </a:p>
        </p:txBody>
      </p:sp>
      <p:sp>
        <p:nvSpPr>
          <p:cNvPr id="14" name="Rectangle 13"/>
          <p:cNvSpPr/>
          <p:nvPr/>
        </p:nvSpPr>
        <p:spPr>
          <a:xfrm>
            <a:off x="685800" y="326110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169666"/>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Alam Sutera: approximately 47.6% cash</a:t>
            </a:r>
          </a:p>
          <a:p>
            <a:pPr>
              <a:lnSpc>
                <a:spcPts val="2135"/>
              </a:lnSpc>
              <a:spcBef>
                <a:spcPts val="0"/>
              </a:spcBef>
              <a:spcAft>
                <a:spcPts val="0"/>
              </a:spcAft>
            </a:pPr>
            <a:r>
              <a:rPr sz="1750" b="0" i="0">
                <a:solidFill>
                  <a:srgbClr val="183A32"/>
                </a:solidFill>
                <a:latin typeface="Arial"/>
              </a:rPr>
              <a:t>instalments and 43.7% mortgages.</a:t>
            </a:r>
          </a:p>
        </p:txBody>
      </p:sp>
      <p:sp>
        <p:nvSpPr>
          <p:cNvPr id="16" name="Rectangle 15"/>
          <p:cNvSpPr/>
          <p:nvPr/>
        </p:nvSpPr>
        <p:spPr>
          <a:xfrm>
            <a:off x="685800" y="398170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89026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Suvarna Sutera: approximately 22.9% cash</a:t>
            </a:r>
          </a:p>
          <a:p>
            <a:pPr>
              <a:lnSpc>
                <a:spcPts val="2135"/>
              </a:lnSpc>
              <a:spcBef>
                <a:spcPts val="0"/>
              </a:spcBef>
              <a:spcAft>
                <a:spcPts val="0"/>
              </a:spcAft>
            </a:pPr>
            <a:r>
              <a:rPr sz="1750" b="0" i="0">
                <a:solidFill>
                  <a:srgbClr val="183A32"/>
                </a:solidFill>
                <a:latin typeface="Arial"/>
              </a:rPr>
              <a:t>instalments and 67.4% mortgages.</a:t>
            </a:r>
          </a:p>
        </p:txBody>
      </p:sp>
      <p:sp>
        <p:nvSpPr>
          <p:cNvPr id="18" name="TextBox 17"/>
          <p:cNvSpPr txBox="1"/>
          <p:nvPr/>
        </p:nvSpPr>
        <p:spPr>
          <a:xfrm>
            <a:off x="6400800" y="2084831"/>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are period-specific sales-payment profiles, not</a:t>
            </a:r>
          </a:p>
          <a:p>
            <a:pPr>
              <a:lnSpc>
                <a:spcPts val="2196"/>
              </a:lnSpc>
              <a:spcBef>
                <a:spcPts val="0"/>
              </a:spcBef>
              <a:spcAft>
                <a:spcPts val="0"/>
              </a:spcAft>
            </a:pPr>
            <a:r>
              <a:rPr sz="1800" b="0" i="0">
                <a:solidFill>
                  <a:srgbClr val="183A32"/>
                </a:solidFill>
                <a:latin typeface="Times New Roman"/>
              </a:rPr>
              <a:t>complete demographic descriptions. Source: ASRI</a:t>
            </a:r>
          </a:p>
          <a:p>
            <a:pPr>
              <a:lnSpc>
                <a:spcPts val="2196"/>
              </a:lnSpc>
              <a:spcBef>
                <a:spcPts val="0"/>
              </a:spcBef>
              <a:spcAft>
                <a:spcPts val="0"/>
              </a:spcAft>
            </a:pPr>
            <a:r>
              <a:rPr sz="1800" b="0" i="0">
                <a:solidFill>
                  <a:srgbClr val="183A32"/>
                </a:solidFill>
                <a:latin typeface="Times New Roman"/>
              </a:rPr>
              <a:t>investor presentation, payment-profile analysis.</a:t>
            </a:r>
          </a:p>
        </p:txBody>
      </p:sp>
      <p:sp>
        <p:nvSpPr>
          <p:cNvPr id="19" name="TextBox 18"/>
          <p:cNvSpPr txBox="1"/>
          <p:nvPr/>
        </p:nvSpPr>
        <p:spPr>
          <a:xfrm>
            <a:off x="6400800" y="3127247"/>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MATTERS — ANALYSIS</a:t>
            </a:r>
          </a:p>
        </p:txBody>
      </p:sp>
      <p:sp>
        <p:nvSpPr>
          <p:cNvPr id="20" name="TextBox 19"/>
          <p:cNvSpPr txBox="1"/>
          <p:nvPr/>
        </p:nvSpPr>
        <p:spPr>
          <a:xfrm>
            <a:off x="6400800" y="3448558"/>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Two projects within one company can require different</a:t>
            </a:r>
          </a:p>
          <a:p>
            <a:pPr>
              <a:lnSpc>
                <a:spcPts val="2196"/>
              </a:lnSpc>
              <a:spcBef>
                <a:spcPts val="0"/>
              </a:spcBef>
              <a:spcAft>
                <a:spcPts val="0"/>
              </a:spcAft>
            </a:pPr>
            <a:r>
              <a:rPr sz="1800" b="0" i="0">
                <a:solidFill>
                  <a:srgbClr val="183A32"/>
                </a:solidFill>
                <a:latin typeface="Times New Roman"/>
              </a:rPr>
              <a:t>conversion systems.</a:t>
            </a:r>
          </a:p>
        </p:txBody>
      </p:sp>
      <p:sp>
        <p:nvSpPr>
          <p:cNvPr id="21" name="TextBox 20"/>
          <p:cNvSpPr txBox="1"/>
          <p:nvPr/>
        </p:nvSpPr>
        <p:spPr>
          <a:xfrm>
            <a:off x="6400800" y="4184649"/>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mortgage-dependent project needs particular</a:t>
            </a:r>
          </a:p>
          <a:p>
            <a:pPr>
              <a:lnSpc>
                <a:spcPts val="2196"/>
              </a:lnSpc>
              <a:spcBef>
                <a:spcPts val="0"/>
              </a:spcBef>
              <a:spcAft>
                <a:spcPts val="0"/>
              </a:spcAft>
            </a:pPr>
            <a:r>
              <a:rPr sz="1800" b="0" i="0">
                <a:solidFill>
                  <a:srgbClr val="183A32"/>
                </a:solidFill>
                <a:latin typeface="Times New Roman"/>
              </a:rPr>
              <a:t>attention to bank approval, documentation, eligibility,</a:t>
            </a:r>
          </a:p>
          <a:p>
            <a:pPr>
              <a:lnSpc>
                <a:spcPts val="2196"/>
              </a:lnSpc>
              <a:spcBef>
                <a:spcPts val="0"/>
              </a:spcBef>
              <a:spcAft>
                <a:spcPts val="0"/>
              </a:spcAft>
            </a:pPr>
            <a:r>
              <a:rPr sz="1800" b="0" i="0">
                <a:solidFill>
                  <a:srgbClr val="183A32"/>
                </a:solidFill>
                <a:latin typeface="Times New Roman"/>
              </a:rPr>
              <a:t>and payment stability.</a:t>
            </a:r>
          </a:p>
        </p:txBody>
      </p:sp>
      <p:sp>
        <p:nvSpPr>
          <p:cNvPr id="22" name="TextBox 2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125–126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Segmenting the payment proposition</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project with greater instalment usage needs close attention to collection schedules and the developer’s financing</a:t>
            </a:r>
          </a:p>
          <a:p>
            <a:pPr>
              <a:lnSpc>
                <a:spcPts val="2196"/>
              </a:lnSpc>
              <a:spcBef>
                <a:spcPts val="0"/>
              </a:spcBef>
              <a:spcAft>
                <a:spcPts val="0"/>
              </a:spcAft>
            </a:pPr>
            <a:r>
              <a:rPr sz="1800" b="0" i="0">
                <a:solidFill>
                  <a:srgbClr val="183A32"/>
                </a:solidFill>
                <a:latin typeface="Times New Roman"/>
              </a:rPr>
              <a:t>exposure.</a:t>
            </a:r>
          </a:p>
        </p:txBody>
      </p:sp>
      <p:sp>
        <p:nvSpPr>
          <p:cNvPr id="12" name="TextBox 11"/>
          <p:cNvSpPr txBox="1"/>
          <p:nvPr/>
        </p:nvSpPr>
        <p:spPr>
          <a:xfrm>
            <a:off x="685800" y="284835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IMPLICATION</a:t>
            </a:r>
          </a:p>
        </p:txBody>
      </p:sp>
      <p:sp>
        <p:nvSpPr>
          <p:cNvPr id="13" name="TextBox 12"/>
          <p:cNvSpPr txBox="1"/>
          <p:nvPr/>
        </p:nvSpPr>
        <p:spPr>
          <a:xfrm>
            <a:off x="685800" y="316966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corporate identity can remain consistent while the payment proposition and sales conversation differ by market.</a:t>
            </a:r>
          </a:p>
        </p:txBody>
      </p:sp>
      <p:sp>
        <p:nvSpPr>
          <p:cNvPr id="14" name="TextBox 13"/>
          <p:cNvSpPr txBox="1"/>
          <p:nvPr/>
        </p:nvSpPr>
        <p:spPr>
          <a:xfrm>
            <a:off x="685800" y="365429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5" name="TextBox 14"/>
          <p:cNvSpPr txBox="1"/>
          <p:nvPr/>
        </p:nvSpPr>
        <p:spPr>
          <a:xfrm>
            <a:off x="685800" y="3975608"/>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Segment by financial behaviour as well as age and income.</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126–127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A successful launch can materially change the</a:t>
            </a:r>
          </a:p>
          <a:p>
            <a:pPr>
              <a:lnSpc>
                <a:spcPts val="3502"/>
              </a:lnSpc>
              <a:spcBef>
                <a:spcPts val="0"/>
              </a:spcBef>
              <a:spcAft>
                <a:spcPts val="0"/>
              </a:spcAft>
            </a:pPr>
            <a:r>
              <a:rPr sz="3100" b="0" i="0">
                <a:solidFill>
                  <a:srgbClr val="153F35"/>
                </a:solidFill>
                <a:latin typeface="Arial"/>
              </a:rPr>
              <a:t>sales mix</a:t>
            </a:r>
          </a:p>
        </p:txBody>
      </p:sp>
      <p:cxnSp>
        <p:nvCxnSpPr>
          <p:cNvPr id="11" name="Connector 10"/>
          <p:cNvCxnSpPr/>
          <p:nvPr/>
        </p:nvCxnSpPr>
        <p:spPr>
          <a:xfrm>
            <a:off x="6062472" y="2169921"/>
            <a:ext cx="0" cy="316458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PERFORMANCE</a:t>
            </a:r>
          </a:p>
        </p:txBody>
      </p:sp>
      <p:sp>
        <p:nvSpPr>
          <p:cNvPr id="13" name="TextBox 12"/>
          <p:cNvSpPr txBox="1"/>
          <p:nvPr/>
        </p:nvSpPr>
        <p:spPr>
          <a:xfrm>
            <a:off x="685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ASRI reported approximately Rp1.39 trillion in</a:t>
            </a:r>
          </a:p>
          <a:p>
            <a:pPr>
              <a:lnSpc>
                <a:spcPts val="2196"/>
              </a:lnSpc>
              <a:spcBef>
                <a:spcPts val="0"/>
              </a:spcBef>
              <a:spcAft>
                <a:spcPts val="0"/>
              </a:spcAft>
            </a:pPr>
            <a:r>
              <a:rPr sz="1800" b="0" i="0">
                <a:solidFill>
                  <a:srgbClr val="183A32"/>
                </a:solidFill>
                <a:latin typeface="Times New Roman"/>
              </a:rPr>
              <a:t>1H2025 marketing sales. Its presentation identified</a:t>
            </a:r>
          </a:p>
          <a:p>
            <a:pPr>
              <a:lnSpc>
                <a:spcPts val="2196"/>
              </a:lnSpc>
              <a:spcBef>
                <a:spcPts val="0"/>
              </a:spcBef>
              <a:spcAft>
                <a:spcPts val="0"/>
              </a:spcAft>
            </a:pPr>
            <a:r>
              <a:rPr sz="1800" b="0" i="0">
                <a:solidFill>
                  <a:srgbClr val="183A32"/>
                </a:solidFill>
                <a:latin typeface="Times New Roman"/>
              </a:rPr>
              <a:t>Sutera Rasuna as contributing approximately 43% of</a:t>
            </a:r>
          </a:p>
          <a:p>
            <a:pPr>
              <a:lnSpc>
                <a:spcPts val="2196"/>
              </a:lnSpc>
              <a:spcBef>
                <a:spcPts val="0"/>
              </a:spcBef>
              <a:spcAft>
                <a:spcPts val="0"/>
              </a:spcAft>
            </a:pPr>
            <a:r>
              <a:rPr sz="1800" b="0" i="0">
                <a:solidFill>
                  <a:srgbClr val="183A32"/>
                </a:solidFill>
                <a:latin typeface="Times New Roman"/>
              </a:rPr>
              <a:t>residential marketing sales.</a:t>
            </a:r>
          </a:p>
        </p:txBody>
      </p:sp>
      <p:sp>
        <p:nvSpPr>
          <p:cNvPr id="14" name="TextBox 13"/>
          <p:cNvSpPr txBox="1"/>
          <p:nvPr/>
        </p:nvSpPr>
        <p:spPr>
          <a:xfrm>
            <a:off x="685800" y="3812540"/>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Its 2025 annual report describes market research,</a:t>
            </a:r>
          </a:p>
          <a:p>
            <a:pPr>
              <a:lnSpc>
                <a:spcPts val="2196"/>
              </a:lnSpc>
              <a:spcBef>
                <a:spcPts val="0"/>
              </a:spcBef>
              <a:spcAft>
                <a:spcPts val="0"/>
              </a:spcAft>
            </a:pPr>
            <a:r>
              <a:rPr sz="1800" b="0" i="0">
                <a:solidFill>
                  <a:srgbClr val="183A32"/>
                </a:solidFill>
                <a:latin typeface="Times New Roman"/>
              </a:rPr>
              <a:t>product variation across prices, show units,</a:t>
            </a:r>
          </a:p>
          <a:p>
            <a:pPr>
              <a:lnSpc>
                <a:spcPts val="2196"/>
              </a:lnSpc>
              <a:spcBef>
                <a:spcPts val="0"/>
              </a:spcBef>
              <a:spcAft>
                <a:spcPts val="0"/>
              </a:spcAft>
            </a:pPr>
            <a:r>
              <a:rPr sz="1800" b="0" i="0">
                <a:solidFill>
                  <a:srgbClr val="183A32"/>
                </a:solidFill>
                <a:latin typeface="Times New Roman"/>
              </a:rPr>
              <a:t>exhibitions, strategic-location media, and digital</a:t>
            </a:r>
          </a:p>
          <a:p>
            <a:pPr>
              <a:lnSpc>
                <a:spcPts val="2196"/>
              </a:lnSpc>
              <a:spcBef>
                <a:spcPts val="0"/>
              </a:spcBef>
              <a:spcAft>
                <a:spcPts val="0"/>
              </a:spcAft>
            </a:pPr>
            <a:r>
              <a:rPr sz="1800" b="0" i="0">
                <a:solidFill>
                  <a:srgbClr val="183A32"/>
                </a:solidFill>
                <a:latin typeface="Times New Roman"/>
              </a:rPr>
              <a:t>channels. Sources: investor presentation, annual report,</a:t>
            </a:r>
          </a:p>
          <a:p>
            <a:pPr>
              <a:lnSpc>
                <a:spcPts val="2196"/>
              </a:lnSpc>
              <a:spcBef>
                <a:spcPts val="0"/>
              </a:spcBef>
              <a:spcAft>
                <a:spcPts val="0"/>
              </a:spcAft>
            </a:pPr>
            <a:r>
              <a:rPr sz="1800" b="0" i="0">
                <a:solidFill>
                  <a:srgbClr val="183A32"/>
                </a:solidFill>
                <a:latin typeface="Times New Roman"/>
              </a:rPr>
              <a:t>marketing discussion.</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6" name="TextBox 15"/>
          <p:cNvSpPr txBox="1"/>
          <p:nvPr/>
        </p:nvSpPr>
        <p:spPr>
          <a:xfrm>
            <a:off x="6400800" y="251866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performance of one relevant release can matter</a:t>
            </a:r>
          </a:p>
          <a:p>
            <a:pPr>
              <a:lnSpc>
                <a:spcPts val="2196"/>
              </a:lnSpc>
              <a:spcBef>
                <a:spcPts val="0"/>
              </a:spcBef>
              <a:spcAft>
                <a:spcPts val="0"/>
              </a:spcAft>
            </a:pPr>
            <a:r>
              <a:rPr sz="1800" b="0" i="0">
                <a:solidFill>
                  <a:srgbClr val="183A32"/>
                </a:solidFill>
                <a:latin typeface="Times New Roman"/>
              </a:rPr>
              <a:t>more than the total number of campaigns.</a:t>
            </a:r>
          </a:p>
        </p:txBody>
      </p:sp>
      <p:sp>
        <p:nvSpPr>
          <p:cNvPr id="17" name="TextBox 16"/>
          <p:cNvSpPr txBox="1"/>
          <p:nvPr/>
        </p:nvSpPr>
        <p:spPr>
          <a:xfrm>
            <a:off x="6400800" y="3254756"/>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useful research question is whether the release filled</a:t>
            </a:r>
          </a:p>
          <a:p>
            <a:pPr>
              <a:lnSpc>
                <a:spcPts val="2196"/>
              </a:lnSpc>
              <a:spcBef>
                <a:spcPts val="0"/>
              </a:spcBef>
              <a:spcAft>
                <a:spcPts val="0"/>
              </a:spcAft>
            </a:pPr>
            <a:r>
              <a:rPr sz="1800" b="0" i="0">
                <a:solidFill>
                  <a:srgbClr val="183A32"/>
                </a:solidFill>
                <a:latin typeface="Times New Roman"/>
              </a:rPr>
              <a:t>a gap in price, layout, location, financing, or available</a:t>
            </a:r>
          </a:p>
          <a:p>
            <a:pPr>
              <a:lnSpc>
                <a:spcPts val="2196"/>
              </a:lnSpc>
              <a:spcBef>
                <a:spcPts val="0"/>
              </a:spcBef>
              <a:spcAft>
                <a:spcPts val="0"/>
              </a:spcAft>
            </a:pPr>
            <a:r>
              <a:rPr sz="1800" b="0" i="0">
                <a:solidFill>
                  <a:srgbClr val="183A32"/>
                </a:solidFill>
                <a:latin typeface="Times New Roman"/>
              </a:rPr>
              <a:t>inventory.</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126–127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Evidence limit</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disclosures do not isolate which of those factors drove Sutera Rasuna’s contribution.</a:t>
            </a:r>
          </a:p>
        </p:txBody>
      </p:sp>
      <p:sp>
        <p:nvSpPr>
          <p:cNvPr id="12" name="TextBox 11"/>
          <p:cNvSpPr txBox="1"/>
          <p:nvPr/>
        </p:nvSpPr>
        <p:spPr>
          <a:xfrm>
            <a:off x="685800" y="25694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3" name="TextBox 12"/>
          <p:cNvSpPr txBox="1"/>
          <p:nvPr/>
        </p:nvSpPr>
        <p:spPr>
          <a:xfrm>
            <a:off x="685800" y="28907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Compare product cohorts. Identify which configurations convert qualified demand into collected sales, then adjust</a:t>
            </a:r>
          </a:p>
          <a:p>
            <a:pPr>
              <a:lnSpc>
                <a:spcPts val="2196"/>
              </a:lnSpc>
              <a:spcBef>
                <a:spcPts val="0"/>
              </a:spcBef>
              <a:spcAft>
                <a:spcPts val="0"/>
              </a:spcAft>
            </a:pPr>
            <a:r>
              <a:rPr sz="1800" b="0" i="0">
                <a:solidFill>
                  <a:srgbClr val="183A32"/>
                </a:solidFill>
                <a:latin typeface="Times New Roman"/>
              </a:rPr>
              <a:t>subsequent releases.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127–128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298</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Building a portfolio of customer</a:t>
            </a:r>
          </a:p>
          <a:p>
            <a:pPr>
              <a:lnSpc>
                <a:spcPts val="3502"/>
              </a:lnSpc>
              <a:spcBef>
                <a:spcPts val="0"/>
              </a:spcBef>
              <a:spcAft>
                <a:spcPts val="0"/>
              </a:spcAft>
            </a:pPr>
            <a:r>
              <a:rPr sz="3100" b="0" i="0">
                <a:solidFill>
                  <a:srgbClr val="153F35"/>
                </a:solidFill>
                <a:latin typeface="Arial"/>
              </a:rPr>
              <a:t>propositions</a:t>
            </a:r>
          </a:p>
        </p:txBody>
      </p:sp>
      <p:sp>
        <p:nvSpPr>
          <p:cNvPr id="11" name="TextBox 10"/>
          <p:cNvSpPr txBox="1"/>
          <p:nvPr/>
        </p:nvSpPr>
        <p:spPr>
          <a:xfrm>
            <a:off x="685800" y="219735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PRODUCT SEGMENTATION</a:t>
            </a:r>
          </a:p>
        </p:txBody>
      </p:sp>
      <p:sp>
        <p:nvSpPr>
          <p:cNvPr id="12" name="TextBox 11"/>
          <p:cNvSpPr txBox="1"/>
          <p:nvPr/>
        </p:nvSpPr>
        <p:spPr>
          <a:xfrm>
            <a:off x="685800" y="251866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JRPT’s FY2024 sales announcement presented materially different offers:</a:t>
            </a:r>
          </a:p>
        </p:txBody>
      </p:sp>
      <p:sp>
        <p:nvSpPr>
          <p:cNvPr id="13" name="Rectangle 12"/>
          <p:cNvSpPr/>
          <p:nvPr/>
        </p:nvSpPr>
        <p:spPr>
          <a:xfrm>
            <a:off x="685800" y="306730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97586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Aura–Discovery Flamine: homes in an established environment at approximately Rp4.8–6.1 billion.</a:t>
            </a:r>
          </a:p>
        </p:txBody>
      </p:sp>
      <p:sp>
        <p:nvSpPr>
          <p:cNvPr id="15" name="Rectangle 14"/>
          <p:cNvSpPr/>
          <p:nvPr/>
        </p:nvSpPr>
        <p:spPr>
          <a:xfrm>
            <a:off x="685800" y="351675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42531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Thalassa at Puri Jaya: approximately Rp588–730 million.</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Kasuari Straits: housing combined with entrepreneurial space, starting around</a:t>
            </a:r>
          </a:p>
        </p:txBody>
      </p:sp>
      <p:sp>
        <p:nvSpPr>
          <p:cNvPr id="19" name="TextBox 18"/>
          <p:cNvSpPr txBox="1"/>
          <p:nvPr/>
        </p:nvSpPr>
        <p:spPr>
          <a:xfrm>
            <a:off x="685800" y="432422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Rp490 million.</a:t>
            </a:r>
          </a:p>
        </p:txBody>
      </p:sp>
      <p:sp>
        <p:nvSpPr>
          <p:cNvPr id="20" name="TextBox 19"/>
          <p:cNvSpPr txBox="1"/>
          <p:nvPr/>
        </p:nvSpPr>
        <p:spPr>
          <a:xfrm>
            <a:off x="685800" y="4781423"/>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are historical disclosed offers with differing specifications and terms. Source: JRPT FY2024 marketing-sales</a:t>
            </a:r>
          </a:p>
          <a:p>
            <a:pPr>
              <a:lnSpc>
                <a:spcPts val="2196"/>
              </a:lnSpc>
              <a:spcBef>
                <a:spcPts val="0"/>
              </a:spcBef>
              <a:spcAft>
                <a:spcPts val="0"/>
              </a:spcAft>
            </a:pPr>
            <a:r>
              <a:rPr sz="1800" b="0" i="0">
                <a:solidFill>
                  <a:srgbClr val="183A32"/>
                </a:solidFill>
                <a:latin typeface="Times New Roman"/>
              </a:rPr>
              <a:t>announcement.</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127–128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Brand strategy — analytical interpretation</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company does not rely on one universal meaning of “aspirational housing.”</a:t>
            </a:r>
          </a:p>
        </p:txBody>
      </p:sp>
      <p:sp>
        <p:nvSpPr>
          <p:cNvPr id="12" name="TextBox 11"/>
          <p:cNvSpPr txBox="1"/>
          <p:nvPr/>
        </p:nvSpPr>
        <p:spPr>
          <a:xfrm>
            <a:off x="685800" y="254203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 translates aspiration into different practical outcomes:</a:t>
            </a:r>
          </a:p>
        </p:txBody>
      </p:sp>
      <p:sp>
        <p:nvSpPr>
          <p:cNvPr id="13" name="Rectangle 12"/>
          <p:cNvSpPr/>
          <p:nvPr/>
        </p:nvSpPr>
        <p:spPr>
          <a:xfrm>
            <a:off x="685800" y="30906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9992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Established family convenience.</a:t>
            </a:r>
          </a:p>
        </p:txBody>
      </p:sp>
      <p:sp>
        <p:nvSpPr>
          <p:cNvPr id="15" name="Rectangle 14"/>
          <p:cNvSpPr/>
          <p:nvPr/>
        </p:nvSpPr>
        <p:spPr>
          <a:xfrm>
            <a:off x="685800" y="35401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4486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Accessible home ownership.</a:t>
            </a:r>
          </a:p>
        </p:txBody>
      </p:sp>
      <p:sp>
        <p:nvSpPr>
          <p:cNvPr id="17" name="Rectangle 16"/>
          <p:cNvSpPr/>
          <p:nvPr/>
        </p:nvSpPr>
        <p:spPr>
          <a:xfrm>
            <a:off x="685800" y="398957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9813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Space that supports earning an income.</a:t>
            </a:r>
          </a:p>
        </p:txBody>
      </p:sp>
      <p:sp>
        <p:nvSpPr>
          <p:cNvPr id="19" name="TextBox 18"/>
          <p:cNvSpPr txBox="1"/>
          <p:nvPr/>
        </p:nvSpPr>
        <p:spPr>
          <a:xfrm>
            <a:off x="685800" y="437502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CAN BE EFFECTIVE</a:t>
            </a:r>
          </a:p>
        </p:txBody>
      </p:sp>
      <p:sp>
        <p:nvSpPr>
          <p:cNvPr id="20" name="TextBox 19"/>
          <p:cNvSpPr txBox="1"/>
          <p:nvPr/>
        </p:nvSpPr>
        <p:spPr>
          <a:xfrm>
            <a:off x="685800" y="469633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customer proposition matches the household’s economic situation and intended use.</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D19.3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127–128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application</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Define the specific improvement each product makes in the customer’s life. Avoid describing every project with the</a:t>
            </a:r>
          </a:p>
          <a:p>
            <a:pPr>
              <a:lnSpc>
                <a:spcPts val="2196"/>
              </a:lnSpc>
              <a:spcBef>
                <a:spcPts val="0"/>
              </a:spcBef>
              <a:spcAft>
                <a:spcPts val="0"/>
              </a:spcAft>
            </a:pPr>
            <a:r>
              <a:rPr sz="1800" b="0" i="0">
                <a:solidFill>
                  <a:srgbClr val="183A32"/>
                </a:solidFill>
                <a:latin typeface="Times New Roman"/>
              </a:rPr>
              <a:t>same lifestyle vocabulary.</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128–128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301</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Turning connectivity into a usable</a:t>
            </a:r>
          </a:p>
          <a:p>
            <a:pPr>
              <a:lnSpc>
                <a:spcPts val="3502"/>
              </a:lnSpc>
              <a:spcBef>
                <a:spcPts val="0"/>
              </a:spcBef>
              <a:spcAft>
                <a:spcPts val="0"/>
              </a:spcAft>
            </a:pPr>
            <a:r>
              <a:rPr sz="3100" b="0" i="0">
                <a:solidFill>
                  <a:srgbClr val="153F35"/>
                </a:solidFill>
                <a:latin typeface="Arial"/>
              </a:rPr>
              <a:t>service</a:t>
            </a:r>
          </a:p>
        </p:txBody>
      </p:sp>
      <p:cxnSp>
        <p:nvCxnSpPr>
          <p:cNvPr id="11" name="Connector 10"/>
          <p:cNvCxnSpPr/>
          <p:nvPr/>
        </p:nvCxnSpPr>
        <p:spPr>
          <a:xfrm>
            <a:off x="6062472" y="2169921"/>
            <a:ext cx="0" cy="2446783"/>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EXECUTION</a:t>
            </a:r>
          </a:p>
        </p:txBody>
      </p:sp>
      <p:sp>
        <p:nvSpPr>
          <p:cNvPr id="13" name="TextBox 12"/>
          <p:cNvSpPr txBox="1"/>
          <p:nvPr/>
        </p:nvSpPr>
        <p:spPr>
          <a:xfrm>
            <a:off x="685800" y="2518664"/>
            <a:ext cx="5074920" cy="2011679"/>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JRPT’s sales material describes connections to</a:t>
            </a:r>
          </a:p>
          <a:p>
            <a:pPr>
              <a:lnSpc>
                <a:spcPts val="2196"/>
              </a:lnSpc>
              <a:spcBef>
                <a:spcPts val="0"/>
              </a:spcBef>
              <a:spcAft>
                <a:spcPts val="0"/>
              </a:spcAft>
            </a:pPr>
            <a:r>
              <a:rPr sz="1800" b="0" i="0">
                <a:solidFill>
                  <a:srgbClr val="183A32"/>
                </a:solidFill>
                <a:latin typeface="Times New Roman"/>
              </a:rPr>
              <a:t>commuter stations and internal InTrans shuttle</a:t>
            </a:r>
          </a:p>
          <a:p>
            <a:pPr>
              <a:lnSpc>
                <a:spcPts val="2196"/>
              </a:lnSpc>
              <a:spcBef>
                <a:spcPts val="0"/>
              </a:spcBef>
              <a:spcAft>
                <a:spcPts val="0"/>
              </a:spcAft>
            </a:pPr>
            <a:r>
              <a:rPr sz="1800" b="0" i="0">
                <a:solidFill>
                  <a:srgbClr val="183A32"/>
                </a:solidFill>
                <a:latin typeface="Times New Roman"/>
              </a:rPr>
              <a:t>services. Its earlier annual report also explains a</a:t>
            </a:r>
          </a:p>
          <a:p>
            <a:pPr>
              <a:lnSpc>
                <a:spcPts val="2196"/>
              </a:lnSpc>
              <a:spcBef>
                <a:spcPts val="0"/>
              </a:spcBef>
              <a:spcAft>
                <a:spcPts val="0"/>
              </a:spcAft>
            </a:pPr>
            <a:r>
              <a:rPr sz="1800" b="0" i="0">
                <a:solidFill>
                  <a:srgbClr val="183A32"/>
                </a:solidFill>
                <a:latin typeface="Times New Roman"/>
              </a:rPr>
              <a:t>strategy of selectively leasing commercial land to</a:t>
            </a:r>
          </a:p>
          <a:p>
            <a:pPr>
              <a:lnSpc>
                <a:spcPts val="2196"/>
              </a:lnSpc>
              <a:spcBef>
                <a:spcPts val="0"/>
              </a:spcBef>
              <a:spcAft>
                <a:spcPts val="0"/>
              </a:spcAft>
            </a:pPr>
            <a:r>
              <a:rPr sz="1800" b="0" i="0">
                <a:solidFill>
                  <a:srgbClr val="183A32"/>
                </a:solidFill>
                <a:latin typeface="Times New Roman"/>
              </a:rPr>
              <a:t>quality tenants to generate recurring income and</a:t>
            </a:r>
          </a:p>
          <a:p>
            <a:pPr>
              <a:lnSpc>
                <a:spcPts val="2196"/>
              </a:lnSpc>
              <a:spcBef>
                <a:spcPts val="0"/>
              </a:spcBef>
              <a:spcAft>
                <a:spcPts val="0"/>
              </a:spcAft>
            </a:pPr>
            <a:r>
              <a:rPr sz="1800" b="0" i="0">
                <a:solidFill>
                  <a:srgbClr val="183A32"/>
                </a:solidFill>
                <a:latin typeface="Times New Roman"/>
              </a:rPr>
              <a:t>improve area value. Sources: FY2024 sales material,</a:t>
            </a:r>
          </a:p>
          <a:p>
            <a:pPr>
              <a:lnSpc>
                <a:spcPts val="2196"/>
              </a:lnSpc>
              <a:spcBef>
                <a:spcPts val="0"/>
              </a:spcBef>
              <a:spcAft>
                <a:spcPts val="0"/>
              </a:spcAft>
            </a:pPr>
            <a:r>
              <a:rPr sz="1800" b="0" i="0">
                <a:solidFill>
                  <a:srgbClr val="183A32"/>
                </a:solidFill>
                <a:latin typeface="Times New Roman"/>
              </a:rPr>
              <a:t>2023 annual report, strategic outlook.</a:t>
            </a:r>
          </a:p>
        </p:txBody>
      </p:sp>
      <p:sp>
        <p:nvSpPr>
          <p:cNvPr id="14" name="TextBox 13"/>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5" name="TextBox 14"/>
          <p:cNvSpPr txBox="1"/>
          <p:nvPr/>
        </p:nvSpPr>
        <p:spPr>
          <a:xfrm>
            <a:off x="6400800" y="251866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“Near transport” is a geographic statement. A usable</a:t>
            </a:r>
          </a:p>
          <a:p>
            <a:pPr>
              <a:lnSpc>
                <a:spcPts val="2196"/>
              </a:lnSpc>
              <a:spcBef>
                <a:spcPts val="0"/>
              </a:spcBef>
              <a:spcAft>
                <a:spcPts val="0"/>
              </a:spcAft>
            </a:pPr>
            <a:r>
              <a:rPr sz="1800" b="0" i="0">
                <a:solidFill>
                  <a:srgbClr val="183A32"/>
                </a:solidFill>
                <a:latin typeface="Times New Roman"/>
              </a:rPr>
              <a:t>connection is an operating proposition.</a:t>
            </a:r>
          </a:p>
        </p:txBody>
      </p:sp>
      <p:sp>
        <p:nvSpPr>
          <p:cNvPr id="16" name="TextBox 15"/>
          <p:cNvSpPr txBox="1"/>
          <p:nvPr/>
        </p:nvSpPr>
        <p:spPr>
          <a:xfrm>
            <a:off x="6400800" y="3254756"/>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Likewise, adding a commercial building is different</a:t>
            </a:r>
          </a:p>
          <a:p>
            <a:pPr>
              <a:lnSpc>
                <a:spcPts val="2196"/>
              </a:lnSpc>
              <a:spcBef>
                <a:spcPts val="0"/>
              </a:spcBef>
              <a:spcAft>
                <a:spcPts val="0"/>
              </a:spcAft>
            </a:pPr>
            <a:r>
              <a:rPr sz="1800" b="0" i="0">
                <a:solidFill>
                  <a:srgbClr val="183A32"/>
                </a:solidFill>
                <a:latin typeface="Times New Roman"/>
              </a:rPr>
              <a:t>from attracting an operator that residents use.</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128–128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Business mechanism</a:t>
            </a:r>
          </a:p>
        </p:txBody>
      </p:sp>
      <p:sp>
        <p:nvSpPr>
          <p:cNvPr id="11" name="Rectangle 10"/>
          <p:cNvSpPr/>
          <p:nvPr/>
        </p:nvSpPr>
        <p:spPr>
          <a:xfrm>
            <a:off x="685800"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231136"/>
            <a:ext cx="2327148" cy="477773"/>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Improve the practical</a:t>
            </a:r>
          </a:p>
          <a:p>
            <a:pPr>
              <a:lnSpc>
                <a:spcPts val="1647"/>
              </a:lnSpc>
              <a:spcBef>
                <a:spcPts val="0"/>
              </a:spcBef>
              <a:spcAft>
                <a:spcPts val="0"/>
              </a:spcAft>
            </a:pPr>
            <a:r>
              <a:rPr sz="1350" b="0" i="0">
                <a:solidFill>
                  <a:srgbClr val="F6F2E9"/>
                </a:solidFill>
                <a:latin typeface="Arial"/>
              </a:rPr>
              <a:t>experience of the location</a:t>
            </a:r>
          </a:p>
        </p:txBody>
      </p:sp>
      <p:sp>
        <p:nvSpPr>
          <p:cNvPr id="13" name="TextBox 12"/>
          <p:cNvSpPr txBox="1"/>
          <p:nvPr/>
        </p:nvSpPr>
        <p:spPr>
          <a:xfrm>
            <a:off x="3282696"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4" name="Rectangle 13"/>
          <p:cNvSpPr/>
          <p:nvPr/>
        </p:nvSpPr>
        <p:spPr>
          <a:xfrm>
            <a:off x="3433572"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3300" y="2231136"/>
            <a:ext cx="2327148" cy="477773"/>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strengthen residential</a:t>
            </a:r>
          </a:p>
          <a:p>
            <a:pPr>
              <a:lnSpc>
                <a:spcPts val="1647"/>
              </a:lnSpc>
              <a:spcBef>
                <a:spcPts val="0"/>
              </a:spcBef>
              <a:spcAft>
                <a:spcPts val="0"/>
              </a:spcAft>
            </a:pPr>
            <a:r>
              <a:rPr sz="1350" b="0" i="0">
                <a:solidFill>
                  <a:srgbClr val="F6F2E9"/>
                </a:solidFill>
                <a:latin typeface="Arial"/>
              </a:rPr>
              <a:t>relevance</a:t>
            </a:r>
          </a:p>
        </p:txBody>
      </p:sp>
      <p:sp>
        <p:nvSpPr>
          <p:cNvPr id="16" name="TextBox 15"/>
          <p:cNvSpPr txBox="1"/>
          <p:nvPr/>
        </p:nvSpPr>
        <p:spPr>
          <a:xfrm>
            <a:off x="6030468"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7" name="Rectangle 16"/>
          <p:cNvSpPr/>
          <p:nvPr/>
        </p:nvSpPr>
        <p:spPr>
          <a:xfrm>
            <a:off x="6181344"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1072" y="2231136"/>
            <a:ext cx="2327148"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support commercial demand</a:t>
            </a:r>
          </a:p>
        </p:txBody>
      </p:sp>
      <p:sp>
        <p:nvSpPr>
          <p:cNvPr id="19" name="TextBox 18"/>
          <p:cNvSpPr txBox="1"/>
          <p:nvPr/>
        </p:nvSpPr>
        <p:spPr>
          <a:xfrm>
            <a:off x="8778240"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20" name="Rectangle 19"/>
          <p:cNvSpPr/>
          <p:nvPr/>
        </p:nvSpPr>
        <p:spPr>
          <a:xfrm>
            <a:off x="8929116"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8844" y="2231136"/>
            <a:ext cx="2327148" cy="477773"/>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retain selected income</a:t>
            </a:r>
          </a:p>
          <a:p>
            <a:pPr>
              <a:lnSpc>
                <a:spcPts val="1647"/>
              </a:lnSpc>
              <a:spcBef>
                <a:spcPts val="0"/>
              </a:spcBef>
              <a:spcAft>
                <a:spcPts val="0"/>
              </a:spcAft>
            </a:pPr>
            <a:r>
              <a:rPr sz="1350" b="0" i="0">
                <a:solidFill>
                  <a:srgbClr val="F6F2E9"/>
                </a:solidFill>
                <a:latin typeface="Arial"/>
              </a:rPr>
              <a:t>opportunities.</a:t>
            </a:r>
          </a:p>
        </p:txBody>
      </p:sp>
      <p:sp>
        <p:nvSpPr>
          <p:cNvPr id="22" name="TextBox 21"/>
          <p:cNvSpPr txBox="1"/>
          <p:nvPr/>
        </p:nvSpPr>
        <p:spPr>
          <a:xfrm>
            <a:off x="685800" y="3255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23" name="TextBox 22"/>
          <p:cNvSpPr txBox="1"/>
          <p:nvPr/>
        </p:nvSpPr>
        <p:spPr>
          <a:xfrm>
            <a:off x="685800" y="35765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Sidoarjo, test actual journeys to employment centres: travel time, cost, service availability, and reliability. For</a:t>
            </a:r>
          </a:p>
          <a:p>
            <a:pPr>
              <a:lnSpc>
                <a:spcPts val="2196"/>
              </a:lnSpc>
              <a:spcBef>
                <a:spcPts val="0"/>
              </a:spcBef>
              <a:spcAft>
                <a:spcPts val="0"/>
              </a:spcAft>
            </a:pPr>
            <a:r>
              <a:rPr sz="1800" b="0" i="0">
                <a:solidFill>
                  <a:srgbClr val="183A32"/>
                </a:solidFill>
                <a:latin typeface="Times New Roman"/>
              </a:rPr>
              <a:t>amenities, distinguish committed operators from proposed facilities.</a:t>
            </a:r>
          </a:p>
        </p:txBody>
      </p:sp>
      <p:sp>
        <p:nvSpPr>
          <p:cNvPr id="24" name="TextBox 2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129–129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Coordinating a destination story with multiple products</a:t>
            </a:r>
          </a:p>
        </p:txBody>
      </p:sp>
      <p:cxnSp>
        <p:nvCxnSpPr>
          <p:cNvPr id="11" name="Connector 10"/>
          <p:cNvCxnSpPr/>
          <p:nvPr/>
        </p:nvCxnSpPr>
        <p:spPr>
          <a:xfrm>
            <a:off x="6062472" y="2084831"/>
            <a:ext cx="0" cy="2883409"/>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STRATEGY</a:t>
            </a:r>
          </a:p>
        </p:txBody>
      </p:sp>
      <p:sp>
        <p:nvSpPr>
          <p:cNvPr id="13" name="TextBox 12"/>
          <p:cNvSpPr txBox="1"/>
          <p:nvPr/>
        </p:nvSpPr>
        <p:spPr>
          <a:xfrm>
            <a:off x="685800" y="243357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PANI’s 3Q2025 release connected residential,</a:t>
            </a:r>
          </a:p>
          <a:p>
            <a:pPr>
              <a:lnSpc>
                <a:spcPts val="2196"/>
              </a:lnSpc>
              <a:spcBef>
                <a:spcPts val="0"/>
              </a:spcBef>
              <a:spcAft>
                <a:spcPts val="0"/>
              </a:spcAft>
            </a:pPr>
            <a:r>
              <a:rPr sz="1800" b="0" i="0">
                <a:solidFill>
                  <a:srgbClr val="183A32"/>
                </a:solidFill>
                <a:latin typeface="Times New Roman"/>
              </a:rPr>
              <a:t>commercial, and commercial-land sales with the</a:t>
            </a:r>
          </a:p>
          <a:p>
            <a:pPr>
              <a:lnSpc>
                <a:spcPts val="2196"/>
              </a:lnSpc>
              <a:spcBef>
                <a:spcPts val="0"/>
              </a:spcBef>
              <a:spcAft>
                <a:spcPts val="0"/>
              </a:spcAft>
            </a:pPr>
            <a:r>
              <a:rPr sz="1800" b="0" i="0">
                <a:solidFill>
                  <a:srgbClr val="183A32"/>
                </a:solidFill>
                <a:latin typeface="Times New Roman"/>
              </a:rPr>
              <a:t>development of PIK2. It identified NICE and the</a:t>
            </a:r>
          </a:p>
          <a:p>
            <a:pPr>
              <a:lnSpc>
                <a:spcPts val="2196"/>
              </a:lnSpc>
              <a:spcBef>
                <a:spcPts val="0"/>
              </a:spcBef>
              <a:spcAft>
                <a:spcPts val="0"/>
              </a:spcAft>
            </a:pPr>
            <a:r>
              <a:rPr sz="1800" b="0" i="0">
                <a:solidFill>
                  <a:srgbClr val="183A32"/>
                </a:solidFill>
                <a:latin typeface="Times New Roman"/>
              </a:rPr>
              <a:t>Kataraja toll road as expected contributors to visitor</a:t>
            </a:r>
          </a:p>
          <a:p>
            <a:pPr>
              <a:lnSpc>
                <a:spcPts val="2196"/>
              </a:lnSpc>
              <a:spcBef>
                <a:spcPts val="0"/>
              </a:spcBef>
              <a:spcAft>
                <a:spcPts val="0"/>
              </a:spcAft>
            </a:pPr>
            <a:r>
              <a:rPr sz="1800" b="0" i="0">
                <a:solidFill>
                  <a:srgbClr val="183A32"/>
                </a:solidFill>
                <a:latin typeface="Times New Roman"/>
              </a:rPr>
              <a:t>activity and the area economy.</a:t>
            </a:r>
          </a:p>
        </p:txBody>
      </p:sp>
      <p:sp>
        <p:nvSpPr>
          <p:cNvPr id="14" name="TextBox 13"/>
          <p:cNvSpPr txBox="1"/>
          <p:nvPr/>
        </p:nvSpPr>
        <p:spPr>
          <a:xfrm>
            <a:off x="685800" y="400634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 also disclosed different residential and</a:t>
            </a:r>
          </a:p>
          <a:p>
            <a:pPr>
              <a:lnSpc>
                <a:spcPts val="2196"/>
              </a:lnSpc>
              <a:spcBef>
                <a:spcPts val="0"/>
              </a:spcBef>
              <a:spcAft>
                <a:spcPts val="0"/>
              </a:spcAft>
            </a:pPr>
            <a:r>
              <a:rPr sz="1800" b="0" i="0">
                <a:solidFill>
                  <a:srgbClr val="183A32"/>
                </a:solidFill>
                <a:latin typeface="Times New Roman"/>
              </a:rPr>
              <a:t>business-property products rather than one uniform</a:t>
            </a:r>
          </a:p>
          <a:p>
            <a:pPr>
              <a:lnSpc>
                <a:spcPts val="2196"/>
              </a:lnSpc>
              <a:spcBef>
                <a:spcPts val="0"/>
              </a:spcBef>
              <a:spcAft>
                <a:spcPts val="0"/>
              </a:spcAft>
            </a:pPr>
            <a:r>
              <a:rPr sz="1800" b="0" i="0">
                <a:solidFill>
                  <a:srgbClr val="183A32"/>
                </a:solidFill>
                <a:latin typeface="Times New Roman"/>
              </a:rPr>
              <a:t>offer. Source: PANI 3Q2025 marketing-sales release.</a:t>
            </a:r>
          </a:p>
        </p:txBody>
      </p:sp>
      <p:sp>
        <p:nvSpPr>
          <p:cNvPr id="15" name="TextBox 14"/>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6" name="TextBox 15"/>
          <p:cNvSpPr txBox="1"/>
          <p:nvPr/>
        </p:nvSpPr>
        <p:spPr>
          <a:xfrm>
            <a:off x="6400800" y="243357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destination identity gives otherwise different</a:t>
            </a:r>
          </a:p>
          <a:p>
            <a:pPr>
              <a:lnSpc>
                <a:spcPts val="2196"/>
              </a:lnSpc>
              <a:spcBef>
                <a:spcPts val="0"/>
              </a:spcBef>
              <a:spcAft>
                <a:spcPts val="0"/>
              </a:spcAft>
            </a:pPr>
            <a:r>
              <a:rPr sz="1800" b="0" i="0">
                <a:solidFill>
                  <a:srgbClr val="183A32"/>
                </a:solidFill>
                <a:latin typeface="Times New Roman"/>
              </a:rPr>
              <a:t>products a common story about where activity and</a:t>
            </a:r>
          </a:p>
          <a:p>
            <a:pPr>
              <a:lnSpc>
                <a:spcPts val="2196"/>
              </a:lnSpc>
              <a:spcBef>
                <a:spcPts val="0"/>
              </a:spcBef>
              <a:spcAft>
                <a:spcPts val="0"/>
              </a:spcAft>
            </a:pPr>
            <a:r>
              <a:rPr sz="1800" b="0" i="0">
                <a:solidFill>
                  <a:srgbClr val="183A32"/>
                </a:solidFill>
                <a:latin typeface="Times New Roman"/>
              </a:rPr>
              <a:t>development are concentrating.</a:t>
            </a:r>
          </a:p>
        </p:txBody>
      </p:sp>
      <p:sp>
        <p:nvSpPr>
          <p:cNvPr id="17" name="TextBox 16"/>
          <p:cNvSpPr txBox="1"/>
          <p:nvPr/>
        </p:nvSpPr>
        <p:spPr>
          <a:xfrm>
            <a:off x="6400800" y="3475989"/>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MECHANISM</a:t>
            </a:r>
          </a:p>
        </p:txBody>
      </p:sp>
      <p:sp>
        <p:nvSpPr>
          <p:cNvPr id="18" name="Rectangle 17"/>
          <p:cNvSpPr/>
          <p:nvPr/>
        </p:nvSpPr>
        <p:spPr>
          <a:xfrm>
            <a:off x="6400800" y="388873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797300"/>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Access can improve the location’s usability.</a:t>
            </a:r>
          </a:p>
        </p:txBody>
      </p:sp>
      <p:sp>
        <p:nvSpPr>
          <p:cNvPr id="20" name="TextBox 19"/>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129–129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Coordinating a destination story with multiple products</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Events can introduce visitors and businesses.</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Residential occupation can support everyday commerce.</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Commercial activity can strengthen the proposition for subsequent development.</a:t>
            </a:r>
          </a:p>
        </p:txBody>
      </p:sp>
      <p:sp>
        <p:nvSpPr>
          <p:cNvPr id="17" name="Rectangle 16"/>
          <p:cNvSpPr/>
          <p:nvPr/>
        </p:nvSpPr>
        <p:spPr>
          <a:xfrm>
            <a:off x="685800" y="3433191"/>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433191"/>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 y="3515486"/>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qualification</a:t>
            </a:r>
          </a:p>
        </p:txBody>
      </p:sp>
      <p:sp>
        <p:nvSpPr>
          <p:cNvPr id="20" name="TextBox 19"/>
          <p:cNvSpPr txBox="1"/>
          <p:nvPr/>
        </p:nvSpPr>
        <p:spPr>
          <a:xfrm>
            <a:off x="685800" y="400183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Event attendance is not equivalent to permanent occupation, sustainable tenant turnover, or collected property sales.</a:t>
            </a:r>
          </a:p>
        </p:txBody>
      </p:sp>
      <p:sp>
        <p:nvSpPr>
          <p:cNvPr id="21" name="TextBox 20"/>
          <p:cNvSpPr txBox="1"/>
          <p:nvPr/>
        </p:nvSpPr>
        <p:spPr>
          <a:xfrm>
            <a:off x="685800" y="4486465"/>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22" name="TextBox 21"/>
          <p:cNvSpPr txBox="1"/>
          <p:nvPr/>
        </p:nvSpPr>
        <p:spPr>
          <a:xfrm>
            <a:off x="685800" y="4807775"/>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Build an activity model for each destination: who comes, why, how often, and what they spend.</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129–130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305</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Strong destination branding does not remove demand</a:t>
            </a:r>
          </a:p>
          <a:p>
            <a:pPr>
              <a:lnSpc>
                <a:spcPts val="3502"/>
              </a:lnSpc>
              <a:spcBef>
                <a:spcPts val="0"/>
              </a:spcBef>
              <a:spcAft>
                <a:spcPts val="0"/>
              </a:spcAft>
            </a:pPr>
            <a:r>
              <a:rPr sz="3100" b="0" i="0">
                <a:solidFill>
                  <a:srgbClr val="153F35"/>
                </a:solidFill>
                <a:latin typeface="Arial"/>
              </a:rPr>
              <a:t>risk</a:t>
            </a:r>
          </a:p>
        </p:txBody>
      </p:sp>
      <p:cxnSp>
        <p:nvCxnSpPr>
          <p:cNvPr id="11" name="Connector 10"/>
          <p:cNvCxnSpPr/>
          <p:nvPr/>
        </p:nvCxnSpPr>
        <p:spPr>
          <a:xfrm>
            <a:off x="6062472" y="2169921"/>
            <a:ext cx="0" cy="2883409"/>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COUNTER-EVIDENCE</a:t>
            </a:r>
          </a:p>
        </p:txBody>
      </p:sp>
      <p:sp>
        <p:nvSpPr>
          <p:cNvPr id="13" name="TextBox 12"/>
          <p:cNvSpPr txBox="1"/>
          <p:nvPr/>
        </p:nvSpPr>
        <p:spPr>
          <a:xfrm>
            <a:off x="685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same 3Q2025 release reported a strong quarterly</a:t>
            </a:r>
          </a:p>
          <a:p>
            <a:pPr>
              <a:lnSpc>
                <a:spcPts val="2196"/>
              </a:lnSpc>
              <a:spcBef>
                <a:spcPts val="0"/>
              </a:spcBef>
              <a:spcAft>
                <a:spcPts val="0"/>
              </a:spcAft>
            </a:pPr>
            <a:r>
              <a:rPr sz="1800" b="0" i="0">
                <a:solidFill>
                  <a:srgbClr val="183A32"/>
                </a:solidFill>
                <a:latin typeface="Times New Roman"/>
              </a:rPr>
              <a:t>sales increase but also reduced the FY2025</a:t>
            </a:r>
          </a:p>
          <a:p>
            <a:pPr>
              <a:lnSpc>
                <a:spcPts val="2196"/>
              </a:lnSpc>
              <a:spcBef>
                <a:spcPts val="0"/>
              </a:spcBef>
              <a:spcAft>
                <a:spcPts val="0"/>
              </a:spcAft>
            </a:pPr>
            <a:r>
              <a:rPr sz="1800" b="0" i="0">
                <a:solidFill>
                  <a:srgbClr val="183A32"/>
                </a:solidFill>
                <a:latin typeface="Times New Roman"/>
              </a:rPr>
              <a:t>marketing-sales target from Rp5.3 trillion to Rp4.3</a:t>
            </a:r>
          </a:p>
          <a:p>
            <a:pPr>
              <a:lnSpc>
                <a:spcPts val="2196"/>
              </a:lnSpc>
              <a:spcBef>
                <a:spcPts val="0"/>
              </a:spcBef>
              <a:spcAft>
                <a:spcPts val="0"/>
              </a:spcAft>
            </a:pPr>
            <a:r>
              <a:rPr sz="1800" b="0" i="0">
                <a:solidFill>
                  <a:srgbClr val="183A32"/>
                </a:solidFill>
                <a:latin typeface="Times New Roman"/>
              </a:rPr>
              <a:t>trillion.</a:t>
            </a:r>
          </a:p>
        </p:txBody>
      </p:sp>
      <p:sp>
        <p:nvSpPr>
          <p:cNvPr id="14" name="TextBox 13"/>
          <p:cNvSpPr txBox="1"/>
          <p:nvPr/>
        </p:nvSpPr>
        <p:spPr>
          <a:xfrm>
            <a:off x="685800" y="3812540"/>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That is a reduction of approximately 19%, despite the</a:t>
            </a:r>
          </a:p>
          <a:p>
            <a:pPr>
              <a:lnSpc>
                <a:spcPts val="2196"/>
              </a:lnSpc>
              <a:spcBef>
                <a:spcPts val="0"/>
              </a:spcBef>
              <a:spcAft>
                <a:spcPts val="0"/>
              </a:spcAft>
            </a:pPr>
            <a:r>
              <a:rPr sz="1800" b="0" i="0">
                <a:solidFill>
                  <a:srgbClr val="183A32"/>
                </a:solidFill>
                <a:latin typeface="Times New Roman"/>
              </a:rPr>
              <a:t>destination’s visibility and development activity.</a:t>
            </a:r>
          </a:p>
          <a:p>
            <a:pPr>
              <a:lnSpc>
                <a:spcPts val="2196"/>
              </a:lnSpc>
              <a:spcBef>
                <a:spcPts val="0"/>
              </a:spcBef>
              <a:spcAft>
                <a:spcPts val="0"/>
              </a:spcAft>
            </a:pPr>
            <a:r>
              <a:rPr sz="1800" b="0" i="0">
                <a:solidFill>
                  <a:srgbClr val="183A32"/>
                </a:solidFill>
                <a:latin typeface="Times New Roman"/>
              </a:rPr>
              <a:t>Source: PANI target revision and quarterly results.</a:t>
            </a:r>
          </a:p>
          <a:p>
            <a:pPr>
              <a:lnSpc>
                <a:spcPts val="2196"/>
              </a:lnSpc>
              <a:spcBef>
                <a:spcPts val="0"/>
              </a:spcBef>
              <a:spcAft>
                <a:spcPts val="0"/>
              </a:spcAft>
            </a:pPr>
            <a:r>
              <a:rPr sz="1800" b="0" i="0">
                <a:solidFill>
                  <a:srgbClr val="183A32"/>
                </a:solidFill>
                <a:latin typeface="Times New Roman"/>
              </a:rPr>
              <a:t>Percentage is calculated from the disclosed targets.</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MATTERS — ANALYSIS</a:t>
            </a:r>
          </a:p>
        </p:txBody>
      </p:sp>
      <p:sp>
        <p:nvSpPr>
          <p:cNvPr id="16" name="TextBox 15"/>
          <p:cNvSpPr txBox="1"/>
          <p:nvPr/>
        </p:nvSpPr>
        <p:spPr>
          <a:xfrm>
            <a:off x="6400800" y="251866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high-profile brand can generate attention while</a:t>
            </a:r>
          </a:p>
          <a:p>
            <a:pPr>
              <a:lnSpc>
                <a:spcPts val="2196"/>
              </a:lnSpc>
              <a:spcBef>
                <a:spcPts val="0"/>
              </a:spcBef>
              <a:spcAft>
                <a:spcPts val="0"/>
              </a:spcAft>
            </a:pPr>
            <a:r>
              <a:rPr sz="1800" b="0" i="0">
                <a:solidFill>
                  <a:srgbClr val="183A32"/>
                </a:solidFill>
                <a:latin typeface="Times New Roman"/>
              </a:rPr>
              <a:t>buyers remain constrained by confidence, affordability,</a:t>
            </a:r>
          </a:p>
          <a:p>
            <a:pPr>
              <a:lnSpc>
                <a:spcPts val="2196"/>
              </a:lnSpc>
              <a:spcBef>
                <a:spcPts val="0"/>
              </a:spcBef>
              <a:spcAft>
                <a:spcPts val="0"/>
              </a:spcAft>
            </a:pPr>
            <a:r>
              <a:rPr sz="1800" b="0" i="0">
                <a:solidFill>
                  <a:srgbClr val="183A32"/>
                </a:solidFill>
                <a:latin typeface="Times New Roman"/>
              </a:rPr>
              <a:t>timing, or investment appetite.</a:t>
            </a:r>
          </a:p>
        </p:txBody>
      </p:sp>
      <p:sp>
        <p:nvSpPr>
          <p:cNvPr id="17" name="TextBox 16"/>
          <p:cNvSpPr txBox="1"/>
          <p:nvPr/>
        </p:nvSpPr>
        <p:spPr>
          <a:xfrm>
            <a:off x="6400800" y="3561079"/>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RESEARCH IMPLICATION</a:t>
            </a:r>
          </a:p>
        </p:txBody>
      </p:sp>
      <p:sp>
        <p:nvSpPr>
          <p:cNvPr id="18" name="TextBox 17"/>
          <p:cNvSpPr txBox="1"/>
          <p:nvPr/>
        </p:nvSpPr>
        <p:spPr>
          <a:xfrm>
            <a:off x="6400800" y="3882389"/>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Do not treat a strong quarter, social visibility, or a</a:t>
            </a:r>
          </a:p>
          <a:p>
            <a:pPr>
              <a:lnSpc>
                <a:spcPts val="2196"/>
              </a:lnSpc>
              <a:spcBef>
                <a:spcPts val="0"/>
              </a:spcBef>
              <a:spcAft>
                <a:spcPts val="0"/>
              </a:spcAft>
            </a:pPr>
            <a:r>
              <a:rPr sz="1800" b="0" i="0">
                <a:solidFill>
                  <a:srgbClr val="183A32"/>
                </a:solidFill>
                <a:latin typeface="Times New Roman"/>
              </a:rPr>
              <a:t>major opening as proof of permanently stronger</a:t>
            </a:r>
          </a:p>
          <a:p>
            <a:pPr>
              <a:lnSpc>
                <a:spcPts val="2196"/>
              </a:lnSpc>
              <a:spcBef>
                <a:spcPts val="0"/>
              </a:spcBef>
              <a:spcAft>
                <a:spcPts val="0"/>
              </a:spcAft>
            </a:pPr>
            <a:r>
              <a:rPr sz="1800" b="0" i="0">
                <a:solidFill>
                  <a:srgbClr val="183A32"/>
                </a:solidFill>
                <a:latin typeface="Times New Roman"/>
              </a:rPr>
              <a:t>demand.</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129–130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application</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Build downside scenarios into the 2035 plan. Link expansion commitments to collected sales and verified operating</a:t>
            </a:r>
          </a:p>
          <a:p>
            <a:pPr>
              <a:lnSpc>
                <a:spcPts val="2196"/>
              </a:lnSpc>
              <a:spcBef>
                <a:spcPts val="0"/>
              </a:spcBef>
              <a:spcAft>
                <a:spcPts val="0"/>
              </a:spcAft>
            </a:pPr>
            <a:r>
              <a:rPr sz="1800" b="0" i="0">
                <a:solidFill>
                  <a:srgbClr val="183A32"/>
                </a:solidFill>
                <a:latin typeface="Times New Roman"/>
              </a:rPr>
              <a:t>demand.</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130–131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most useful combined strategy for TANRISE</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DIRECTION</a:t>
            </a:r>
          </a:p>
        </p:txBody>
      </p:sp>
      <p:graphicFrame>
        <p:nvGraphicFramePr>
          <p:cNvPr id="12" name="Table 11"/>
          <p:cNvGraphicFramePr>
            <a:graphicFrameLocks noGrp="1"/>
          </p:cNvGraphicFramePr>
          <p:nvPr/>
        </p:nvGraphicFramePr>
        <p:xfrm>
          <a:off x="685800" y="2433574"/>
          <a:ext cx="10789919" cy="32975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Strategic problem</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relevant lesson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TANRISE application</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Insufficient land pipeline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Ciputra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Build a credible land-partnership proposition</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Product affordability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Lippo</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Start with household finances and redesign accordingly</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New-location</a:t>
                      </a:r>
                    </a:p>
                    <a:p>
                      <a:pPr>
                        <a:lnSpc>
                          <a:spcPts val="1829"/>
                        </a:lnSpc>
                        <a:spcBef>
                          <a:spcPts val="0"/>
                        </a:spcBef>
                        <a:spcAft>
                          <a:spcPts val="0"/>
                        </a:spcAft>
                      </a:pPr>
                      <a:r>
                        <a:rPr sz="1550" b="0">
                          <a:solidFill>
                            <a:srgbClr val="183A32"/>
                          </a:solidFill>
                          <a:latin typeface="Arial"/>
                        </a:rPr>
                        <a:t>uncertainty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Summarecon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Use delivery evidence and credible project phasing</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Need for permanent</a:t>
                      </a:r>
                    </a:p>
                    <a:p>
                      <a:pPr>
                        <a:lnSpc>
                          <a:spcPts val="1829"/>
                        </a:lnSpc>
                        <a:spcBef>
                          <a:spcPts val="0"/>
                        </a:spcBef>
                        <a:spcAft>
                          <a:spcPts val="0"/>
                        </a:spcAft>
                      </a:pPr>
                      <a:r>
                        <a:rPr sz="1550" b="0">
                          <a:solidFill>
                            <a:srgbClr val="183A32"/>
                          </a:solidFill>
                          <a:latin typeface="Arial"/>
                        </a:rPr>
                        <a:t>activity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BSDE and JRPT</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Connect housing to work, services, and practical access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Underproductive</a:t>
                      </a:r>
                    </a:p>
                    <a:p>
                      <a:pPr>
                        <a:lnSpc>
                          <a:spcPts val="1829"/>
                        </a:lnSpc>
                        <a:spcBef>
                          <a:spcPts val="0"/>
                        </a:spcBef>
                        <a:spcAft>
                          <a:spcPts val="0"/>
                        </a:spcAft>
                      </a:pPr>
                      <a:r>
                        <a:rPr sz="1550" b="0">
                          <a:solidFill>
                            <a:srgbClr val="183A32"/>
                          </a:solidFill>
                          <a:latin typeface="Arial"/>
                        </a:rPr>
                        <a:t>retained assets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Pakuwon and APLN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Review the operating proposition and capital productivity</a:t>
                      </a:r>
                    </a:p>
                  </a:txBody>
                  <a:tcPr marL="109728" marR="109728" marT="82296" marB="0" anchor="t">
                    <a:solidFill>
                      <a:srgbClr val="F6F2E9"/>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130–131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most useful combined strategy for TANRISE</a:t>
            </a:r>
          </a:p>
        </p:txBody>
      </p:sp>
      <p:graphicFrame>
        <p:nvGraphicFramePr>
          <p:cNvPr id="11" name="Table 10"/>
          <p:cNvGraphicFramePr>
            <a:graphicFrameLocks noGrp="1"/>
          </p:cNvGraphicFramePr>
          <p:nvPr/>
        </p:nvGraphicFramePr>
        <p:xfrm>
          <a:off x="685800" y="2084831"/>
          <a:ext cx="10789919" cy="24306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Strategic problem</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relevant lesson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TANRISE application</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Missing specialist</a:t>
                      </a:r>
                    </a:p>
                    <a:p>
                      <a:pPr>
                        <a:lnSpc>
                          <a:spcPts val="1829"/>
                        </a:lnSpc>
                        <a:spcBef>
                          <a:spcPts val="0"/>
                        </a:spcBef>
                        <a:spcAft>
                          <a:spcPts val="0"/>
                        </a:spcAft>
                      </a:pPr>
                      <a:r>
                        <a:rPr sz="1550" b="0">
                          <a:solidFill>
                            <a:srgbClr val="183A32"/>
                          </a:solidFill>
                          <a:latin typeface="Arial"/>
                        </a:rPr>
                        <a:t>capabilities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DUTI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Partner selectively, with clear accountability</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Different buyer financing</a:t>
                      </a:r>
                    </a:p>
                    <a:p>
                      <a:pPr>
                        <a:lnSpc>
                          <a:spcPts val="1829"/>
                        </a:lnSpc>
                        <a:spcBef>
                          <a:spcPts val="0"/>
                        </a:spcBef>
                        <a:spcAft>
                          <a:spcPts val="0"/>
                        </a:spcAft>
                      </a:pPr>
                      <a:r>
                        <a:rPr sz="1550" b="0">
                          <a:solidFill>
                            <a:srgbClr val="183A32"/>
                          </a:solidFill>
                          <a:latin typeface="Arial"/>
                        </a:rPr>
                        <a:t>needs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ASRI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Adapt payment and sales processes by segment</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Destination visibility</a:t>
                      </a:r>
                    </a:p>
                    <a:p>
                      <a:pPr>
                        <a:lnSpc>
                          <a:spcPts val="1829"/>
                        </a:lnSpc>
                        <a:spcBef>
                          <a:spcPts val="0"/>
                        </a:spcBef>
                        <a:spcAft>
                          <a:spcPts val="0"/>
                        </a:spcAft>
                      </a:pPr>
                      <a:r>
                        <a:rPr sz="1550" b="0">
                          <a:solidFill>
                            <a:srgbClr val="183A32"/>
                          </a:solidFill>
                          <a:latin typeface="Arial"/>
                        </a:rPr>
                        <a:t>without assured demand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PANI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Separate attention from sustainable economic activity</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4725797"/>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CENTRAL RECOMMENDATION</a:t>
            </a:r>
          </a:p>
        </p:txBody>
      </p:sp>
      <p:sp>
        <p:nvSpPr>
          <p:cNvPr id="13" name="TextBox 12"/>
          <p:cNvSpPr txBox="1"/>
          <p:nvPr/>
        </p:nvSpPr>
        <p:spPr>
          <a:xfrm>
            <a:off x="685800" y="5047107"/>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TANRISE’s corporate brand should express a standard it can deliver repeatedly. Each existing project should then</a:t>
            </a:r>
          </a:p>
          <a:p>
            <a:pPr>
              <a:lnSpc>
                <a:spcPts val="2196"/>
              </a:lnSpc>
              <a:spcBef>
                <a:spcPts val="0"/>
              </a:spcBef>
              <a:spcAft>
                <a:spcPts val="0"/>
              </a:spcAft>
            </a:pPr>
            <a:r>
              <a:rPr sz="1800" b="0" i="0">
                <a:solidFill>
                  <a:srgbClr val="183A32"/>
                </a:solidFill>
                <a:latin typeface="Times New Roman"/>
              </a:rPr>
              <a:t>present a specific customer proposition supported by product, access, services, price, and delivery.</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D23.3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130–131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most useful combined strategy for TANRISE</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Preserve existing project names. A clearer strategy does not require a wholesale renaming programme.</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132–133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310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a genuinely deeper competitor audit should measure</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Public sources establish many actions, but the following evidence is needed to judge effectiveness more precisely:</a:t>
            </a:r>
          </a:p>
        </p:txBody>
      </p:sp>
      <p:graphicFrame>
        <p:nvGraphicFramePr>
          <p:cNvPr id="12" name="Table 11"/>
          <p:cNvGraphicFramePr>
            <a:graphicFrameLocks noGrp="1"/>
          </p:cNvGraphicFramePr>
          <p:nvPr/>
        </p:nvGraphicFramePr>
        <p:xfrm>
          <a:off x="685800" y="2542032"/>
          <a:ext cx="10789919" cy="2864099"/>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Question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Evidence required</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Does the brand command a</a:t>
                      </a:r>
                    </a:p>
                    <a:p>
                      <a:pPr>
                        <a:lnSpc>
                          <a:spcPts val="1829"/>
                        </a:lnSpc>
                        <a:spcBef>
                          <a:spcPts val="0"/>
                        </a:spcBef>
                        <a:spcAft>
                          <a:spcPts val="0"/>
                        </a:spcAft>
                      </a:pPr>
                      <a:r>
                        <a:rPr sz="1550" b="0">
                          <a:solidFill>
                            <a:srgbClr val="183A32"/>
                          </a:solidFill>
                          <a:latin typeface="Arial"/>
                        </a:rPr>
                        <a:t>premium?</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Comparable transaction prices adjusted for location, specification, and payment</a:t>
                      </a:r>
                    </a:p>
                    <a:p>
                      <a:pPr>
                        <a:lnSpc>
                          <a:spcPts val="1829"/>
                        </a:lnSpc>
                        <a:spcBef>
                          <a:spcPts val="0"/>
                        </a:spcBef>
                        <a:spcAft>
                          <a:spcPts val="0"/>
                        </a:spcAft>
                      </a:pPr>
                      <a:r>
                        <a:rPr sz="1550" b="0">
                          <a:solidFill>
                            <a:srgbClr val="183A32"/>
                          </a:solidFill>
                          <a:latin typeface="Arial"/>
                        </a:rPr>
                        <a:t>terms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Which channels create customers?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Qualified leads, visits, signed sales, cancellations, and collections by source</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Do launch events create durable</a:t>
                      </a:r>
                    </a:p>
                    <a:p>
                      <a:pPr>
                        <a:lnSpc>
                          <a:spcPts val="1829"/>
                        </a:lnSpc>
                        <a:spcBef>
                          <a:spcPts val="0"/>
                        </a:spcBef>
                        <a:spcAft>
                          <a:spcPts val="0"/>
                        </a:spcAft>
                      </a:pPr>
                      <a:r>
                        <a:rPr sz="1550" b="0">
                          <a:solidFill>
                            <a:srgbClr val="183A32"/>
                          </a:solidFill>
                          <a:latin typeface="Arial"/>
                        </a:rPr>
                        <a:t>demand?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Subsequent cancellations, mortgage approvals, and completed handovers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Do amenities improve housing</a:t>
                      </a:r>
                    </a:p>
                    <a:p>
                      <a:pPr>
                        <a:lnSpc>
                          <a:spcPts val="1829"/>
                        </a:lnSpc>
                        <a:spcBef>
                          <a:spcPts val="0"/>
                        </a:spcBef>
                        <a:spcAft>
                          <a:spcPts val="0"/>
                        </a:spcAft>
                      </a:pPr>
                      <a:r>
                        <a:rPr sz="1550" b="0">
                          <a:solidFill>
                            <a:srgbClr val="183A32"/>
                          </a:solidFill>
                          <a:latin typeface="Arial"/>
                        </a:rPr>
                        <a:t>performance?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Matched sales comparisons before and after opening, with other changes</a:t>
                      </a:r>
                    </a:p>
                    <a:p>
                      <a:pPr>
                        <a:lnSpc>
                          <a:spcPts val="1829"/>
                        </a:lnSpc>
                        <a:spcBef>
                          <a:spcPts val="0"/>
                        </a:spcBef>
                        <a:spcAft>
                          <a:spcPts val="0"/>
                        </a:spcAft>
                      </a:pPr>
                      <a:r>
                        <a:rPr sz="1550" b="0">
                          <a:solidFill>
                            <a:srgbClr val="183A32"/>
                          </a:solidFill>
                          <a:latin typeface="Arial"/>
                        </a:rPr>
                        <a:t>considered</a:t>
                      </a:r>
                    </a:p>
                  </a:txBody>
                  <a:tcPr marL="109728" marR="109728" marT="82296" marB="0" anchor="t">
                    <a:solidFill>
                      <a:srgbClr val="E9E8DC"/>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132–133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311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a genuinely deeper competitor audit should measure</a:t>
            </a:r>
          </a:p>
        </p:txBody>
      </p:sp>
      <p:graphicFrame>
        <p:nvGraphicFramePr>
          <p:cNvPr id="11" name="Table 10"/>
          <p:cNvGraphicFramePr>
            <a:graphicFrameLocks noGrp="1"/>
          </p:cNvGraphicFramePr>
          <p:nvPr/>
        </p:nvGraphicFramePr>
        <p:xfrm>
          <a:off x="685800" y="2084831"/>
          <a:ext cx="10789919" cy="1966083"/>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Question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Evidence required</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Are promotions profitable?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Net realised prices, incentive costs, commissions, and cash timing</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Do destinations create recurring</a:t>
                      </a:r>
                    </a:p>
                    <a:p>
                      <a:pPr>
                        <a:lnSpc>
                          <a:spcPts val="1829"/>
                        </a:lnSpc>
                        <a:spcBef>
                          <a:spcPts val="0"/>
                        </a:spcBef>
                        <a:spcAft>
                          <a:spcPts val="0"/>
                        </a:spcAft>
                      </a:pPr>
                      <a:r>
                        <a:rPr sz="1550" b="0">
                          <a:solidFill>
                            <a:srgbClr val="183A32"/>
                          </a:solidFill>
                          <a:latin typeface="Arial"/>
                        </a:rPr>
                        <a:t>activity?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Repeat visits, weekday usage, tenant turnover, occupancy, and operating cash</a:t>
                      </a:r>
                    </a:p>
                    <a:p>
                      <a:pPr>
                        <a:lnSpc>
                          <a:spcPts val="1829"/>
                        </a:lnSpc>
                        <a:spcBef>
                          <a:spcPts val="0"/>
                        </a:spcBef>
                        <a:spcAft>
                          <a:spcPts val="0"/>
                        </a:spcAft>
                      </a:pPr>
                      <a:r>
                        <a:rPr sz="1550" b="0">
                          <a:solidFill>
                            <a:srgbClr val="183A32"/>
                          </a:solidFill>
                          <a:latin typeface="Arial"/>
                        </a:rPr>
                        <a:t>flow</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Can expansion be repeated?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Project returns, delivery consistency, management capacity, and funding needs</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426123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NEXT LAYER OF TANRISE RESEARCH</a:t>
            </a:r>
          </a:p>
        </p:txBody>
      </p:sp>
      <p:sp>
        <p:nvSpPr>
          <p:cNvPr id="13" name="TextBox 12"/>
          <p:cNvSpPr txBox="1"/>
          <p:nvPr/>
        </p:nvSpPr>
        <p:spPr>
          <a:xfrm>
            <a:off x="685800" y="458254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Use this framework to examine a small number of directly comparable projects in greater detail, including site</a:t>
            </a:r>
          </a:p>
          <a:p>
            <a:pPr>
              <a:lnSpc>
                <a:spcPts val="2196"/>
              </a:lnSpc>
              <a:spcBef>
                <a:spcPts val="0"/>
              </a:spcBef>
              <a:spcAft>
                <a:spcPts val="0"/>
              </a:spcAft>
            </a:pPr>
            <a:r>
              <a:rPr sz="1800" b="0" i="0">
                <a:solidFill>
                  <a:srgbClr val="183A32"/>
                </a:solidFill>
                <a:latin typeface="Times New Roman"/>
              </a:rPr>
              <a:t>observation, buyer interviews, product and payment comparisons, and operator discussions.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132–133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312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Research standard</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strategy is effective when it produces economically valuable customer behaviour at an acceptable cost—and the</a:t>
            </a:r>
          </a:p>
          <a:p>
            <a:pPr>
              <a:lnSpc>
                <a:spcPts val="2196"/>
              </a:lnSpc>
              <a:spcBef>
                <a:spcPts val="0"/>
              </a:spcBef>
              <a:spcAft>
                <a:spcPts val="0"/>
              </a:spcAft>
            </a:pPr>
            <a:r>
              <a:rPr sz="1800" b="0" i="0">
                <a:solidFill>
                  <a:srgbClr val="183A32"/>
                </a:solidFill>
                <a:latin typeface="Times New Roman"/>
              </a:rPr>
              <a:t>company can repeat it.</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TANRISE — Corporate Strategy 2026–2035</dc:title>
  <dc:subject>Main presentation, appendices, and separate supplementary research sequences</dc:subject>
  <dc:creator>Rubicube Creative</dc:creator>
  <cp:keywords>TANRISE, strategic discussion draft, editable presentation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