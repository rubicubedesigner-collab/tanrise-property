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01 · Main presentation" id="{A2ED5461-3754-4302-9627-8285F680ADDC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  <p14:sldId id="356"/>
            <p14:sldId id="357"/>
            <p14:sldId id="358"/>
            <p14:sldId id="359"/>
            <p14:sldId id="360"/>
            <p14:sldId id="361"/>
            <p14:sldId id="362"/>
            <p14:sldId id="363"/>
            <p14:sldId id="364"/>
            <p14:sldId id="365"/>
            <p14:sldId id="366"/>
          </p14:sldIdLst>
        </p14:section>
        <p14:section name="02 · Appendices A–F" id="{521062F8-9E40-40C4-929B-EDB6BC19EFCC}">
          <p14:sldIdLst>
            <p14:sldId id="367"/>
            <p14:sldId id="368"/>
            <p14:sldId id="369"/>
            <p14:sldId id="370"/>
            <p14:sldId id="371"/>
            <p14:sldId id="372"/>
            <p14:sldId id="373"/>
            <p14:sldId id="374"/>
            <p14:sldId id="375"/>
            <p14:sldId id="376"/>
            <p14:sldId id="377"/>
            <p14:sldId id="378"/>
            <p14:sldId id="379"/>
            <p14:sldId id="380"/>
            <p14:sldId id="381"/>
            <p14:sldId id="382"/>
            <p14:sldId id="383"/>
            <p14:sldId id="384"/>
            <p14:sldId id="385"/>
            <p14:sldId id="386"/>
            <p14:sldId id="387"/>
            <p14:sldId id="388"/>
            <p14:sldId id="389"/>
            <p14:sldId id="390"/>
            <p14:sldId id="391"/>
            <p14:sldId id="392"/>
            <p14:sldId id="393"/>
            <p14:sldId id="394"/>
            <p14:sldId id="395"/>
            <p14:sldId id="396"/>
            <p14:sldId id="397"/>
            <p14:sldId id="398"/>
            <p14:sldId id="399"/>
            <p14:sldId id="400"/>
            <p14:sldId id="401"/>
            <p14:sldId id="402"/>
            <p14:sldId id="403"/>
            <p14:sldId id="404"/>
            <p14:sldId id="405"/>
            <p14:sldId id="406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· Rp trillion</c:v>
                </c:pt>
              </c:strCache>
            </c:strRef>
          </c:tx>
          <c:spPr>
            <a:solidFill>
              <a:srgbClr val="153F35"/>
            </a:solidFill>
            <a:ln>
              <a:noFill/>
            </a:ln>
          </c:spPr>
          <c:cat>
            <c:strRef>
              <c:f>Sheet1!$A$2:$A$11</c:f>
              <c:strCache>
                <c:ptCount val="10"/>
                <c:pt idx="0">
                  <c:v>Bumi Serpong Damai — BSDE</c:v>
                </c:pt>
                <c:pt idx="1">
                  <c:v>Lippo Karawaci — LPKR</c:v>
                </c:pt>
                <c:pt idx="2">
                  <c:v>Ciputra Development — CTRA</c:v>
                </c:pt>
                <c:pt idx="3">
                  <c:v>Summarecon Agung — SMRA</c:v>
                </c:pt>
                <c:pt idx="4">
                  <c:v>Pakuwon Jati — PWON</c:v>
                </c:pt>
                <c:pt idx="5">
                  <c:v>Agung Podomoro Land — APLN</c:v>
                </c:pt>
                <c:pt idx="6">
                  <c:v>Duta Pertiwi — DUTI</c:v>
                </c:pt>
                <c:pt idx="7">
                  <c:v>Alam Sutera Realty — ASRI</c:v>
                </c:pt>
                <c:pt idx="8">
                  <c:v>Jaya Real Property — JRPT</c:v>
                </c:pt>
                <c:pt idx="9">
                  <c:v>Pantai Indah Kapuk Dua — PANI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13.8</c:v>
                </c:pt>
                <c:pt idx="1">
                  <c:v>11.35</c:v>
                </c:pt>
                <c:pt idx="2">
                  <c:v>11.19</c:v>
                </c:pt>
                <c:pt idx="3">
                  <c:v>10.62</c:v>
                </c:pt>
                <c:pt idx="4">
                  <c:v>6.67</c:v>
                </c:pt>
                <c:pt idx="5">
                  <c:v>5.68</c:v>
                </c:pt>
                <c:pt idx="6">
                  <c:v>4.42</c:v>
                </c:pt>
                <c:pt idx="7">
                  <c:v>3.44</c:v>
                </c:pt>
                <c:pt idx="8">
                  <c:v>2.95</c:v>
                </c:pt>
                <c:pt idx="9">
                  <c:v>2.83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300">
                  <a:solidFill>
                    <a:srgbClr val="183A32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01 — Cover</a:t>
            </a:r>
          </a:p>
          <a:p>
            <a:r>
              <a:t>Document pages: 1</a:t>
            </a:r>
          </a:p>
          <a:p/>
          <a:p>
            <a:r>
              <a:t>COMPLETE SOURCE TEXT</a:t>
            </a:r>
          </a:p>
          <a:p>
            <a:r>
              <a:t>Beyond Development. Building Lasting Value.</a:t>
            </a:r>
          </a:p>
          <a:p/>
          <a:p>
            <a:r>
              <a:t>TANRISE PROPERTY · CORPORATE STRATEGY 2026–2035</a:t>
            </a:r>
          </a:p>
          <a:p/>
          <a:p>
            <a:r>
              <a:t>Corporate Research, Competitive Intelligence, Brand Architecture &amp; Transformation Roadmap</a:t>
            </a:r>
          </a:p>
          <a:p/>
          <a:p>
            <a:r>
              <a:t>Prepared by Rubicube Creative Strategic Discussion Draft</a:t>
            </a:r>
          </a:p>
          <a:p/>
          <a:p>
            <a:r>
              <a:t>Design direction: Deep forest-green or charcoal editorial cover, strong typography, and actual TANRISE project photography.</a:t>
            </a:r>
          </a:p>
          <a:p/>
          <a:p>
            <a:r>
              <a:t>SOURCE HYPERLINKS (as embedded in Mario’s PDF; not independently reverified)</a:t>
            </a:r>
          </a:p>
          <a:p/>
          <a:p/>
          <a:p>
            <a:r>
              <a:t>BRIEF PREAMBLE</a:t>
            </a:r>
          </a:p>
          <a:p>
            <a:r>
              <a:t>TANRISE PROPERTY</a:t>
            </a:r>
          </a:p>
          <a:p>
            <a:r>
              <a:t>Corporate Research, Competitive Intelligence &amp; Brand Transformation Strategy 2026–2035</a:t>
            </a:r>
          </a:p>
          <a:p>
            <a:r>
              <a:t>Leadership Presentation — 40 Slides</a:t>
            </a:r>
          </a:p>
          <a:p>
            <a:r>
              <a:t>Prepared for Pak Hermanto, Bu Devina, and the TANRISE leadership team Prepared by Rubicube Creative</a:t>
            </a:r>
          </a:p>
          <a:p>
            <a:r>
              <a:t>Portfolio reference: Client investor presentation dated 20 July 2026, client brand portfolio strategy, and official corporate sources.</a:t>
            </a:r>
          </a:p>
          <a:p/>
          <a:p>
            <a:r>
              <a:t>IMAGE: Existing repository asset SLIDE 1/TANRISE.png. Project identity unverified. Used only as an illustrative rendering.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02 — The Ambition</a:t>
            </a:r>
          </a:p>
          <a:p>
            <a:r>
              <a:t>Document pages: 1, 2</a:t>
            </a:r>
          </a:p>
          <a:p/>
          <a:p>
            <a:r>
              <a:t>COMPLETE SOURCE TEXT</a:t>
            </a:r>
          </a:p>
          <a:p>
            <a:r>
              <a:t>From a Growing Developer to Indonesia’s Top Five.</a:t>
            </a:r>
          </a:p>
          <a:p/>
          <a:p>
            <a:r>
              <a:t>TANRISE’s ambition is to become one of Indonesia’s top five publicly listed property developers by 2035, measured by revenue and net profit attributable to owners of the parent.</a:t>
            </a:r>
          </a:p>
          <a:p/>
          <a:p>
            <a:r>
              <a:t>Achieving this requires a stronger business capable of sustained growth, dependable earnings, disciplined investment, and long-term value creation.</a:t>
            </a:r>
          </a:p>
          <a:p/>
          <a:p>
            <a:r>
              <a:t>Ambition | Meaning</a:t>
            </a:r>
          </a:p>
          <a:p/>
          <a:p>
            <a:r>
              <a:t>Leading | Compete at national scale</a:t>
            </a:r>
          </a:p>
          <a:p/>
          <a:p>
            <a:r>
              <a:t>Trusted | Earn confidence through delivery</a:t>
            </a:r>
          </a:p>
          <a:p/>
          <a:p>
            <a:r>
              <a:t>Best Concept | Create developments that answer real needs</a:t>
            </a:r>
          </a:p>
          <a:p/>
          <a:p>
            <a:r>
              <a:t>The client’s current vision is to become a leading and trusted property developer delivering the best concepts.</a:t>
            </a:r>
          </a:p>
          <a:p/>
          <a:p>
            <a:r>
              <a:t>The proposed transformation builds on this foundation by connecting portfolio growth, customer experience, asset productivity, and corporate reputation.</a:t>
            </a:r>
          </a:p>
          <a:p/>
          <a:p>
            <a:r>
              <a:t>Core message: Top Five is a business transformation ambition requiring alignment between corporate strategy, brand strategy, and operational execution.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02 — The Ambition</a:t>
            </a:r>
          </a:p>
          <a:p>
            <a:r>
              <a:t>Document pages: 1, 2</a:t>
            </a:r>
          </a:p>
          <a:p/>
          <a:p>
            <a:r>
              <a:t>COMPLETE SOURCE TEXT</a:t>
            </a:r>
          </a:p>
          <a:p>
            <a:r>
              <a:t>From a Growing Developer to Indonesia’s Top Five.</a:t>
            </a:r>
          </a:p>
          <a:p/>
          <a:p>
            <a:r>
              <a:t>TANRISE’s ambition is to become one of Indonesia’s top five publicly listed property developers by 2035, measured by revenue and net profit attributable to owners of the parent.</a:t>
            </a:r>
          </a:p>
          <a:p/>
          <a:p>
            <a:r>
              <a:t>Achieving this requires a stronger business capable of sustained growth, dependable earnings, disciplined investment, and long-term value creation.</a:t>
            </a:r>
          </a:p>
          <a:p/>
          <a:p>
            <a:r>
              <a:t>Ambition | Meaning</a:t>
            </a:r>
          </a:p>
          <a:p/>
          <a:p>
            <a:r>
              <a:t>Leading | Compete at national scale</a:t>
            </a:r>
          </a:p>
          <a:p/>
          <a:p>
            <a:r>
              <a:t>Trusted | Earn confidence through delivery</a:t>
            </a:r>
          </a:p>
          <a:p/>
          <a:p>
            <a:r>
              <a:t>Best Concept | Create developments that answer real needs</a:t>
            </a:r>
          </a:p>
          <a:p/>
          <a:p>
            <a:r>
              <a:t>The client’s current vision is to become a leading and trusted property developer delivering the best concepts.</a:t>
            </a:r>
          </a:p>
          <a:p/>
          <a:p>
            <a:r>
              <a:t>The proposed transformation builds on this foundation by connecting portfolio growth, customer experience, asset productivity, and corporate reputation.</a:t>
            </a:r>
          </a:p>
          <a:p/>
          <a:p>
            <a:r>
              <a:t>Core message: Top Five is a business transformation ambition requiring alignment between corporate strategy, brand strategy, and operational execution.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03 — Who Is TANRISE Today?</a:t>
            </a:r>
          </a:p>
          <a:p>
            <a:r>
              <a:t>Document pages: 2, 3</a:t>
            </a:r>
          </a:p>
          <a:p/>
          <a:p>
            <a:r>
              <a:t>COMPLETE SOURCE TEXT</a:t>
            </a:r>
          </a:p>
          <a:p>
            <a:r>
              <a:t>One Property Platform. Five Documented Business Pillars.</a:t>
            </a:r>
          </a:p>
          <a:p/>
          <a:p>
            <a:r>
              <a:t>Founded in Sidoarjo in 2003, TANRISE has expanded from warehouses and shophouses into residential communities, commercial destinations, industrial developments, integrated townships, and hospitality assets.</a:t>
            </a:r>
          </a:p>
          <a:p/>
          <a:p>
            <a:r>
              <a:t>The listed corporate entity is PT Jaya Sukses Makmur Sentosa Tbk — RISE.</a:t>
            </a:r>
          </a:p>
          <a:p/>
          <a:p>
            <a:r>
              <a:t>The client’s investor presentation identifies five business pillars:</a:t>
            </a:r>
          </a:p>
          <a:p/>
          <a:p>
            <a:r>
              <a:t>Business pillar | Portfolio examples</a:t>
            </a:r>
          </a:p>
          <a:p/>
          <a:p>
            <a:r>
              <a:t>Integrated City | Tanrise Taman Dayu Pandaan; Tanrise Bandung; Tanrise City Sidoarjo; Swiss of Taman Dayu Pandaan</a:t>
            </a:r>
          </a:p>
          <a:p/>
          <a:p>
            <a:r>
              <a:t>Community Living | Kyo Society; Grand Sunrise Menganti; Sunrise Residence Sidoarjo; Malang residential development</a:t>
            </a:r>
          </a:p>
          <a:p/>
          <a:p>
            <a:r>
              <a:t>Business Districts | Voza Tower; Rame-Rame; Grand Central Bandung</a:t>
            </a:r>
          </a:p>
          <a:p/>
          <a:p>
            <a:r>
              <a:t>Logistic &amp; Industrial Park | Tritan warehouse developments; Tanrise Industrial Park Palembang; Tanrise Industrial Park Banjarbaru</a:t>
            </a:r>
          </a:p>
          <a:p/>
          <a:p>
            <a:r>
              <a:t>Hotel, MICE, and Leisure | Vasa Hotel Surabaya; Vasa Suite Surabaya; Solaris assets; Cleo Business Hotels; Golf Taman Dayu; Driving Range</a:t>
            </a:r>
          </a:p>
          <a:p/>
          <a:p>
            <a:r>
              <a:t>The wider client materials also identify ARC100, Midpoint Kayoon, and Bali Bites.</a:t>
            </a:r>
          </a:p>
          <a:p/>
          <a:p>
            <a:r>
              <a:t>Portfolio principle: Present existing assets and future developments together, with their status clearly distinguished.</a:t>
            </a:r>
          </a:p>
          <a:p/>
          <a:p>
            <a:r>
              <a:t>Design direction: Five-pillar portfolio diagram supported by real project imagery.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03 — Who Is TANRISE Today?</a:t>
            </a:r>
          </a:p>
          <a:p>
            <a:r>
              <a:t>Document pages: 2, 3</a:t>
            </a:r>
          </a:p>
          <a:p/>
          <a:p>
            <a:r>
              <a:t>COMPLETE SOURCE TEXT</a:t>
            </a:r>
          </a:p>
          <a:p>
            <a:r>
              <a:t>One Property Platform. Five Documented Business Pillars.</a:t>
            </a:r>
          </a:p>
          <a:p/>
          <a:p>
            <a:r>
              <a:t>Founded in Sidoarjo in 2003, TANRISE has expanded from warehouses and shophouses into residential communities, commercial destinations, industrial developments, integrated townships, and hospitality assets.</a:t>
            </a:r>
          </a:p>
          <a:p/>
          <a:p>
            <a:r>
              <a:t>The listed corporate entity is PT Jaya Sukses Makmur Sentosa Tbk — RISE.</a:t>
            </a:r>
          </a:p>
          <a:p/>
          <a:p>
            <a:r>
              <a:t>The client’s investor presentation identifies five business pillars:</a:t>
            </a:r>
          </a:p>
          <a:p/>
          <a:p>
            <a:r>
              <a:t>Business pillar | Portfolio examples</a:t>
            </a:r>
          </a:p>
          <a:p/>
          <a:p>
            <a:r>
              <a:t>Integrated City | Tanrise Taman Dayu Pandaan; Tanrise Bandung; Tanrise City Sidoarjo; Swiss of Taman Dayu Pandaan</a:t>
            </a:r>
          </a:p>
          <a:p/>
          <a:p>
            <a:r>
              <a:t>Community Living | Kyo Society; Grand Sunrise Menganti; Sunrise Residence Sidoarjo; Malang residential development</a:t>
            </a:r>
          </a:p>
          <a:p/>
          <a:p>
            <a:r>
              <a:t>Business Districts | Voza Tower; Rame-Rame; Grand Central Bandung</a:t>
            </a:r>
          </a:p>
          <a:p/>
          <a:p>
            <a:r>
              <a:t>Logistic &amp; Industrial Park | Tritan warehouse developments; Tanrise Industrial Park Palembang; Tanrise Industrial Park Banjarbaru</a:t>
            </a:r>
          </a:p>
          <a:p/>
          <a:p>
            <a:r>
              <a:t>Hotel, MICE, and Leisure | Vasa Hotel Surabaya; Vasa Suite Surabaya; Solaris assets; Cleo Business Hotels; Golf Taman Dayu; Driving Range</a:t>
            </a:r>
          </a:p>
          <a:p/>
          <a:p>
            <a:r>
              <a:t>The wider client materials also identify ARC100, Midpoint Kayoon, and Bali Bites.</a:t>
            </a:r>
          </a:p>
          <a:p/>
          <a:p>
            <a:r>
              <a:t>Portfolio principle: Present existing assets and future developments together, with their status clearly distinguished.</a:t>
            </a:r>
          </a:p>
          <a:p/>
          <a:p>
            <a:r>
              <a:t>Design direction: Five-pillar portfolio diagram supported by real project imagery.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04 — TANRISE’s Evolution</a:t>
            </a:r>
          </a:p>
          <a:p>
            <a:r>
              <a:t>Document pages: 3, 4</a:t>
            </a:r>
          </a:p>
          <a:p/>
          <a:p>
            <a:r>
              <a:t>COMPLETE SOURCE TEXT</a:t>
            </a:r>
          </a:p>
          <a:p>
            <a:r>
              <a:t>From Individual Projects to a Broader Development Platform.</a:t>
            </a:r>
          </a:p>
          <a:p/>
          <a:p>
            <a:r>
              <a:t>Period | Development stage | Portfolio development</a:t>
            </a:r>
          </a:p>
          <a:p/>
          <a:p>
            <a:r>
              <a:t>2003–2013 | Establishing the foundation | Warehouse and shophouse development; Tritan locations; Grand Sunrise; early Solaris hospitality developments</a:t>
            </a:r>
          </a:p>
          <a:p/>
          <a:p>
            <a:r>
              <a:t>2015–2020 | Expanding capabilities | Cleo Business Hotels; Vasa Hotel Surabaya; Voza Tower; ARC100 development; Kyo Society introduction; the 2018 IPO</a:t>
            </a:r>
          </a:p>
          <a:p/>
          <a:p>
            <a:r>
              <a:t>2021–2026 | Broadening the portfolio | TritanHub; ARC100 milestones; Kyo Society handover; Jumana Residence; Taman Dayu development; Vasa Suite Surabaya; Solaris villa expansion; commercial and industrial pipeline</a:t>
            </a:r>
          </a:p>
          <a:p/>
          <a:p>
            <a:r>
              <a:t>2027–2035 | Proposed next chapter | Scale validated development models, improve retained-asset performance, strengthen recurring income, and coordinate integrated destinations</a:t>
            </a:r>
          </a:p>
          <a:p/>
          <a:p>
            <a:r>
              <a:t>The Current Pipeline Extends Across Several Sectors</a:t>
            </a:r>
          </a:p>
          <a:p/>
          <a:p>
            <a:r>
              <a:t>● Tanrise Bandung. ● Tanrise City Sidoarjo. ● Swiss of Taman Dayu Pandaan. ● Malang residential development. ● Grand Central Bandung. ● Tanrise Industrial Park Palembang. ● Tanrise Industrial Park Banjarbaru. ● Tritan Gresik. ● Tritan Gempol Pasuruan. ● VASA Ubud. ● VASA Bromo. ● VASA Canggu. ● VASA Malang. ● GOED Malang.</a:t>
            </a:r>
          </a:p>
          <a:p/>
          <a:p>
            <a:r>
              <a:t>Strategic implication: The next phase should combine portfolio expansion with greater productivity, clearer positioning, and stronger execution across existing and future projects.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04 — TANRISE’s Evolution</a:t>
            </a:r>
          </a:p>
          <a:p>
            <a:r>
              <a:t>Document pages: 3, 4</a:t>
            </a:r>
          </a:p>
          <a:p/>
          <a:p>
            <a:r>
              <a:t>COMPLETE SOURCE TEXT</a:t>
            </a:r>
          </a:p>
          <a:p>
            <a:r>
              <a:t>From Individual Projects to a Broader Development Platform.</a:t>
            </a:r>
          </a:p>
          <a:p/>
          <a:p>
            <a:r>
              <a:t>Period | Development stage | Portfolio development</a:t>
            </a:r>
          </a:p>
          <a:p/>
          <a:p>
            <a:r>
              <a:t>2003–2013 | Establishing the foundation | Warehouse and shophouse development; Tritan locations; Grand Sunrise; early Solaris hospitality developments</a:t>
            </a:r>
          </a:p>
          <a:p/>
          <a:p>
            <a:r>
              <a:t>2015–2020 | Expanding capabilities | Cleo Business Hotels; Vasa Hotel Surabaya; Voza Tower; ARC100 development; Kyo Society introduction; the 2018 IPO</a:t>
            </a:r>
          </a:p>
          <a:p/>
          <a:p>
            <a:r>
              <a:t>2021–2026 | Broadening the portfolio | TritanHub; ARC100 milestones; Kyo Society handover; Jumana Residence; Taman Dayu development; Vasa Suite Surabaya; Solaris villa expansion; commercial and industrial pipeline</a:t>
            </a:r>
          </a:p>
          <a:p/>
          <a:p>
            <a:r>
              <a:t>2027–2035 | Proposed next chapter | Scale validated development models, improve retained-asset performance, strengthen recurring income, and coordinate integrated destinations</a:t>
            </a:r>
          </a:p>
          <a:p/>
          <a:p>
            <a:r>
              <a:t>The Current Pipeline Extends Across Several Sectors</a:t>
            </a:r>
          </a:p>
          <a:p/>
          <a:p>
            <a:r>
              <a:t>● Tanrise Bandung. ● Tanrise City Sidoarjo. ● Swiss of Taman Dayu Pandaan. ● Malang residential development. ● Grand Central Bandung. ● Tanrise Industrial Park Palembang. ● Tanrise Industrial Park Banjarbaru. ● Tritan Gresik. ● Tritan Gempol Pasuruan. ● VASA Ubud. ● VASA Bromo. ● VASA Canggu. ● VASA Malang. ● GOED Malang.</a:t>
            </a:r>
          </a:p>
          <a:p/>
          <a:p>
            <a:r>
              <a:t>Strategic implication: The next phase should combine portfolio expansion with greater productivity, clearer positioning, and stronger execution across existing and future projects.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04 — TANRISE’s Evolution</a:t>
            </a:r>
          </a:p>
          <a:p>
            <a:r>
              <a:t>Document pages: 3, 4</a:t>
            </a:r>
          </a:p>
          <a:p/>
          <a:p>
            <a:r>
              <a:t>COMPLETE SOURCE TEXT</a:t>
            </a:r>
          </a:p>
          <a:p>
            <a:r>
              <a:t>From Individual Projects to a Broader Development Platform.</a:t>
            </a:r>
          </a:p>
          <a:p/>
          <a:p>
            <a:r>
              <a:t>Period | Development stage | Portfolio development</a:t>
            </a:r>
          </a:p>
          <a:p/>
          <a:p>
            <a:r>
              <a:t>2003–2013 | Establishing the foundation | Warehouse and shophouse development; Tritan locations; Grand Sunrise; early Solaris hospitality developments</a:t>
            </a:r>
          </a:p>
          <a:p/>
          <a:p>
            <a:r>
              <a:t>2015–2020 | Expanding capabilities | Cleo Business Hotels; Vasa Hotel Surabaya; Voza Tower; ARC100 development; Kyo Society introduction; the 2018 IPO</a:t>
            </a:r>
          </a:p>
          <a:p/>
          <a:p>
            <a:r>
              <a:t>2021–2026 | Broadening the portfolio | TritanHub; ARC100 milestones; Kyo Society handover; Jumana Residence; Taman Dayu development; Vasa Suite Surabaya; Solaris villa expansion; commercial and industrial pipeline</a:t>
            </a:r>
          </a:p>
          <a:p/>
          <a:p>
            <a:r>
              <a:t>2027–2035 | Proposed next chapter | Scale validated development models, improve retained-asset performance, strengthen recurring income, and coordinate integrated destinations</a:t>
            </a:r>
          </a:p>
          <a:p/>
          <a:p>
            <a:r>
              <a:t>The Current Pipeline Extends Across Several Sectors</a:t>
            </a:r>
          </a:p>
          <a:p/>
          <a:p>
            <a:r>
              <a:t>● Tanrise Bandung. ● Tanrise City Sidoarjo. ● Swiss of Taman Dayu Pandaan. ● Malang residential development. ● Grand Central Bandung. ● Tanrise Industrial Park Palembang. ● Tanrise Industrial Park Banjarbaru. ● Tritan Gresik. ● Tritan Gempol Pasuruan. ● VASA Ubud. ● VASA Bromo. ● VASA Canggu. ● VASA Malang. ● GOED Malang.</a:t>
            </a:r>
          </a:p>
          <a:p/>
          <a:p>
            <a:r>
              <a:t>Strategic implication: The next phase should combine portfolio expansion with greater productivity, clearer positioning, and stronger execution across existing and future projects.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04 — TANRISE’s Evolution</a:t>
            </a:r>
          </a:p>
          <a:p>
            <a:r>
              <a:t>Document pages: 3, 4</a:t>
            </a:r>
          </a:p>
          <a:p/>
          <a:p>
            <a:r>
              <a:t>COMPLETE SOURCE TEXT</a:t>
            </a:r>
          </a:p>
          <a:p>
            <a:r>
              <a:t>From Individual Projects to a Broader Development Platform.</a:t>
            </a:r>
          </a:p>
          <a:p/>
          <a:p>
            <a:r>
              <a:t>Period | Development stage | Portfolio development</a:t>
            </a:r>
          </a:p>
          <a:p/>
          <a:p>
            <a:r>
              <a:t>2003–2013 | Establishing the foundation | Warehouse and shophouse development; Tritan locations; Grand Sunrise; early Solaris hospitality developments</a:t>
            </a:r>
          </a:p>
          <a:p/>
          <a:p>
            <a:r>
              <a:t>2015–2020 | Expanding capabilities | Cleo Business Hotels; Vasa Hotel Surabaya; Voza Tower; ARC100 development; Kyo Society introduction; the 2018 IPO</a:t>
            </a:r>
          </a:p>
          <a:p/>
          <a:p>
            <a:r>
              <a:t>2021–2026 | Broadening the portfolio | TritanHub; ARC100 milestones; Kyo Society handover; Jumana Residence; Taman Dayu development; Vasa Suite Surabaya; Solaris villa expansion; commercial and industrial pipeline</a:t>
            </a:r>
          </a:p>
          <a:p/>
          <a:p>
            <a:r>
              <a:t>2027–2035 | Proposed next chapter | Scale validated development models, improve retained-asset performance, strengthen recurring income, and coordinate integrated destinations</a:t>
            </a:r>
          </a:p>
          <a:p/>
          <a:p>
            <a:r>
              <a:t>The Current Pipeline Extends Across Several Sectors</a:t>
            </a:r>
          </a:p>
          <a:p/>
          <a:p>
            <a:r>
              <a:t>● Tanrise Bandung. ● Tanrise City Sidoarjo. ● Swiss of Taman Dayu Pandaan. ● Malang residential development. ● Grand Central Bandung. ● Tanrise Industrial Park Palembang. ● Tanrise Industrial Park Banjarbaru. ● Tritan Gresik. ● Tritan Gempol Pasuruan. ● VASA Ubud. ● VASA Bromo. ● VASA Canggu. ● VASA Malang. ● GOED Malang.</a:t>
            </a:r>
          </a:p>
          <a:p/>
          <a:p>
            <a:r>
              <a:t>Strategic implication: The next phase should combine portfolio expansion with greater productivity, clearer positioning, and stronger execution across existing and future projects.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05 — Where TANRISE Stands Financially</a:t>
            </a:r>
          </a:p>
          <a:p>
            <a:r>
              <a:t>Document pages: 5</a:t>
            </a:r>
          </a:p>
          <a:p/>
          <a:p>
            <a:r>
              <a:t>COMPLETE SOURCE TEXT</a:t>
            </a:r>
          </a:p>
          <a:p>
            <a:r>
              <a:t>The Growth Gap Is Significant.</a:t>
            </a:r>
          </a:p>
          <a:p/>
          <a:p>
            <a:r>
              <a:t>TANRISE’s FY2025 financial baseline:</a:t>
            </a:r>
          </a:p>
          <a:p/>
          <a:p>
            <a:r>
              <a:t>Financial measure | FY2025</a:t>
            </a:r>
          </a:p>
          <a:p/>
          <a:p>
            <a:r>
              <a:t>Consolidated revenue | Approximately Rp410.7 billion</a:t>
            </a:r>
          </a:p>
          <a:p/>
          <a:p>
            <a:r>
              <a:t>Net profit attributable to owners of the parent | Approximately Rp87.2 billion</a:t>
            </a:r>
          </a:p>
          <a:p/>
          <a:p>
            <a:r>
              <a:t>These figures reconcile with the audited FY2025 financial statements.</a:t>
            </a:r>
          </a:p>
          <a:p/>
          <a:p>
            <a:r>
              <a:t>The revenue gap to Summarecon’s reported FY2025 revenue of approximately Rp8.77 trillion is around 21 times.</a:t>
            </a:r>
          </a:p>
          <a:p/>
          <a:p>
            <a:r>
              <a:t>Closing a gap of this magnitude would require sustained growth, substantial portfolio expansion, improved asset productivity, or a combination of these.</a:t>
            </a:r>
          </a:p>
          <a:p/>
          <a:p>
            <a:r>
              <a:t>What the Portfolio Pipeline Must Demonstrate</a:t>
            </a:r>
          </a:p>
          <a:p/>
          <a:p>
            <a:r>
              <a:t>● Which projects contribute development revenue. ● Which assets generate continuing operating income. ● When revenue and cash flow are expected to materialise. ● How much capital each initiative requires. ● How ownership interests affect attributable earnings. ● Whether the operating organisation can support expansion.</a:t>
            </a:r>
          </a:p>
          <a:p/>
          <a:p>
            <a:r>
              <a:t>Important distinction: Historical comparisons do not establish the financial threshold required to rank among the Top Five in 2035.</a:t>
            </a:r>
          </a:p>
          <a:p/>
          <a:p>
            <a:r>
              <a:t>Design direction: Same-year revenue comparison accompanied by a clearly labelled project-contribution timeline.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05 — Where TANRISE Stands Financially</a:t>
            </a:r>
          </a:p>
          <a:p>
            <a:r>
              <a:t>Document pages: 5</a:t>
            </a:r>
          </a:p>
          <a:p/>
          <a:p>
            <a:r>
              <a:t>COMPLETE SOURCE TEXT</a:t>
            </a:r>
          </a:p>
          <a:p>
            <a:r>
              <a:t>The Growth Gap Is Significant.</a:t>
            </a:r>
          </a:p>
          <a:p/>
          <a:p>
            <a:r>
              <a:t>TANRISE’s FY2025 financial baseline:</a:t>
            </a:r>
          </a:p>
          <a:p/>
          <a:p>
            <a:r>
              <a:t>Financial measure | FY2025</a:t>
            </a:r>
          </a:p>
          <a:p/>
          <a:p>
            <a:r>
              <a:t>Consolidated revenue | Approximately Rp410.7 billion</a:t>
            </a:r>
          </a:p>
          <a:p/>
          <a:p>
            <a:r>
              <a:t>Net profit attributable to owners of the parent | Approximately Rp87.2 billion</a:t>
            </a:r>
          </a:p>
          <a:p/>
          <a:p>
            <a:r>
              <a:t>These figures reconcile with the audited FY2025 financial statements.</a:t>
            </a:r>
          </a:p>
          <a:p/>
          <a:p>
            <a:r>
              <a:t>The revenue gap to Summarecon’s reported FY2025 revenue of approximately Rp8.77 trillion is around 21 times.</a:t>
            </a:r>
          </a:p>
          <a:p/>
          <a:p>
            <a:r>
              <a:t>Closing a gap of this magnitude would require sustained growth, substantial portfolio expansion, improved asset productivity, or a combination of these.</a:t>
            </a:r>
          </a:p>
          <a:p/>
          <a:p>
            <a:r>
              <a:t>What the Portfolio Pipeline Must Demonstrate</a:t>
            </a:r>
          </a:p>
          <a:p/>
          <a:p>
            <a:r>
              <a:t>● Which projects contribute development revenue. ● Which assets generate continuing operating income. ● When revenue and cash flow are expected to materialise. ● How much capital each initiative requires. ● How ownership interests affect attributable earnings. ● Whether the operating organisation can support expansion.</a:t>
            </a:r>
          </a:p>
          <a:p/>
          <a:p>
            <a:r>
              <a:t>Important distinction: Historical comparisons do not establish the financial threshold required to rank among the Top Five in 2035.</a:t>
            </a:r>
          </a:p>
          <a:p/>
          <a:p>
            <a:r>
              <a:t>Design direction: Same-year revenue comparison accompanied by a clearly labelled project-contribution timeline.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06 — The Central Diagnosis</a:t>
            </a:r>
          </a:p>
          <a:p>
            <a:r>
              <a:t>Document pages: 6</a:t>
            </a:r>
          </a:p>
          <a:p/>
          <a:p>
            <a:r>
              <a:t>COMPLETE SOURCE TEXT</a:t>
            </a:r>
          </a:p>
          <a:p>
            <a:r>
              <a:t>A Diversified Portfolio Creates Opportunity—and Demands Coordination.</a:t>
            </a:r>
          </a:p>
          <a:p/>
          <a:p>
            <a:r>
              <a:t>TANRISE already has a broad portfolio and development pipeline. The strategic question is how effectively these assets work together.</a:t>
            </a:r>
          </a:p>
          <a:p/>
          <a:p>
            <a:r>
              <a:t>Strategic question | Potential consequence if unresolved</a:t>
            </a:r>
          </a:p>
          <a:p/>
          <a:p>
            <a:r>
              <a:t>Are corporate, destination, project, and operating-brand relationships clear? | Fragmented recognition and unclear accountability</a:t>
            </a:r>
          </a:p>
          <a:p/>
          <a:p>
            <a:r>
              <a:t>Are existing and proposed project names consistently applied? | Customer confusion and duplicate portfolio reporting</a:t>
            </a:r>
          </a:p>
          <a:p/>
          <a:p>
            <a:r>
              <a:t>Do business units share relevant customers, partners, and opportunities? | Missed commercial synergies</a:t>
            </a:r>
          </a:p>
          <a:p/>
          <a:p>
            <a:r>
              <a:t>Are retained assets optimised? | Underdeveloped recurring income</a:t>
            </a:r>
          </a:p>
          <a:p/>
          <a:p>
            <a:r>
              <a:t>Are customer and service standards consistent? Uneven trust and experience</a:t>
            </a:r>
          </a:p>
          <a:p/>
          <a:p>
            <a:r>
              <a:t>Are investments evaluated through a common framework? | Unclear priorities and inefficient capital allocation</a:t>
            </a:r>
          </a:p>
          <a:p/>
          <a:p>
            <a:r>
              <a:t>These are strategic hypotheses for validation.</a:t>
            </a:r>
          </a:p>
          <a:p/>
          <a:p>
            <a:r>
              <a:t>The differences between the investor and brand portfolio decks demonstrate the need for one approved portfolio register covering names, status, ownership, operating responsibility, and naming transitions.</a:t>
            </a:r>
          </a:p>
          <a:p/>
          <a:p>
            <a:r>
              <a:t>Recommendation: Validate the diagnosis through financial analysis, operational interviews, customer research, and project audits.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06 — The Central Diagnosis</a:t>
            </a:r>
          </a:p>
          <a:p>
            <a:r>
              <a:t>Document pages: 6</a:t>
            </a:r>
          </a:p>
          <a:p/>
          <a:p>
            <a:r>
              <a:t>COMPLETE SOURCE TEXT</a:t>
            </a:r>
          </a:p>
          <a:p>
            <a:r>
              <a:t>A Diversified Portfolio Creates Opportunity—and Demands Coordination.</a:t>
            </a:r>
          </a:p>
          <a:p/>
          <a:p>
            <a:r>
              <a:t>TANRISE already has a broad portfolio and development pipeline. The strategic question is how effectively these assets work together.</a:t>
            </a:r>
          </a:p>
          <a:p/>
          <a:p>
            <a:r>
              <a:t>Strategic question | Potential consequence if unresolved</a:t>
            </a:r>
          </a:p>
          <a:p/>
          <a:p>
            <a:r>
              <a:t>Are corporate, destination, project, and operating-brand relationships clear? | Fragmented recognition and unclear accountability</a:t>
            </a:r>
          </a:p>
          <a:p/>
          <a:p>
            <a:r>
              <a:t>Are existing and proposed project names consistently applied? | Customer confusion and duplicate portfolio reporting</a:t>
            </a:r>
          </a:p>
          <a:p/>
          <a:p>
            <a:r>
              <a:t>Do business units share relevant customers, partners, and opportunities? | Missed commercial synergies</a:t>
            </a:r>
          </a:p>
          <a:p/>
          <a:p>
            <a:r>
              <a:t>Are retained assets optimised? | Underdeveloped recurring income</a:t>
            </a:r>
          </a:p>
          <a:p/>
          <a:p>
            <a:r>
              <a:t>Are customer and service standards consistent? Uneven trust and experience</a:t>
            </a:r>
          </a:p>
          <a:p/>
          <a:p>
            <a:r>
              <a:t>Are investments evaluated through a common framework? | Unclear priorities and inefficient capital allocation</a:t>
            </a:r>
          </a:p>
          <a:p/>
          <a:p>
            <a:r>
              <a:t>These are strategic hypotheses for validation.</a:t>
            </a:r>
          </a:p>
          <a:p/>
          <a:p>
            <a:r>
              <a:t>The differences between the investor and brand portfolio decks demonstrate the need for one approved portfolio register covering names, status, ownership, operating responsibility, and naming transitions.</a:t>
            </a:r>
          </a:p>
          <a:p/>
          <a:p>
            <a:r>
              <a:t>Recommendation: Validate the diagnosis through financial analysis, operational interviews, customer research, and project audits.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06 — The Central Diagnosis</a:t>
            </a:r>
          </a:p>
          <a:p>
            <a:r>
              <a:t>Document pages: 6</a:t>
            </a:r>
          </a:p>
          <a:p/>
          <a:p>
            <a:r>
              <a:t>COMPLETE SOURCE TEXT</a:t>
            </a:r>
          </a:p>
          <a:p>
            <a:r>
              <a:t>A Diversified Portfolio Creates Opportunity—and Demands Coordination.</a:t>
            </a:r>
          </a:p>
          <a:p/>
          <a:p>
            <a:r>
              <a:t>TANRISE already has a broad portfolio and development pipeline. The strategic question is how effectively these assets work together.</a:t>
            </a:r>
          </a:p>
          <a:p/>
          <a:p>
            <a:r>
              <a:t>Strategic question | Potential consequence if unresolved</a:t>
            </a:r>
          </a:p>
          <a:p/>
          <a:p>
            <a:r>
              <a:t>Are corporate, destination, project, and operating-brand relationships clear? | Fragmented recognition and unclear accountability</a:t>
            </a:r>
          </a:p>
          <a:p/>
          <a:p>
            <a:r>
              <a:t>Are existing and proposed project names consistently applied? | Customer confusion and duplicate portfolio reporting</a:t>
            </a:r>
          </a:p>
          <a:p/>
          <a:p>
            <a:r>
              <a:t>Do business units share relevant customers, partners, and opportunities? | Missed commercial synergies</a:t>
            </a:r>
          </a:p>
          <a:p/>
          <a:p>
            <a:r>
              <a:t>Are retained assets optimised? | Underdeveloped recurring income</a:t>
            </a:r>
          </a:p>
          <a:p/>
          <a:p>
            <a:r>
              <a:t>Are customer and service standards consistent? Uneven trust and experience</a:t>
            </a:r>
          </a:p>
          <a:p/>
          <a:p>
            <a:r>
              <a:t>Are investments evaluated through a common framework? | Unclear priorities and inefficient capital allocation</a:t>
            </a:r>
          </a:p>
          <a:p/>
          <a:p>
            <a:r>
              <a:t>These are strategic hypotheses for validation.</a:t>
            </a:r>
          </a:p>
          <a:p/>
          <a:p>
            <a:r>
              <a:t>The differences between the investor and brand portfolio decks demonstrate the need for one approved portfolio register covering names, status, ownership, operating responsibility, and naming transitions.</a:t>
            </a:r>
          </a:p>
          <a:p/>
          <a:p>
            <a:r>
              <a:t>Recommendation: Validate the diagnosis through financial analysis, operational interviews, customer research, and project audits.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07 — The Transformation Opportunity</a:t>
            </a:r>
          </a:p>
          <a:p>
            <a:r>
              <a:t>Document pages: 7</a:t>
            </a:r>
          </a:p>
          <a:p/>
          <a:p>
            <a:r>
              <a:t>COMPLETE SOURCE TEXT</a:t>
            </a:r>
          </a:p>
          <a:p>
            <a:r>
              <a:t>Create More Value Across the Full Life of Each Development.</a:t>
            </a:r>
          </a:p>
          <a:p/>
          <a:p>
            <a:r>
              <a:t>Traditional development cycle</a:t>
            </a:r>
          </a:p>
          <a:p/>
          <a:p>
            <a:r>
              <a:t>Land Acquisition → Development → Marketing → Sales → Handover</a:t>
            </a:r>
          </a:p>
          <a:p/>
          <a:p>
            <a:r>
              <a:t>Proposed continuing-value cycle</a:t>
            </a:r>
          </a:p>
          <a:p/>
          <a:p>
            <a:r>
              <a:t>Development → Activation → Occupancy → Experience → Management → Recurring Value</a:t>
            </a:r>
          </a:p>
          <a:p/>
          <a:p>
            <a:r>
              <a:t>Application Across TANRISE</a:t>
            </a:r>
          </a:p>
          <a:p/>
          <a:p>
            <a:r>
              <a:t>● Integrated City: Coordinate residential, commercial, leisure, infrastructure, and</a:t>
            </a:r>
          </a:p>
          <a:p/>
          <a:p>
            <a:r>
              <a:t>partner-led facilities. ● Community Living: Build trust through relevant housing concepts, delivery, and</a:t>
            </a:r>
          </a:p>
          <a:p/>
          <a:p>
            <a:r>
              <a:t>continued customer care. ● Business Districts: Improve tenant mix, occupancy, visitation, and commercial</a:t>
            </a:r>
          </a:p>
          <a:p/>
          <a:p>
            <a:r>
              <a:t>relevance. ● Logistic &amp; Industrial Park: Support occupier requirements, infrastructure</a:t>
            </a:r>
          </a:p>
          <a:p/>
          <a:p>
            <a:r>
              <a:t>readiness, and business continuity. ● Hotel, MICE, and Leisure: Improve utilisation, guest experience, operating</a:t>
            </a:r>
          </a:p>
          <a:p/>
          <a:p>
            <a:r>
              <a:t>performance, and destination appeal.</a:t>
            </a:r>
          </a:p>
          <a:p/>
          <a:p>
            <a:r>
              <a:t>Strategic thesis: TANRISE should strengthen its development capabilities while creating more long-term value from the places and assets it develops.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07 — The Transformation Opportunity</a:t>
            </a:r>
          </a:p>
          <a:p>
            <a:r>
              <a:t>Document pages: 7</a:t>
            </a:r>
          </a:p>
          <a:p/>
          <a:p>
            <a:r>
              <a:t>COMPLETE SOURCE TEXT</a:t>
            </a:r>
          </a:p>
          <a:p>
            <a:r>
              <a:t>Create More Value Across the Full Life of Each Development.</a:t>
            </a:r>
          </a:p>
          <a:p/>
          <a:p>
            <a:r>
              <a:t>Traditional development cycle</a:t>
            </a:r>
          </a:p>
          <a:p/>
          <a:p>
            <a:r>
              <a:t>Land Acquisition → Development → Marketing → Sales → Handover</a:t>
            </a:r>
          </a:p>
          <a:p/>
          <a:p>
            <a:r>
              <a:t>Proposed continuing-value cycle</a:t>
            </a:r>
          </a:p>
          <a:p/>
          <a:p>
            <a:r>
              <a:t>Development → Activation → Occupancy → Experience → Management → Recurring Value</a:t>
            </a:r>
          </a:p>
          <a:p/>
          <a:p>
            <a:r>
              <a:t>Application Across TANRISE</a:t>
            </a:r>
          </a:p>
          <a:p/>
          <a:p>
            <a:r>
              <a:t>● Integrated City: Coordinate residential, commercial, leisure, infrastructure, and</a:t>
            </a:r>
          </a:p>
          <a:p/>
          <a:p>
            <a:r>
              <a:t>partner-led facilities. ● Community Living: Build trust through relevant housing concepts, delivery, and</a:t>
            </a:r>
          </a:p>
          <a:p/>
          <a:p>
            <a:r>
              <a:t>continued customer care. ● Business Districts: Improve tenant mix, occupancy, visitation, and commercial</a:t>
            </a:r>
          </a:p>
          <a:p/>
          <a:p>
            <a:r>
              <a:t>relevance. ● Logistic &amp; Industrial Park: Support occupier requirements, infrastructure</a:t>
            </a:r>
          </a:p>
          <a:p/>
          <a:p>
            <a:r>
              <a:t>readiness, and business continuity. ● Hotel, MICE, and Leisure: Improve utilisation, guest experience, operating</a:t>
            </a:r>
          </a:p>
          <a:p/>
          <a:p>
            <a:r>
              <a:t>performance, and destination appeal.</a:t>
            </a:r>
          </a:p>
          <a:p/>
          <a:p>
            <a:r>
              <a:t>Strategic thesis: TANRISE should strengthen its development capabilities while creating more long-term value from the places and assets it develops.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08 — Define the Competitive Battlefield</a:t>
            </a:r>
          </a:p>
          <a:p>
            <a:r>
              <a:t>Document pages: 7, 8</a:t>
            </a:r>
          </a:p>
          <a:p/>
          <a:p>
            <a:r>
              <a:t>COMPLETE SOURCE TEXT</a:t>
            </a:r>
          </a:p>
          <a:p>
            <a:r>
              <a:t>The Top Five Is a Moving Target.</a:t>
            </a:r>
          </a:p>
          <a:p/>
          <a:p>
            <a:r>
              <a:t>To make the 2035 ambition measurable, TANRISE should track two parallel league tables:</a:t>
            </a:r>
          </a:p>
          <a:p/>
          <a:p>
            <a:r>
              <a:t>1. Annual consolidated revenue. 2. Net profit attributable to owners of the parent.</a:t>
            </a:r>
          </a:p>
          <a:p/>
          <a:p>
            <a:r>
              <a:t>Assets, market capitalisation, marketing sales, and recognised revenue should be reported separately.</a:t>
            </a:r>
          </a:p>
          <a:p/>
          <a:p>
            <a:r>
              <a:t>Benchmarking Principles</a:t>
            </a:r>
          </a:p>
          <a:p/>
          <a:p>
            <a:r>
              <a:t>● Define an agreed listed-property peer group. ● Use consistent accounting periods. ● Separate listed issuers from private developer groups. ● Consider related issuers and consolidation effects. ● Distinguish development income from recurring operating income. ● Compare attributable profit consistently.</a:t>
            </a:r>
          </a:p>
          <a:p/>
          <a:p>
            <a:r>
              <a:t>Strategic implication: TANRISE’s pipeline should be evaluated against the scale, timing, and earnings quality required to progress toward the ambition.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08 — Define the Competitive Battlefield</a:t>
            </a:r>
          </a:p>
          <a:p>
            <a:r>
              <a:t>Document pages: 7, 8</a:t>
            </a:r>
          </a:p>
          <a:p/>
          <a:p>
            <a:r>
              <a:t>COMPLETE SOURCE TEXT</a:t>
            </a:r>
          </a:p>
          <a:p>
            <a:r>
              <a:t>The Top Five Is a Moving Target.</a:t>
            </a:r>
          </a:p>
          <a:p/>
          <a:p>
            <a:r>
              <a:t>To make the 2035 ambition measurable, TANRISE should track two parallel league tables:</a:t>
            </a:r>
          </a:p>
          <a:p/>
          <a:p>
            <a:r>
              <a:t>1. Annual consolidated revenue. 2. Net profit attributable to owners of the parent.</a:t>
            </a:r>
          </a:p>
          <a:p/>
          <a:p>
            <a:r>
              <a:t>Assets, market capitalisation, marketing sales, and recognised revenue should be reported separately.</a:t>
            </a:r>
          </a:p>
          <a:p/>
          <a:p>
            <a:r>
              <a:t>Benchmarking Principles</a:t>
            </a:r>
          </a:p>
          <a:p/>
          <a:p>
            <a:r>
              <a:t>● Define an agreed listed-property peer group. ● Use consistent accounting periods. ● Separate listed issuers from private developer groups. ● Consider related issuers and consolidation effects. ● Distinguish development income from recurring operating income. ● Compare attributable profit consistently.</a:t>
            </a:r>
          </a:p>
          <a:p/>
          <a:p>
            <a:r>
              <a:t>Strategic implication: TANRISE’s pipeline should be evaluated against the scale, timing, and earnings quality required to progress toward the ambition.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09 — Indonesia’s Ten Largest Listed Property Developers</a:t>
            </a:r>
          </a:p>
          <a:p>
            <a:r>
              <a:t>Document pages: 8, 9</a:t>
            </a:r>
          </a:p>
          <a:p/>
          <a:p>
            <a:r>
              <a:t>COMPLETE SOURCE TEXT</a:t>
            </a:r>
          </a:p>
          <a:p>
            <a:r>
              <a:t>A Historical Baseline for Understanding Competitive Scale.</a:t>
            </a:r>
          </a:p>
          <a:p/>
          <a:p>
            <a:r>
              <a:t>The following reproduces the research draft’s FY2024 revenue baseline. It is not a verified FY2025 ranking.</a:t>
            </a:r>
          </a:p>
          <a:p/>
          <a:p>
            <a:r>
              <a:t>Rank | Listed company | FY2024 revenue, Rp trillion</a:t>
            </a:r>
          </a:p>
          <a:p/>
          <a:p>
            <a:r>
              <a:t>1 | Bumi Serpong Damai — BSDE | 13.80</a:t>
            </a:r>
          </a:p>
          <a:p/>
          <a:p>
            <a:r>
              <a:t>2 | Lippo Karawaci — LPKR | 11.35</a:t>
            </a:r>
          </a:p>
          <a:p/>
          <a:p>
            <a:r>
              <a:t>3 | Ciputra Development — CTRA | 11.19</a:t>
            </a:r>
          </a:p>
          <a:p/>
          <a:p>
            <a:r>
              <a:t>4 | Summarecon Agung — SMRA | 10.62</a:t>
            </a:r>
          </a:p>
          <a:p/>
          <a:p>
            <a:r>
              <a:t>5 | Pakuwon Jati — PWON | 6.67</a:t>
            </a:r>
          </a:p>
          <a:p/>
          <a:p>
            <a:r>
              <a:t>6 | Agung Podomoro Land — APLN | 5.68</a:t>
            </a:r>
          </a:p>
          <a:p/>
          <a:p>
            <a:r>
              <a:t>7 | Duta Pertiwi — DUTI | 4.42</a:t>
            </a:r>
          </a:p>
          <a:p/>
          <a:p>
            <a:r>
              <a:t>8 | Alam Sutera Realty — ASRI | 3.44</a:t>
            </a:r>
          </a:p>
          <a:p/>
          <a:p>
            <a:r>
              <a:t>9 | Jaya Real Property — JRPT | 2.95</a:t>
            </a:r>
          </a:p>
          <a:p/>
          <a:p>
            <a:r>
              <a:t>10 | Pantai Indah Kapuk Dua — PANI | 2.83</a:t>
            </a:r>
          </a:p>
          <a:p/>
          <a:p>
            <a:r>
              <a:t>Source cited in the original research draft: IDXChannel, 21 April 2025.</a:t>
            </a:r>
          </a:p>
          <a:p/>
          <a:p>
            <a:r>
              <a:t>Interpretation: TANRISE competes against companies with substantially greater financial scale, although their business models and revenue composition differ.</a:t>
            </a:r>
          </a:p>
          <a:p/>
          <a:p>
            <a:r>
              <a:t>Validation requirement: Reconcile the ranking and individual figures before external presentation.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09 — Indonesia’s Ten Largest Listed Property Developers</a:t>
            </a:r>
          </a:p>
          <a:p>
            <a:r>
              <a:t>Document pages: 8, 9</a:t>
            </a:r>
          </a:p>
          <a:p/>
          <a:p>
            <a:r>
              <a:t>COMPLETE SOURCE TEXT</a:t>
            </a:r>
          </a:p>
          <a:p>
            <a:r>
              <a:t>A Historical Baseline for Understanding Competitive Scale.</a:t>
            </a:r>
          </a:p>
          <a:p/>
          <a:p>
            <a:r>
              <a:t>The following reproduces the research draft’s FY2024 revenue baseline. It is not a verified FY2025 ranking.</a:t>
            </a:r>
          </a:p>
          <a:p/>
          <a:p>
            <a:r>
              <a:t>Rank | Listed company | FY2024 revenue, Rp trillion</a:t>
            </a:r>
          </a:p>
          <a:p/>
          <a:p>
            <a:r>
              <a:t>1 | Bumi Serpong Damai — BSDE | 13.80</a:t>
            </a:r>
          </a:p>
          <a:p/>
          <a:p>
            <a:r>
              <a:t>2 | Lippo Karawaci — LPKR | 11.35</a:t>
            </a:r>
          </a:p>
          <a:p/>
          <a:p>
            <a:r>
              <a:t>3 | Ciputra Development — CTRA | 11.19</a:t>
            </a:r>
          </a:p>
          <a:p/>
          <a:p>
            <a:r>
              <a:t>4 | Summarecon Agung — SMRA | 10.62</a:t>
            </a:r>
          </a:p>
          <a:p/>
          <a:p>
            <a:r>
              <a:t>5 | Pakuwon Jati — PWON | 6.67</a:t>
            </a:r>
          </a:p>
          <a:p/>
          <a:p>
            <a:r>
              <a:t>6 | Agung Podomoro Land — APLN | 5.68</a:t>
            </a:r>
          </a:p>
          <a:p/>
          <a:p>
            <a:r>
              <a:t>7 | Duta Pertiwi — DUTI | 4.42</a:t>
            </a:r>
          </a:p>
          <a:p/>
          <a:p>
            <a:r>
              <a:t>8 | Alam Sutera Realty — ASRI | 3.44</a:t>
            </a:r>
          </a:p>
          <a:p/>
          <a:p>
            <a:r>
              <a:t>9 | Jaya Real Property — JRPT | 2.95</a:t>
            </a:r>
          </a:p>
          <a:p/>
          <a:p>
            <a:r>
              <a:t>10 | Pantai Indah Kapuk Dua — PANI | 2.83</a:t>
            </a:r>
          </a:p>
          <a:p/>
          <a:p>
            <a:r>
              <a:t>Source cited in the original research draft: IDXChannel, 21 April 2025.</a:t>
            </a:r>
          </a:p>
          <a:p/>
          <a:p>
            <a:r>
              <a:t>Interpretation: TANRISE competes against companies with substantially greater financial scale, although their business models and revenue composition differ.</a:t>
            </a:r>
          </a:p>
          <a:p/>
          <a:p>
            <a:r>
              <a:t>Validation requirement: Reconcile the ranking and individual figures before external presentation.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09 — Indonesia’s Ten Largest Listed Property Developers</a:t>
            </a:r>
          </a:p>
          <a:p>
            <a:r>
              <a:t>Document pages: 8, 9</a:t>
            </a:r>
          </a:p>
          <a:p/>
          <a:p>
            <a:r>
              <a:t>COMPLETE SOURCE TEXT</a:t>
            </a:r>
          </a:p>
          <a:p>
            <a:r>
              <a:t>A Historical Baseline for Understanding Competitive Scale.</a:t>
            </a:r>
          </a:p>
          <a:p/>
          <a:p>
            <a:r>
              <a:t>The following reproduces the research draft’s FY2024 revenue baseline. It is not a verified FY2025 ranking.</a:t>
            </a:r>
          </a:p>
          <a:p/>
          <a:p>
            <a:r>
              <a:t>Rank | Listed company | FY2024 revenue, Rp trillion</a:t>
            </a:r>
          </a:p>
          <a:p/>
          <a:p>
            <a:r>
              <a:t>1 | Bumi Serpong Damai — BSDE | 13.80</a:t>
            </a:r>
          </a:p>
          <a:p/>
          <a:p>
            <a:r>
              <a:t>2 | Lippo Karawaci — LPKR | 11.35</a:t>
            </a:r>
          </a:p>
          <a:p/>
          <a:p>
            <a:r>
              <a:t>3 | Ciputra Development — CTRA | 11.19</a:t>
            </a:r>
          </a:p>
          <a:p/>
          <a:p>
            <a:r>
              <a:t>4 | Summarecon Agung — SMRA | 10.62</a:t>
            </a:r>
          </a:p>
          <a:p/>
          <a:p>
            <a:r>
              <a:t>5 | Pakuwon Jati — PWON | 6.67</a:t>
            </a:r>
          </a:p>
          <a:p/>
          <a:p>
            <a:r>
              <a:t>6 | Agung Podomoro Land — APLN | 5.68</a:t>
            </a:r>
          </a:p>
          <a:p/>
          <a:p>
            <a:r>
              <a:t>7 | Duta Pertiwi — DUTI | 4.42</a:t>
            </a:r>
          </a:p>
          <a:p/>
          <a:p>
            <a:r>
              <a:t>8 | Alam Sutera Realty — ASRI | 3.44</a:t>
            </a:r>
          </a:p>
          <a:p/>
          <a:p>
            <a:r>
              <a:t>9 | Jaya Real Property — JRPT | 2.95</a:t>
            </a:r>
          </a:p>
          <a:p/>
          <a:p>
            <a:r>
              <a:t>10 | Pantai Indah Kapuk Dua — PANI | 2.83</a:t>
            </a:r>
          </a:p>
          <a:p/>
          <a:p>
            <a:r>
              <a:t>Source cited in the original research draft: IDXChannel, 21 April 2025.</a:t>
            </a:r>
          </a:p>
          <a:p/>
          <a:p>
            <a:r>
              <a:t>Interpretation: TANRISE competes against companies with substantially greater financial scale, although their business models and revenue composition differ.</a:t>
            </a:r>
          </a:p>
          <a:p/>
          <a:p>
            <a:r>
              <a:t>Validation requirement: Reconcile the ranking and individual figures before external presentation.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10 — What Are the Leading Developers Famous For?</a:t>
            </a:r>
          </a:p>
          <a:p>
            <a:r>
              <a:t>Document pages: 9, 10, 11</a:t>
            </a:r>
          </a:p>
          <a:p/>
          <a:p>
            <a:r>
              <a:t>COMPLETE SOURCE TEXT</a:t>
            </a:r>
          </a:p>
          <a:p>
            <a:r>
              <a:t>Different Developers. Different Engines of Advantage.</a:t>
            </a:r>
          </a:p>
          <a:p/>
          <a:p>
            <a:r>
              <a:t>Developer or group | Recognised strength | Competitive lesson</a:t>
            </a:r>
          </a:p>
          <a:p/>
          <a:p>
            <a:r>
              <a:t>BSD / Sinar Mas Land | Large-scale integrated townships | Build economic anchors, connectivity, and institutional partnerships</a:t>
            </a:r>
          </a:p>
          <a:p/>
          <a:p>
            <a:r>
              <a:t>Ciputra | Replicable township development | Standardise capabilities while adapting to local markets</a:t>
            </a:r>
          </a:p>
          <a:p/>
          <a:p>
            <a:r>
              <a:t>Summarecon | Community building and estate management | Make the post-handover experience a competitive asset</a:t>
            </a:r>
          </a:p>
          <a:p/>
          <a:p>
            <a:r>
              <a:t>Pakuwon | Income-producing mixed-use assets | Develop recurring revenue alongside property sales</a:t>
            </a:r>
          </a:p>
          <a:p/>
          <a:p>
            <a:r>
              <a:t>Agung Sedayu / PIK | Destination and lifestyle activation | Create visitation and desire for the wider location</a:t>
            </a:r>
          </a:p>
          <a:p/>
          <a:p>
            <a:r>
              <a:t>Lippo | Diversified property platforms | Maintain portfolio and capital discipline</a:t>
            </a:r>
          </a:p>
          <a:p/>
          <a:p>
            <a:r>
              <a:t>Paramount Land | Commercialisation and residential segmentation | Match products, positioning, and launches to demand</a:t>
            </a:r>
          </a:p>
          <a:p/>
          <a:p>
            <a:r>
              <a:t>Alam Sutera | Township environment and lifestyle appeal | Connect public realm, amenities, and place identity</a:t>
            </a:r>
          </a:p>
          <a:p/>
          <a:p>
            <a:r>
              <a:t>Agung Podomoro | High-density mixed-use development | Understand integration benefits and execution exposure</a:t>
            </a:r>
          </a:p>
          <a:p/>
          <a:p>
            <a:r>
              <a:t>Intiland | Mixed-use, industrial, and investment property | Balance development income with operating assets</a:t>
            </a:r>
          </a:p>
          <a:p/>
          <a:p>
            <a:r>
              <a:t>Application to TANRISE: Select mechanisms suited to its existing assets, pipeline, capital capacity, and delivery capabilities.</a:t>
            </a:r>
          </a:p>
          <a:p/>
          <a:p>
            <a:r>
              <a:t>Design direction: Comparative matrix using actual project imagery and a clear distinction between listed issuers and private groups.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10 — What Are the Leading Developers Famous For?</a:t>
            </a:r>
          </a:p>
          <a:p>
            <a:r>
              <a:t>Document pages: 9, 10, 11</a:t>
            </a:r>
          </a:p>
          <a:p/>
          <a:p>
            <a:r>
              <a:t>COMPLETE SOURCE TEXT</a:t>
            </a:r>
          </a:p>
          <a:p>
            <a:r>
              <a:t>Different Developers. Different Engines of Advantage.</a:t>
            </a:r>
          </a:p>
          <a:p/>
          <a:p>
            <a:r>
              <a:t>Developer or group | Recognised strength | Competitive lesson</a:t>
            </a:r>
          </a:p>
          <a:p/>
          <a:p>
            <a:r>
              <a:t>BSD / Sinar Mas Land | Large-scale integrated townships | Build economic anchors, connectivity, and institutional partnerships</a:t>
            </a:r>
          </a:p>
          <a:p/>
          <a:p>
            <a:r>
              <a:t>Ciputra | Replicable township development | Standardise capabilities while adapting to local markets</a:t>
            </a:r>
          </a:p>
          <a:p/>
          <a:p>
            <a:r>
              <a:t>Summarecon | Community building and estate management | Make the post-handover experience a competitive asset</a:t>
            </a:r>
          </a:p>
          <a:p/>
          <a:p>
            <a:r>
              <a:t>Pakuwon | Income-producing mixed-use assets | Develop recurring revenue alongside property sales</a:t>
            </a:r>
          </a:p>
          <a:p/>
          <a:p>
            <a:r>
              <a:t>Agung Sedayu / PIK | Destination and lifestyle activation | Create visitation and desire for the wider location</a:t>
            </a:r>
          </a:p>
          <a:p/>
          <a:p>
            <a:r>
              <a:t>Lippo | Diversified property platforms | Maintain portfolio and capital discipline</a:t>
            </a:r>
          </a:p>
          <a:p/>
          <a:p>
            <a:r>
              <a:t>Paramount Land | Commercialisation and residential segmentation | Match products, positioning, and launches to demand</a:t>
            </a:r>
          </a:p>
          <a:p/>
          <a:p>
            <a:r>
              <a:t>Alam Sutera | Township environment and lifestyle appeal | Connect public realm, amenities, and place identity</a:t>
            </a:r>
          </a:p>
          <a:p/>
          <a:p>
            <a:r>
              <a:t>Agung Podomoro | High-density mixed-use development | Understand integration benefits and execution exposure</a:t>
            </a:r>
          </a:p>
          <a:p/>
          <a:p>
            <a:r>
              <a:t>Intiland | Mixed-use, industrial, and investment property | Balance development income with operating assets</a:t>
            </a:r>
          </a:p>
          <a:p/>
          <a:p>
            <a:r>
              <a:t>Application to TANRISE: Select mechanisms suited to its existing assets, pipeline, capital capacity, and delivery capabilities.</a:t>
            </a:r>
          </a:p>
          <a:p/>
          <a:p>
            <a:r>
              <a:t>Design direction: Comparative matrix using actual project imagery and a clear distinction between listed issuers and private groups.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10 — What Are the Leading Developers Famous For?</a:t>
            </a:r>
          </a:p>
          <a:p>
            <a:r>
              <a:t>Document pages: 9, 10, 11</a:t>
            </a:r>
          </a:p>
          <a:p/>
          <a:p>
            <a:r>
              <a:t>COMPLETE SOURCE TEXT</a:t>
            </a:r>
          </a:p>
          <a:p>
            <a:r>
              <a:t>Different Developers. Different Engines of Advantage.</a:t>
            </a:r>
          </a:p>
          <a:p/>
          <a:p>
            <a:r>
              <a:t>Developer or group | Recognised strength | Competitive lesson</a:t>
            </a:r>
          </a:p>
          <a:p/>
          <a:p>
            <a:r>
              <a:t>BSD / Sinar Mas Land | Large-scale integrated townships | Build economic anchors, connectivity, and institutional partnerships</a:t>
            </a:r>
          </a:p>
          <a:p/>
          <a:p>
            <a:r>
              <a:t>Ciputra | Replicable township development | Standardise capabilities while adapting to local markets</a:t>
            </a:r>
          </a:p>
          <a:p/>
          <a:p>
            <a:r>
              <a:t>Summarecon | Community building and estate management | Make the post-handover experience a competitive asset</a:t>
            </a:r>
          </a:p>
          <a:p/>
          <a:p>
            <a:r>
              <a:t>Pakuwon | Income-producing mixed-use assets | Develop recurring revenue alongside property sales</a:t>
            </a:r>
          </a:p>
          <a:p/>
          <a:p>
            <a:r>
              <a:t>Agung Sedayu / PIK | Destination and lifestyle activation | Create visitation and desire for the wider location</a:t>
            </a:r>
          </a:p>
          <a:p/>
          <a:p>
            <a:r>
              <a:t>Lippo | Diversified property platforms | Maintain portfolio and capital discipline</a:t>
            </a:r>
          </a:p>
          <a:p/>
          <a:p>
            <a:r>
              <a:t>Paramount Land | Commercialisation and residential segmentation | Match products, positioning, and launches to demand</a:t>
            </a:r>
          </a:p>
          <a:p/>
          <a:p>
            <a:r>
              <a:t>Alam Sutera | Township environment and lifestyle appeal | Connect public realm, amenities, and place identity</a:t>
            </a:r>
          </a:p>
          <a:p/>
          <a:p>
            <a:r>
              <a:t>Agung Podomoro | High-density mixed-use development | Understand integration benefits and execution exposure</a:t>
            </a:r>
          </a:p>
          <a:p/>
          <a:p>
            <a:r>
              <a:t>Intiland | Mixed-use, industrial, and investment property | Balance development income with operating assets</a:t>
            </a:r>
          </a:p>
          <a:p/>
          <a:p>
            <a:r>
              <a:t>Application to TANRISE: Select mechanisms suited to its existing assets, pipeline, capital capacity, and delivery capabilities.</a:t>
            </a:r>
          </a:p>
          <a:p/>
          <a:p>
            <a:r>
              <a:t>Design direction: Comparative matrix using actual project imagery and a clear distinction between listed issuers and private groups.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11 — Case Study: BSD City</a:t>
            </a:r>
          </a:p>
          <a:p>
            <a:r>
              <a:t>Document pages: 11, 12</a:t>
            </a:r>
          </a:p>
          <a:p/>
          <a:p>
            <a:r>
              <a:t>COMPLETE SOURCE TEXT</a:t>
            </a:r>
          </a:p>
          <a:p>
            <a:r>
              <a:t>The City Becomes More Valuable as Its Ecosystem Matures.</a:t>
            </a:r>
          </a:p>
          <a:p/>
          <a:p>
            <a:r>
              <a:t>Development journey Township and residential development expanded into commercial districts, education, technology, retail, and mobility infrastructure.</a:t>
            </a:r>
          </a:p>
          <a:p/>
          <a:p>
            <a:r>
              <a:t>Success mechanism Complementary institutions and activities increase the usefulness and attractiveness of the location.</a:t>
            </a:r>
          </a:p>
          <a:p/>
          <a:p>
            <a:r>
              <a:t>Competitive advantage Long-term planning, substantial development scale, and institutional and commercial partnerships.</a:t>
            </a:r>
          </a:p>
          <a:p/>
          <a:p>
            <a:r>
              <a:t>Risk Large townships require patient capital, infrastructure investment, and careful phasing.</a:t>
            </a:r>
          </a:p>
          <a:p/>
          <a:p>
            <a:r>
              <a:t>Application to TANRISE</a:t>
            </a:r>
          </a:p>
          <a:p/>
          <a:p>
            <a:r>
              <a:t>For Tanrise City Sidoarjo and Tanrise Bandung, evaluate the anchors that support everyday life and commercial activity:</a:t>
            </a:r>
          </a:p>
          <a:p/>
          <a:p>
            <a:r>
              <a:t>● Schools and education partners. ● Convenient retail and supermarkets. ● Transport access.</a:t>
            </a:r>
          </a:p>
          <a:p/>
          <a:p>
            <a:r>
              <a:t>● Employment and business activity. ● Public and community facilities. ● Essential services.</a:t>
            </a:r>
          </a:p>
          <a:p/>
          <a:p>
            <a:r>
              <a:t>These are strategic development priorities, not claims that all facilities are already committed.</a:t>
            </a:r>
          </a:p>
          <a:p/>
          <a:p>
            <a:r>
              <a:t>Key principle: Build the reasons to live there alongside the homes.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11 — Case Study: BSD City</a:t>
            </a:r>
          </a:p>
          <a:p>
            <a:r>
              <a:t>Document pages: 11, 12</a:t>
            </a:r>
          </a:p>
          <a:p/>
          <a:p>
            <a:r>
              <a:t>COMPLETE SOURCE TEXT</a:t>
            </a:r>
          </a:p>
          <a:p>
            <a:r>
              <a:t>The City Becomes More Valuable as Its Ecosystem Matures.</a:t>
            </a:r>
          </a:p>
          <a:p/>
          <a:p>
            <a:r>
              <a:t>Development journey Township and residential development expanded into commercial districts, education, technology, retail, and mobility infrastructure.</a:t>
            </a:r>
          </a:p>
          <a:p/>
          <a:p>
            <a:r>
              <a:t>Success mechanism Complementary institutions and activities increase the usefulness and attractiveness of the location.</a:t>
            </a:r>
          </a:p>
          <a:p/>
          <a:p>
            <a:r>
              <a:t>Competitive advantage Long-term planning, substantial development scale, and institutional and commercial partnerships.</a:t>
            </a:r>
          </a:p>
          <a:p/>
          <a:p>
            <a:r>
              <a:t>Risk Large townships require patient capital, infrastructure investment, and careful phasing.</a:t>
            </a:r>
          </a:p>
          <a:p/>
          <a:p>
            <a:r>
              <a:t>Application to TANRISE</a:t>
            </a:r>
          </a:p>
          <a:p/>
          <a:p>
            <a:r>
              <a:t>For Tanrise City Sidoarjo and Tanrise Bandung, evaluate the anchors that support everyday life and commercial activity:</a:t>
            </a:r>
          </a:p>
          <a:p/>
          <a:p>
            <a:r>
              <a:t>● Schools and education partners. ● Convenient retail and supermarkets. ● Transport access.</a:t>
            </a:r>
          </a:p>
          <a:p/>
          <a:p>
            <a:r>
              <a:t>● Employment and business activity. ● Public and community facilities. ● Essential services.</a:t>
            </a:r>
          </a:p>
          <a:p/>
          <a:p>
            <a:r>
              <a:t>These are strategic development priorities, not claims that all facilities are already committed.</a:t>
            </a:r>
          </a:p>
          <a:p/>
          <a:p>
            <a:r>
              <a:t>Key principle: Build the reasons to live there alongside the homes.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12 — Case Study: Ciputra</a:t>
            </a:r>
          </a:p>
          <a:p>
            <a:r>
              <a:t>Document pages: 12</a:t>
            </a:r>
          </a:p>
          <a:p/>
          <a:p>
            <a:r>
              <a:t>COMPLETE SOURCE TEXT</a:t>
            </a:r>
          </a:p>
          <a:p>
            <a:r>
              <a:t>Build a Development Capability That Can Be Repeated.</a:t>
            </a:r>
          </a:p>
          <a:p/>
          <a:p>
            <a:r>
              <a:t>Development journey Early residential and township projects developed into a geographically diversified portfolio.</a:t>
            </a:r>
          </a:p>
          <a:p/>
          <a:p>
            <a:r>
              <a:t>Success mechanism A recognisable approach combines housing, commercial facilities, and supporting amenities across different markets.</a:t>
            </a:r>
          </a:p>
          <a:p/>
          <a:p>
            <a:r>
              <a:t>Competitive advantage Replicable capabilities and a broad project portfolio.</a:t>
            </a:r>
          </a:p>
          <a:p/>
          <a:p>
            <a:r>
              <a:t>Risk Geographic diversification introduces varying demand, execution, and inventory risks.</a:t>
            </a:r>
          </a:p>
          <a:p/>
          <a:p>
            <a:r>
              <a:t>Application to TANRISE</a:t>
            </a:r>
          </a:p>
          <a:p/>
          <a:p>
            <a:r>
              <a:t>Create a repeatable development framework for:</a:t>
            </a:r>
          </a:p>
          <a:p/>
          <a:p>
            <a:r>
              <a:t>● Grand Sunrise Menganti. ● Sunrise Residence Sidoarjo, subject to confirmation of the Jumana naming</a:t>
            </a:r>
          </a:p>
          <a:p/>
          <a:p>
            <a:r>
              <a:t>transition. ● Malang residential developments. ● Residential components within Tanrise Bandung and Tanrise City Sidoarjo.</a:t>
            </a:r>
          </a:p>
          <a:p/>
          <a:p>
            <a:r>
              <a:t>Standardise site selection, research, feasibility, design principles, pricing, phasing, and customer experience while adapting each project to its market.</a:t>
            </a:r>
          </a:p>
          <a:p/>
          <a:p>
            <a:r>
              <a:t>Key principle: Standardise the method. Localise the concept.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12 — Case Study: Ciputra</a:t>
            </a:r>
          </a:p>
          <a:p>
            <a:r>
              <a:t>Document pages: 12</a:t>
            </a:r>
          </a:p>
          <a:p/>
          <a:p>
            <a:r>
              <a:t>COMPLETE SOURCE TEXT</a:t>
            </a:r>
          </a:p>
          <a:p>
            <a:r>
              <a:t>Build a Development Capability That Can Be Repeated.</a:t>
            </a:r>
          </a:p>
          <a:p/>
          <a:p>
            <a:r>
              <a:t>Development journey Early residential and township projects developed into a geographically diversified portfolio.</a:t>
            </a:r>
          </a:p>
          <a:p/>
          <a:p>
            <a:r>
              <a:t>Success mechanism A recognisable approach combines housing, commercial facilities, and supporting amenities across different markets.</a:t>
            </a:r>
          </a:p>
          <a:p/>
          <a:p>
            <a:r>
              <a:t>Competitive advantage Replicable capabilities and a broad project portfolio.</a:t>
            </a:r>
          </a:p>
          <a:p/>
          <a:p>
            <a:r>
              <a:t>Risk Geographic diversification introduces varying demand, execution, and inventory risks.</a:t>
            </a:r>
          </a:p>
          <a:p/>
          <a:p>
            <a:r>
              <a:t>Application to TANRISE</a:t>
            </a:r>
          </a:p>
          <a:p/>
          <a:p>
            <a:r>
              <a:t>Create a repeatable development framework for:</a:t>
            </a:r>
          </a:p>
          <a:p/>
          <a:p>
            <a:r>
              <a:t>● Grand Sunrise Menganti. ● Sunrise Residence Sidoarjo, subject to confirmation of the Jumana naming</a:t>
            </a:r>
          </a:p>
          <a:p/>
          <a:p>
            <a:r>
              <a:t>transition. ● Malang residential developments. ● Residential components within Tanrise Bandung and Tanrise City Sidoarjo.</a:t>
            </a:r>
          </a:p>
          <a:p/>
          <a:p>
            <a:r>
              <a:t>Standardise site selection, research, feasibility, design principles, pricing, phasing, and customer experience while adapting each project to its market.</a:t>
            </a:r>
          </a:p>
          <a:p/>
          <a:p>
            <a:r>
              <a:t>Key principle: Standardise the method. Localise the concept.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13 — Case Study: Summarecon</a:t>
            </a:r>
          </a:p>
          <a:p>
            <a:r>
              <a:t>Document pages: 13</a:t>
            </a:r>
          </a:p>
          <a:p/>
          <a:p>
            <a:r>
              <a:t>COMPLETE SOURCE TEXT</a:t>
            </a:r>
          </a:p>
          <a:p>
            <a:r>
              <a:t>A Community’s Value Continues After Handover.</a:t>
            </a:r>
          </a:p>
          <a:p/>
          <a:p>
            <a:r>
              <a:t>Development journey From Kelapa Gading into multiple integrated township developments.</a:t>
            </a:r>
          </a:p>
          <a:p/>
          <a:p>
            <a:r>
              <a:t>Success mechanism Combine residential products, commercial facilities, lifestyle destinations, and long-term township management.</a:t>
            </a:r>
          </a:p>
          <a:p/>
          <a:p>
            <a:r>
              <a:t>Competitive advantage Recognisable development identity and continuing community management.</a:t>
            </a:r>
          </a:p>
          <a:p/>
          <a:p>
            <a:r>
              <a:t>Risk Estate operations require consistent funding, governance, and service delivery.</a:t>
            </a:r>
          </a:p>
          <a:p/>
          <a:p>
            <a:r>
              <a:t>Application to TANRISE</a:t>
            </a:r>
          </a:p>
          <a:p/>
          <a:p>
            <a:r>
              <a:t>Translate CINTA and Super-Serving into measurable commitments across:</a:t>
            </a:r>
          </a:p>
          <a:p/>
          <a:p>
            <a:r>
              <a:t>● Grand Sunrise Menganti. ● Kyo Society. ● Sunrise Residence Sidoarjo. ● Tanrise Taman Dayu Pandaan. ● Future residential phases in Bandung, Sidoarjo, and Malang.</a:t>
            </a:r>
          </a:p>
          <a:p/>
          <a:p>
            <a:r>
              <a:t>Establish estate-management standards, maintenance responsibilities, resident communication, and service-performance measures appropriate to each project.</a:t>
            </a:r>
          </a:p>
          <a:p/>
          <a:p>
            <a:r>
              <a:t>Key principle: The relationship begins at purchase. Trust is earned afterward.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13 — Case Study: Summarecon</a:t>
            </a:r>
          </a:p>
          <a:p>
            <a:r>
              <a:t>Document pages: 13</a:t>
            </a:r>
          </a:p>
          <a:p/>
          <a:p>
            <a:r>
              <a:t>COMPLETE SOURCE TEXT</a:t>
            </a:r>
          </a:p>
          <a:p>
            <a:r>
              <a:t>A Community’s Value Continues After Handover.</a:t>
            </a:r>
          </a:p>
          <a:p/>
          <a:p>
            <a:r>
              <a:t>Development journey From Kelapa Gading into multiple integrated township developments.</a:t>
            </a:r>
          </a:p>
          <a:p/>
          <a:p>
            <a:r>
              <a:t>Success mechanism Combine residential products, commercial facilities, lifestyle destinations, and long-term township management.</a:t>
            </a:r>
          </a:p>
          <a:p/>
          <a:p>
            <a:r>
              <a:t>Competitive advantage Recognisable development identity and continuing community management.</a:t>
            </a:r>
          </a:p>
          <a:p/>
          <a:p>
            <a:r>
              <a:t>Risk Estate operations require consistent funding, governance, and service delivery.</a:t>
            </a:r>
          </a:p>
          <a:p/>
          <a:p>
            <a:r>
              <a:t>Application to TANRISE</a:t>
            </a:r>
          </a:p>
          <a:p/>
          <a:p>
            <a:r>
              <a:t>Translate CINTA and Super-Serving into measurable commitments across:</a:t>
            </a:r>
          </a:p>
          <a:p/>
          <a:p>
            <a:r>
              <a:t>● Grand Sunrise Menganti. ● Kyo Society. ● Sunrise Residence Sidoarjo. ● Tanrise Taman Dayu Pandaan. ● Future residential phases in Bandung, Sidoarjo, and Malang.</a:t>
            </a:r>
          </a:p>
          <a:p/>
          <a:p>
            <a:r>
              <a:t>Establish estate-management standards, maintenance responsibilities, resident communication, and service-performance measures appropriate to each project.</a:t>
            </a:r>
          </a:p>
          <a:p/>
          <a:p>
            <a:r>
              <a:t>Key principle: The relationship begins at purchase. Trust is earned afterward.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14 — Case Study: Pakuwon</a:t>
            </a:r>
          </a:p>
          <a:p>
            <a:r>
              <a:t>Document pages: 13, 14</a:t>
            </a:r>
          </a:p>
          <a:p/>
          <a:p>
            <a:r>
              <a:t>COMPLETE SOURCE TEXT</a:t>
            </a:r>
          </a:p>
          <a:p>
            <a:r>
              <a:t>The Asset Should Continue Earning After It Is Built.</a:t>
            </a:r>
          </a:p>
          <a:p/>
          <a:p>
            <a:r>
              <a:t>Development journey Shopping centres and commercial assets evolved into integrated retail, office, residential, and hospitality developments.</a:t>
            </a:r>
          </a:p>
          <a:p/>
          <a:p>
            <a:r>
              <a:t>Success mechanism Retain productive assets and combine complementary property uses.</a:t>
            </a:r>
          </a:p>
          <a:p/>
          <a:p>
            <a:r>
              <a:t>FY2025 measure | Reported figure</a:t>
            </a:r>
          </a:p>
          <a:p/>
          <a:p>
            <a:r>
              <a:t>Revenue | Approximately Rp7.11 trillion</a:t>
            </a:r>
          </a:p>
          <a:p/>
          <a:p>
            <a:r>
              <a:t>Recurring revenue share | Approximately 79%</a:t>
            </a:r>
          </a:p>
          <a:p/>
          <a:p>
            <a:r>
              <a:t>Source: Pakuwon’s FY2025 annual report.</a:t>
            </a:r>
          </a:p>
          <a:p/>
          <a:p>
            <a:r>
              <a:t>Risk Retained assets require substantial capital and remain exposed to occupancy, operating costs, and changing consumer behaviour.</a:t>
            </a:r>
          </a:p>
          <a:p/>
          <a:p>
            <a:r>
              <a:t>Application to TANRISE</a:t>
            </a:r>
          </a:p>
          <a:p/>
          <a:p>
            <a:r>
              <a:t>Evaluate long-term income potential across:</a:t>
            </a:r>
          </a:p>
          <a:p/>
          <a:p>
            <a:r>
              <a:t>● Voza Tower. ● Rame-Rame. ● Midpoint Kayoon. ● Grand Central Bandung. ● Bali Bites. ● Hotel and villa assets. ● Golf Taman Dayu and the Driving Range. ● Selected warehouse and industrial properties.</a:t>
            </a:r>
          </a:p>
          <a:p/>
          <a:p>
            <a:r>
              <a:t>Choose what to sell, retain, lease, or operate with partners based on asset-level economics.</a:t>
            </a:r>
          </a:p>
          <a:p/>
          <a:p>
            <a:r>
              <a:t>Key principle: Development creates the asset. Management compounds its value.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14 — Case Study: Pakuwon</a:t>
            </a:r>
          </a:p>
          <a:p>
            <a:r>
              <a:t>Document pages: 13, 14</a:t>
            </a:r>
          </a:p>
          <a:p/>
          <a:p>
            <a:r>
              <a:t>COMPLETE SOURCE TEXT</a:t>
            </a:r>
          </a:p>
          <a:p>
            <a:r>
              <a:t>The Asset Should Continue Earning After It Is Built.</a:t>
            </a:r>
          </a:p>
          <a:p/>
          <a:p>
            <a:r>
              <a:t>Development journey Shopping centres and commercial assets evolved into integrated retail, office, residential, and hospitality developments.</a:t>
            </a:r>
          </a:p>
          <a:p/>
          <a:p>
            <a:r>
              <a:t>Success mechanism Retain productive assets and combine complementary property uses.</a:t>
            </a:r>
          </a:p>
          <a:p/>
          <a:p>
            <a:r>
              <a:t>FY2025 measure | Reported figure</a:t>
            </a:r>
          </a:p>
          <a:p/>
          <a:p>
            <a:r>
              <a:t>Revenue | Approximately Rp7.11 trillion</a:t>
            </a:r>
          </a:p>
          <a:p/>
          <a:p>
            <a:r>
              <a:t>Recurring revenue share | Approximately 79%</a:t>
            </a:r>
          </a:p>
          <a:p/>
          <a:p>
            <a:r>
              <a:t>Source: Pakuwon’s FY2025 annual report.</a:t>
            </a:r>
          </a:p>
          <a:p/>
          <a:p>
            <a:r>
              <a:t>Risk Retained assets require substantial capital and remain exposed to occupancy, operating costs, and changing consumer behaviour.</a:t>
            </a:r>
          </a:p>
          <a:p/>
          <a:p>
            <a:r>
              <a:t>Application to TANRISE</a:t>
            </a:r>
          </a:p>
          <a:p/>
          <a:p>
            <a:r>
              <a:t>Evaluate long-term income potential across:</a:t>
            </a:r>
          </a:p>
          <a:p/>
          <a:p>
            <a:r>
              <a:t>● Voza Tower. ● Rame-Rame. ● Midpoint Kayoon. ● Grand Central Bandung. ● Bali Bites. ● Hotel and villa assets. ● Golf Taman Dayu and the Driving Range. ● Selected warehouse and industrial properties.</a:t>
            </a:r>
          </a:p>
          <a:p/>
          <a:p>
            <a:r>
              <a:t>Choose what to sell, retain, lease, or operate with partners based on asset-level economics.</a:t>
            </a:r>
          </a:p>
          <a:p/>
          <a:p>
            <a:r>
              <a:t>Key principle: Development creates the asset. Management compounds its value.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14 — Case Study: Pakuwon</a:t>
            </a:r>
          </a:p>
          <a:p>
            <a:r>
              <a:t>Document pages: 13, 14</a:t>
            </a:r>
          </a:p>
          <a:p/>
          <a:p>
            <a:r>
              <a:t>COMPLETE SOURCE TEXT</a:t>
            </a:r>
          </a:p>
          <a:p>
            <a:r>
              <a:t>The Asset Should Continue Earning After It Is Built.</a:t>
            </a:r>
          </a:p>
          <a:p/>
          <a:p>
            <a:r>
              <a:t>Development journey Shopping centres and commercial assets evolved into integrated retail, office, residential, and hospitality developments.</a:t>
            </a:r>
          </a:p>
          <a:p/>
          <a:p>
            <a:r>
              <a:t>Success mechanism Retain productive assets and combine complementary property uses.</a:t>
            </a:r>
          </a:p>
          <a:p/>
          <a:p>
            <a:r>
              <a:t>FY2025 measure | Reported figure</a:t>
            </a:r>
          </a:p>
          <a:p/>
          <a:p>
            <a:r>
              <a:t>Revenue | Approximately Rp7.11 trillion</a:t>
            </a:r>
          </a:p>
          <a:p/>
          <a:p>
            <a:r>
              <a:t>Recurring revenue share | Approximately 79%</a:t>
            </a:r>
          </a:p>
          <a:p/>
          <a:p>
            <a:r>
              <a:t>Source: Pakuwon’s FY2025 annual report.</a:t>
            </a:r>
          </a:p>
          <a:p/>
          <a:p>
            <a:r>
              <a:t>Risk Retained assets require substantial capital and remain exposed to occupancy, operating costs, and changing consumer behaviour.</a:t>
            </a:r>
          </a:p>
          <a:p/>
          <a:p>
            <a:r>
              <a:t>Application to TANRISE</a:t>
            </a:r>
          </a:p>
          <a:p/>
          <a:p>
            <a:r>
              <a:t>Evaluate long-term income potential across:</a:t>
            </a:r>
          </a:p>
          <a:p/>
          <a:p>
            <a:r>
              <a:t>● Voza Tower. ● Rame-Rame. ● Midpoint Kayoon. ● Grand Central Bandung. ● Bali Bites. ● Hotel and villa assets. ● Golf Taman Dayu and the Driving Range. ● Selected warehouse and industrial properties.</a:t>
            </a:r>
          </a:p>
          <a:p/>
          <a:p>
            <a:r>
              <a:t>Choose what to sell, retain, lease, or operate with partners based on asset-level economics.</a:t>
            </a:r>
          </a:p>
          <a:p/>
          <a:p>
            <a:r>
              <a:t>Key principle: Development creates the asset. Management compounds its value.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15 — Case Study: Agung Sedayu and PIK</a:t>
            </a:r>
          </a:p>
          <a:p>
            <a:r>
              <a:t>Document pages: 14, 15</a:t>
            </a:r>
          </a:p>
          <a:p/>
          <a:p>
            <a:r>
              <a:t>COMPLETE SOURCE TEXT</a:t>
            </a:r>
          </a:p>
          <a:p>
            <a:r>
              <a:t>Destinations Create Demand Before the Property Transaction.</a:t>
            </a:r>
          </a:p>
          <a:p/>
          <a:p>
            <a:r>
              <a:t>Development approach Curated culinary, retail, leisure, and public experiences give destinations a recognisable identity.</a:t>
            </a:r>
          </a:p>
          <a:p/>
          <a:p>
            <a:r>
              <a:t>Success mechanism People actively want to visit, experience, and associate with the place.</a:t>
            </a:r>
          </a:p>
          <a:p/>
          <a:p>
            <a:r>
              <a:t>Competitive advantage Destination storytelling, tenant curation, and market visibility.</a:t>
            </a:r>
          </a:p>
          <a:p/>
          <a:p>
            <a:r>
              <a:t>Risk Visitor traffic does not automatically produce profitable operations or higher property returns.</a:t>
            </a:r>
          </a:p>
          <a:p/>
          <a:p>
            <a:r>
              <a:t>Application to TANRISE</a:t>
            </a:r>
          </a:p>
          <a:p/>
          <a:p>
            <a:r>
              <a:t>Build on existing destination components:</a:t>
            </a:r>
          </a:p>
          <a:p/>
          <a:p>
            <a:r>
              <a:t>● Tanrise Taman Dayu Pandaan. ● Golf Taman Dayu. ● The Driving Range. ● Rame-Rame. ● Bali Bites and its F&amp;B activity.</a:t>
            </a:r>
          </a:p>
          <a:p/>
          <a:p>
            <a:r>
              <a:t>Evaluate future activation opportunities within Swiss of Taman Dayu Pandaan, Tanrise Bandung, and Tanrise City Sidoarjo.</a:t>
            </a:r>
          </a:p>
          <a:p/>
          <a:p>
            <a:r>
              <a:t>Measure visitation, spending, repeat participation, operating contribution, and conversion into property enquiries and sales.</a:t>
            </a:r>
          </a:p>
          <a:p/>
          <a:p>
            <a:r>
              <a:t>Key principle: Let people experience the destination before asking them to invest in it.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15 — Case Study: Agung Sedayu and PIK</a:t>
            </a:r>
          </a:p>
          <a:p>
            <a:r>
              <a:t>Document pages: 14, 15</a:t>
            </a:r>
          </a:p>
          <a:p/>
          <a:p>
            <a:r>
              <a:t>COMPLETE SOURCE TEXT</a:t>
            </a:r>
          </a:p>
          <a:p>
            <a:r>
              <a:t>Destinations Create Demand Before the Property Transaction.</a:t>
            </a:r>
          </a:p>
          <a:p/>
          <a:p>
            <a:r>
              <a:t>Development approach Curated culinary, retail, leisure, and public experiences give destinations a recognisable identity.</a:t>
            </a:r>
          </a:p>
          <a:p/>
          <a:p>
            <a:r>
              <a:t>Success mechanism People actively want to visit, experience, and associate with the place.</a:t>
            </a:r>
          </a:p>
          <a:p/>
          <a:p>
            <a:r>
              <a:t>Competitive advantage Destination storytelling, tenant curation, and market visibility.</a:t>
            </a:r>
          </a:p>
          <a:p/>
          <a:p>
            <a:r>
              <a:t>Risk Visitor traffic does not automatically produce profitable operations or higher property returns.</a:t>
            </a:r>
          </a:p>
          <a:p/>
          <a:p>
            <a:r>
              <a:t>Application to TANRISE</a:t>
            </a:r>
          </a:p>
          <a:p/>
          <a:p>
            <a:r>
              <a:t>Build on existing destination components:</a:t>
            </a:r>
          </a:p>
          <a:p/>
          <a:p>
            <a:r>
              <a:t>● Tanrise Taman Dayu Pandaan. ● Golf Taman Dayu. ● The Driving Range. ● Rame-Rame. ● Bali Bites and its F&amp;B activity.</a:t>
            </a:r>
          </a:p>
          <a:p/>
          <a:p>
            <a:r>
              <a:t>Evaluate future activation opportunities within Swiss of Taman Dayu Pandaan, Tanrise Bandung, and Tanrise City Sidoarjo.</a:t>
            </a:r>
          </a:p>
          <a:p/>
          <a:p>
            <a:r>
              <a:t>Measure visitation, spending, repeat participation, operating contribution, and conversion into property enquiries and sales.</a:t>
            </a:r>
          </a:p>
          <a:p/>
          <a:p>
            <a:r>
              <a:t>Key principle: Let people experience the destination before asking them to invest in it.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16 — Competitor Models: Strengths and Vulnerabilities</a:t>
            </a:r>
          </a:p>
          <a:p>
            <a:r>
              <a:t>Document pages: 15, 16</a:t>
            </a:r>
          </a:p>
          <a:p/>
          <a:p>
            <a:r>
              <a:t>COMPLETE SOURCE TEXT</a:t>
            </a:r>
          </a:p>
          <a:p>
            <a:r>
              <a:t>Select the Mechanisms That Fit TANRISE.</a:t>
            </a:r>
          </a:p>
          <a:p/>
          <a:p>
            <a:r>
              <a:t>Business model | Strength | Structural vulnerability</a:t>
            </a:r>
          </a:p>
          <a:p/>
          <a:p>
            <a:r>
              <a:t>Township expansion | Scalable development pipeline | Infrastructure and capital intensity</a:t>
            </a:r>
          </a:p>
          <a:p/>
          <a:p>
            <a:r>
              <a:t>Residential replication | Repeatable sales model | Market cycles and inventory exposure</a:t>
            </a:r>
          </a:p>
          <a:p/>
          <a:p>
            <a:r>
              <a:t>Mixed-use development | Complementary uses and customer activity | Concentrated asset and execution risk</a:t>
            </a:r>
          </a:p>
          <a:p/>
          <a:p>
            <a:r>
              <a:t>Recurring-income assets | Continuing revenue | Long payback periods and operating costs</a:t>
            </a:r>
          </a:p>
          <a:p/>
          <a:p>
            <a:r>
              <a:t>Destination-led development | Place identity and visitation | Activation cost and demand uncertainty</a:t>
            </a:r>
          </a:p>
          <a:p/>
          <a:p>
            <a:r>
              <a:t>These are business-model risks rather than claims that particular competitors are failing.</a:t>
            </a:r>
          </a:p>
          <a:p/>
          <a:p>
            <a:r>
              <a:t>Implication for TANRISE</a:t>
            </a:r>
          </a:p>
          <a:p/>
          <a:p>
            <a:r>
              <a:t>The company already has exposure to several of these models.</a:t>
            </a:r>
          </a:p>
          <a:p/>
          <a:p>
            <a:r>
              <a:t>The priority is to establish which combinations create the best risk-adjusted value across its five business pillars.</a:t>
            </a:r>
          </a:p>
          <a:p/>
          <a:p>
            <a:r>
              <a:t>Recommendation: Scale models supported by demand, investment capacity, operating capability, and demonstrated performance.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16 — Competitor Models: Strengths and Vulnerabilities</a:t>
            </a:r>
          </a:p>
          <a:p>
            <a:r>
              <a:t>Document pages: 15, 16</a:t>
            </a:r>
          </a:p>
          <a:p/>
          <a:p>
            <a:r>
              <a:t>COMPLETE SOURCE TEXT</a:t>
            </a:r>
          </a:p>
          <a:p>
            <a:r>
              <a:t>Select the Mechanisms That Fit TANRISE.</a:t>
            </a:r>
          </a:p>
          <a:p/>
          <a:p>
            <a:r>
              <a:t>Business model | Strength | Structural vulnerability</a:t>
            </a:r>
          </a:p>
          <a:p/>
          <a:p>
            <a:r>
              <a:t>Township expansion | Scalable development pipeline | Infrastructure and capital intensity</a:t>
            </a:r>
          </a:p>
          <a:p/>
          <a:p>
            <a:r>
              <a:t>Residential replication | Repeatable sales model | Market cycles and inventory exposure</a:t>
            </a:r>
          </a:p>
          <a:p/>
          <a:p>
            <a:r>
              <a:t>Mixed-use development | Complementary uses and customer activity | Concentrated asset and execution risk</a:t>
            </a:r>
          </a:p>
          <a:p/>
          <a:p>
            <a:r>
              <a:t>Recurring-income assets | Continuing revenue | Long payback periods and operating costs</a:t>
            </a:r>
          </a:p>
          <a:p/>
          <a:p>
            <a:r>
              <a:t>Destination-led development | Place identity and visitation | Activation cost and demand uncertainty</a:t>
            </a:r>
          </a:p>
          <a:p/>
          <a:p>
            <a:r>
              <a:t>These are business-model risks rather than claims that particular competitors are failing.</a:t>
            </a:r>
          </a:p>
          <a:p/>
          <a:p>
            <a:r>
              <a:t>Implication for TANRISE</a:t>
            </a:r>
          </a:p>
          <a:p/>
          <a:p>
            <a:r>
              <a:t>The company already has exposure to several of these models.</a:t>
            </a:r>
          </a:p>
          <a:p/>
          <a:p>
            <a:r>
              <a:t>The priority is to establish which combinations create the best risk-adjusted value across its five business pillars.</a:t>
            </a:r>
          </a:p>
          <a:p/>
          <a:p>
            <a:r>
              <a:t>Recommendation: Scale models supported by demand, investment capacity, operating capability, and demonstrated performance.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17 — The Differentiation Opportunity</a:t>
            </a:r>
          </a:p>
          <a:p>
            <a:r>
              <a:t>Document pages: 16, 17</a:t>
            </a:r>
          </a:p>
          <a:p/>
          <a:p>
            <a:r>
              <a:t>COMPLETE SOURCE TEXT</a:t>
            </a:r>
          </a:p>
          <a:p>
            <a:r>
              <a:t>A More Human, More Accountable Developer.</a:t>
            </a:r>
          </a:p>
          <a:p/>
          <a:p>
            <a:r>
              <a:t>TANRISE can build differentiation through five commitments.</a:t>
            </a:r>
          </a:p>
          <a:p/>
          <a:p>
            <a:r>
              <a:t>1. Purposeful Development Begin every project with a real human or business need.</a:t>
            </a:r>
          </a:p>
          <a:p/>
          <a:p>
            <a:r>
              <a:t>2. Visible Commitments Clearly distinguish existing facilities, ongoing development, future plans, and proposed partnerships.</a:t>
            </a:r>
          </a:p>
          <a:p/>
          <a:p>
            <a:r>
              <a:t>3. Connected Experiences Coordinate property, services, partners, and community activity across relevant assets.</a:t>
            </a:r>
          </a:p>
          <a:p/>
          <a:p>
            <a:r>
              <a:t>4. Continued Care Maintain relationships beyond the initial transaction.</a:t>
            </a:r>
          </a:p>
          <a:p/>
          <a:p>
            <a:r>
              <a:t>5. Disciplined Investment Build developments and operating ecosystems that can be sustained commercially.</a:t>
            </a:r>
          </a:p>
          <a:p/>
          <a:p>
            <a:r>
              <a:t>What This Means for Portfolio Communication</a:t>
            </a:r>
          </a:p>
          <a:p/>
          <a:p>
            <a:r>
              <a:t>Customers and investors should be able to understand:</a:t>
            </a:r>
          </a:p>
          <a:p/>
          <a:p>
            <a:r>
              <a:t>● What the project is called. ● Where it is located. ● Whether it exists or is planned. ● Who owns or develops it. ● Who operates or manages it. ● What has been committed. ● What remains proposed.</a:t>
            </a:r>
          </a:p>
          <a:p/>
          <a:p>
            <a:r>
              <a:t>These are proposed differentiation territories requiring validation against competitor practices and TANRISE’s capabilities.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17 — The Differentiation Opportunity</a:t>
            </a:r>
          </a:p>
          <a:p>
            <a:r>
              <a:t>Document pages: 16, 17</a:t>
            </a:r>
          </a:p>
          <a:p/>
          <a:p>
            <a:r>
              <a:t>COMPLETE SOURCE TEXT</a:t>
            </a:r>
          </a:p>
          <a:p>
            <a:r>
              <a:t>A More Human, More Accountable Developer.</a:t>
            </a:r>
          </a:p>
          <a:p/>
          <a:p>
            <a:r>
              <a:t>TANRISE can build differentiation through five commitments.</a:t>
            </a:r>
          </a:p>
          <a:p/>
          <a:p>
            <a:r>
              <a:t>1. Purposeful Development Begin every project with a real human or business need.</a:t>
            </a:r>
          </a:p>
          <a:p/>
          <a:p>
            <a:r>
              <a:t>2. Visible Commitments Clearly distinguish existing facilities, ongoing development, future plans, and proposed partnerships.</a:t>
            </a:r>
          </a:p>
          <a:p/>
          <a:p>
            <a:r>
              <a:t>3. Connected Experiences Coordinate property, services, partners, and community activity across relevant assets.</a:t>
            </a:r>
          </a:p>
          <a:p/>
          <a:p>
            <a:r>
              <a:t>4. Continued Care Maintain relationships beyond the initial transaction.</a:t>
            </a:r>
          </a:p>
          <a:p/>
          <a:p>
            <a:r>
              <a:t>5. Disciplined Investment Build developments and operating ecosystems that can be sustained commercially.</a:t>
            </a:r>
          </a:p>
          <a:p/>
          <a:p>
            <a:r>
              <a:t>What This Means for Portfolio Communication</a:t>
            </a:r>
          </a:p>
          <a:p/>
          <a:p>
            <a:r>
              <a:t>Customers and investors should be able to understand:</a:t>
            </a:r>
          </a:p>
          <a:p/>
          <a:p>
            <a:r>
              <a:t>● What the project is called. ● Where it is located. ● Whether it exists or is planned. ● Who owns or develops it. ● Who operates or manages it. ● What has been committed. ● What remains proposed.</a:t>
            </a:r>
          </a:p>
          <a:p/>
          <a:p>
            <a:r>
              <a:t>These are proposed differentiation territories requiring validation against competitor practices and TANRISE’s capabilities.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17 — The Differentiation Opportunity</a:t>
            </a:r>
          </a:p>
          <a:p>
            <a:r>
              <a:t>Document pages: 16, 17</a:t>
            </a:r>
          </a:p>
          <a:p/>
          <a:p>
            <a:r>
              <a:t>COMPLETE SOURCE TEXT</a:t>
            </a:r>
          </a:p>
          <a:p>
            <a:r>
              <a:t>A More Human, More Accountable Developer.</a:t>
            </a:r>
          </a:p>
          <a:p/>
          <a:p>
            <a:r>
              <a:t>TANRISE can build differentiation through five commitments.</a:t>
            </a:r>
          </a:p>
          <a:p/>
          <a:p>
            <a:r>
              <a:t>1. Purposeful Development Begin every project with a real human or business need.</a:t>
            </a:r>
          </a:p>
          <a:p/>
          <a:p>
            <a:r>
              <a:t>2. Visible Commitments Clearly distinguish existing facilities, ongoing development, future plans, and proposed partnerships.</a:t>
            </a:r>
          </a:p>
          <a:p/>
          <a:p>
            <a:r>
              <a:t>3. Connected Experiences Coordinate property, services, partners, and community activity across relevant assets.</a:t>
            </a:r>
          </a:p>
          <a:p/>
          <a:p>
            <a:r>
              <a:t>4. Continued Care Maintain relationships beyond the initial transaction.</a:t>
            </a:r>
          </a:p>
          <a:p/>
          <a:p>
            <a:r>
              <a:t>5. Disciplined Investment Build developments and operating ecosystems that can be sustained commercially.</a:t>
            </a:r>
          </a:p>
          <a:p/>
          <a:p>
            <a:r>
              <a:t>What This Means for Portfolio Communication</a:t>
            </a:r>
          </a:p>
          <a:p/>
          <a:p>
            <a:r>
              <a:t>Customers and investors should be able to understand:</a:t>
            </a:r>
          </a:p>
          <a:p/>
          <a:p>
            <a:r>
              <a:t>● What the project is called. ● Where it is located. ● Whether it exists or is planned. ● Who owns or develops it. ● Who operates or manages it. ● What has been committed. ● What remains proposed.</a:t>
            </a:r>
          </a:p>
          <a:p/>
          <a:p>
            <a:r>
              <a:t>These are proposed differentiation territories requiring validation against competitor practices and TANRISE’s capabilities.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18 — One Group. Distinct Roles. Connected Value.</a:t>
            </a:r>
          </a:p>
          <a:p>
            <a:r>
              <a:t>Document pages: 17, 18, 19</a:t>
            </a:r>
          </a:p>
          <a:p/>
          <a:p>
            <a:r>
              <a:t>COMPLETE SOURCE TEXT</a:t>
            </a:r>
          </a:p>
          <a:p>
            <a:r>
              <a:t>Clarify the Relationship Between TANRISE, TANLY, and the Projects.</a:t>
            </a:r>
          </a:p>
          <a:p/>
          <a:p>
            <a:r>
              <a:t>TANCORP publicly presents TANRISE Property and TANLY Hospitality as separate business platforms.</a:t>
            </a:r>
          </a:p>
          <a:p/>
          <a:p>
            <a:r>
              <a:t>Level | Role</a:t>
            </a:r>
          </a:p>
          <a:p/>
          <a:p>
            <a:r>
              <a:t>TANCORP | Wider group context</a:t>
            </a:r>
          </a:p>
          <a:p/>
          <a:p>
            <a:r>
              <a:t>TANRISE Property | Property development and investment platform</a:t>
            </a:r>
          </a:p>
          <a:p/>
          <a:p>
            <a:r>
              <a:t>TANLY Hospitality | Hospitality management platform</a:t>
            </a:r>
          </a:p>
          <a:p/>
          <a:p>
            <a:r>
              <a:t>Destination and project brands | Customer-facing identities of individual places and developments</a:t>
            </a:r>
          </a:p>
          <a:p/>
          <a:p>
            <a:r>
              <a:t>Hotel and operating brands | Hospitality and service identities associated with managed properties</a:t>
            </a:r>
          </a:p>
          <a:p/>
          <a:p>
            <a:r>
              <a:t>A hospitality property may form part of TANRISE’s investment portfolio while having a management relationship with TANLY.</a:t>
            </a:r>
          </a:p>
          <a:p/>
          <a:p>
            <a:r>
              <a:t>The diagram should distinguish corporate affiliation, asset interests, and operating relationships.</a:t>
            </a:r>
          </a:p>
          <a:p/>
          <a:p>
            <a:r>
              <a:t>TANRISE’s Five Documented Business Pillars</a:t>
            </a:r>
          </a:p>
          <a:p/>
          <a:p>
            <a:r>
              <a:t>1. Integrated City. 2. Community Living. 3. Business Districts. 4. Logistic &amp; Industrial Park. 5. Hotel, MICE, and Leisure.</a:t>
            </a:r>
          </a:p>
          <a:p/>
          <a:p>
            <a:r>
              <a:t>Separate Branding Classification</a:t>
            </a:r>
          </a:p>
          <a:p/>
          <a:p>
            <a:r>
              <a:t>The client’s brand portfolio deck additionally uses Residential &amp; Township, High-Rise Building, Commercial &amp; Retail, Hotels &amp; Leisure, Education, and Healthcare.</a:t>
            </a:r>
          </a:p>
          <a:p/>
          <a:p>
            <a:r>
              <a:t>These product categories should not automatically be presented as separate operating subsidiaries.</a:t>
            </a:r>
          </a:p>
          <a:p/>
          <a:p>
            <a:r>
              <a:t>Design direction: Show TANRISE and TANLY alongside each other within the TANCORP context, with asset and management relationships identified separately.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18 — One Group. Distinct Roles. Connected Value.</a:t>
            </a:r>
          </a:p>
          <a:p>
            <a:r>
              <a:t>Document pages: 17, 18, 19</a:t>
            </a:r>
          </a:p>
          <a:p/>
          <a:p>
            <a:r>
              <a:t>COMPLETE SOURCE TEXT</a:t>
            </a:r>
          </a:p>
          <a:p>
            <a:r>
              <a:t>Clarify the Relationship Between TANRISE, TANLY, and the Projects.</a:t>
            </a:r>
          </a:p>
          <a:p/>
          <a:p>
            <a:r>
              <a:t>TANCORP publicly presents TANRISE Property and TANLY Hospitality as separate business platforms.</a:t>
            </a:r>
          </a:p>
          <a:p/>
          <a:p>
            <a:r>
              <a:t>Level | Role</a:t>
            </a:r>
          </a:p>
          <a:p/>
          <a:p>
            <a:r>
              <a:t>TANCORP | Wider group context</a:t>
            </a:r>
          </a:p>
          <a:p/>
          <a:p>
            <a:r>
              <a:t>TANRISE Property | Property development and investment platform</a:t>
            </a:r>
          </a:p>
          <a:p/>
          <a:p>
            <a:r>
              <a:t>TANLY Hospitality | Hospitality management platform</a:t>
            </a:r>
          </a:p>
          <a:p/>
          <a:p>
            <a:r>
              <a:t>Destination and project brands | Customer-facing identities of individual places and developments</a:t>
            </a:r>
          </a:p>
          <a:p/>
          <a:p>
            <a:r>
              <a:t>Hotel and operating brands | Hospitality and service identities associated with managed properties</a:t>
            </a:r>
          </a:p>
          <a:p/>
          <a:p>
            <a:r>
              <a:t>A hospitality property may form part of TANRISE’s investment portfolio while having a management relationship with TANLY.</a:t>
            </a:r>
          </a:p>
          <a:p/>
          <a:p>
            <a:r>
              <a:t>The diagram should distinguish corporate affiliation, asset interests, and operating relationships.</a:t>
            </a:r>
          </a:p>
          <a:p/>
          <a:p>
            <a:r>
              <a:t>TANRISE’s Five Documented Business Pillars</a:t>
            </a:r>
          </a:p>
          <a:p/>
          <a:p>
            <a:r>
              <a:t>1. Integrated City. 2. Community Living. 3. Business Districts. 4. Logistic &amp; Industrial Park. 5. Hotel, MICE, and Leisure.</a:t>
            </a:r>
          </a:p>
          <a:p/>
          <a:p>
            <a:r>
              <a:t>Separate Branding Classification</a:t>
            </a:r>
          </a:p>
          <a:p/>
          <a:p>
            <a:r>
              <a:t>The client’s brand portfolio deck additionally uses Residential &amp; Township, High-Rise Building, Commercial &amp; Retail, Hotels &amp; Leisure, Education, and Healthcare.</a:t>
            </a:r>
          </a:p>
          <a:p/>
          <a:p>
            <a:r>
              <a:t>These product categories should not automatically be presented as separate operating subsidiaries.</a:t>
            </a:r>
          </a:p>
          <a:p/>
          <a:p>
            <a:r>
              <a:t>Design direction: Show TANRISE and TANLY alongside each other within the TANCORP context, with asset and management relationships identified separately.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18 — One Group. Distinct Roles. Connected Value.</a:t>
            </a:r>
          </a:p>
          <a:p>
            <a:r>
              <a:t>Document pages: 17, 18, 19</a:t>
            </a:r>
          </a:p>
          <a:p/>
          <a:p>
            <a:r>
              <a:t>COMPLETE SOURCE TEXT</a:t>
            </a:r>
          </a:p>
          <a:p>
            <a:r>
              <a:t>Clarify the Relationship Between TANRISE, TANLY, and the Projects.</a:t>
            </a:r>
          </a:p>
          <a:p/>
          <a:p>
            <a:r>
              <a:t>TANCORP publicly presents TANRISE Property and TANLY Hospitality as separate business platforms.</a:t>
            </a:r>
          </a:p>
          <a:p/>
          <a:p>
            <a:r>
              <a:t>Level | Role</a:t>
            </a:r>
          </a:p>
          <a:p/>
          <a:p>
            <a:r>
              <a:t>TANCORP | Wider group context</a:t>
            </a:r>
          </a:p>
          <a:p/>
          <a:p>
            <a:r>
              <a:t>TANRISE Property | Property development and investment platform</a:t>
            </a:r>
          </a:p>
          <a:p/>
          <a:p>
            <a:r>
              <a:t>TANLY Hospitality | Hospitality management platform</a:t>
            </a:r>
          </a:p>
          <a:p/>
          <a:p>
            <a:r>
              <a:t>Destination and project brands | Customer-facing identities of individual places and developments</a:t>
            </a:r>
          </a:p>
          <a:p/>
          <a:p>
            <a:r>
              <a:t>Hotel and operating brands | Hospitality and service identities associated with managed properties</a:t>
            </a:r>
          </a:p>
          <a:p/>
          <a:p>
            <a:r>
              <a:t>A hospitality property may form part of TANRISE’s investment portfolio while having a management relationship with TANLY.</a:t>
            </a:r>
          </a:p>
          <a:p/>
          <a:p>
            <a:r>
              <a:t>The diagram should distinguish corporate affiliation, asset interests, and operating relationships.</a:t>
            </a:r>
          </a:p>
          <a:p/>
          <a:p>
            <a:r>
              <a:t>TANRISE’s Five Documented Business Pillars</a:t>
            </a:r>
          </a:p>
          <a:p/>
          <a:p>
            <a:r>
              <a:t>1. Integrated City. 2. Community Living. 3. Business Districts. 4. Logistic &amp; Industrial Park. 5. Hotel, MICE, and Leisure.</a:t>
            </a:r>
          </a:p>
          <a:p/>
          <a:p>
            <a:r>
              <a:t>Separate Branding Classification</a:t>
            </a:r>
          </a:p>
          <a:p/>
          <a:p>
            <a:r>
              <a:t>The client’s brand portfolio deck additionally uses Residential &amp; Township, High-Rise Building, Commercial &amp; Retail, Hotels &amp; Leisure, Education, and Healthcare.</a:t>
            </a:r>
          </a:p>
          <a:p/>
          <a:p>
            <a:r>
              <a:t>These product categories should not automatically be presented as separate operating subsidiaries.</a:t>
            </a:r>
          </a:p>
          <a:p/>
          <a:p>
            <a:r>
              <a:t>Design direction: Show TANRISE and TANLY alongside each other within the TANCORP context, with asset and management relationships identified separately.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18 — One Group. Distinct Roles. Connected Value.</a:t>
            </a:r>
          </a:p>
          <a:p>
            <a:r>
              <a:t>Document pages: 17, 18, 19</a:t>
            </a:r>
          </a:p>
          <a:p/>
          <a:p>
            <a:r>
              <a:t>COMPLETE SOURCE TEXT</a:t>
            </a:r>
          </a:p>
          <a:p>
            <a:r>
              <a:t>Clarify the Relationship Between TANRISE, TANLY, and the Projects.</a:t>
            </a:r>
          </a:p>
          <a:p/>
          <a:p>
            <a:r>
              <a:t>TANCORP publicly presents TANRISE Property and TANLY Hospitality as separate business platforms.</a:t>
            </a:r>
          </a:p>
          <a:p/>
          <a:p>
            <a:r>
              <a:t>Level | Role</a:t>
            </a:r>
          </a:p>
          <a:p/>
          <a:p>
            <a:r>
              <a:t>TANCORP | Wider group context</a:t>
            </a:r>
          </a:p>
          <a:p/>
          <a:p>
            <a:r>
              <a:t>TANRISE Property | Property development and investment platform</a:t>
            </a:r>
          </a:p>
          <a:p/>
          <a:p>
            <a:r>
              <a:t>TANLY Hospitality | Hospitality management platform</a:t>
            </a:r>
          </a:p>
          <a:p/>
          <a:p>
            <a:r>
              <a:t>Destination and project brands | Customer-facing identities of individual places and developments</a:t>
            </a:r>
          </a:p>
          <a:p/>
          <a:p>
            <a:r>
              <a:t>Hotel and operating brands | Hospitality and service identities associated with managed properties</a:t>
            </a:r>
          </a:p>
          <a:p/>
          <a:p>
            <a:r>
              <a:t>A hospitality property may form part of TANRISE’s investment portfolio while having a management relationship with TANLY.</a:t>
            </a:r>
          </a:p>
          <a:p/>
          <a:p>
            <a:r>
              <a:t>The diagram should distinguish corporate affiliation, asset interests, and operating relationships.</a:t>
            </a:r>
          </a:p>
          <a:p/>
          <a:p>
            <a:r>
              <a:t>TANRISE’s Five Documented Business Pillars</a:t>
            </a:r>
          </a:p>
          <a:p/>
          <a:p>
            <a:r>
              <a:t>1. Integrated City. 2. Community Living. 3. Business Districts. 4. Logistic &amp; Industrial Park. 5. Hotel, MICE, and Leisure.</a:t>
            </a:r>
          </a:p>
          <a:p/>
          <a:p>
            <a:r>
              <a:t>Separate Branding Classification</a:t>
            </a:r>
          </a:p>
          <a:p/>
          <a:p>
            <a:r>
              <a:t>The client’s brand portfolio deck additionally uses Residential &amp; Township, High-Rise Building, Commercial &amp; Retail, Hotels &amp; Leisure, Education, and Healthcare.</a:t>
            </a:r>
          </a:p>
          <a:p/>
          <a:p>
            <a:r>
              <a:t>These product categories should not automatically be presented as separate operating subsidiaries.</a:t>
            </a:r>
          </a:p>
          <a:p/>
          <a:p>
            <a:r>
              <a:t>Design direction: Show TANRISE and TANLY alongside each other within the TANCORP context, with asset and management relationships identified separately.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19 — The TANRISE Portfolio: Existing Assets and Future Development</a:t>
            </a:r>
          </a:p>
          <a:p>
            <a:r>
              <a:t>Document pages: 19, 20</a:t>
            </a:r>
          </a:p>
          <a:p/>
          <a:p>
            <a:r>
              <a:t>COMPLETE SOURCE TEXT</a:t>
            </a:r>
          </a:p>
          <a:p>
            <a:r>
              <a:t>Preserve the Portfolio. Make Its Status Clear.</a:t>
            </a:r>
          </a:p>
          <a:p/>
          <a:p>
            <a:r>
              <a:t>Business pillar | Existing assets and documented portfolio references | Ongoing or upcoming development</a:t>
            </a:r>
          </a:p>
          <a:p/>
          <a:p>
            <a:r>
              <a:t>Integrated City | Tanrise Taman Dayu Pandaan | Tanrise Bandung; Tanrise City Sidoarjo; Swiss of Taman Dayu Pandaan</a:t>
            </a:r>
          </a:p>
          <a:p/>
          <a:p>
            <a:r>
              <a:t>Community Living | Kyo Society; Grand Sunrise Menganti; Jumana Residence / Sunrise Residence Sidoarjo naming transition; ARC100 as an additional documented apartment brand | Malang residential development, with Sunrise Residence Malang, Sunrise Garden Malang, and Grand Sunrise Malang naming to reconcile</a:t>
            </a:r>
          </a:p>
          <a:p/>
          <a:p>
            <a:r>
              <a:t>Business Districts | Voza Tower; Rame-Rame; Bali Bites; Midpoint Kayoon as an additional client portfolio reference requiring status confirmation | Grand Central Bandung</a:t>
            </a:r>
          </a:p>
          <a:p/>
          <a:p>
            <a:r>
              <a:t>Logistic &amp; Industrial Park | Tritan Surabaya; Tritan Medan; Tritan Wedi 1 and 2; Tritan Taman; Tritan Southgate; TritanPoint and TritanHub brand references | Tritan Gresik; Tritan Gempol Pasuruan; Tanrise Industrial Park Palembang; Tanrise Industrial Park Banjarbaru</a:t>
            </a:r>
          </a:p>
          <a:p/>
          <a:p>
            <a:r>
              <a:t>Hotel, MICE, and Leisure | Vasa Hotel Surabaya; Vasa Suite Surabaya; three Cleo Business Hotel locations; Solaris hotel and villa assets in Bali and Malang; Golf Taman Dayu; Driving Range | Ongoing: VASA Ubud and VASA Bromo. Upcoming: VASA Canggu, VASA Malang, and GOED Malang</a:t>
            </a:r>
          </a:p>
          <a:p/>
          <a:p>
            <a:r>
              <a:t>Portfolio Rules</a:t>
            </a:r>
          </a:p>
          <a:p/>
          <a:p>
            <a:r>
              <a:t>● Do not count a proposed renaming as an additional project. ● Do not treat all TANLY-managed properties as automatically owned by TANRISE. ● Do not convert scheduled development dates into confirmed operating status. ● Retain established project names unless a naming change has been approved and</a:t>
            </a:r>
          </a:p>
          <a:p/>
          <a:p>
            <a:r>
              <a:t>implemented. ● Reconcile ownership percentages separately from the brand diagram.</a:t>
            </a:r>
          </a:p>
          <a:p/>
          <a:p>
            <a:r>
              <a:t>Supporting detail: The complete project and naming register appears in Appendix A.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19 — The TANRISE Portfolio: Existing Assets and Future Development</a:t>
            </a:r>
          </a:p>
          <a:p>
            <a:r>
              <a:t>Document pages: 19, 20</a:t>
            </a:r>
          </a:p>
          <a:p/>
          <a:p>
            <a:r>
              <a:t>COMPLETE SOURCE TEXT</a:t>
            </a:r>
          </a:p>
          <a:p>
            <a:r>
              <a:t>Preserve the Portfolio. Make Its Status Clear.</a:t>
            </a:r>
          </a:p>
          <a:p/>
          <a:p>
            <a:r>
              <a:t>Business pillar | Existing assets and documented portfolio references | Ongoing or upcoming development</a:t>
            </a:r>
          </a:p>
          <a:p/>
          <a:p>
            <a:r>
              <a:t>Integrated City | Tanrise Taman Dayu Pandaan | Tanrise Bandung; Tanrise City Sidoarjo; Swiss of Taman Dayu Pandaan</a:t>
            </a:r>
          </a:p>
          <a:p/>
          <a:p>
            <a:r>
              <a:t>Community Living | Kyo Society; Grand Sunrise Menganti; Jumana Residence / Sunrise Residence Sidoarjo naming transition; ARC100 as an additional documented apartment brand | Malang residential development, with Sunrise Residence Malang, Sunrise Garden Malang, and Grand Sunrise Malang naming to reconcile</a:t>
            </a:r>
          </a:p>
          <a:p/>
          <a:p>
            <a:r>
              <a:t>Business Districts | Voza Tower; Rame-Rame; Bali Bites; Midpoint Kayoon as an additional client portfolio reference requiring status confirmation | Grand Central Bandung</a:t>
            </a:r>
          </a:p>
          <a:p/>
          <a:p>
            <a:r>
              <a:t>Logistic &amp; Industrial Park | Tritan Surabaya; Tritan Medan; Tritan Wedi 1 and 2; Tritan Taman; Tritan Southgate; TritanPoint and TritanHub brand references | Tritan Gresik; Tritan Gempol Pasuruan; Tanrise Industrial Park Palembang; Tanrise Industrial Park Banjarbaru</a:t>
            </a:r>
          </a:p>
          <a:p/>
          <a:p>
            <a:r>
              <a:t>Hotel, MICE, and Leisure | Vasa Hotel Surabaya; Vasa Suite Surabaya; three Cleo Business Hotel locations; Solaris hotel and villa assets in Bali and Malang; Golf Taman Dayu; Driving Range | Ongoing: VASA Ubud and VASA Bromo. Upcoming: VASA Canggu, VASA Malang, and GOED Malang</a:t>
            </a:r>
          </a:p>
          <a:p/>
          <a:p>
            <a:r>
              <a:t>Portfolio Rules</a:t>
            </a:r>
          </a:p>
          <a:p/>
          <a:p>
            <a:r>
              <a:t>● Do not count a proposed renaming as an additional project. ● Do not treat all TANLY-managed properties as automatically owned by TANRISE. ● Do not convert scheduled development dates into confirmed operating status. ● Retain established project names unless a naming change has been approved and</a:t>
            </a:r>
          </a:p>
          <a:p/>
          <a:p>
            <a:r>
              <a:t>implemented. ● Reconcile ownership percentages separately from the brand diagram.</a:t>
            </a:r>
          </a:p>
          <a:p/>
          <a:p>
            <a:r>
              <a:t>Supporting detail: The complete project and naming register appears in Appendix A.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19 — The TANRISE Portfolio: Existing Assets and Future Development</a:t>
            </a:r>
          </a:p>
          <a:p>
            <a:r>
              <a:t>Document pages: 19, 20</a:t>
            </a:r>
          </a:p>
          <a:p/>
          <a:p>
            <a:r>
              <a:t>COMPLETE SOURCE TEXT</a:t>
            </a:r>
          </a:p>
          <a:p>
            <a:r>
              <a:t>Preserve the Portfolio. Make Its Status Clear.</a:t>
            </a:r>
          </a:p>
          <a:p/>
          <a:p>
            <a:r>
              <a:t>Business pillar | Existing assets and documented portfolio references | Ongoing or upcoming development</a:t>
            </a:r>
          </a:p>
          <a:p/>
          <a:p>
            <a:r>
              <a:t>Integrated City | Tanrise Taman Dayu Pandaan | Tanrise Bandung; Tanrise City Sidoarjo; Swiss of Taman Dayu Pandaan</a:t>
            </a:r>
          </a:p>
          <a:p/>
          <a:p>
            <a:r>
              <a:t>Community Living | Kyo Society; Grand Sunrise Menganti; Jumana Residence / Sunrise Residence Sidoarjo naming transition; ARC100 as an additional documented apartment brand | Malang residential development, with Sunrise Residence Malang, Sunrise Garden Malang, and Grand Sunrise Malang naming to reconcile</a:t>
            </a:r>
          </a:p>
          <a:p/>
          <a:p>
            <a:r>
              <a:t>Business Districts | Voza Tower; Rame-Rame; Bali Bites; Midpoint Kayoon as an additional client portfolio reference requiring status confirmation | Grand Central Bandung</a:t>
            </a:r>
          </a:p>
          <a:p/>
          <a:p>
            <a:r>
              <a:t>Logistic &amp; Industrial Park | Tritan Surabaya; Tritan Medan; Tritan Wedi 1 and 2; Tritan Taman; Tritan Southgate; TritanPoint and TritanHub brand references | Tritan Gresik; Tritan Gempol Pasuruan; Tanrise Industrial Park Palembang; Tanrise Industrial Park Banjarbaru</a:t>
            </a:r>
          </a:p>
          <a:p/>
          <a:p>
            <a:r>
              <a:t>Hotel, MICE, and Leisure | Vasa Hotel Surabaya; Vasa Suite Surabaya; three Cleo Business Hotel locations; Solaris hotel and villa assets in Bali and Malang; Golf Taman Dayu; Driving Range | Ongoing: VASA Ubud and VASA Bromo. Upcoming: VASA Canggu, VASA Malang, and GOED Malang</a:t>
            </a:r>
          </a:p>
          <a:p/>
          <a:p>
            <a:r>
              <a:t>Portfolio Rules</a:t>
            </a:r>
          </a:p>
          <a:p/>
          <a:p>
            <a:r>
              <a:t>● Do not count a proposed renaming as an additional project. ● Do not treat all TANLY-managed properties as automatically owned by TANRISE. ● Do not convert scheduled development dates into confirmed operating status. ● Retain established project names unless a naming change has been approved and</a:t>
            </a:r>
          </a:p>
          <a:p/>
          <a:p>
            <a:r>
              <a:t>implemented. ● Reconcile ownership percentages separately from the brand diagram.</a:t>
            </a:r>
          </a:p>
          <a:p/>
          <a:p>
            <a:r>
              <a:t>Supporting detail: The complete project and naming register appears in Appendix A.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19 — The TANRISE Portfolio: Existing Assets and Future Development</a:t>
            </a:r>
          </a:p>
          <a:p>
            <a:r>
              <a:t>Document pages: 19, 20</a:t>
            </a:r>
          </a:p>
          <a:p/>
          <a:p>
            <a:r>
              <a:t>COMPLETE SOURCE TEXT</a:t>
            </a:r>
          </a:p>
          <a:p>
            <a:r>
              <a:t>Preserve the Portfolio. Make Its Status Clear.</a:t>
            </a:r>
          </a:p>
          <a:p/>
          <a:p>
            <a:r>
              <a:t>Business pillar | Existing assets and documented portfolio references | Ongoing or upcoming development</a:t>
            </a:r>
          </a:p>
          <a:p/>
          <a:p>
            <a:r>
              <a:t>Integrated City | Tanrise Taman Dayu Pandaan | Tanrise Bandung; Tanrise City Sidoarjo; Swiss of Taman Dayu Pandaan</a:t>
            </a:r>
          </a:p>
          <a:p/>
          <a:p>
            <a:r>
              <a:t>Community Living | Kyo Society; Grand Sunrise Menganti; Jumana Residence / Sunrise Residence Sidoarjo naming transition; ARC100 as an additional documented apartment brand | Malang residential development, with Sunrise Residence Malang, Sunrise Garden Malang, and Grand Sunrise Malang naming to reconcile</a:t>
            </a:r>
          </a:p>
          <a:p/>
          <a:p>
            <a:r>
              <a:t>Business Districts | Voza Tower; Rame-Rame; Bali Bites; Midpoint Kayoon as an additional client portfolio reference requiring status confirmation | Grand Central Bandung</a:t>
            </a:r>
          </a:p>
          <a:p/>
          <a:p>
            <a:r>
              <a:t>Logistic &amp; Industrial Park | Tritan Surabaya; Tritan Medan; Tritan Wedi 1 and 2; Tritan Taman; Tritan Southgate; TritanPoint and TritanHub brand references | Tritan Gresik; Tritan Gempol Pasuruan; Tanrise Industrial Park Palembang; Tanrise Industrial Park Banjarbaru</a:t>
            </a:r>
          </a:p>
          <a:p/>
          <a:p>
            <a:r>
              <a:t>Hotel, MICE, and Leisure | Vasa Hotel Surabaya; Vasa Suite Surabaya; three Cleo Business Hotel locations; Solaris hotel and villa assets in Bali and Malang; Golf Taman Dayu; Driving Range | Ongoing: VASA Ubud and VASA Bromo. Upcoming: VASA Canggu, VASA Malang, and GOED Malang</a:t>
            </a:r>
          </a:p>
          <a:p/>
          <a:p>
            <a:r>
              <a:t>Portfolio Rules</a:t>
            </a:r>
          </a:p>
          <a:p/>
          <a:p>
            <a:r>
              <a:t>● Do not count a proposed renaming as an additional project. ● Do not treat all TANLY-managed properties as automatically owned by TANRISE. ● Do not convert scheduled development dates into confirmed operating status. ● Retain established project names unless a naming change has been approved and</a:t>
            </a:r>
          </a:p>
          <a:p/>
          <a:p>
            <a:r>
              <a:t>implemented. ● Reconcile ownership percentages separately from the brand diagram.</a:t>
            </a:r>
          </a:p>
          <a:p/>
          <a:p>
            <a:r>
              <a:t>Supporting detail: The complete project and naming register appears in Appendix A.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20 — Brand Naming and Endorsement Principles</a:t>
            </a:r>
          </a:p>
          <a:p>
            <a:r>
              <a:t>Document pages: 20, 21</a:t>
            </a:r>
          </a:p>
          <a:p/>
          <a:p>
            <a:r>
              <a:t>COMPLETE SOURCE TEXT</a:t>
            </a:r>
          </a:p>
          <a:p>
            <a:r>
              <a:t>Preserve Recognition. Clarify Relationships.</a:t>
            </a:r>
          </a:p>
          <a:p/>
          <a:p>
            <a:r>
              <a:t>Brand level | Proposed principle</a:t>
            </a:r>
          </a:p>
          <a:p/>
          <a:p>
            <a:r>
              <a:t>TANRISE | Corporate reputation and property-development endorsement</a:t>
            </a:r>
          </a:p>
          <a:p/>
          <a:p>
            <a:r>
              <a:t>Business pillars | Descriptive portfolio categories</a:t>
            </a:r>
          </a:p>
          <a:p/>
          <a:p>
            <a:r>
              <a:t>Integrated destinations | Preserve recognisable destination names</a:t>
            </a:r>
          </a:p>
          <a:p/>
          <a:p>
            <a:r>
              <a:t>Residential and commercial projects | Retain approved customer-facing project identities</a:t>
            </a:r>
          </a:p>
          <a:p/>
          <a:p>
            <a:r>
              <a:t>Hospitality brands | Preserve operating-brand identity and identify management relationships accurately</a:t>
            </a:r>
          </a:p>
          <a:p/>
          <a:p>
            <a:r>
              <a:t>Naming Transitions Shown in the Client’s Brand Portfolio Deck</a:t>
            </a:r>
          </a:p>
          <a:p/>
          <a:p>
            <a:r>
              <a:t>Jumana Residence → Sunrise Residence Sidoarjo Shown as a “Before/After” proposal. Treat as one project with a naming transition, subject to implementation confirmation.</a:t>
            </a:r>
          </a:p>
          <a:p/>
          <a:p>
            <a:r>
              <a:t>Grand Sunrise → Location-Based Grand Sunrise Naming Examples include Grand Sunrise Menganti and Grand Sunrise Malang.</a:t>
            </a:r>
          </a:p>
          <a:p/>
          <a:p>
            <a:r>
              <a:t>TritanPoint / TritanHub → TRITAN + Location Shown as a proposed consolidated warehouse-brand system.</a:t>
            </a:r>
          </a:p>
          <a:p/>
          <a:p>
            <a:r>
              <a:t>Tanrise Industrial Park + Location Used for industrial-park naming, with the asset status of each location verified separately.</a:t>
            </a:r>
          </a:p>
          <a:p/>
          <a:p>
            <a:r>
              <a:t>Proposed Endorsement Examples</a:t>
            </a:r>
          </a:p>
          <a:p/>
          <a:p>
            <a:r>
              <a:t>Corporate-led destination</a:t>
            </a:r>
          </a:p>
          <a:p/>
          <a:p>
            <a:r>
              <a:t>TANRISE CITY SIDOARJO</a:t>
            </a:r>
          </a:p>
          <a:p/>
          <a:p>
            <a:r>
              <a:t>Endorsed project</a:t>
            </a:r>
          </a:p>
          <a:p/>
          <a:p>
            <a:r>
              <a:t>KYO SOCIETY A development by TANRISE</a:t>
            </a:r>
          </a:p>
          <a:p/>
          <a:p>
            <a:r>
              <a:t>Location-based logistics brand</a:t>
            </a:r>
          </a:p>
          <a:p/>
          <a:p>
            <a:r>
              <a:t>TRITAN GRESIK By TANRISE</a:t>
            </a:r>
          </a:p>
          <a:p/>
          <a:p>
            <a:r>
              <a:t>Hospitality relationship</a:t>
            </a:r>
          </a:p>
          <a:p/>
          <a:p>
            <a:r>
              <a:t>Identify the approved hotel brand, asset company, and TANLY management relationship where relevant.</a:t>
            </a:r>
          </a:p>
          <a:p/>
          <a:p>
            <a:r>
              <a:t>Validation note: Endorsement wording and legal attribution require review before use. “The House of VASA” is not established as the approved umbrella by the two supplied decks.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20 — Brand Naming and Endorsement Principles</a:t>
            </a:r>
          </a:p>
          <a:p>
            <a:r>
              <a:t>Document pages: 20, 21</a:t>
            </a:r>
          </a:p>
          <a:p/>
          <a:p>
            <a:r>
              <a:t>COMPLETE SOURCE TEXT</a:t>
            </a:r>
          </a:p>
          <a:p>
            <a:r>
              <a:t>Preserve Recognition. Clarify Relationships.</a:t>
            </a:r>
          </a:p>
          <a:p/>
          <a:p>
            <a:r>
              <a:t>Brand level | Proposed principle</a:t>
            </a:r>
          </a:p>
          <a:p/>
          <a:p>
            <a:r>
              <a:t>TANRISE | Corporate reputation and property-development endorsement</a:t>
            </a:r>
          </a:p>
          <a:p/>
          <a:p>
            <a:r>
              <a:t>Business pillars | Descriptive portfolio categories</a:t>
            </a:r>
          </a:p>
          <a:p/>
          <a:p>
            <a:r>
              <a:t>Integrated destinations | Preserve recognisable destination names</a:t>
            </a:r>
          </a:p>
          <a:p/>
          <a:p>
            <a:r>
              <a:t>Residential and commercial projects | Retain approved customer-facing project identities</a:t>
            </a:r>
          </a:p>
          <a:p/>
          <a:p>
            <a:r>
              <a:t>Hospitality brands | Preserve operating-brand identity and identify management relationships accurately</a:t>
            </a:r>
          </a:p>
          <a:p/>
          <a:p>
            <a:r>
              <a:t>Naming Transitions Shown in the Client’s Brand Portfolio Deck</a:t>
            </a:r>
          </a:p>
          <a:p/>
          <a:p>
            <a:r>
              <a:t>Jumana Residence → Sunrise Residence Sidoarjo Shown as a “Before/After” proposal. Treat as one project with a naming transition, subject to implementation confirmation.</a:t>
            </a:r>
          </a:p>
          <a:p/>
          <a:p>
            <a:r>
              <a:t>Grand Sunrise → Location-Based Grand Sunrise Naming Examples include Grand Sunrise Menganti and Grand Sunrise Malang.</a:t>
            </a:r>
          </a:p>
          <a:p/>
          <a:p>
            <a:r>
              <a:t>TritanPoint / TritanHub → TRITAN + Location Shown as a proposed consolidated warehouse-brand system.</a:t>
            </a:r>
          </a:p>
          <a:p/>
          <a:p>
            <a:r>
              <a:t>Tanrise Industrial Park + Location Used for industrial-park naming, with the asset status of each location verified separately.</a:t>
            </a:r>
          </a:p>
          <a:p/>
          <a:p>
            <a:r>
              <a:t>Proposed Endorsement Examples</a:t>
            </a:r>
          </a:p>
          <a:p/>
          <a:p>
            <a:r>
              <a:t>Corporate-led destination</a:t>
            </a:r>
          </a:p>
          <a:p/>
          <a:p>
            <a:r>
              <a:t>TANRISE CITY SIDOARJO</a:t>
            </a:r>
          </a:p>
          <a:p/>
          <a:p>
            <a:r>
              <a:t>Endorsed project</a:t>
            </a:r>
          </a:p>
          <a:p/>
          <a:p>
            <a:r>
              <a:t>KYO SOCIETY A development by TANRISE</a:t>
            </a:r>
          </a:p>
          <a:p/>
          <a:p>
            <a:r>
              <a:t>Location-based logistics brand</a:t>
            </a:r>
          </a:p>
          <a:p/>
          <a:p>
            <a:r>
              <a:t>TRITAN GRESIK By TANRISE</a:t>
            </a:r>
          </a:p>
          <a:p/>
          <a:p>
            <a:r>
              <a:t>Hospitality relationship</a:t>
            </a:r>
          </a:p>
          <a:p/>
          <a:p>
            <a:r>
              <a:t>Identify the approved hotel brand, asset company, and TANLY management relationship where relevant.</a:t>
            </a:r>
          </a:p>
          <a:p/>
          <a:p>
            <a:r>
              <a:t>Validation note: Endorsement wording and legal attribution require review before use. “The House of VASA” is not established as the approved umbrella by the two supplied decks.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20 — Brand Naming and Endorsement Principles</a:t>
            </a:r>
          </a:p>
          <a:p>
            <a:r>
              <a:t>Document pages: 20, 21</a:t>
            </a:r>
          </a:p>
          <a:p/>
          <a:p>
            <a:r>
              <a:t>COMPLETE SOURCE TEXT</a:t>
            </a:r>
          </a:p>
          <a:p>
            <a:r>
              <a:t>Preserve Recognition. Clarify Relationships.</a:t>
            </a:r>
          </a:p>
          <a:p/>
          <a:p>
            <a:r>
              <a:t>Brand level | Proposed principle</a:t>
            </a:r>
          </a:p>
          <a:p/>
          <a:p>
            <a:r>
              <a:t>TANRISE | Corporate reputation and property-development endorsement</a:t>
            </a:r>
          </a:p>
          <a:p/>
          <a:p>
            <a:r>
              <a:t>Business pillars | Descriptive portfolio categories</a:t>
            </a:r>
          </a:p>
          <a:p/>
          <a:p>
            <a:r>
              <a:t>Integrated destinations | Preserve recognisable destination names</a:t>
            </a:r>
          </a:p>
          <a:p/>
          <a:p>
            <a:r>
              <a:t>Residential and commercial projects | Retain approved customer-facing project identities</a:t>
            </a:r>
          </a:p>
          <a:p/>
          <a:p>
            <a:r>
              <a:t>Hospitality brands | Preserve operating-brand identity and identify management relationships accurately</a:t>
            </a:r>
          </a:p>
          <a:p/>
          <a:p>
            <a:r>
              <a:t>Naming Transitions Shown in the Client’s Brand Portfolio Deck</a:t>
            </a:r>
          </a:p>
          <a:p/>
          <a:p>
            <a:r>
              <a:t>Jumana Residence → Sunrise Residence Sidoarjo Shown as a “Before/After” proposal. Treat as one project with a naming transition, subject to implementation confirmation.</a:t>
            </a:r>
          </a:p>
          <a:p/>
          <a:p>
            <a:r>
              <a:t>Grand Sunrise → Location-Based Grand Sunrise Naming Examples include Grand Sunrise Menganti and Grand Sunrise Malang.</a:t>
            </a:r>
          </a:p>
          <a:p/>
          <a:p>
            <a:r>
              <a:t>TritanPoint / TritanHub → TRITAN + Location Shown as a proposed consolidated warehouse-brand system.</a:t>
            </a:r>
          </a:p>
          <a:p/>
          <a:p>
            <a:r>
              <a:t>Tanrise Industrial Park + Location Used for industrial-park naming, with the asset status of each location verified separately.</a:t>
            </a:r>
          </a:p>
          <a:p/>
          <a:p>
            <a:r>
              <a:t>Proposed Endorsement Examples</a:t>
            </a:r>
          </a:p>
          <a:p/>
          <a:p>
            <a:r>
              <a:t>Corporate-led destination</a:t>
            </a:r>
          </a:p>
          <a:p/>
          <a:p>
            <a:r>
              <a:t>TANRISE CITY SIDOARJO</a:t>
            </a:r>
          </a:p>
          <a:p/>
          <a:p>
            <a:r>
              <a:t>Endorsed project</a:t>
            </a:r>
          </a:p>
          <a:p/>
          <a:p>
            <a:r>
              <a:t>KYO SOCIETY A development by TANRISE</a:t>
            </a:r>
          </a:p>
          <a:p/>
          <a:p>
            <a:r>
              <a:t>Location-based logistics brand</a:t>
            </a:r>
          </a:p>
          <a:p/>
          <a:p>
            <a:r>
              <a:t>TRITAN GRESIK By TANRISE</a:t>
            </a:r>
          </a:p>
          <a:p/>
          <a:p>
            <a:r>
              <a:t>Hospitality relationship</a:t>
            </a:r>
          </a:p>
          <a:p/>
          <a:p>
            <a:r>
              <a:t>Identify the approved hotel brand, asset company, and TANLY management relationship where relevant.</a:t>
            </a:r>
          </a:p>
          <a:p/>
          <a:p>
            <a:r>
              <a:t>Validation note: Endorsement wording and legal attribution require review before use. “The House of VASA” is not established as the approved umbrella by the two supplied decks.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21 — Integrated Destinations and Shared Value Creation</a:t>
            </a:r>
          </a:p>
          <a:p>
            <a:r>
              <a:t>Document pages: 22, 23</a:t>
            </a:r>
          </a:p>
          <a:p/>
          <a:p>
            <a:r>
              <a:t>COMPLETE SOURCE TEXT</a:t>
            </a:r>
          </a:p>
          <a:p>
            <a:r>
              <a:t>One Destination Can Connect Several Businesses.</a:t>
            </a:r>
          </a:p>
          <a:p/>
          <a:p>
            <a:r>
              <a:t>Tanrise Taman Dayu Pandaan</a:t>
            </a:r>
          </a:p>
          <a:p/>
          <a:p>
            <a:r>
              <a:t>The wider destination connects residential development with golf, recreation, hospitality, and visitor activity.</a:t>
            </a:r>
          </a:p>
          <a:p/>
          <a:p>
            <a:r>
              <a:t>Documented components include:</a:t>
            </a:r>
          </a:p>
          <a:p/>
          <a:p>
            <a:r>
              <a:t>● Tanrise Taman Dayu Pandaan. ● Golf Taman Dayu. ● Driving Range. ● Swiss of Taman Dayu Pandaan as an ongoing development.</a:t>
            </a:r>
          </a:p>
          <a:p/>
          <a:p>
            <a:r>
              <a:t>Destination-wide planning should preserve the distinction between these assets and their ownership and operating arrangements.</a:t>
            </a:r>
          </a:p>
          <a:p/>
          <a:p>
            <a:r>
              <a:t>Tanrise Bandung</a:t>
            </a:r>
          </a:p>
          <a:p/>
          <a:p>
            <a:r>
              <a:t>An ongoing integrated development with residential and commercial potential.</a:t>
            </a:r>
          </a:p>
          <a:p/>
          <a:p>
            <a:r>
              <a:t>Grand Central Bandung is identified as a commercial project within the broader Bandung development site.</a:t>
            </a:r>
          </a:p>
          <a:p/>
          <a:p>
            <a:r>
              <a:t>Tanrise City Sidoarjo</a:t>
            </a:r>
          </a:p>
          <a:p/>
          <a:p>
            <a:r>
              <a:t>An ongoing integrated-city project.</a:t>
            </a:r>
          </a:p>
          <a:p/>
          <a:p>
            <a:r>
              <a:t>Its long-term development strategy should coordinate housing, infrastructure, commercial activity, and appropriate partner-led facilities.</a:t>
            </a:r>
          </a:p>
          <a:p/>
          <a:p>
            <a:r>
              <a:t>Proposed Value-Creation Cycle</a:t>
            </a:r>
          </a:p>
          <a:p/>
          <a:p>
            <a:r>
              <a:t>Develop → Activate → Operate → Grow</a:t>
            </a:r>
          </a:p>
          <a:p/>
          <a:p>
            <a:r>
              <a:t>● Develop relevant places. ● Activate them through tenants, institutions, services, and experiences. ● Operate retained assets and customer relationships. ● Grow income, asset productivity, and reinvestment capacity.</a:t>
            </a:r>
          </a:p>
          <a:p/>
          <a:p>
            <a:r>
              <a:t>Education, healthcare, wellness, and memberships should be labelled as proposed or partner-led opportunities unless a specific committed facility or operating business is confirmed.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21 — Integrated Destinations and Shared Value Creation</a:t>
            </a:r>
          </a:p>
          <a:p>
            <a:r>
              <a:t>Document pages: 22, 23</a:t>
            </a:r>
          </a:p>
          <a:p/>
          <a:p>
            <a:r>
              <a:t>COMPLETE SOURCE TEXT</a:t>
            </a:r>
          </a:p>
          <a:p>
            <a:r>
              <a:t>One Destination Can Connect Several Businesses.</a:t>
            </a:r>
          </a:p>
          <a:p/>
          <a:p>
            <a:r>
              <a:t>Tanrise Taman Dayu Pandaan</a:t>
            </a:r>
          </a:p>
          <a:p/>
          <a:p>
            <a:r>
              <a:t>The wider destination connects residential development with golf, recreation, hospitality, and visitor activity.</a:t>
            </a:r>
          </a:p>
          <a:p/>
          <a:p>
            <a:r>
              <a:t>Documented components include:</a:t>
            </a:r>
          </a:p>
          <a:p/>
          <a:p>
            <a:r>
              <a:t>● Tanrise Taman Dayu Pandaan. ● Golf Taman Dayu. ● Driving Range. ● Swiss of Taman Dayu Pandaan as an ongoing development.</a:t>
            </a:r>
          </a:p>
          <a:p/>
          <a:p>
            <a:r>
              <a:t>Destination-wide planning should preserve the distinction between these assets and their ownership and operating arrangements.</a:t>
            </a:r>
          </a:p>
          <a:p/>
          <a:p>
            <a:r>
              <a:t>Tanrise Bandung</a:t>
            </a:r>
          </a:p>
          <a:p/>
          <a:p>
            <a:r>
              <a:t>An ongoing integrated development with residential and commercial potential.</a:t>
            </a:r>
          </a:p>
          <a:p/>
          <a:p>
            <a:r>
              <a:t>Grand Central Bandung is identified as a commercial project within the broader Bandung development site.</a:t>
            </a:r>
          </a:p>
          <a:p/>
          <a:p>
            <a:r>
              <a:t>Tanrise City Sidoarjo</a:t>
            </a:r>
          </a:p>
          <a:p/>
          <a:p>
            <a:r>
              <a:t>An ongoing integrated-city project.</a:t>
            </a:r>
          </a:p>
          <a:p/>
          <a:p>
            <a:r>
              <a:t>Its long-term development strategy should coordinate housing, infrastructure, commercial activity, and appropriate partner-led facilities.</a:t>
            </a:r>
          </a:p>
          <a:p/>
          <a:p>
            <a:r>
              <a:t>Proposed Value-Creation Cycle</a:t>
            </a:r>
          </a:p>
          <a:p/>
          <a:p>
            <a:r>
              <a:t>Develop → Activate → Operate → Grow</a:t>
            </a:r>
          </a:p>
          <a:p/>
          <a:p>
            <a:r>
              <a:t>● Develop relevant places. ● Activate them through tenants, institutions, services, and experiences. ● Operate retained assets and customer relationships. ● Grow income, asset productivity, and reinvestment capacity.</a:t>
            </a:r>
          </a:p>
          <a:p/>
          <a:p>
            <a:r>
              <a:t>Education, healthcare, wellness, and memberships should be labelled as proposed or partner-led opportunities unless a specific committed facility or operating business is confirmed.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21 — Integrated Destinations and Shared Value Creation</a:t>
            </a:r>
          </a:p>
          <a:p>
            <a:r>
              <a:t>Document pages: 22, 23</a:t>
            </a:r>
          </a:p>
          <a:p/>
          <a:p>
            <a:r>
              <a:t>COMPLETE SOURCE TEXT</a:t>
            </a:r>
          </a:p>
          <a:p>
            <a:r>
              <a:t>One Destination Can Connect Several Businesses.</a:t>
            </a:r>
          </a:p>
          <a:p/>
          <a:p>
            <a:r>
              <a:t>Tanrise Taman Dayu Pandaan</a:t>
            </a:r>
          </a:p>
          <a:p/>
          <a:p>
            <a:r>
              <a:t>The wider destination connects residential development with golf, recreation, hospitality, and visitor activity.</a:t>
            </a:r>
          </a:p>
          <a:p/>
          <a:p>
            <a:r>
              <a:t>Documented components include:</a:t>
            </a:r>
          </a:p>
          <a:p/>
          <a:p>
            <a:r>
              <a:t>● Tanrise Taman Dayu Pandaan. ● Golf Taman Dayu. ● Driving Range. ● Swiss of Taman Dayu Pandaan as an ongoing development.</a:t>
            </a:r>
          </a:p>
          <a:p/>
          <a:p>
            <a:r>
              <a:t>Destination-wide planning should preserve the distinction between these assets and their ownership and operating arrangements.</a:t>
            </a:r>
          </a:p>
          <a:p/>
          <a:p>
            <a:r>
              <a:t>Tanrise Bandung</a:t>
            </a:r>
          </a:p>
          <a:p/>
          <a:p>
            <a:r>
              <a:t>An ongoing integrated development with residential and commercial potential.</a:t>
            </a:r>
          </a:p>
          <a:p/>
          <a:p>
            <a:r>
              <a:t>Grand Central Bandung is identified as a commercial project within the broader Bandung development site.</a:t>
            </a:r>
          </a:p>
          <a:p/>
          <a:p>
            <a:r>
              <a:t>Tanrise City Sidoarjo</a:t>
            </a:r>
          </a:p>
          <a:p/>
          <a:p>
            <a:r>
              <a:t>An ongoing integrated-city project.</a:t>
            </a:r>
          </a:p>
          <a:p/>
          <a:p>
            <a:r>
              <a:t>Its long-term development strategy should coordinate housing, infrastructure, commercial activity, and appropriate partner-led facilities.</a:t>
            </a:r>
          </a:p>
          <a:p/>
          <a:p>
            <a:r>
              <a:t>Proposed Value-Creation Cycle</a:t>
            </a:r>
          </a:p>
          <a:p/>
          <a:p>
            <a:r>
              <a:t>Develop → Activate → Operate → Grow</a:t>
            </a:r>
          </a:p>
          <a:p/>
          <a:p>
            <a:r>
              <a:t>● Develop relevant places. ● Activate them through tenants, institutions, services, and experiences. ● Operate retained assets and customer relationships. ● Grow income, asset productivity, and reinvestment capacity.</a:t>
            </a:r>
          </a:p>
          <a:p/>
          <a:p>
            <a:r>
              <a:t>Education, healthcare, wellness, and memberships should be labelled as proposed or partner-led opportunities unless a specific committed facility or operating business is confirmed.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22 — Three Directions. One Ambition.</a:t>
            </a:r>
          </a:p>
          <a:p>
            <a:r>
              <a:t>Document pages: 23, 24</a:t>
            </a:r>
          </a:p>
          <a:p/>
          <a:p>
            <a:r>
              <a:t>COMPLETE SOURCE TEXT</a:t>
            </a:r>
          </a:p>
          <a:p>
            <a:r>
              <a:t>Choosing How TANRISE Will Be Known in Its Next Chapter.</a:t>
            </a:r>
          </a:p>
          <a:p/>
          <a:p>
            <a:r>
              <a:t>The three proposed directions share a foundation of trust, purposeful concepts, and long-term value.</a:t>
            </a:r>
          </a:p>
          <a:p/>
          <a:p>
            <a:r>
              <a:t>Dimension | Option 01 | Option 02 | Option 03</a:t>
            </a:r>
          </a:p>
          <a:p/>
          <a:p>
            <a:r>
              <a:t>Strategic territory | Development excellence | Human-centred placemaking | Integrated value ecosystems</a:t>
            </a:r>
          </a:p>
          <a:p/>
          <a:p>
            <a:r>
              <a:t>Brand idea | Building Tomorrow’s Places | Elevating Life | Creating Lasting Value</a:t>
            </a:r>
          </a:p>
          <a:p/>
          <a:p>
            <a:r>
              <a:t>Primary emphasis | What we build | Why we build | What our developments enable</a:t>
            </a:r>
          </a:p>
          <a:p/>
          <a:p>
            <a:r>
              <a:t>Emotional appeal | Confidence | Belonging and progress | Opportunity and prosperity</a:t>
            </a:r>
          </a:p>
          <a:p/>
          <a:p>
            <a:r>
              <a:t>Commercial emphasis | Development and sales | Development and long-term place value | Development and recurring income</a:t>
            </a:r>
          </a:p>
          <a:p/>
          <a:p>
            <a:r>
              <a:t>Complexity | Lower | Moderate | Higher</a:t>
            </a:r>
          </a:p>
          <a:p/>
          <a:p>
            <a:r>
              <a:t>All options should accommodate TANRISE’s five business pillars and its existing and future portfolio.</a:t>
            </a:r>
          </a:p>
          <a:p/>
          <a:p>
            <a:r>
              <a:t>All retain CINTA and Super-Serving as foundations.</a:t>
            </a:r>
          </a:p>
          <a:p/>
          <a:p>
            <a:r>
              <a:t>Preliminary recommendation: Adopt Option 02 as the corporate brand direction and incorporate Option 03’s economic ambition into the business strategy.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22 — Three Directions. One Ambition.</a:t>
            </a:r>
          </a:p>
          <a:p>
            <a:r>
              <a:t>Document pages: 23, 24</a:t>
            </a:r>
          </a:p>
          <a:p/>
          <a:p>
            <a:r>
              <a:t>COMPLETE SOURCE TEXT</a:t>
            </a:r>
          </a:p>
          <a:p>
            <a:r>
              <a:t>Choosing How TANRISE Will Be Known in Its Next Chapter.</a:t>
            </a:r>
          </a:p>
          <a:p/>
          <a:p>
            <a:r>
              <a:t>The three proposed directions share a foundation of trust, purposeful concepts, and long-term value.</a:t>
            </a:r>
          </a:p>
          <a:p/>
          <a:p>
            <a:r>
              <a:t>Dimension | Option 01 | Option 02 | Option 03</a:t>
            </a:r>
          </a:p>
          <a:p/>
          <a:p>
            <a:r>
              <a:t>Strategic territory | Development excellence | Human-centred placemaking | Integrated value ecosystems</a:t>
            </a:r>
          </a:p>
          <a:p/>
          <a:p>
            <a:r>
              <a:t>Brand idea | Building Tomorrow’s Places | Elevating Life | Creating Lasting Value</a:t>
            </a:r>
          </a:p>
          <a:p/>
          <a:p>
            <a:r>
              <a:t>Primary emphasis | What we build | Why we build | What our developments enable</a:t>
            </a:r>
          </a:p>
          <a:p/>
          <a:p>
            <a:r>
              <a:t>Emotional appeal | Confidence | Belonging and progress | Opportunity and prosperity</a:t>
            </a:r>
          </a:p>
          <a:p/>
          <a:p>
            <a:r>
              <a:t>Commercial emphasis | Development and sales | Development and long-term place value | Development and recurring income</a:t>
            </a:r>
          </a:p>
          <a:p/>
          <a:p>
            <a:r>
              <a:t>Complexity | Lower | Moderate | Higher</a:t>
            </a:r>
          </a:p>
          <a:p/>
          <a:p>
            <a:r>
              <a:t>All options should accommodate TANRISE’s five business pillars and its existing and future portfolio.</a:t>
            </a:r>
          </a:p>
          <a:p/>
          <a:p>
            <a:r>
              <a:t>All retain CINTA and Super-Serving as foundations.</a:t>
            </a:r>
          </a:p>
          <a:p/>
          <a:p>
            <a:r>
              <a:t>Preliminary recommendation: Adopt Option 02 as the corporate brand direction and incorporate Option 03’s economic ambition into the business strategy.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23 — Option 01: Building Tomorrow’s Places</a:t>
            </a:r>
          </a:p>
          <a:p>
            <a:r>
              <a:t>Document pages: 24, 25</a:t>
            </a:r>
          </a:p>
          <a:p/>
          <a:p>
            <a:r>
              <a:t>COMPLETE SOURCE TEXT</a:t>
            </a:r>
          </a:p>
          <a:p>
            <a:r>
              <a:t>The Trusted Developer</a:t>
            </a:r>
          </a:p>
          <a:p/>
          <a:p>
            <a:r>
              <a:t>Strategic territory Development excellence.</a:t>
            </a:r>
          </a:p>
          <a:p/>
          <a:p>
            <a:r>
              <a:t>Brand idea Building Tomorrow’s Places.</a:t>
            </a:r>
          </a:p>
          <a:p/>
          <a:p>
            <a:r>
              <a:t>Supporting statement Creating developments that inspire confidence today and opportunity for tomorrow.</a:t>
            </a:r>
          </a:p>
          <a:p/>
          <a:p>
            <a:r>
              <a:t>Brand purpose To create well-conceived places that support progress, opportunity, and a better future for the people and businesses they serve.</a:t>
            </a:r>
          </a:p>
          <a:p/>
          <a:p>
            <a:r>
              <a:t>Brand vision To become one of Indonesia’s leading and most trusted property developers, recognised for thoughtful concepts, dependable delivery, enduring quality, and lasting value.</a:t>
            </a:r>
          </a:p>
          <a:p/>
          <a:p>
            <a:r>
              <a:t>Brand mission To develop residential, commercial, industrial, hospitality, and integrated destinations through thoughtful planning, responsible execution, and a commitment to the customers, partners, and communities who depend on the places we create.</a:t>
            </a:r>
          </a:p>
          <a:p/>
          <a:p>
            <a:r>
              <a:t>Brand positioning TANRISE is a trusted Indonesian property developer combining market understanding, relevant concepts, and dependable execution to create places that support life and business.</a:t>
            </a:r>
          </a:p>
          <a:p/>
          <a:p>
            <a:r>
              <a:t>Brand essence Progress Through Purposeful Development.</a:t>
            </a:r>
          </a:p>
          <a:p/>
          <a:p>
            <a:r>
              <a:t>Brand promise Well-conceived places. Responsibly delivered.</a:t>
            </a:r>
          </a:p>
          <a:p/>
          <a:p>
            <a:r>
              <a:t>Brand personality Professional, visionary, dependable, disciplined, thoughtful, and approachable.</a:t>
            </a:r>
          </a:p>
          <a:p/>
          <a:p>
            <a:r>
              <a:t>Tone of voice Clear, assured, knowledgeable, responsible, and optimistic.</a:t>
            </a:r>
          </a:p>
          <a:p/>
          <a:p>
            <a:r>
              <a:t>Corporate belief Great development begins with understanding what tomorrow will require and delivering responsibly today.</a:t>
            </a:r>
          </a:p>
          <a:p/>
          <a:p>
            <a:r>
              <a:t>Culture Commitment-led execution, accountability, delivery ownership, and continuous improvement.</a:t>
            </a:r>
          </a:p>
          <a:p/>
          <a:p>
            <a:r>
              <a:t>Brand values Customer Focus, Integrity, Teamwork, and Agility.</a:t>
            </a:r>
          </a:p>
          <a:p/>
          <a:p>
            <a:r>
              <a:t>Strategic strength Clear and credible, with relatively limited change to the existing operating model.</a:t>
            </a:r>
          </a:p>
          <a:p/>
          <a:p>
            <a:r>
              <a:t>Strategic limitation May be insufficiently differentiated from established property developers.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23 — Option 01: Building Tomorrow’s Places</a:t>
            </a:r>
          </a:p>
          <a:p>
            <a:r>
              <a:t>Document pages: 24, 25</a:t>
            </a:r>
          </a:p>
          <a:p/>
          <a:p>
            <a:r>
              <a:t>COMPLETE SOURCE TEXT</a:t>
            </a:r>
          </a:p>
          <a:p>
            <a:r>
              <a:t>The Trusted Developer</a:t>
            </a:r>
          </a:p>
          <a:p/>
          <a:p>
            <a:r>
              <a:t>Strategic territory Development excellence.</a:t>
            </a:r>
          </a:p>
          <a:p/>
          <a:p>
            <a:r>
              <a:t>Brand idea Building Tomorrow’s Places.</a:t>
            </a:r>
          </a:p>
          <a:p/>
          <a:p>
            <a:r>
              <a:t>Supporting statement Creating developments that inspire confidence today and opportunity for tomorrow.</a:t>
            </a:r>
          </a:p>
          <a:p/>
          <a:p>
            <a:r>
              <a:t>Brand purpose To create well-conceived places that support progress, opportunity, and a better future for the people and businesses they serve.</a:t>
            </a:r>
          </a:p>
          <a:p/>
          <a:p>
            <a:r>
              <a:t>Brand vision To become one of Indonesia’s leading and most trusted property developers, recognised for thoughtful concepts, dependable delivery, enduring quality, and lasting value.</a:t>
            </a:r>
          </a:p>
          <a:p/>
          <a:p>
            <a:r>
              <a:t>Brand mission To develop residential, commercial, industrial, hospitality, and integrated destinations through thoughtful planning, responsible execution, and a commitment to the customers, partners, and communities who depend on the places we create.</a:t>
            </a:r>
          </a:p>
          <a:p/>
          <a:p>
            <a:r>
              <a:t>Brand positioning TANRISE is a trusted Indonesian property developer combining market understanding, relevant concepts, and dependable execution to create places that support life and business.</a:t>
            </a:r>
          </a:p>
          <a:p/>
          <a:p>
            <a:r>
              <a:t>Brand essence Progress Through Purposeful Development.</a:t>
            </a:r>
          </a:p>
          <a:p/>
          <a:p>
            <a:r>
              <a:t>Brand promise Well-conceived places. Responsibly delivered.</a:t>
            </a:r>
          </a:p>
          <a:p/>
          <a:p>
            <a:r>
              <a:t>Brand personality Professional, visionary, dependable, disciplined, thoughtful, and approachable.</a:t>
            </a:r>
          </a:p>
          <a:p/>
          <a:p>
            <a:r>
              <a:t>Tone of voice Clear, assured, knowledgeable, responsible, and optimistic.</a:t>
            </a:r>
          </a:p>
          <a:p/>
          <a:p>
            <a:r>
              <a:t>Corporate belief Great development begins with understanding what tomorrow will require and delivering responsibly today.</a:t>
            </a:r>
          </a:p>
          <a:p/>
          <a:p>
            <a:r>
              <a:t>Culture Commitment-led execution, accountability, delivery ownership, and continuous improvement.</a:t>
            </a:r>
          </a:p>
          <a:p/>
          <a:p>
            <a:r>
              <a:t>Brand values Customer Focus, Integrity, Teamwork, and Agility.</a:t>
            </a:r>
          </a:p>
          <a:p/>
          <a:p>
            <a:r>
              <a:t>Strategic strength Clear and credible, with relatively limited change to the existing operating model.</a:t>
            </a:r>
          </a:p>
          <a:p/>
          <a:p>
            <a:r>
              <a:t>Strategic limitation May be insufficiently differentiated from established property developers.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23 — Option 01: Building Tomorrow’s Places</a:t>
            </a:r>
          </a:p>
          <a:p>
            <a:r>
              <a:t>Document pages: 24, 25</a:t>
            </a:r>
          </a:p>
          <a:p/>
          <a:p>
            <a:r>
              <a:t>COMPLETE SOURCE TEXT</a:t>
            </a:r>
          </a:p>
          <a:p>
            <a:r>
              <a:t>The Trusted Developer</a:t>
            </a:r>
          </a:p>
          <a:p/>
          <a:p>
            <a:r>
              <a:t>Strategic territory Development excellence.</a:t>
            </a:r>
          </a:p>
          <a:p/>
          <a:p>
            <a:r>
              <a:t>Brand idea Building Tomorrow’s Places.</a:t>
            </a:r>
          </a:p>
          <a:p/>
          <a:p>
            <a:r>
              <a:t>Supporting statement Creating developments that inspire confidence today and opportunity for tomorrow.</a:t>
            </a:r>
          </a:p>
          <a:p/>
          <a:p>
            <a:r>
              <a:t>Brand purpose To create well-conceived places that support progress, opportunity, and a better future for the people and businesses they serve.</a:t>
            </a:r>
          </a:p>
          <a:p/>
          <a:p>
            <a:r>
              <a:t>Brand vision To become one of Indonesia’s leading and most trusted property developers, recognised for thoughtful concepts, dependable delivery, enduring quality, and lasting value.</a:t>
            </a:r>
          </a:p>
          <a:p/>
          <a:p>
            <a:r>
              <a:t>Brand mission To develop residential, commercial, industrial, hospitality, and integrated destinations through thoughtful planning, responsible execution, and a commitment to the customers, partners, and communities who depend on the places we create.</a:t>
            </a:r>
          </a:p>
          <a:p/>
          <a:p>
            <a:r>
              <a:t>Brand positioning TANRISE is a trusted Indonesian property developer combining market understanding, relevant concepts, and dependable execution to create places that support life and business.</a:t>
            </a:r>
          </a:p>
          <a:p/>
          <a:p>
            <a:r>
              <a:t>Brand essence Progress Through Purposeful Development.</a:t>
            </a:r>
          </a:p>
          <a:p/>
          <a:p>
            <a:r>
              <a:t>Brand promise Well-conceived places. Responsibly delivered.</a:t>
            </a:r>
          </a:p>
          <a:p/>
          <a:p>
            <a:r>
              <a:t>Brand personality Professional, visionary, dependable, disciplined, thoughtful, and approachable.</a:t>
            </a:r>
          </a:p>
          <a:p/>
          <a:p>
            <a:r>
              <a:t>Tone of voice Clear, assured, knowledgeable, responsible, and optimistic.</a:t>
            </a:r>
          </a:p>
          <a:p/>
          <a:p>
            <a:r>
              <a:t>Corporate belief Great development begins with understanding what tomorrow will require and delivering responsibly today.</a:t>
            </a:r>
          </a:p>
          <a:p/>
          <a:p>
            <a:r>
              <a:t>Culture Commitment-led execution, accountability, delivery ownership, and continuous improvement.</a:t>
            </a:r>
          </a:p>
          <a:p/>
          <a:p>
            <a:r>
              <a:t>Brand values Customer Focus, Integrity, Teamwork, and Agility.</a:t>
            </a:r>
          </a:p>
          <a:p/>
          <a:p>
            <a:r>
              <a:t>Strategic strength Clear and credible, with relatively limited change to the existing operating model.</a:t>
            </a:r>
          </a:p>
          <a:p/>
          <a:p>
            <a:r>
              <a:t>Strategic limitation May be insufficiently differentiated from established property developers.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24 — Option 02: Elevating Life</a:t>
            </a:r>
          </a:p>
          <a:p>
            <a:r>
              <a:t>Document pages: 25, 26, 27</a:t>
            </a:r>
          </a:p>
          <a:p/>
          <a:p>
            <a:r>
              <a:t>COMPLETE SOURCE TEXT</a:t>
            </a:r>
          </a:p>
          <a:p>
            <a:r>
              <a:t>The Purposeful Place-Maker</a:t>
            </a:r>
          </a:p>
          <a:p/>
          <a:p>
            <a:r>
              <a:t>Strategic territory Human-centred placemaking.</a:t>
            </a:r>
          </a:p>
          <a:p/>
          <a:p>
            <a:r>
              <a:t>Status Recommended direction.</a:t>
            </a:r>
          </a:p>
          <a:p/>
          <a:p>
            <a:r>
              <a:t>Brand idea Elevating Life.</a:t>
            </a:r>
          </a:p>
          <a:p/>
          <a:p>
            <a:r>
              <a:t>Supporting statement Creating purposeful places where people flourish, businesses thrive, and communities grow.</a:t>
            </a:r>
          </a:p>
          <a:p/>
          <a:p>
            <a:r>
              <a:t>Brand purpose To enrich people’s lives and create opportunities for businesses and communities through places designed with purpose, care, and lasting relevance.</a:t>
            </a:r>
          </a:p>
          <a:p/>
          <a:p>
            <a:r>
              <a:t>Brand vision To be one of Indonesia’s leading and most trusted property developers, creating purposeful places that elevate everyday life, enable business growth, and generate lasting value for generations.</a:t>
            </a:r>
          </a:p>
          <a:p/>
          <a:p>
            <a:r>
              <a:t>Brand mission We develop and nurture places that respond to real human and business needs.</a:t>
            </a:r>
          </a:p>
          <a:p/>
          <a:p>
            <a:r>
              <a:t>Through thoughtful concepts, responsible development, meaningful partnerships, and continued care, we create environments where people feel they belong, businesses find opportunities, and communities can grow.</a:t>
            </a:r>
          </a:p>
          <a:p/>
          <a:p>
            <a:r>
              <a:t>Brand positioning TANRISE is an Indonesian property developer creating purposeful places that bring together quality development, meaningful experiences, and long-term value for people, businesses, and communities.</a:t>
            </a:r>
          </a:p>
          <a:p/>
          <a:p>
            <a:r>
              <a:t>Brand essence Purposeful Places. Meaningful Progress.</a:t>
            </a:r>
          </a:p>
          <a:p/>
          <a:p>
            <a:r>
              <a:t>Brand promise Places created with purpose. Relationships built on trust.</a:t>
            </a:r>
          </a:p>
          <a:p/>
          <a:p>
            <a:r>
              <a:t>Brand personality Thoughtful, warm, dependable, progressive, and ambitious.</a:t>
            </a:r>
          </a:p>
          <a:p/>
          <a:p>
            <a:r>
              <a:t>Tone of voice Human, confident, sincere, inspiring, and professional.</a:t>
            </a:r>
          </a:p>
          <a:p/>
          <a:p>
            <a:r>
              <a:t>Corporate belief A place is more than what we build. Its true value is measured by the lives it supports, the opportunities it creates, and the positive impact it leaves behind.</a:t>
            </a:r>
          </a:p>
          <a:p/>
          <a:p>
            <a:r>
              <a:t>Values and service foundation CINTA guides behaviour. Super-Serving translates care and trust into customer experience.</a:t>
            </a:r>
          </a:p>
          <a:p/>
          <a:p>
            <a:r>
              <a:t>Strategic advantage Relevant across integrated cities, residential communities, business districts, industrial environments, and hospitality assets.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24 — Option 02: Elevating Life</a:t>
            </a:r>
          </a:p>
          <a:p>
            <a:r>
              <a:t>Document pages: 25, 26, 27</a:t>
            </a:r>
          </a:p>
          <a:p/>
          <a:p>
            <a:r>
              <a:t>COMPLETE SOURCE TEXT</a:t>
            </a:r>
          </a:p>
          <a:p>
            <a:r>
              <a:t>The Purposeful Place-Maker</a:t>
            </a:r>
          </a:p>
          <a:p/>
          <a:p>
            <a:r>
              <a:t>Strategic territory Human-centred placemaking.</a:t>
            </a:r>
          </a:p>
          <a:p/>
          <a:p>
            <a:r>
              <a:t>Status Recommended direction.</a:t>
            </a:r>
          </a:p>
          <a:p/>
          <a:p>
            <a:r>
              <a:t>Brand idea Elevating Life.</a:t>
            </a:r>
          </a:p>
          <a:p/>
          <a:p>
            <a:r>
              <a:t>Supporting statement Creating purposeful places where people flourish, businesses thrive, and communities grow.</a:t>
            </a:r>
          </a:p>
          <a:p/>
          <a:p>
            <a:r>
              <a:t>Brand purpose To enrich people’s lives and create opportunities for businesses and communities through places designed with purpose, care, and lasting relevance.</a:t>
            </a:r>
          </a:p>
          <a:p/>
          <a:p>
            <a:r>
              <a:t>Brand vision To be one of Indonesia’s leading and most trusted property developers, creating purposeful places that elevate everyday life, enable business growth, and generate lasting value for generations.</a:t>
            </a:r>
          </a:p>
          <a:p/>
          <a:p>
            <a:r>
              <a:t>Brand mission We develop and nurture places that respond to real human and business needs.</a:t>
            </a:r>
          </a:p>
          <a:p/>
          <a:p>
            <a:r>
              <a:t>Through thoughtful concepts, responsible development, meaningful partnerships, and continued care, we create environments where people feel they belong, businesses find opportunities, and communities can grow.</a:t>
            </a:r>
          </a:p>
          <a:p/>
          <a:p>
            <a:r>
              <a:t>Brand positioning TANRISE is an Indonesian property developer creating purposeful places that bring together quality development, meaningful experiences, and long-term value for people, businesses, and communities.</a:t>
            </a:r>
          </a:p>
          <a:p/>
          <a:p>
            <a:r>
              <a:t>Brand essence Purposeful Places. Meaningful Progress.</a:t>
            </a:r>
          </a:p>
          <a:p/>
          <a:p>
            <a:r>
              <a:t>Brand promise Places created with purpose. Relationships built on trust.</a:t>
            </a:r>
          </a:p>
          <a:p/>
          <a:p>
            <a:r>
              <a:t>Brand personality Thoughtful, warm, dependable, progressive, and ambitious.</a:t>
            </a:r>
          </a:p>
          <a:p/>
          <a:p>
            <a:r>
              <a:t>Tone of voice Human, confident, sincere, inspiring, and professional.</a:t>
            </a:r>
          </a:p>
          <a:p/>
          <a:p>
            <a:r>
              <a:t>Corporate belief A place is more than what we build. Its true value is measured by the lives it supports, the opportunities it creates, and the positive impact it leaves behind.</a:t>
            </a:r>
          </a:p>
          <a:p/>
          <a:p>
            <a:r>
              <a:t>Values and service foundation CINTA guides behaviour. Super-Serving translates care and trust into customer experience.</a:t>
            </a:r>
          </a:p>
          <a:p/>
          <a:p>
            <a:r>
              <a:t>Strategic advantage Relevant across integrated cities, residential communities, business districts, industrial environments, and hospitality assets.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24 — Option 02: Elevating Life</a:t>
            </a:r>
          </a:p>
          <a:p>
            <a:r>
              <a:t>Document pages: 25, 26, 27</a:t>
            </a:r>
          </a:p>
          <a:p/>
          <a:p>
            <a:r>
              <a:t>COMPLETE SOURCE TEXT</a:t>
            </a:r>
          </a:p>
          <a:p>
            <a:r>
              <a:t>The Purposeful Place-Maker</a:t>
            </a:r>
          </a:p>
          <a:p/>
          <a:p>
            <a:r>
              <a:t>Strategic territory Human-centred placemaking.</a:t>
            </a:r>
          </a:p>
          <a:p/>
          <a:p>
            <a:r>
              <a:t>Status Recommended direction.</a:t>
            </a:r>
          </a:p>
          <a:p/>
          <a:p>
            <a:r>
              <a:t>Brand idea Elevating Life.</a:t>
            </a:r>
          </a:p>
          <a:p/>
          <a:p>
            <a:r>
              <a:t>Supporting statement Creating purposeful places where people flourish, businesses thrive, and communities grow.</a:t>
            </a:r>
          </a:p>
          <a:p/>
          <a:p>
            <a:r>
              <a:t>Brand purpose To enrich people’s lives and create opportunities for businesses and communities through places designed with purpose, care, and lasting relevance.</a:t>
            </a:r>
          </a:p>
          <a:p/>
          <a:p>
            <a:r>
              <a:t>Brand vision To be one of Indonesia’s leading and most trusted property developers, creating purposeful places that elevate everyday life, enable business growth, and generate lasting value for generations.</a:t>
            </a:r>
          </a:p>
          <a:p/>
          <a:p>
            <a:r>
              <a:t>Brand mission We develop and nurture places that respond to real human and business needs.</a:t>
            </a:r>
          </a:p>
          <a:p/>
          <a:p>
            <a:r>
              <a:t>Through thoughtful concepts, responsible development, meaningful partnerships, and continued care, we create environments where people feel they belong, businesses find opportunities, and communities can grow.</a:t>
            </a:r>
          </a:p>
          <a:p/>
          <a:p>
            <a:r>
              <a:t>Brand positioning TANRISE is an Indonesian property developer creating purposeful places that bring together quality development, meaningful experiences, and long-term value for people, businesses, and communities.</a:t>
            </a:r>
          </a:p>
          <a:p/>
          <a:p>
            <a:r>
              <a:t>Brand essence Purposeful Places. Meaningful Progress.</a:t>
            </a:r>
          </a:p>
          <a:p/>
          <a:p>
            <a:r>
              <a:t>Brand promise Places created with purpose. Relationships built on trust.</a:t>
            </a:r>
          </a:p>
          <a:p/>
          <a:p>
            <a:r>
              <a:t>Brand personality Thoughtful, warm, dependable, progressive, and ambitious.</a:t>
            </a:r>
          </a:p>
          <a:p/>
          <a:p>
            <a:r>
              <a:t>Tone of voice Human, confident, sincere, inspiring, and professional.</a:t>
            </a:r>
          </a:p>
          <a:p/>
          <a:p>
            <a:r>
              <a:t>Corporate belief A place is more than what we build. Its true value is measured by the lives it supports, the opportunities it creates, and the positive impact it leaves behind.</a:t>
            </a:r>
          </a:p>
          <a:p/>
          <a:p>
            <a:r>
              <a:t>Values and service foundation CINTA guides behaviour. Super-Serving translates care and trust into customer experience.</a:t>
            </a:r>
          </a:p>
          <a:p/>
          <a:p>
            <a:r>
              <a:t>Strategic advantage Relevant across integrated cities, residential communities, business districts, industrial environments, and hospitality assets.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25 — Option 03: Creating Lasting Value</a:t>
            </a:r>
          </a:p>
          <a:p>
            <a:r>
              <a:t>Document pages: 27, 28</a:t>
            </a:r>
          </a:p>
          <a:p/>
          <a:p>
            <a:r>
              <a:t>COMPLETE SOURCE TEXT</a:t>
            </a:r>
          </a:p>
          <a:p>
            <a:r>
              <a:t>The Integrated Value Creator</a:t>
            </a:r>
          </a:p>
          <a:p/>
          <a:p>
            <a:r>
              <a:t>Strategic territory Integrated value ecosystems.</a:t>
            </a:r>
          </a:p>
          <a:p/>
          <a:p>
            <a:r>
              <a:t>Brand idea Creating Lasting Value.</a:t>
            </a:r>
          </a:p>
          <a:p/>
          <a:p>
            <a:r>
              <a:t>Supporting statement Connecting places, people, and possibilities for generations of growth.</a:t>
            </a:r>
          </a:p>
          <a:p/>
          <a:p>
            <a:r>
              <a:t>Brand purpose To unlock the long-term potential of places by connecting people, businesses, and opportunities through integrated development and responsible stewardship.</a:t>
            </a:r>
          </a:p>
          <a:p/>
          <a:p>
            <a:r>
              <a:t>Brand vision To become a leading Indonesian property and asset-value creation company, recognised for sustainable growth, thriving communities, and enduring economic value.</a:t>
            </a:r>
          </a:p>
          <a:p/>
          <a:p>
            <a:r>
              <a:t>Brand mission We develop, activate, and manage places that bring together complementary uses, partnerships, and experiences.</a:t>
            </a:r>
          </a:p>
          <a:p/>
          <a:p>
            <a:r>
              <a:t>By combining development expertise with long-term asset management and commercial innovation, we create value that continues beyond project completion.</a:t>
            </a:r>
          </a:p>
          <a:p/>
          <a:p>
            <a:r>
              <a:t>Brand positioning TANRISE is an integrated property developer focused on creating lasting value through purposeful developments, connected business ecosystems, and long-term asset performance.</a:t>
            </a:r>
          </a:p>
          <a:p/>
          <a:p>
            <a:r>
              <a:t>Brand essence Connected Growth. Enduring Value.</a:t>
            </a:r>
          </a:p>
          <a:p/>
          <a:p>
            <a:r>
              <a:t>Brand promise We create places that continue to grow in value and purpose.</a:t>
            </a:r>
          </a:p>
          <a:p/>
          <a:p>
            <a:r>
              <a:t>Brand personality Visionary, enterprising, collaborative, disciplined, and resilient.</a:t>
            </a:r>
          </a:p>
          <a:p/>
          <a:p>
            <a:r>
              <a:t>Tone of voice Strategic, confident, intelligent, optimistic, and accountable.</a:t>
            </a:r>
          </a:p>
          <a:p/>
          <a:p>
            <a:r>
              <a:t>Corporate belief The greatest value of a development is realised through the opportunities and relationships it continues to create.</a:t>
            </a:r>
          </a:p>
          <a:p/>
          <a:p>
            <a:r>
              <a:t>Values and service foundation CINTA guides collaboration, integrity, customer understanding, and adaptability. Super-Serving supports continuing relationships.</a:t>
            </a:r>
          </a:p>
          <a:p/>
          <a:p>
            <a:r>
              <a:t>Strategic limitation Requires substantial evidence of operating capabilities, capital discipline, asset performance, and recurring-income contribution.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25 — Option 03: Creating Lasting Value</a:t>
            </a:r>
          </a:p>
          <a:p>
            <a:r>
              <a:t>Document pages: 27, 28</a:t>
            </a:r>
          </a:p>
          <a:p/>
          <a:p>
            <a:r>
              <a:t>COMPLETE SOURCE TEXT</a:t>
            </a:r>
          </a:p>
          <a:p>
            <a:r>
              <a:t>The Integrated Value Creator</a:t>
            </a:r>
          </a:p>
          <a:p/>
          <a:p>
            <a:r>
              <a:t>Strategic territory Integrated value ecosystems.</a:t>
            </a:r>
          </a:p>
          <a:p/>
          <a:p>
            <a:r>
              <a:t>Brand idea Creating Lasting Value.</a:t>
            </a:r>
          </a:p>
          <a:p/>
          <a:p>
            <a:r>
              <a:t>Supporting statement Connecting places, people, and possibilities for generations of growth.</a:t>
            </a:r>
          </a:p>
          <a:p/>
          <a:p>
            <a:r>
              <a:t>Brand purpose To unlock the long-term potential of places by connecting people, businesses, and opportunities through integrated development and responsible stewardship.</a:t>
            </a:r>
          </a:p>
          <a:p/>
          <a:p>
            <a:r>
              <a:t>Brand vision To become a leading Indonesian property and asset-value creation company, recognised for sustainable growth, thriving communities, and enduring economic value.</a:t>
            </a:r>
          </a:p>
          <a:p/>
          <a:p>
            <a:r>
              <a:t>Brand mission We develop, activate, and manage places that bring together complementary uses, partnerships, and experiences.</a:t>
            </a:r>
          </a:p>
          <a:p/>
          <a:p>
            <a:r>
              <a:t>By combining development expertise with long-term asset management and commercial innovation, we create value that continues beyond project completion.</a:t>
            </a:r>
          </a:p>
          <a:p/>
          <a:p>
            <a:r>
              <a:t>Brand positioning TANRISE is an integrated property developer focused on creating lasting value through purposeful developments, connected business ecosystems, and long-term asset performance.</a:t>
            </a:r>
          </a:p>
          <a:p/>
          <a:p>
            <a:r>
              <a:t>Brand essence Connected Growth. Enduring Value.</a:t>
            </a:r>
          </a:p>
          <a:p/>
          <a:p>
            <a:r>
              <a:t>Brand promise We create places that continue to grow in value and purpose.</a:t>
            </a:r>
          </a:p>
          <a:p/>
          <a:p>
            <a:r>
              <a:t>Brand personality Visionary, enterprising, collaborative, disciplined, and resilient.</a:t>
            </a:r>
          </a:p>
          <a:p/>
          <a:p>
            <a:r>
              <a:t>Tone of voice Strategic, confident, intelligent, optimistic, and accountable.</a:t>
            </a:r>
          </a:p>
          <a:p/>
          <a:p>
            <a:r>
              <a:t>Corporate belief The greatest value of a development is realised through the opportunities and relationships it continues to create.</a:t>
            </a:r>
          </a:p>
          <a:p/>
          <a:p>
            <a:r>
              <a:t>Values and service foundation CINTA guides collaboration, integrity, customer understanding, and adaptability. Super-Serving supports continuing relationships.</a:t>
            </a:r>
          </a:p>
          <a:p/>
          <a:p>
            <a:r>
              <a:t>Strategic limitation Requires substantial evidence of operating capabilities, capital discipline, asset performance, and recurring-income contribution.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25 — Option 03: Creating Lasting Value</a:t>
            </a:r>
          </a:p>
          <a:p>
            <a:r>
              <a:t>Document pages: 27, 28</a:t>
            </a:r>
          </a:p>
          <a:p/>
          <a:p>
            <a:r>
              <a:t>COMPLETE SOURCE TEXT</a:t>
            </a:r>
          </a:p>
          <a:p>
            <a:r>
              <a:t>The Integrated Value Creator</a:t>
            </a:r>
          </a:p>
          <a:p/>
          <a:p>
            <a:r>
              <a:t>Strategic territory Integrated value ecosystems.</a:t>
            </a:r>
          </a:p>
          <a:p/>
          <a:p>
            <a:r>
              <a:t>Brand idea Creating Lasting Value.</a:t>
            </a:r>
          </a:p>
          <a:p/>
          <a:p>
            <a:r>
              <a:t>Supporting statement Connecting places, people, and possibilities for generations of growth.</a:t>
            </a:r>
          </a:p>
          <a:p/>
          <a:p>
            <a:r>
              <a:t>Brand purpose To unlock the long-term potential of places by connecting people, businesses, and opportunities through integrated development and responsible stewardship.</a:t>
            </a:r>
          </a:p>
          <a:p/>
          <a:p>
            <a:r>
              <a:t>Brand vision To become a leading Indonesian property and asset-value creation company, recognised for sustainable growth, thriving communities, and enduring economic value.</a:t>
            </a:r>
          </a:p>
          <a:p/>
          <a:p>
            <a:r>
              <a:t>Brand mission We develop, activate, and manage places that bring together complementary uses, partnerships, and experiences.</a:t>
            </a:r>
          </a:p>
          <a:p/>
          <a:p>
            <a:r>
              <a:t>By combining development expertise with long-term asset management and commercial innovation, we create value that continues beyond project completion.</a:t>
            </a:r>
          </a:p>
          <a:p/>
          <a:p>
            <a:r>
              <a:t>Brand positioning TANRISE is an integrated property developer focused on creating lasting value through purposeful developments, connected business ecosystems, and long-term asset performance.</a:t>
            </a:r>
          </a:p>
          <a:p/>
          <a:p>
            <a:r>
              <a:t>Brand essence Connected Growth. Enduring Value.</a:t>
            </a:r>
          </a:p>
          <a:p/>
          <a:p>
            <a:r>
              <a:t>Brand promise We create places that continue to grow in value and purpose.</a:t>
            </a:r>
          </a:p>
          <a:p/>
          <a:p>
            <a:r>
              <a:t>Brand personality Visionary, enterprising, collaborative, disciplined, and resilient.</a:t>
            </a:r>
          </a:p>
          <a:p/>
          <a:p>
            <a:r>
              <a:t>Tone of voice Strategic, confident, intelligent, optimistic, and accountable.</a:t>
            </a:r>
          </a:p>
          <a:p/>
          <a:p>
            <a:r>
              <a:t>Corporate belief The greatest value of a development is realised through the opportunities and relationships it continues to create.</a:t>
            </a:r>
          </a:p>
          <a:p/>
          <a:p>
            <a:r>
              <a:t>Values and service foundation CINTA guides collaboration, integrity, customer understanding, and adaptability. Super-Serving supports continuing relationships.</a:t>
            </a:r>
          </a:p>
          <a:p/>
          <a:p>
            <a:r>
              <a:t>Strategic limitation Requires substantial evidence of operating capabilities, capital discipline, asset performance, and recurring-income contribution.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26 — Our Recommendation</a:t>
            </a:r>
          </a:p>
          <a:p>
            <a:r>
              <a:t>Document pages: 28, 29</a:t>
            </a:r>
          </a:p>
          <a:p/>
          <a:p>
            <a:r>
              <a:t>COMPLETE SOURCE TEXT</a:t>
            </a:r>
          </a:p>
          <a:p>
            <a:r>
              <a:t>Elevating Life. Creating Lasting Value.</a:t>
            </a:r>
          </a:p>
          <a:p/>
          <a:p>
            <a:r>
              <a:t>One Human Promise. One Commercial Discipline.</a:t>
            </a:r>
          </a:p>
          <a:p/>
          <a:p>
            <a:r>
              <a:t>Elevating Life The purpose and value people experience.</a:t>
            </a:r>
          </a:p>
          <a:p/>
          <a:p>
            <a:r>
              <a:t>Creating Lasting Value The commercial responsibility and long-term ambition.</a:t>
            </a:r>
          </a:p>
          <a:p/>
          <a:p>
            <a:r>
              <a:t>Retain Elevating Life as the primary corporate brand expression.</a:t>
            </a:r>
          </a:p>
          <a:p/>
          <a:p>
            <a:r>
              <a:t>Use Creating Lasting Value as a supporting strategic proposition connecting the human promise to business performance.</a:t>
            </a:r>
          </a:p>
          <a:p/>
          <a:p>
            <a:r>
              <a:t>Recommended Positioning Statement</a:t>
            </a:r>
          </a:p>
          <a:p/>
          <a:p>
            <a:r>
              <a:t>TANRISE is a trusted Indonesian property developer creating purposeful places that enrich lives, enable businesses, and strengthen communities through thoughtful development, meaningful partnerships, and long-term stewardship.</a:t>
            </a:r>
          </a:p>
          <a:p/>
          <a:p>
            <a:r>
              <a:t>Portfolio Application</a:t>
            </a:r>
          </a:p>
          <a:p/>
          <a:p>
            <a:r>
              <a:t>The promise should be expressed differently across a home, township, office, warehouse, industrial park, hotel, or leisure destination while remaining recognisably TANRISE.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26 — Our Recommendation</a:t>
            </a:r>
          </a:p>
          <a:p>
            <a:r>
              <a:t>Document pages: 28, 29</a:t>
            </a:r>
          </a:p>
          <a:p/>
          <a:p>
            <a:r>
              <a:t>COMPLETE SOURCE TEXT</a:t>
            </a:r>
          </a:p>
          <a:p>
            <a:r>
              <a:t>Elevating Life. Creating Lasting Value.</a:t>
            </a:r>
          </a:p>
          <a:p/>
          <a:p>
            <a:r>
              <a:t>One Human Promise. One Commercial Discipline.</a:t>
            </a:r>
          </a:p>
          <a:p/>
          <a:p>
            <a:r>
              <a:t>Elevating Life The purpose and value people experience.</a:t>
            </a:r>
          </a:p>
          <a:p/>
          <a:p>
            <a:r>
              <a:t>Creating Lasting Value The commercial responsibility and long-term ambition.</a:t>
            </a:r>
          </a:p>
          <a:p/>
          <a:p>
            <a:r>
              <a:t>Retain Elevating Life as the primary corporate brand expression.</a:t>
            </a:r>
          </a:p>
          <a:p/>
          <a:p>
            <a:r>
              <a:t>Use Creating Lasting Value as a supporting strategic proposition connecting the human promise to business performance.</a:t>
            </a:r>
          </a:p>
          <a:p/>
          <a:p>
            <a:r>
              <a:t>Recommended Positioning Statement</a:t>
            </a:r>
          </a:p>
          <a:p/>
          <a:p>
            <a:r>
              <a:t>TANRISE is a trusted Indonesian property developer creating purposeful places that enrich lives, enable businesses, and strengthen communities through thoughtful development, meaningful partnerships, and long-term stewardship.</a:t>
            </a:r>
          </a:p>
          <a:p/>
          <a:p>
            <a:r>
              <a:t>Portfolio Application</a:t>
            </a:r>
          </a:p>
          <a:p/>
          <a:p>
            <a:r>
              <a:t>The promise should be expressed differently across a home, township, office, warehouse, industrial park, hotel, or leisure destination while remaining recognisably TANRISE.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27 — The TANRISE Brand Foundation</a:t>
            </a:r>
          </a:p>
          <a:p>
            <a:r>
              <a:t>Document pages: 29, 30</a:t>
            </a:r>
          </a:p>
          <a:p/>
          <a:p>
            <a:r>
              <a:t>COMPLETE SOURCE TEXT</a:t>
            </a:r>
          </a:p>
          <a:p>
            <a:r>
              <a:t>Everything Begins With Purpose.</a:t>
            </a:r>
          </a:p>
          <a:p/>
          <a:p>
            <a:r>
              <a:t>Brand component | Recommended direction</a:t>
            </a:r>
          </a:p>
          <a:p/>
          <a:p>
            <a:r>
              <a:t>Purpose | Enrich lives and create opportunities through purposeful places</a:t>
            </a:r>
          </a:p>
          <a:p/>
          <a:p>
            <a:r>
              <a:t>Vision | Become a leading and trusted Indonesian property developer, elevating life and creating lasting value</a:t>
            </a:r>
          </a:p>
          <a:p/>
          <a:p>
            <a:r>
              <a:t>Mission | Develop and nurture places that serve real needs through thoughtful concepts, responsible delivery, and continued care</a:t>
            </a:r>
          </a:p>
          <a:p/>
          <a:p>
            <a:r>
              <a:t>Brand essence | Purposeful Places. Meaningful Progress.</a:t>
            </a:r>
          </a:p>
          <a:p/>
          <a:p>
            <a:r>
              <a:t>Brand promise | Places created with purpose. Relationships built on trust.</a:t>
            </a:r>
          </a:p>
          <a:p/>
          <a:p>
            <a:r>
              <a:t>Brand positioning | A human-centred developer combining purposeful development with long-term place value</a:t>
            </a:r>
          </a:p>
          <a:p/>
          <a:p>
            <a:r>
              <a:t>Brand personality | Thoughtful, dependable, progressive, warm, and ambitious</a:t>
            </a:r>
          </a:p>
          <a:p/>
          <a:p>
            <a:r>
              <a:t>Service philosophy | Super-Serving</a:t>
            </a:r>
          </a:p>
          <a:p/>
          <a:p>
            <a:r>
              <a:t>Core competencies | CINTA</a:t>
            </a:r>
          </a:p>
          <a:p/>
          <a:p>
            <a:r>
              <a:t>Corporate expression | Elevating Life</a:t>
            </a:r>
          </a:p>
          <a:p/>
          <a:p>
            <a:r>
              <a:t>Scope: The platform applies across TANRISE’s five business pillars without replacing established destination, project, or hotel brands.</a:t>
            </a:r>
          </a:p>
          <a:p/>
          <a:p>
            <a:r>
              <a:t>Design direction: Brand-platform pyramid supported by examples from the actual portfolio.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27 — The TANRISE Brand Foundation</a:t>
            </a:r>
          </a:p>
          <a:p>
            <a:r>
              <a:t>Document pages: 29, 30</a:t>
            </a:r>
          </a:p>
          <a:p/>
          <a:p>
            <a:r>
              <a:t>COMPLETE SOURCE TEXT</a:t>
            </a:r>
          </a:p>
          <a:p>
            <a:r>
              <a:t>Everything Begins With Purpose.</a:t>
            </a:r>
          </a:p>
          <a:p/>
          <a:p>
            <a:r>
              <a:t>Brand component | Recommended direction</a:t>
            </a:r>
          </a:p>
          <a:p/>
          <a:p>
            <a:r>
              <a:t>Purpose | Enrich lives and create opportunities through purposeful places</a:t>
            </a:r>
          </a:p>
          <a:p/>
          <a:p>
            <a:r>
              <a:t>Vision | Become a leading and trusted Indonesian property developer, elevating life and creating lasting value</a:t>
            </a:r>
          </a:p>
          <a:p/>
          <a:p>
            <a:r>
              <a:t>Mission | Develop and nurture places that serve real needs through thoughtful concepts, responsible delivery, and continued care</a:t>
            </a:r>
          </a:p>
          <a:p/>
          <a:p>
            <a:r>
              <a:t>Brand essence | Purposeful Places. Meaningful Progress.</a:t>
            </a:r>
          </a:p>
          <a:p/>
          <a:p>
            <a:r>
              <a:t>Brand promise | Places created with purpose. Relationships built on trust.</a:t>
            </a:r>
          </a:p>
          <a:p/>
          <a:p>
            <a:r>
              <a:t>Brand positioning | A human-centred developer combining purposeful development with long-term place value</a:t>
            </a:r>
          </a:p>
          <a:p/>
          <a:p>
            <a:r>
              <a:t>Brand personality | Thoughtful, dependable, progressive, warm, and ambitious</a:t>
            </a:r>
          </a:p>
          <a:p/>
          <a:p>
            <a:r>
              <a:t>Service philosophy | Super-Serving</a:t>
            </a:r>
          </a:p>
          <a:p/>
          <a:p>
            <a:r>
              <a:t>Core competencies | CINTA</a:t>
            </a:r>
          </a:p>
          <a:p/>
          <a:p>
            <a:r>
              <a:t>Corporate expression | Elevating Life</a:t>
            </a:r>
          </a:p>
          <a:p/>
          <a:p>
            <a:r>
              <a:t>Scope: The platform applies across TANRISE’s five business pillars without replacing established destination, project, or hotel brands.</a:t>
            </a:r>
          </a:p>
          <a:p/>
          <a:p>
            <a:r>
              <a:t>Design direction: Brand-platform pyramid supported by examples from the actual portfolio.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28 — The TANRISE Vision and Mission</a:t>
            </a:r>
          </a:p>
          <a:p>
            <a:r>
              <a:t>Document pages: 30, 31</a:t>
            </a:r>
          </a:p>
          <a:p/>
          <a:p>
            <a:r>
              <a:t>COMPLETE SOURCE TEXT</a:t>
            </a:r>
          </a:p>
          <a:p>
            <a:r>
              <a:t>Build on the Existing Foundation. Define the Next Chapter.</a:t>
            </a:r>
          </a:p>
          <a:p/>
          <a:p>
            <a:r>
              <a:t>Existing Client Vision</a:t>
            </a:r>
          </a:p>
          <a:p/>
          <a:p>
            <a:r>
              <a:t>To be the leading and trusted property developer delivering the best concepts.</a:t>
            </a:r>
          </a:p>
          <a:p/>
          <a:p>
            <a:r>
              <a:t>Existing Client Mission</a:t>
            </a:r>
          </a:p>
          <a:p/>
          <a:p>
            <a:r>
              <a:t>To develop properties providing added value for clients and business partners.</a:t>
            </a:r>
          </a:p>
          <a:p/>
          <a:p>
            <a:r>
              <a:t>Proposed Evolved Vision</a:t>
            </a:r>
          </a:p>
          <a:p/>
          <a:p>
            <a:r>
              <a:t>To be one of Indonesia’s leading and most trusted property developers, creating purposeful places that elevate lives, empower businesses, and generate lasting value for generations.</a:t>
            </a:r>
          </a:p>
          <a:p/>
          <a:p>
            <a:r>
              <a:t>Proposed Evolved Mission</a:t>
            </a:r>
          </a:p>
          <a:p/>
          <a:p>
            <a:r>
              <a:t>We develop and nurture places that bring people, businesses, and communities closer to what matters.</a:t>
            </a:r>
          </a:p>
          <a:p/>
          <a:p>
            <a:r>
              <a:t>Through thoughtful concepts, responsible development, meaningful partnerships, and continued care, we create environments where life can flourish, opportunities can grow, and value can endure.</a:t>
            </a:r>
          </a:p>
          <a:p/>
          <a:p>
            <a:r>
              <a:t>Strategic interpretation: The existing vision and mission remain the client’s documented foundation. The evolved statements are recommendations for leadership approval.</a:t>
            </a:r>
          </a:p>
          <a:p/>
          <a:p>
            <a:r>
              <a:t>The Top Five ambition is a measurable corporate objective within the broader vision.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28 — The TANRISE Vision and Mission</a:t>
            </a:r>
          </a:p>
          <a:p>
            <a:r>
              <a:t>Document pages: 30, 31</a:t>
            </a:r>
          </a:p>
          <a:p/>
          <a:p>
            <a:r>
              <a:t>COMPLETE SOURCE TEXT</a:t>
            </a:r>
          </a:p>
          <a:p>
            <a:r>
              <a:t>Build on the Existing Foundation. Define the Next Chapter.</a:t>
            </a:r>
          </a:p>
          <a:p/>
          <a:p>
            <a:r>
              <a:t>Existing Client Vision</a:t>
            </a:r>
          </a:p>
          <a:p/>
          <a:p>
            <a:r>
              <a:t>To be the leading and trusted property developer delivering the best concepts.</a:t>
            </a:r>
          </a:p>
          <a:p/>
          <a:p>
            <a:r>
              <a:t>Existing Client Mission</a:t>
            </a:r>
          </a:p>
          <a:p/>
          <a:p>
            <a:r>
              <a:t>To develop properties providing added value for clients and business partners.</a:t>
            </a:r>
          </a:p>
          <a:p/>
          <a:p>
            <a:r>
              <a:t>Proposed Evolved Vision</a:t>
            </a:r>
          </a:p>
          <a:p/>
          <a:p>
            <a:r>
              <a:t>To be one of Indonesia’s leading and most trusted property developers, creating purposeful places that elevate lives, empower businesses, and generate lasting value for generations.</a:t>
            </a:r>
          </a:p>
          <a:p/>
          <a:p>
            <a:r>
              <a:t>Proposed Evolved Mission</a:t>
            </a:r>
          </a:p>
          <a:p/>
          <a:p>
            <a:r>
              <a:t>We develop and nurture places that bring people, businesses, and communities closer to what matters.</a:t>
            </a:r>
          </a:p>
          <a:p/>
          <a:p>
            <a:r>
              <a:t>Through thoughtful concepts, responsible development, meaningful partnerships, and continued care, we create environments where life can flourish, opportunities can grow, and value can endure.</a:t>
            </a:r>
          </a:p>
          <a:p/>
          <a:p>
            <a:r>
              <a:t>Strategic interpretation: The existing vision and mission remain the client’s documented foundation. The evolved statements are recommendations for leadership approval.</a:t>
            </a:r>
          </a:p>
          <a:p/>
          <a:p>
            <a:r>
              <a:t>The Top Five ambition is a measurable corporate objective within the broader vision.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29 — TANRISE Core Values: CINTA</a:t>
            </a:r>
          </a:p>
          <a:p>
            <a:r>
              <a:t>Document pages: 31, 32</a:t>
            </a:r>
          </a:p>
          <a:p/>
          <a:p>
            <a:r>
              <a:t>COMPLETE SOURCE TEXT</a:t>
            </a:r>
          </a:p>
          <a:p>
            <a:r>
              <a:t>Values Must Be Experienced Across Every Project.</a:t>
            </a:r>
          </a:p>
          <a:p/>
          <a:p>
            <a:r>
              <a:t>Retain Customer Focus, Integrity, Teamwork, and Agility, consistent with the current official TANCORP CINTA description.</a:t>
            </a:r>
          </a:p>
          <a:p/>
          <a:p>
            <a:r>
              <a:t>Value | What we believe | What it means in practice</a:t>
            </a:r>
          </a:p>
          <a:p/>
          <a:p>
            <a:r>
              <a:t>Customer Focus | Every place begins with people | Understand homeowners, tenants, occupiers, visitors, guests, and partners</a:t>
            </a:r>
          </a:p>
          <a:p/>
          <a:p>
            <a:r>
              <a:t>Integrity | Trust is earned through actions | Communicate accurate names, status, ownership relationships, and commitments</a:t>
            </a:r>
          </a:p>
          <a:p/>
          <a:p>
            <a:r>
              <a:t>Teamwork | Great places require collective effort | Coordinate development, finance, sales, asset management, operators, and partners</a:t>
            </a:r>
          </a:p>
          <a:p/>
          <a:p>
            <a:r>
              <a:t>Agility | Progress requires adaptability | Respond to market conditions and improve through customer and operating evidence</a:t>
            </a:r>
          </a:p>
          <a:p/>
          <a:p>
            <a:r>
              <a:t>Culture Statement</a:t>
            </a:r>
          </a:p>
          <a:p/>
          <a:p>
            <a:r>
              <a:t>We listen before we build. We deliver what we promise. We grow together. We adapt to create better outcomes.</a:t>
            </a:r>
          </a:p>
          <a:p/>
          <a:p>
            <a:r>
              <a:t>Portfolio application: Apply shared values through asset-specific behaviours rather than identical service procedures everywhere.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29 — TANRISE Core Values: CINTA</a:t>
            </a:r>
          </a:p>
          <a:p>
            <a:r>
              <a:t>Document pages: 31, 32</a:t>
            </a:r>
          </a:p>
          <a:p/>
          <a:p>
            <a:r>
              <a:t>COMPLETE SOURCE TEXT</a:t>
            </a:r>
          </a:p>
          <a:p>
            <a:r>
              <a:t>Values Must Be Experienced Across Every Project.</a:t>
            </a:r>
          </a:p>
          <a:p/>
          <a:p>
            <a:r>
              <a:t>Retain Customer Focus, Integrity, Teamwork, and Agility, consistent with the current official TANCORP CINTA description.</a:t>
            </a:r>
          </a:p>
          <a:p/>
          <a:p>
            <a:r>
              <a:t>Value | What we believe | What it means in practice</a:t>
            </a:r>
          </a:p>
          <a:p/>
          <a:p>
            <a:r>
              <a:t>Customer Focus | Every place begins with people | Understand homeowners, tenants, occupiers, visitors, guests, and partners</a:t>
            </a:r>
          </a:p>
          <a:p/>
          <a:p>
            <a:r>
              <a:t>Integrity | Trust is earned through actions | Communicate accurate names, status, ownership relationships, and commitments</a:t>
            </a:r>
          </a:p>
          <a:p/>
          <a:p>
            <a:r>
              <a:t>Teamwork | Great places require collective effort | Coordinate development, finance, sales, asset management, operators, and partners</a:t>
            </a:r>
          </a:p>
          <a:p/>
          <a:p>
            <a:r>
              <a:t>Agility | Progress requires adaptability | Respond to market conditions and improve through customer and operating evidence</a:t>
            </a:r>
          </a:p>
          <a:p/>
          <a:p>
            <a:r>
              <a:t>Culture Statement</a:t>
            </a:r>
          </a:p>
          <a:p/>
          <a:p>
            <a:r>
              <a:t>We listen before we build. We deliver what we promise. We grow together. We adapt to create better outcomes.</a:t>
            </a:r>
          </a:p>
          <a:p/>
          <a:p>
            <a:r>
              <a:t>Portfolio application: Apply shared values through asset-specific behaviours rather than identical service procedures everywhere.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30 — TANRISE Corporate Culture</a:t>
            </a:r>
          </a:p>
          <a:p>
            <a:r>
              <a:t>Document pages: 32</a:t>
            </a:r>
          </a:p>
          <a:p/>
          <a:p>
            <a:r>
              <a:t>COMPLETE SOURCE TEXT</a:t>
            </a:r>
          </a:p>
          <a:p>
            <a:r>
              <a:t>We Take Responsibility for Places.</a:t>
            </a:r>
          </a:p>
          <a:p/>
          <a:p>
            <a:r>
              <a:t>Translate CINTA into five daily practices.</a:t>
            </a:r>
          </a:p>
          <a:p/>
          <a:p>
            <a:r>
              <a:t>1. Understand Before We Create Ground decisions in customer, market, site, and operating requirements.</a:t>
            </a:r>
          </a:p>
          <a:p/>
          <a:p>
            <a:r>
              <a:t>2. Own Every Commitment Assign each promise a responsible owner, timeline, and measurable outcome.</a:t>
            </a:r>
          </a:p>
          <a:p/>
          <a:p>
            <a:r>
              <a:t>3. Work Beyond Silos Connect development, sales, finance, operations, customer service, and external operators.</a:t>
            </a:r>
          </a:p>
          <a:p/>
          <a:p>
            <a:r>
              <a:t>4. Care Beyond Completion Treat handover and opening as the beginning of a continuing relationship.</a:t>
            </a:r>
          </a:p>
          <a:p/>
          <a:p>
            <a:r>
              <a:t>5. Improve With Evidence Use customer feedback, project outcomes, asset performance, and operational data to improve decisions.</a:t>
            </a:r>
          </a:p>
          <a:p/>
          <a:p>
            <a:r>
              <a:t>Cultural Commitment</a:t>
            </a:r>
          </a:p>
          <a:p/>
          <a:p>
            <a:r>
              <a:t>Every decision we make, every place we create, and every relationship we build should reflect the care, responsibility, and ambition of TANRISE.</a:t>
            </a:r>
          </a:p>
          <a:p/>
          <a:p>
            <a:r>
              <a:t>Implementation recommendation: Embed these behaviours in leadership reviews, project governance, onboarding, partner coordination, and customer experience standards.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30 — TANRISE Corporate Culture</a:t>
            </a:r>
          </a:p>
          <a:p>
            <a:r>
              <a:t>Document pages: 32</a:t>
            </a:r>
          </a:p>
          <a:p/>
          <a:p>
            <a:r>
              <a:t>COMPLETE SOURCE TEXT</a:t>
            </a:r>
          </a:p>
          <a:p>
            <a:r>
              <a:t>We Take Responsibility for Places.</a:t>
            </a:r>
          </a:p>
          <a:p/>
          <a:p>
            <a:r>
              <a:t>Translate CINTA into five daily practices.</a:t>
            </a:r>
          </a:p>
          <a:p/>
          <a:p>
            <a:r>
              <a:t>1. Understand Before We Create Ground decisions in customer, market, site, and operating requirements.</a:t>
            </a:r>
          </a:p>
          <a:p/>
          <a:p>
            <a:r>
              <a:t>2. Own Every Commitment Assign each promise a responsible owner, timeline, and measurable outcome.</a:t>
            </a:r>
          </a:p>
          <a:p/>
          <a:p>
            <a:r>
              <a:t>3. Work Beyond Silos Connect development, sales, finance, operations, customer service, and external operators.</a:t>
            </a:r>
          </a:p>
          <a:p/>
          <a:p>
            <a:r>
              <a:t>4. Care Beyond Completion Treat handover and opening as the beginning of a continuing relationship.</a:t>
            </a:r>
          </a:p>
          <a:p/>
          <a:p>
            <a:r>
              <a:t>5. Improve With Evidence Use customer feedback, project outcomes, asset performance, and operational data to improve decisions.</a:t>
            </a:r>
          </a:p>
          <a:p/>
          <a:p>
            <a:r>
              <a:t>Cultural Commitment</a:t>
            </a:r>
          </a:p>
          <a:p/>
          <a:p>
            <a:r>
              <a:t>Every decision we make, every place we create, and every relationship we build should reflect the care, responsibility, and ambition of TANRISE.</a:t>
            </a:r>
          </a:p>
          <a:p/>
          <a:p>
            <a:r>
              <a:t>Implementation recommendation: Embed these behaviours in leadership reviews, project governance, onboarding, partner coordination, and customer experience standards.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31 — TANRISE Brand Personality</a:t>
            </a:r>
          </a:p>
          <a:p>
            <a:r>
              <a:t>Document pages: 33</a:t>
            </a:r>
          </a:p>
          <a:p/>
          <a:p>
            <a:r>
              <a:t>COMPLETE SOURCE TEXT</a:t>
            </a:r>
          </a:p>
          <a:p>
            <a:r>
              <a:t>Professional in Our Expertise. Human in Our Approach.</a:t>
            </a:r>
          </a:p>
          <a:p/>
          <a:p>
            <a:r>
              <a:t>Personality | Meaning | Expression</a:t>
            </a:r>
          </a:p>
          <a:p/>
          <a:p>
            <a:r>
              <a:t>Thoughtful | Understand before creating | Relevant concepts, purposeful planning, attention to detail</a:t>
            </a:r>
          </a:p>
          <a:p/>
          <a:p>
            <a:r>
              <a:t>Dependable | Honour commitments | Accurate communication, responsible delivery, consistent service</a:t>
            </a:r>
          </a:p>
          <a:p/>
          <a:p>
            <a:r>
              <a:t>Progressive | Embrace better possibilities | Innovation, adaptability, forward-looking development</a:t>
            </a:r>
          </a:p>
          <a:p/>
          <a:p>
            <a:r>
              <a:t>Warm | Care about human experiences | Empathy, approachable communication, community relationships</a:t>
            </a:r>
          </a:p>
          <a:p/>
          <a:p>
            <a:r>
              <a:t>Ambitious | Strive for meaningful growth | High standards, commercial discipline, continuous improvement</a:t>
            </a:r>
          </a:p>
          <a:p/>
          <a:p>
            <a:r>
              <a:t>Brand Character</a:t>
            </a:r>
          </a:p>
          <a:p/>
          <a:p>
            <a:r>
              <a:t>TANRISE is the thoughtful visionary: a capable and trusted developer who understands that creating a place means taking responsibility for the people and businesses who depend on it.</a:t>
            </a:r>
          </a:p>
          <a:p/>
          <a:p>
            <a:r>
              <a:t>Avoid: Arrogance, excessive luxury language, impersonal communication, unnecessary technical complexity, and unsupported claims.</a:t>
            </a:r>
          </a:p>
          <a:p/>
          <a:p>
            <a:r>
              <a:t>Portfolio application: A logistics occupier, apartment buyer, township resident, and hotel investor should recognise the same corporate character through different relevant experiences.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31 — TANRISE Brand Personality</a:t>
            </a:r>
          </a:p>
          <a:p>
            <a:r>
              <a:t>Document pages: 33</a:t>
            </a:r>
          </a:p>
          <a:p/>
          <a:p>
            <a:r>
              <a:t>COMPLETE SOURCE TEXT</a:t>
            </a:r>
          </a:p>
          <a:p>
            <a:r>
              <a:t>Professional in Our Expertise. Human in Our Approach.</a:t>
            </a:r>
          </a:p>
          <a:p/>
          <a:p>
            <a:r>
              <a:t>Personality | Meaning | Expression</a:t>
            </a:r>
          </a:p>
          <a:p/>
          <a:p>
            <a:r>
              <a:t>Thoughtful | Understand before creating | Relevant concepts, purposeful planning, attention to detail</a:t>
            </a:r>
          </a:p>
          <a:p/>
          <a:p>
            <a:r>
              <a:t>Dependable | Honour commitments | Accurate communication, responsible delivery, consistent service</a:t>
            </a:r>
          </a:p>
          <a:p/>
          <a:p>
            <a:r>
              <a:t>Progressive | Embrace better possibilities | Innovation, adaptability, forward-looking development</a:t>
            </a:r>
          </a:p>
          <a:p/>
          <a:p>
            <a:r>
              <a:t>Warm | Care about human experiences | Empathy, approachable communication, community relationships</a:t>
            </a:r>
          </a:p>
          <a:p/>
          <a:p>
            <a:r>
              <a:t>Ambitious | Strive for meaningful growth | High standards, commercial discipline, continuous improvement</a:t>
            </a:r>
          </a:p>
          <a:p/>
          <a:p>
            <a:r>
              <a:t>Brand Character</a:t>
            </a:r>
          </a:p>
          <a:p/>
          <a:p>
            <a:r>
              <a:t>TANRISE is the thoughtful visionary: a capable and trusted developer who understands that creating a place means taking responsibility for the people and businesses who depend on it.</a:t>
            </a:r>
          </a:p>
          <a:p/>
          <a:p>
            <a:r>
              <a:t>Avoid: Arrogance, excessive luxury language, impersonal communication, unnecessary technical complexity, and unsupported claims.</a:t>
            </a:r>
          </a:p>
          <a:p/>
          <a:p>
            <a:r>
              <a:t>Portfolio application: A logistics occupier, apartment buyer, township resident, and hotel investor should recognise the same corporate character through different relevant experiences.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32 — Brand Tone of Voice</a:t>
            </a:r>
          </a:p>
          <a:p>
            <a:r>
              <a:t>Document pages: 34, 35</a:t>
            </a:r>
          </a:p>
          <a:p/>
          <a:p>
            <a:r>
              <a:t>COMPLETE SOURCE TEXT</a:t>
            </a:r>
          </a:p>
          <a:p>
            <a:r>
              <a:t>Speak With Confidence. Connect With Humanity.</a:t>
            </a:r>
          </a:p>
          <a:p/>
          <a:p>
            <a:r>
              <a:t>Principle | Conventional language | Proposed TANRISE language</a:t>
            </a:r>
          </a:p>
          <a:p/>
          <a:p>
            <a:r>
              <a:t>Human-centred | Premium residential development with comprehensive facilities | A neighbourhood designed around the everyday moments that matter</a:t>
            </a:r>
          </a:p>
          <a:p/>
          <a:p>
            <a:r>
              <a:t>Purposeful | Strategically located commercial properties | Business spaces that bring people closer to opportunity</a:t>
            </a:r>
          </a:p>
          <a:p/>
          <a:p>
            <a:r>
              <a:t>Trustworthy | World-class quality guaranteed | Thoughtfully planned, clearly communicated, and responsibly delivered</a:t>
            </a:r>
          </a:p>
          <a:p/>
          <a:p>
            <a:r>
              <a:t>Progressive | Innovative integrated development | Connecting homes, businesses, and experiences to create new possibilities</a:t>
            </a:r>
          </a:p>
          <a:p/>
          <a:p>
            <a:r>
              <a:t>Warm | Providing exceptional customer service | Here to support you, from your first visit to the years that follow</a:t>
            </a:r>
          </a:p>
          <a:p/>
          <a:p>
            <a:r>
              <a:t>Corporate Voice</a:t>
            </a:r>
          </a:p>
          <a:p/>
          <a:p>
            <a:r>
              <a:t>Confident, without boasting. Inspiring, without exaggeration. Warm and professional. Ambitious and grounded in evidence.</a:t>
            </a:r>
          </a:p>
          <a:p/>
          <a:p>
            <a:r>
              <a:t>Suggested Corporate Narrative</a:t>
            </a:r>
          </a:p>
          <a:p/>
          <a:p>
            <a:r>
              <a:t>Every place begins with a possibility.</a:t>
            </a:r>
          </a:p>
          <a:p/>
          <a:p>
            <a:r>
              <a:t>A place to call home. A space to grow a business. A destination to discover something new.</a:t>
            </a:r>
          </a:p>
          <a:p/>
          <a:p>
            <a:r>
              <a:t>At TANRISE, we believe thoughtful development can transform these possibilities into meaningful experiences.</a:t>
            </a:r>
          </a:p>
          <a:p/>
          <a:p>
            <a:r>
              <a:t>Because what we build matters. What people can achieve within it matters even more.</a:t>
            </a:r>
          </a:p>
          <a:p/>
          <a:p>
            <a:r>
              <a:t>TANRISE. Elevating Life.</a:t>
            </a:r>
          </a:p>
          <a:p/>
          <a:p>
            <a:r>
              <a:t>Communication rule: Clearly label existing facilities, ongoing works, future developments, and proposed concepts.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32 — Brand Tone of Voice</a:t>
            </a:r>
          </a:p>
          <a:p>
            <a:r>
              <a:t>Document pages: 34, 35</a:t>
            </a:r>
          </a:p>
          <a:p/>
          <a:p>
            <a:r>
              <a:t>COMPLETE SOURCE TEXT</a:t>
            </a:r>
          </a:p>
          <a:p>
            <a:r>
              <a:t>Speak With Confidence. Connect With Humanity.</a:t>
            </a:r>
          </a:p>
          <a:p/>
          <a:p>
            <a:r>
              <a:t>Principle | Conventional language | Proposed TANRISE language</a:t>
            </a:r>
          </a:p>
          <a:p/>
          <a:p>
            <a:r>
              <a:t>Human-centred | Premium residential development with comprehensive facilities | A neighbourhood designed around the everyday moments that matter</a:t>
            </a:r>
          </a:p>
          <a:p/>
          <a:p>
            <a:r>
              <a:t>Purposeful | Strategically located commercial properties | Business spaces that bring people closer to opportunity</a:t>
            </a:r>
          </a:p>
          <a:p/>
          <a:p>
            <a:r>
              <a:t>Trustworthy | World-class quality guaranteed | Thoughtfully planned, clearly communicated, and responsibly delivered</a:t>
            </a:r>
          </a:p>
          <a:p/>
          <a:p>
            <a:r>
              <a:t>Progressive | Innovative integrated development | Connecting homes, businesses, and experiences to create new possibilities</a:t>
            </a:r>
          </a:p>
          <a:p/>
          <a:p>
            <a:r>
              <a:t>Warm | Providing exceptional customer service | Here to support you, from your first visit to the years that follow</a:t>
            </a:r>
          </a:p>
          <a:p/>
          <a:p>
            <a:r>
              <a:t>Corporate Voice</a:t>
            </a:r>
          </a:p>
          <a:p/>
          <a:p>
            <a:r>
              <a:t>Confident, without boasting. Inspiring, without exaggeration. Warm and professional. Ambitious and grounded in evidence.</a:t>
            </a:r>
          </a:p>
          <a:p/>
          <a:p>
            <a:r>
              <a:t>Suggested Corporate Narrative</a:t>
            </a:r>
          </a:p>
          <a:p/>
          <a:p>
            <a:r>
              <a:t>Every place begins with a possibility.</a:t>
            </a:r>
          </a:p>
          <a:p/>
          <a:p>
            <a:r>
              <a:t>A place to call home. A space to grow a business. A destination to discover something new.</a:t>
            </a:r>
          </a:p>
          <a:p/>
          <a:p>
            <a:r>
              <a:t>At TANRISE, we believe thoughtful development can transform these possibilities into meaningful experiences.</a:t>
            </a:r>
          </a:p>
          <a:p/>
          <a:p>
            <a:r>
              <a:t>Because what we build matters. What people can achieve within it matters even more.</a:t>
            </a:r>
          </a:p>
          <a:p/>
          <a:p>
            <a:r>
              <a:t>TANRISE. Elevating Life.</a:t>
            </a:r>
          </a:p>
          <a:p/>
          <a:p>
            <a:r>
              <a:t>Communication rule: Clearly label existing facilities, ongoing works, future developments, and proposed concepts.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32 — Brand Tone of Voice</a:t>
            </a:r>
          </a:p>
          <a:p>
            <a:r>
              <a:t>Document pages: 34, 35</a:t>
            </a:r>
          </a:p>
          <a:p/>
          <a:p>
            <a:r>
              <a:t>COMPLETE SOURCE TEXT</a:t>
            </a:r>
          </a:p>
          <a:p>
            <a:r>
              <a:t>Speak With Confidence. Connect With Humanity.</a:t>
            </a:r>
          </a:p>
          <a:p/>
          <a:p>
            <a:r>
              <a:t>Principle | Conventional language | Proposed TANRISE language</a:t>
            </a:r>
          </a:p>
          <a:p/>
          <a:p>
            <a:r>
              <a:t>Human-centred | Premium residential development with comprehensive facilities | A neighbourhood designed around the everyday moments that matter</a:t>
            </a:r>
          </a:p>
          <a:p/>
          <a:p>
            <a:r>
              <a:t>Purposeful | Strategically located commercial properties | Business spaces that bring people closer to opportunity</a:t>
            </a:r>
          </a:p>
          <a:p/>
          <a:p>
            <a:r>
              <a:t>Trustworthy | World-class quality guaranteed | Thoughtfully planned, clearly communicated, and responsibly delivered</a:t>
            </a:r>
          </a:p>
          <a:p/>
          <a:p>
            <a:r>
              <a:t>Progressive | Innovative integrated development | Connecting homes, businesses, and experiences to create new possibilities</a:t>
            </a:r>
          </a:p>
          <a:p/>
          <a:p>
            <a:r>
              <a:t>Warm | Providing exceptional customer service | Here to support you, from your first visit to the years that follow</a:t>
            </a:r>
          </a:p>
          <a:p/>
          <a:p>
            <a:r>
              <a:t>Corporate Voice</a:t>
            </a:r>
          </a:p>
          <a:p/>
          <a:p>
            <a:r>
              <a:t>Confident, without boasting. Inspiring, without exaggeration. Warm and professional. Ambitious and grounded in evidence.</a:t>
            </a:r>
          </a:p>
          <a:p/>
          <a:p>
            <a:r>
              <a:t>Suggested Corporate Narrative</a:t>
            </a:r>
          </a:p>
          <a:p/>
          <a:p>
            <a:r>
              <a:t>Every place begins with a possibility.</a:t>
            </a:r>
          </a:p>
          <a:p/>
          <a:p>
            <a:r>
              <a:t>A place to call home. A space to grow a business. A destination to discover something new.</a:t>
            </a:r>
          </a:p>
          <a:p/>
          <a:p>
            <a:r>
              <a:t>At TANRISE, we believe thoughtful development can transform these possibilities into meaningful experiences.</a:t>
            </a:r>
          </a:p>
          <a:p/>
          <a:p>
            <a:r>
              <a:t>Because what we build matters. What people can achieve within it matters even more.</a:t>
            </a:r>
          </a:p>
          <a:p/>
          <a:p>
            <a:r>
              <a:t>TANRISE. Elevating Life.</a:t>
            </a:r>
          </a:p>
          <a:p/>
          <a:p>
            <a:r>
              <a:t>Communication rule: Clearly label existing facilities, ongoing works, future developments, and proposed concepts.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33 — Super-Serving: The TANRISE Experience Promise</a:t>
            </a:r>
          </a:p>
          <a:p>
            <a:r>
              <a:t>Document pages: 35, 36</a:t>
            </a:r>
          </a:p>
          <a:p/>
          <a:p>
            <a:r>
              <a:t>COMPLETE SOURCE TEXT</a:t>
            </a:r>
          </a:p>
          <a:p>
            <a:r>
              <a:t>Trust Is What People Experience.</a:t>
            </a:r>
          </a:p>
          <a:p/>
          <a:p>
            <a:r>
              <a:t>Listen → Design → Deliver → Care → Improve</a:t>
            </a:r>
          </a:p>
          <a:p/>
          <a:p>
            <a:r>
              <a:t>Stage | Customer commitment | Proposed measurement</a:t>
            </a:r>
          </a:p>
          <a:p/>
          <a:p>
            <a:r>
              <a:t>Listen | Understand real needs | Research completion and customer insight</a:t>
            </a:r>
          </a:p>
          <a:p/>
          <a:p>
            <a:r>
              <a:t>Design | Create relevant, useful concepts | Concept validation and feasibility approval</a:t>
            </a:r>
          </a:p>
          <a:p/>
          <a:p>
            <a:r>
              <a:t>Deliver | Communicate and fulfil commitments | Timeliness, quality, and readiness</a:t>
            </a:r>
          </a:p>
          <a:p/>
          <a:p>
            <a:r>
              <a:t>Care | Support continuing relationships | Resolution time, satisfaction, and retention</a:t>
            </a:r>
          </a:p>
          <a:p/>
          <a:p>
            <a:r>
              <a:t>Improve | Learn from feedback and performance | Recurring-issue reduction and completed improvements</a:t>
            </a:r>
          </a:p>
          <a:p/>
          <a:p>
            <a:r>
              <a:t>Apply the Philosophy by Asset Type</a:t>
            </a:r>
          </a:p>
          <a:p/>
          <a:p>
            <a:r>
              <a:t>● Integrated City: Infrastructure, public realm, resident communication, and</a:t>
            </a:r>
          </a:p>
          <a:p/>
          <a:p>
            <a:r>
              <a:t>destination coordination. ● Community Living: Purchase, construction updates, handover, defects, and</a:t>
            </a:r>
          </a:p>
          <a:p/>
          <a:p>
            <a:r>
              <a:t>after-sales care. ● Business Districts: Tenant onboarding, access, maintenance, and commercial</a:t>
            </a:r>
          </a:p>
          <a:p/>
          <a:p>
            <a:r>
              <a:t>support. ● Logistic &amp; Industrial Park: Occupier readiness, infrastructure reliability, and</a:t>
            </a:r>
          </a:p>
          <a:p/>
          <a:p>
            <a:r>
              <a:t>operating support. ● Hotel, MICE, and Leisure: Guest experience and asset performance coordinated</a:t>
            </a:r>
          </a:p>
          <a:p/>
          <a:p>
            <a:r>
              <a:t>with the relevant operator.</a:t>
            </a:r>
          </a:p>
          <a:p/>
          <a:p>
            <a:r>
              <a:t>Recommendation: Establish shared customer-experience principles with clear responsibilities between TANRISE, subsidiaries, estate managers, TANLY, and other partners.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33 — Super-Serving: The TANRISE Experience Promise</a:t>
            </a:r>
          </a:p>
          <a:p>
            <a:r>
              <a:t>Document pages: 35, 36</a:t>
            </a:r>
          </a:p>
          <a:p/>
          <a:p>
            <a:r>
              <a:t>COMPLETE SOURCE TEXT</a:t>
            </a:r>
          </a:p>
          <a:p>
            <a:r>
              <a:t>Trust Is What People Experience.</a:t>
            </a:r>
          </a:p>
          <a:p/>
          <a:p>
            <a:r>
              <a:t>Listen → Design → Deliver → Care → Improve</a:t>
            </a:r>
          </a:p>
          <a:p/>
          <a:p>
            <a:r>
              <a:t>Stage | Customer commitment | Proposed measurement</a:t>
            </a:r>
          </a:p>
          <a:p/>
          <a:p>
            <a:r>
              <a:t>Listen | Understand real needs | Research completion and customer insight</a:t>
            </a:r>
          </a:p>
          <a:p/>
          <a:p>
            <a:r>
              <a:t>Design | Create relevant, useful concepts | Concept validation and feasibility approval</a:t>
            </a:r>
          </a:p>
          <a:p/>
          <a:p>
            <a:r>
              <a:t>Deliver | Communicate and fulfil commitments | Timeliness, quality, and readiness</a:t>
            </a:r>
          </a:p>
          <a:p/>
          <a:p>
            <a:r>
              <a:t>Care | Support continuing relationships | Resolution time, satisfaction, and retention</a:t>
            </a:r>
          </a:p>
          <a:p/>
          <a:p>
            <a:r>
              <a:t>Improve | Learn from feedback and performance | Recurring-issue reduction and completed improvements</a:t>
            </a:r>
          </a:p>
          <a:p/>
          <a:p>
            <a:r>
              <a:t>Apply the Philosophy by Asset Type</a:t>
            </a:r>
          </a:p>
          <a:p/>
          <a:p>
            <a:r>
              <a:t>● Integrated City: Infrastructure, public realm, resident communication, and</a:t>
            </a:r>
          </a:p>
          <a:p/>
          <a:p>
            <a:r>
              <a:t>destination coordination. ● Community Living: Purchase, construction updates, handover, defects, and</a:t>
            </a:r>
          </a:p>
          <a:p/>
          <a:p>
            <a:r>
              <a:t>after-sales care. ● Business Districts: Tenant onboarding, access, maintenance, and commercial</a:t>
            </a:r>
          </a:p>
          <a:p/>
          <a:p>
            <a:r>
              <a:t>support. ● Logistic &amp; Industrial Park: Occupier readiness, infrastructure reliability, and</a:t>
            </a:r>
          </a:p>
          <a:p/>
          <a:p>
            <a:r>
              <a:t>operating support. ● Hotel, MICE, and Leisure: Guest experience and asset performance coordinated</a:t>
            </a:r>
          </a:p>
          <a:p/>
          <a:p>
            <a:r>
              <a:t>with the relevant operator.</a:t>
            </a:r>
          </a:p>
          <a:p/>
          <a:p>
            <a:r>
              <a:t>Recommendation: Establish shared customer-experience principles with clear responsibilities between TANRISE, subsidiaries, estate managers, TANLY, and other partners.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33 — Super-Serving: The TANRISE Experience Promise</a:t>
            </a:r>
          </a:p>
          <a:p>
            <a:r>
              <a:t>Document pages: 35, 36</a:t>
            </a:r>
          </a:p>
          <a:p/>
          <a:p>
            <a:r>
              <a:t>COMPLETE SOURCE TEXT</a:t>
            </a:r>
          </a:p>
          <a:p>
            <a:r>
              <a:t>Trust Is What People Experience.</a:t>
            </a:r>
          </a:p>
          <a:p/>
          <a:p>
            <a:r>
              <a:t>Listen → Design → Deliver → Care → Improve</a:t>
            </a:r>
          </a:p>
          <a:p/>
          <a:p>
            <a:r>
              <a:t>Stage | Customer commitment | Proposed measurement</a:t>
            </a:r>
          </a:p>
          <a:p/>
          <a:p>
            <a:r>
              <a:t>Listen | Understand real needs | Research completion and customer insight</a:t>
            </a:r>
          </a:p>
          <a:p/>
          <a:p>
            <a:r>
              <a:t>Design | Create relevant, useful concepts | Concept validation and feasibility approval</a:t>
            </a:r>
          </a:p>
          <a:p/>
          <a:p>
            <a:r>
              <a:t>Deliver | Communicate and fulfil commitments | Timeliness, quality, and readiness</a:t>
            </a:r>
          </a:p>
          <a:p/>
          <a:p>
            <a:r>
              <a:t>Care | Support continuing relationships | Resolution time, satisfaction, and retention</a:t>
            </a:r>
          </a:p>
          <a:p/>
          <a:p>
            <a:r>
              <a:t>Improve | Learn from feedback and performance | Recurring-issue reduction and completed improvements</a:t>
            </a:r>
          </a:p>
          <a:p/>
          <a:p>
            <a:r>
              <a:t>Apply the Philosophy by Asset Type</a:t>
            </a:r>
          </a:p>
          <a:p/>
          <a:p>
            <a:r>
              <a:t>● Integrated City: Infrastructure, public realm, resident communication, and</a:t>
            </a:r>
          </a:p>
          <a:p/>
          <a:p>
            <a:r>
              <a:t>destination coordination. ● Community Living: Purchase, construction updates, handover, defects, and</a:t>
            </a:r>
          </a:p>
          <a:p/>
          <a:p>
            <a:r>
              <a:t>after-sales care. ● Business Districts: Tenant onboarding, access, maintenance, and commercial</a:t>
            </a:r>
          </a:p>
          <a:p/>
          <a:p>
            <a:r>
              <a:t>support. ● Logistic &amp; Industrial Park: Occupier readiness, infrastructure reliability, and</a:t>
            </a:r>
          </a:p>
          <a:p/>
          <a:p>
            <a:r>
              <a:t>operating support. ● Hotel, MICE, and Leisure: Guest experience and asset performance coordinated</a:t>
            </a:r>
          </a:p>
          <a:p/>
          <a:p>
            <a:r>
              <a:t>with the relevant operator.</a:t>
            </a:r>
          </a:p>
          <a:p/>
          <a:p>
            <a:r>
              <a:t>Recommendation: Establish shared customer-experience principles with clear responsibilities between TANRISE, subsidiaries, estate managers, TANLY, and other partners.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34 — The Future TANRISE Business Model</a:t>
            </a:r>
          </a:p>
          <a:p>
            <a:r>
              <a:t>Document pages: 36, 37</a:t>
            </a:r>
          </a:p>
          <a:p/>
          <a:p>
            <a:r>
              <a:t>COMPLETE SOURCE TEXT</a:t>
            </a:r>
          </a:p>
          <a:p>
            <a:r>
              <a:t>Strengthen Existing Income Engines. Develop Additional Sources Selectively.</a:t>
            </a:r>
          </a:p>
          <a:p/>
          <a:p>
            <a:r>
              <a:t>TANRISE already reports development and recurring-income activities.</a:t>
            </a:r>
          </a:p>
          <a:p/>
          <a:p>
            <a:r>
              <a:t>Documented Income Categories</a:t>
            </a:r>
          </a:p>
          <a:p/>
          <a:p>
            <a:r>
              <a:t>Development</a:t>
            </a:r>
          </a:p>
          <a:p/>
          <a:p>
            <a:r>
              <a:t>● Apartments and condotels. ● Warehouses and shophouses. ● Houses and townhouses.</a:t>
            </a:r>
          </a:p>
          <a:p/>
          <a:p>
            <a:r>
              <a:t>● Land.</a:t>
            </a:r>
          </a:p>
          <a:p/>
          <a:p>
            <a:r>
              <a:t>Recurring</a:t>
            </a:r>
          </a:p>
          <a:p/>
          <a:p>
            <a:r>
              <a:t>● Hotel operations. ● Rental of warehouses and shophouses.</a:t>
            </a:r>
          </a:p>
          <a:p/>
          <a:p>
            <a:r>
              <a:t>Proposed Expansion of Value Creation</a:t>
            </a:r>
          </a:p>
          <a:p/>
          <a:p>
            <a:r>
              <a:t>Value engine | Potential activities</a:t>
            </a:r>
          </a:p>
          <a:p/>
          <a:p>
            <a:r>
              <a:t>Development | Continue relevant property development and sales</a:t>
            </a:r>
          </a:p>
          <a:p/>
          <a:p>
            <a:r>
              <a:t>Asset Income | Improve leasing, retained commercial assets, and selected hospitality investments</a:t>
            </a:r>
          </a:p>
          <a:p/>
          <a:p>
            <a:r>
              <a:t>Operations &amp; Services | Evaluate estate management, facilities, destination operations, and suitable memberships</a:t>
            </a:r>
          </a:p>
          <a:p/>
          <a:p>
            <a:r>
              <a:t>Partnerships | Use joint ventures, anchor tenants, institutional partnerships, and management arrangements</a:t>
            </a:r>
          </a:p>
          <a:p/>
          <a:p>
            <a:r>
              <a:t>Examples include the commercial portfolio, retained hospitality assets, Taman Dayu leisure components, and selected industrial developments.</a:t>
            </a:r>
          </a:p>
          <a:p/>
          <a:p>
            <a:r>
              <a:t>Strategic principle: Choose ownership and operating arrangements according to risk, return, capital requirements, and capability.</a:t>
            </a:r>
          </a:p>
          <a:p/>
          <a:p>
            <a:r>
              <a:t>Important: Proposed fees, memberships, and service businesses require feasibility assessment before being presented as established material income streams.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34 — The Future TANRISE Business Model</a:t>
            </a:r>
          </a:p>
          <a:p>
            <a:r>
              <a:t>Document pages: 36, 37</a:t>
            </a:r>
          </a:p>
          <a:p/>
          <a:p>
            <a:r>
              <a:t>COMPLETE SOURCE TEXT</a:t>
            </a:r>
          </a:p>
          <a:p>
            <a:r>
              <a:t>Strengthen Existing Income Engines. Develop Additional Sources Selectively.</a:t>
            </a:r>
          </a:p>
          <a:p/>
          <a:p>
            <a:r>
              <a:t>TANRISE already reports development and recurring-income activities.</a:t>
            </a:r>
          </a:p>
          <a:p/>
          <a:p>
            <a:r>
              <a:t>Documented Income Categories</a:t>
            </a:r>
          </a:p>
          <a:p/>
          <a:p>
            <a:r>
              <a:t>Development</a:t>
            </a:r>
          </a:p>
          <a:p/>
          <a:p>
            <a:r>
              <a:t>● Apartments and condotels. ● Warehouses and shophouses. ● Houses and townhouses.</a:t>
            </a:r>
          </a:p>
          <a:p/>
          <a:p>
            <a:r>
              <a:t>● Land.</a:t>
            </a:r>
          </a:p>
          <a:p/>
          <a:p>
            <a:r>
              <a:t>Recurring</a:t>
            </a:r>
          </a:p>
          <a:p/>
          <a:p>
            <a:r>
              <a:t>● Hotel operations. ● Rental of warehouses and shophouses.</a:t>
            </a:r>
          </a:p>
          <a:p/>
          <a:p>
            <a:r>
              <a:t>Proposed Expansion of Value Creation</a:t>
            </a:r>
          </a:p>
          <a:p/>
          <a:p>
            <a:r>
              <a:t>Value engine | Potential activities</a:t>
            </a:r>
          </a:p>
          <a:p/>
          <a:p>
            <a:r>
              <a:t>Development | Continue relevant property development and sales</a:t>
            </a:r>
          </a:p>
          <a:p/>
          <a:p>
            <a:r>
              <a:t>Asset Income | Improve leasing, retained commercial assets, and selected hospitality investments</a:t>
            </a:r>
          </a:p>
          <a:p/>
          <a:p>
            <a:r>
              <a:t>Operations &amp; Services | Evaluate estate management, facilities, destination operations, and suitable memberships</a:t>
            </a:r>
          </a:p>
          <a:p/>
          <a:p>
            <a:r>
              <a:t>Partnerships | Use joint ventures, anchor tenants, institutional partnerships, and management arrangements</a:t>
            </a:r>
          </a:p>
          <a:p/>
          <a:p>
            <a:r>
              <a:t>Examples include the commercial portfolio, retained hospitality assets, Taman Dayu leisure components, and selected industrial developments.</a:t>
            </a:r>
          </a:p>
          <a:p/>
          <a:p>
            <a:r>
              <a:t>Strategic principle: Choose ownership and operating arrangements according to risk, return, capital requirements, and capability.</a:t>
            </a:r>
          </a:p>
          <a:p/>
          <a:p>
            <a:r>
              <a:t>Important: Proposed fees, memberships, and service businesses require feasibility assessment before being presented as established material income streams.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34 — The Future TANRISE Business Model</a:t>
            </a:r>
          </a:p>
          <a:p>
            <a:r>
              <a:t>Document pages: 36, 37</a:t>
            </a:r>
          </a:p>
          <a:p/>
          <a:p>
            <a:r>
              <a:t>COMPLETE SOURCE TEXT</a:t>
            </a:r>
          </a:p>
          <a:p>
            <a:r>
              <a:t>Strengthen Existing Income Engines. Develop Additional Sources Selectively.</a:t>
            </a:r>
          </a:p>
          <a:p/>
          <a:p>
            <a:r>
              <a:t>TANRISE already reports development and recurring-income activities.</a:t>
            </a:r>
          </a:p>
          <a:p/>
          <a:p>
            <a:r>
              <a:t>Documented Income Categories</a:t>
            </a:r>
          </a:p>
          <a:p/>
          <a:p>
            <a:r>
              <a:t>Development</a:t>
            </a:r>
          </a:p>
          <a:p/>
          <a:p>
            <a:r>
              <a:t>● Apartments and condotels. ● Warehouses and shophouses. ● Houses and townhouses.</a:t>
            </a:r>
          </a:p>
          <a:p/>
          <a:p>
            <a:r>
              <a:t>● Land.</a:t>
            </a:r>
          </a:p>
          <a:p/>
          <a:p>
            <a:r>
              <a:t>Recurring</a:t>
            </a:r>
          </a:p>
          <a:p/>
          <a:p>
            <a:r>
              <a:t>● Hotel operations. ● Rental of warehouses and shophouses.</a:t>
            </a:r>
          </a:p>
          <a:p/>
          <a:p>
            <a:r>
              <a:t>Proposed Expansion of Value Creation</a:t>
            </a:r>
          </a:p>
          <a:p/>
          <a:p>
            <a:r>
              <a:t>Value engine | Potential activities</a:t>
            </a:r>
          </a:p>
          <a:p/>
          <a:p>
            <a:r>
              <a:t>Development | Continue relevant property development and sales</a:t>
            </a:r>
          </a:p>
          <a:p/>
          <a:p>
            <a:r>
              <a:t>Asset Income | Improve leasing, retained commercial assets, and selected hospitality investments</a:t>
            </a:r>
          </a:p>
          <a:p/>
          <a:p>
            <a:r>
              <a:t>Operations &amp; Services | Evaluate estate management, facilities, destination operations, and suitable memberships</a:t>
            </a:r>
          </a:p>
          <a:p/>
          <a:p>
            <a:r>
              <a:t>Partnerships | Use joint ventures, anchor tenants, institutional partnerships, and management arrangements</a:t>
            </a:r>
          </a:p>
          <a:p/>
          <a:p>
            <a:r>
              <a:t>Examples include the commercial portfolio, retained hospitality assets, Taman Dayu leisure components, and selected industrial developments.</a:t>
            </a:r>
          </a:p>
          <a:p/>
          <a:p>
            <a:r>
              <a:t>Strategic principle: Choose ownership and operating arrangements according to risk, return, capital requirements, and capability.</a:t>
            </a:r>
          </a:p>
          <a:p/>
          <a:p>
            <a:r>
              <a:t>Important: Proposed fees, memberships, and service businesses require feasibility assessment before being presented as established material income streams.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35 — Growth Priorities Across the Five Business Pillars</a:t>
            </a:r>
          </a:p>
          <a:p>
            <a:r>
              <a:t>Document pages: 37, 38, 39</a:t>
            </a:r>
          </a:p>
          <a:p/>
          <a:p>
            <a:r>
              <a:t>COMPLETE SOURCE TEXT</a:t>
            </a:r>
          </a:p>
          <a:p>
            <a:r>
              <a:t>One Corporate Strategy. Asset-Specific Growth Engines.</a:t>
            </a:r>
          </a:p>
          <a:p/>
          <a:p>
            <a:r>
              <a:t>Business pillar | Portfolio application | Strategic priority</a:t>
            </a:r>
          </a:p>
          <a:p/>
          <a:p>
            <a:r>
              <a:t>Integrated City | Taman Dayu; Bandung; City Sidoarjo; Swiss of Taman Dayu | Coordinate masterplanning, infrastructure, phasing, anchors, and long-term place value</a:t>
            </a:r>
          </a:p>
          <a:p/>
          <a:p>
            <a:r>
              <a:t>Community Living | Kyo Society; Grand Sunrise Menganti; Sidoarjo and Malang residential projects; ARC100 portfolio reference | Match products to demand, clarify naming, improve absorption, delivery, and customer care</a:t>
            </a:r>
          </a:p>
          <a:p/>
          <a:p>
            <a:r>
              <a:t>Business Districts | Voza Tower; Rame-Rame; Grand Central Bandung; Midpoint Kayoon; Bali Bites | Improve commercial relevance, occupancy, tenant mix, visitation, and asset utilisation</a:t>
            </a:r>
          </a:p>
          <a:p/>
          <a:p>
            <a:r>
              <a:t>Logistic &amp; Industrial Park | Existing Tritan assets; Gresik; Gempol; Palembang; Banjarbaru | Deliver suitable infrastructure, occupier readiness, connectivity, and phased development</a:t>
            </a:r>
          </a:p>
          <a:p/>
          <a:p>
            <a:r>
              <a:t>Hotel, MICE, and Leisure | VASA; Cleo; Solaris; golf; Driving Range; hospitality pipeline | Improve operating performance and coordinate investment with management capability</a:t>
            </a:r>
          </a:p>
          <a:p/>
          <a:p>
            <a:r>
              <a:t>KPI Principle</a:t>
            </a:r>
          </a:p>
          <a:p/>
          <a:p>
            <a:r>
              <a:t>Each pillar needs its own commercial measures, supported by a consolidated corporate scorecard.</a:t>
            </a:r>
          </a:p>
          <a:p/>
          <a:p>
            <a:r>
              <a:t>Distinguish:</a:t>
            </a:r>
          </a:p>
          <a:p/>
          <a:p>
            <a:r>
              <a:t>● Development sales and recognised revenue. ● Operating income and cash flow. ● Utilisation and customer demand. ● Capital employed and investment returns.</a:t>
            </a:r>
          </a:p>
          <a:p/>
          <a:p>
            <a:r>
              <a:t>● Customer and partner experience.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35 — Growth Priorities Across the Five Business Pillars</a:t>
            </a:r>
          </a:p>
          <a:p>
            <a:r>
              <a:t>Document pages: 37, 38, 39</a:t>
            </a:r>
          </a:p>
          <a:p/>
          <a:p>
            <a:r>
              <a:t>COMPLETE SOURCE TEXT</a:t>
            </a:r>
          </a:p>
          <a:p>
            <a:r>
              <a:t>One Corporate Strategy. Asset-Specific Growth Engines.</a:t>
            </a:r>
          </a:p>
          <a:p/>
          <a:p>
            <a:r>
              <a:t>Business pillar | Portfolio application | Strategic priority</a:t>
            </a:r>
          </a:p>
          <a:p/>
          <a:p>
            <a:r>
              <a:t>Integrated City | Taman Dayu; Bandung; City Sidoarjo; Swiss of Taman Dayu | Coordinate masterplanning, infrastructure, phasing, anchors, and long-term place value</a:t>
            </a:r>
          </a:p>
          <a:p/>
          <a:p>
            <a:r>
              <a:t>Community Living | Kyo Society; Grand Sunrise Menganti; Sidoarjo and Malang residential projects; ARC100 portfolio reference | Match products to demand, clarify naming, improve absorption, delivery, and customer care</a:t>
            </a:r>
          </a:p>
          <a:p/>
          <a:p>
            <a:r>
              <a:t>Business Districts | Voza Tower; Rame-Rame; Grand Central Bandung; Midpoint Kayoon; Bali Bites | Improve commercial relevance, occupancy, tenant mix, visitation, and asset utilisation</a:t>
            </a:r>
          </a:p>
          <a:p/>
          <a:p>
            <a:r>
              <a:t>Logistic &amp; Industrial Park | Existing Tritan assets; Gresik; Gempol; Palembang; Banjarbaru | Deliver suitable infrastructure, occupier readiness, connectivity, and phased development</a:t>
            </a:r>
          </a:p>
          <a:p/>
          <a:p>
            <a:r>
              <a:t>Hotel, MICE, and Leisure | VASA; Cleo; Solaris; golf; Driving Range; hospitality pipeline | Improve operating performance and coordinate investment with management capability</a:t>
            </a:r>
          </a:p>
          <a:p/>
          <a:p>
            <a:r>
              <a:t>KPI Principle</a:t>
            </a:r>
          </a:p>
          <a:p/>
          <a:p>
            <a:r>
              <a:t>Each pillar needs its own commercial measures, supported by a consolidated corporate scorecard.</a:t>
            </a:r>
          </a:p>
          <a:p/>
          <a:p>
            <a:r>
              <a:t>Distinguish:</a:t>
            </a:r>
          </a:p>
          <a:p/>
          <a:p>
            <a:r>
              <a:t>● Development sales and recognised revenue. ● Operating income and cash flow. ● Utilisation and customer demand. ● Capital employed and investment returns.</a:t>
            </a:r>
          </a:p>
          <a:p/>
          <a:p>
            <a:r>
              <a:t>● Customer and partner experience.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35 — Growth Priorities Across the Five Business Pillars</a:t>
            </a:r>
          </a:p>
          <a:p>
            <a:r>
              <a:t>Document pages: 37, 38, 39</a:t>
            </a:r>
          </a:p>
          <a:p/>
          <a:p>
            <a:r>
              <a:t>COMPLETE SOURCE TEXT</a:t>
            </a:r>
          </a:p>
          <a:p>
            <a:r>
              <a:t>One Corporate Strategy. Asset-Specific Growth Engines.</a:t>
            </a:r>
          </a:p>
          <a:p/>
          <a:p>
            <a:r>
              <a:t>Business pillar | Portfolio application | Strategic priority</a:t>
            </a:r>
          </a:p>
          <a:p/>
          <a:p>
            <a:r>
              <a:t>Integrated City | Taman Dayu; Bandung; City Sidoarjo; Swiss of Taman Dayu | Coordinate masterplanning, infrastructure, phasing, anchors, and long-term place value</a:t>
            </a:r>
          </a:p>
          <a:p/>
          <a:p>
            <a:r>
              <a:t>Community Living | Kyo Society; Grand Sunrise Menganti; Sidoarjo and Malang residential projects; ARC100 portfolio reference | Match products to demand, clarify naming, improve absorption, delivery, and customer care</a:t>
            </a:r>
          </a:p>
          <a:p/>
          <a:p>
            <a:r>
              <a:t>Business Districts | Voza Tower; Rame-Rame; Grand Central Bandung; Midpoint Kayoon; Bali Bites | Improve commercial relevance, occupancy, tenant mix, visitation, and asset utilisation</a:t>
            </a:r>
          </a:p>
          <a:p/>
          <a:p>
            <a:r>
              <a:t>Logistic &amp; Industrial Park | Existing Tritan assets; Gresik; Gempol; Palembang; Banjarbaru | Deliver suitable infrastructure, occupier readiness, connectivity, and phased development</a:t>
            </a:r>
          </a:p>
          <a:p/>
          <a:p>
            <a:r>
              <a:t>Hotel, MICE, and Leisure | VASA; Cleo; Solaris; golf; Driving Range; hospitality pipeline | Improve operating performance and coordinate investment with management capability</a:t>
            </a:r>
          </a:p>
          <a:p/>
          <a:p>
            <a:r>
              <a:t>KPI Principle</a:t>
            </a:r>
          </a:p>
          <a:p/>
          <a:p>
            <a:r>
              <a:t>Each pillar needs its own commercial measures, supported by a consolidated corporate scorecard.</a:t>
            </a:r>
          </a:p>
          <a:p/>
          <a:p>
            <a:r>
              <a:t>Distinguish:</a:t>
            </a:r>
          </a:p>
          <a:p/>
          <a:p>
            <a:r>
              <a:t>● Development sales and recognised revenue. ● Operating income and cash flow. ● Utilisation and customer demand. ● Capital employed and investment returns.</a:t>
            </a:r>
          </a:p>
          <a:p/>
          <a:p>
            <a:r>
              <a:t>● Customer and partner experience.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36 — Priority Transformation Opportunities</a:t>
            </a:r>
          </a:p>
          <a:p>
            <a:r>
              <a:t>Document pages: 39, 40</a:t>
            </a:r>
          </a:p>
          <a:p/>
          <a:p>
            <a:r>
              <a:t>COMPLETE SOURCE TEXT</a:t>
            </a:r>
          </a:p>
          <a:p>
            <a:r>
              <a:t>Use the Existing Portfolio and Pipeline to Demonstrate the Strategy.</a:t>
            </a:r>
          </a:p>
          <a:p/>
          <a:p>
            <a:r>
              <a:t>1. Taman Dayu — Sport, Leisure, and Destination Value</a:t>
            </a:r>
          </a:p>
          <a:p/>
          <a:p>
            <a:r>
              <a:t>Coordinate Tanrise Taman Dayu Pandaan, Golf Taman Dayu, the Driving Range, and the Swiss of Taman Dayu Pandaan development.</a:t>
            </a:r>
          </a:p>
          <a:p/>
          <a:p>
            <a:r>
              <a:t>Evaluate additional wellness, community, hospitality, and F&amp;B programming.</a:t>
            </a:r>
          </a:p>
          <a:p/>
          <a:p>
            <a:r>
              <a:t>Business hypothesis: More relevant activities and repeat visitation could support operating income and surrounding property demand.</a:t>
            </a:r>
          </a:p>
          <a:p/>
          <a:p>
            <a:r>
              <a:t>Measures: Visitation, repeat participation, asset utilisation, operating profit, and property enquiries.</a:t>
            </a:r>
          </a:p>
          <a:p/>
          <a:p>
            <a:r>
              <a:t>2. Integrated-City Growth — Sidoarjo and Bandung</a:t>
            </a:r>
          </a:p>
          <a:p/>
          <a:p>
            <a:r>
              <a:t>Develop Tanrise City Sidoarjo and Tanrise Bandung through commercially sustainable phases.</a:t>
            </a:r>
          </a:p>
          <a:p/>
          <a:p>
            <a:r>
              <a:t>For Bandung, coordinate the wider destination with Grand Central Bandung and residential development.</a:t>
            </a:r>
          </a:p>
          <a:p/>
          <a:p>
            <a:r>
              <a:t>Business hypothesis: Appropriate anchors, infrastructure, and visible delivery could improve buyer confidence and early-phase attractiveness.</a:t>
            </a:r>
          </a:p>
          <a:p/>
          <a:p>
            <a:r>
              <a:t>3. Industrial and Logistics — Occupier Productivity</a:t>
            </a:r>
          </a:p>
          <a:p/>
          <a:p>
            <a:r>
              <a:t>Use Tritan Gresik, Tritan Gempol Pasuruan, Tanrise Industrial Park Palembang, and Tanrise Industrial Park Banjarbaru to test a consistent occupier proposition.</a:t>
            </a:r>
          </a:p>
          <a:p/>
          <a:p>
            <a:r>
              <a:t>Business hypothesis: Technical suitability, infrastructure reliability, and coordinated services could strengthen acquisition and retention.</a:t>
            </a:r>
          </a:p>
          <a:p/>
          <a:p>
            <a:r>
              <a:t>Supporting Workstream — Hospitality Investment and Operations</a:t>
            </a:r>
          </a:p>
          <a:p/>
          <a:p>
            <a:r>
              <a:t>Align the VASA and Solaris pipeline with operating feasibility, management agreements, opening readiness, and capital discipline.</a:t>
            </a:r>
          </a:p>
          <a:p/>
          <a:p>
            <a:r>
              <a:t>Recommendation: Advance each initiative through a documented business case before scaling the model.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36 — Priority Transformation Opportunities</a:t>
            </a:r>
          </a:p>
          <a:p>
            <a:r>
              <a:t>Document pages: 39, 40</a:t>
            </a:r>
          </a:p>
          <a:p/>
          <a:p>
            <a:r>
              <a:t>COMPLETE SOURCE TEXT</a:t>
            </a:r>
          </a:p>
          <a:p>
            <a:r>
              <a:t>Use the Existing Portfolio and Pipeline to Demonstrate the Strategy.</a:t>
            </a:r>
          </a:p>
          <a:p/>
          <a:p>
            <a:r>
              <a:t>1. Taman Dayu — Sport, Leisure, and Destination Value</a:t>
            </a:r>
          </a:p>
          <a:p/>
          <a:p>
            <a:r>
              <a:t>Coordinate Tanrise Taman Dayu Pandaan, Golf Taman Dayu, the Driving Range, and the Swiss of Taman Dayu Pandaan development.</a:t>
            </a:r>
          </a:p>
          <a:p/>
          <a:p>
            <a:r>
              <a:t>Evaluate additional wellness, community, hospitality, and F&amp;B programming.</a:t>
            </a:r>
          </a:p>
          <a:p/>
          <a:p>
            <a:r>
              <a:t>Business hypothesis: More relevant activities and repeat visitation could support operating income and surrounding property demand.</a:t>
            </a:r>
          </a:p>
          <a:p/>
          <a:p>
            <a:r>
              <a:t>Measures: Visitation, repeat participation, asset utilisation, operating profit, and property enquiries.</a:t>
            </a:r>
          </a:p>
          <a:p/>
          <a:p>
            <a:r>
              <a:t>2. Integrated-City Growth — Sidoarjo and Bandung</a:t>
            </a:r>
          </a:p>
          <a:p/>
          <a:p>
            <a:r>
              <a:t>Develop Tanrise City Sidoarjo and Tanrise Bandung through commercially sustainable phases.</a:t>
            </a:r>
          </a:p>
          <a:p/>
          <a:p>
            <a:r>
              <a:t>For Bandung, coordinate the wider destination with Grand Central Bandung and residential development.</a:t>
            </a:r>
          </a:p>
          <a:p/>
          <a:p>
            <a:r>
              <a:t>Business hypothesis: Appropriate anchors, infrastructure, and visible delivery could improve buyer confidence and early-phase attractiveness.</a:t>
            </a:r>
          </a:p>
          <a:p/>
          <a:p>
            <a:r>
              <a:t>3. Industrial and Logistics — Occupier Productivity</a:t>
            </a:r>
          </a:p>
          <a:p/>
          <a:p>
            <a:r>
              <a:t>Use Tritan Gresik, Tritan Gempol Pasuruan, Tanrise Industrial Park Palembang, and Tanrise Industrial Park Banjarbaru to test a consistent occupier proposition.</a:t>
            </a:r>
          </a:p>
          <a:p/>
          <a:p>
            <a:r>
              <a:t>Business hypothesis: Technical suitability, infrastructure reliability, and coordinated services could strengthen acquisition and retention.</a:t>
            </a:r>
          </a:p>
          <a:p/>
          <a:p>
            <a:r>
              <a:t>Supporting Workstream — Hospitality Investment and Operations</a:t>
            </a:r>
          </a:p>
          <a:p/>
          <a:p>
            <a:r>
              <a:t>Align the VASA and Solaris pipeline with operating feasibility, management agreements, opening readiness, and capital discipline.</a:t>
            </a:r>
          </a:p>
          <a:p/>
          <a:p>
            <a:r>
              <a:t>Recommendation: Advance each initiative through a documented business case before scaling the model.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36 — Priority Transformation Opportunities</a:t>
            </a:r>
          </a:p>
          <a:p>
            <a:r>
              <a:t>Document pages: 39, 40</a:t>
            </a:r>
          </a:p>
          <a:p/>
          <a:p>
            <a:r>
              <a:t>COMPLETE SOURCE TEXT</a:t>
            </a:r>
          </a:p>
          <a:p>
            <a:r>
              <a:t>Use the Existing Portfolio and Pipeline to Demonstrate the Strategy.</a:t>
            </a:r>
          </a:p>
          <a:p/>
          <a:p>
            <a:r>
              <a:t>1. Taman Dayu — Sport, Leisure, and Destination Value</a:t>
            </a:r>
          </a:p>
          <a:p/>
          <a:p>
            <a:r>
              <a:t>Coordinate Tanrise Taman Dayu Pandaan, Golf Taman Dayu, the Driving Range, and the Swiss of Taman Dayu Pandaan development.</a:t>
            </a:r>
          </a:p>
          <a:p/>
          <a:p>
            <a:r>
              <a:t>Evaluate additional wellness, community, hospitality, and F&amp;B programming.</a:t>
            </a:r>
          </a:p>
          <a:p/>
          <a:p>
            <a:r>
              <a:t>Business hypothesis: More relevant activities and repeat visitation could support operating income and surrounding property demand.</a:t>
            </a:r>
          </a:p>
          <a:p/>
          <a:p>
            <a:r>
              <a:t>Measures: Visitation, repeat participation, asset utilisation, operating profit, and property enquiries.</a:t>
            </a:r>
          </a:p>
          <a:p/>
          <a:p>
            <a:r>
              <a:t>2. Integrated-City Growth — Sidoarjo and Bandung</a:t>
            </a:r>
          </a:p>
          <a:p/>
          <a:p>
            <a:r>
              <a:t>Develop Tanrise City Sidoarjo and Tanrise Bandung through commercially sustainable phases.</a:t>
            </a:r>
          </a:p>
          <a:p/>
          <a:p>
            <a:r>
              <a:t>For Bandung, coordinate the wider destination with Grand Central Bandung and residential development.</a:t>
            </a:r>
          </a:p>
          <a:p/>
          <a:p>
            <a:r>
              <a:t>Business hypothesis: Appropriate anchors, infrastructure, and visible delivery could improve buyer confidence and early-phase attractiveness.</a:t>
            </a:r>
          </a:p>
          <a:p/>
          <a:p>
            <a:r>
              <a:t>3. Industrial and Logistics — Occupier Productivity</a:t>
            </a:r>
          </a:p>
          <a:p/>
          <a:p>
            <a:r>
              <a:t>Use Tritan Gresik, Tritan Gempol Pasuruan, Tanrise Industrial Park Palembang, and Tanrise Industrial Park Banjarbaru to test a consistent occupier proposition.</a:t>
            </a:r>
          </a:p>
          <a:p/>
          <a:p>
            <a:r>
              <a:t>Business hypothesis: Technical suitability, infrastructure reliability, and coordinated services could strengthen acquisition and retention.</a:t>
            </a:r>
          </a:p>
          <a:p/>
          <a:p>
            <a:r>
              <a:t>Supporting Workstream — Hospitality Investment and Operations</a:t>
            </a:r>
          </a:p>
          <a:p/>
          <a:p>
            <a:r>
              <a:t>Align the VASA and Solaris pipeline with operating feasibility, management agreements, opening readiness, and capital discipline.</a:t>
            </a:r>
          </a:p>
          <a:p/>
          <a:p>
            <a:r>
              <a:t>Recommendation: Advance each initiative through a documented business case before scaling the model.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37 — The Capital Allocation Principle</a:t>
            </a:r>
          </a:p>
          <a:p>
            <a:r>
              <a:t>Document pages: 40, 41</a:t>
            </a:r>
          </a:p>
          <a:p/>
          <a:p>
            <a:r>
              <a:t>COMPLETE SOURCE TEXT</a:t>
            </a:r>
          </a:p>
          <a:p>
            <a:r>
              <a:t>Measure Growth by Value Created.</a:t>
            </a:r>
          </a:p>
          <a:p/>
          <a:p>
            <a:r>
              <a:t>Evaluate developments and retained-asset initiatives through a common framework.</a:t>
            </a:r>
          </a:p>
          <a:p/>
          <a:p>
            <a:r>
              <a:t>Criterion | Core question</a:t>
            </a:r>
          </a:p>
          <a:p/>
          <a:p>
            <a:r>
              <a:t>Market demand | Is there sufficient evidence of demand?</a:t>
            </a:r>
          </a:p>
          <a:p/>
          <a:p>
            <a:r>
              <a:t>Strategic fit | Does the investment support the portfolio strategy?</a:t>
            </a:r>
          </a:p>
          <a:p/>
          <a:p>
            <a:r>
              <a:t>Capital efficiency | What return is generated relative to investment?</a:t>
            </a:r>
          </a:p>
          <a:p/>
          <a:p>
            <a:r>
              <a:t>Cash-flow resilience | How exposed is the project to market cycles and timing?</a:t>
            </a:r>
          </a:p>
          <a:p/>
          <a:p>
            <a:r>
              <a:t>Recurring-income potential | Can the asset produce sustainable continuing earnings?</a:t>
            </a:r>
          </a:p>
          <a:p/>
          <a:p>
            <a:r>
              <a:t>Operating capability | Can TANRISE or a qualified partner operate it effectively?</a:t>
            </a:r>
          </a:p>
          <a:p/>
          <a:p>
            <a:r>
              <a:t>Ownership economics | What share of cash flow and earnings is attributable to TANRISE?</a:t>
            </a:r>
          </a:p>
          <a:p/>
          <a:p>
            <a:r>
              <a:t>Brand contribution | Will the investment strengthen trust and corporate reputation?</a:t>
            </a:r>
          </a:p>
          <a:p/>
          <a:p>
            <a:r>
              <a:t>Financial Disciplines</a:t>
            </a:r>
          </a:p>
          <a:p/>
          <a:p>
            <a:r>
              <a:t>Project IRR · NPV · ROIC · Cash Conversion · Leverage · Operating Margin · Sensitivity Analysis</a:t>
            </a:r>
          </a:p>
          <a:p/>
          <a:p>
            <a:r>
              <a:t>Pipeline Application</a:t>
            </a:r>
          </a:p>
          <a:p/>
          <a:p>
            <a:r>
              <a:t>Apply consistent evaluation to integrated cities, residential phases, commercial assets, industrial parks, warehouses, hotels, and leisure developments.</a:t>
            </a:r>
          </a:p>
          <a:p/>
          <a:p>
            <a:r>
              <a:t>Management decision: Establish an investment committee process with asset-specific assumptions and clearly accountable sponsors.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37 — The Capital Allocation Principle</a:t>
            </a:r>
          </a:p>
          <a:p>
            <a:r>
              <a:t>Document pages: 40, 41</a:t>
            </a:r>
          </a:p>
          <a:p/>
          <a:p>
            <a:r>
              <a:t>COMPLETE SOURCE TEXT</a:t>
            </a:r>
          </a:p>
          <a:p>
            <a:r>
              <a:t>Measure Growth by Value Created.</a:t>
            </a:r>
          </a:p>
          <a:p/>
          <a:p>
            <a:r>
              <a:t>Evaluate developments and retained-asset initiatives through a common framework.</a:t>
            </a:r>
          </a:p>
          <a:p/>
          <a:p>
            <a:r>
              <a:t>Criterion | Core question</a:t>
            </a:r>
          </a:p>
          <a:p/>
          <a:p>
            <a:r>
              <a:t>Market demand | Is there sufficient evidence of demand?</a:t>
            </a:r>
          </a:p>
          <a:p/>
          <a:p>
            <a:r>
              <a:t>Strategic fit | Does the investment support the portfolio strategy?</a:t>
            </a:r>
          </a:p>
          <a:p/>
          <a:p>
            <a:r>
              <a:t>Capital efficiency | What return is generated relative to investment?</a:t>
            </a:r>
          </a:p>
          <a:p/>
          <a:p>
            <a:r>
              <a:t>Cash-flow resilience | How exposed is the project to market cycles and timing?</a:t>
            </a:r>
          </a:p>
          <a:p/>
          <a:p>
            <a:r>
              <a:t>Recurring-income potential | Can the asset produce sustainable continuing earnings?</a:t>
            </a:r>
          </a:p>
          <a:p/>
          <a:p>
            <a:r>
              <a:t>Operating capability | Can TANRISE or a qualified partner operate it effectively?</a:t>
            </a:r>
          </a:p>
          <a:p/>
          <a:p>
            <a:r>
              <a:t>Ownership economics | What share of cash flow and earnings is attributable to TANRISE?</a:t>
            </a:r>
          </a:p>
          <a:p/>
          <a:p>
            <a:r>
              <a:t>Brand contribution | Will the investment strengthen trust and corporate reputation?</a:t>
            </a:r>
          </a:p>
          <a:p/>
          <a:p>
            <a:r>
              <a:t>Financial Disciplines</a:t>
            </a:r>
          </a:p>
          <a:p/>
          <a:p>
            <a:r>
              <a:t>Project IRR · NPV · ROIC · Cash Conversion · Leverage · Operating Margin · Sensitivity Analysis</a:t>
            </a:r>
          </a:p>
          <a:p/>
          <a:p>
            <a:r>
              <a:t>Pipeline Application</a:t>
            </a:r>
          </a:p>
          <a:p/>
          <a:p>
            <a:r>
              <a:t>Apply consistent evaluation to integrated cities, residential phases, commercial assets, industrial parks, warehouses, hotels, and leisure developments.</a:t>
            </a:r>
          </a:p>
          <a:p/>
          <a:p>
            <a:r>
              <a:t>Management decision: Establish an investment committee process with asset-specific assumptions and clearly accountable sponsors.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37 — The Capital Allocation Principle</a:t>
            </a:r>
          </a:p>
          <a:p>
            <a:r>
              <a:t>Document pages: 40, 41</a:t>
            </a:r>
          </a:p>
          <a:p/>
          <a:p>
            <a:r>
              <a:t>COMPLETE SOURCE TEXT</a:t>
            </a:r>
          </a:p>
          <a:p>
            <a:r>
              <a:t>Measure Growth by Value Created.</a:t>
            </a:r>
          </a:p>
          <a:p/>
          <a:p>
            <a:r>
              <a:t>Evaluate developments and retained-asset initiatives through a common framework.</a:t>
            </a:r>
          </a:p>
          <a:p/>
          <a:p>
            <a:r>
              <a:t>Criterion | Core question</a:t>
            </a:r>
          </a:p>
          <a:p/>
          <a:p>
            <a:r>
              <a:t>Market demand | Is there sufficient evidence of demand?</a:t>
            </a:r>
          </a:p>
          <a:p/>
          <a:p>
            <a:r>
              <a:t>Strategic fit | Does the investment support the portfolio strategy?</a:t>
            </a:r>
          </a:p>
          <a:p/>
          <a:p>
            <a:r>
              <a:t>Capital efficiency | What return is generated relative to investment?</a:t>
            </a:r>
          </a:p>
          <a:p/>
          <a:p>
            <a:r>
              <a:t>Cash-flow resilience | How exposed is the project to market cycles and timing?</a:t>
            </a:r>
          </a:p>
          <a:p/>
          <a:p>
            <a:r>
              <a:t>Recurring-income potential | Can the asset produce sustainable continuing earnings?</a:t>
            </a:r>
          </a:p>
          <a:p/>
          <a:p>
            <a:r>
              <a:t>Operating capability | Can TANRISE or a qualified partner operate it effectively?</a:t>
            </a:r>
          </a:p>
          <a:p/>
          <a:p>
            <a:r>
              <a:t>Ownership economics | What share of cash flow and earnings is attributable to TANRISE?</a:t>
            </a:r>
          </a:p>
          <a:p/>
          <a:p>
            <a:r>
              <a:t>Brand contribution | Will the investment strengthen trust and corporate reputation?</a:t>
            </a:r>
          </a:p>
          <a:p/>
          <a:p>
            <a:r>
              <a:t>Financial Disciplines</a:t>
            </a:r>
          </a:p>
          <a:p/>
          <a:p>
            <a:r>
              <a:t>Project IRR · NPV · ROIC · Cash Conversion · Leverage · Operating Margin · Sensitivity Analysis</a:t>
            </a:r>
          </a:p>
          <a:p/>
          <a:p>
            <a:r>
              <a:t>Pipeline Application</a:t>
            </a:r>
          </a:p>
          <a:p/>
          <a:p>
            <a:r>
              <a:t>Apply consistent evaluation to integrated cities, residential phases, commercial assets, industrial parks, warehouses, hotels, and leisure developments.</a:t>
            </a:r>
          </a:p>
          <a:p/>
          <a:p>
            <a:r>
              <a:t>Management decision: Establish an investment committee process with asset-specific assumptions and clearly accountable sponsors.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38 — TANRISE Transformation Roadmap</a:t>
            </a:r>
          </a:p>
          <a:p>
            <a:r>
              <a:t>Document pages: 41, 42</a:t>
            </a:r>
          </a:p>
          <a:p/>
          <a:p>
            <a:r>
              <a:t>COMPLETE SOURCE TEXT</a:t>
            </a:r>
          </a:p>
          <a:p>
            <a:r>
              <a:t>Four Phases. One Ambition Through 2035.</a:t>
            </a:r>
          </a:p>
          <a:p/>
          <a:p>
            <a:r>
              <a:t>Period | Phase | Priorities</a:t>
            </a:r>
          </a:p>
          <a:p/>
          <a:p>
            <a:r>
              <a:t>2026–2027 | Foundation | Reconcile the portfolio register; confirm naming and ownership; establish financial and operating baselines; review current pipeline commitments</a:t>
            </a:r>
          </a:p>
          <a:p/>
          <a:p>
            <a:r>
              <a:t>2028–2029 | Activation | Strengthen commercial and operating capabilities; deliver approved development phases; improve performance of retained assets</a:t>
            </a:r>
          </a:p>
          <a:p/>
          <a:p>
            <a:r>
              <a:t>2030–2032 | Acceleration | Scale validated models, productive assets, and effective partnerships across the five pillars</a:t>
            </a:r>
          </a:p>
          <a:p/>
          <a:p>
            <a:r>
              <a:t>2033–2035 | Leadership | Optimise the portfolio, strengthen earnings resilience, and compete against the agreed Top Five benchmarks</a:t>
            </a:r>
          </a:p>
          <a:p/>
          <a:p>
            <a:r>
              <a:t>Immediate Portfolio Focus</a:t>
            </a:r>
          </a:p>
          <a:p/>
          <a:p>
            <a:r>
              <a:t>● Integrated-city phasing in Bandung, Sidoarjo, and Taman Dayu. ● Community Living product and naming clarity. ● Commercial asset productivity. ● Industrial and logistics readiness. ● Hospitality development and opening discipline.</a:t>
            </a:r>
          </a:p>
          <a:p/>
          <a:p>
            <a:r>
              <a:t>Strategic principle: Measure financial, operational, and organisational progress throughout the journey.</a:t>
            </a:r>
          </a:p>
          <a:p/>
          <a:p>
            <a:r>
              <a:t>The roadmap is a proposed corporate transformation framework, not a replacement for individual project schedules.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38 — TANRISE Transformation Roadmap</a:t>
            </a:r>
          </a:p>
          <a:p>
            <a:r>
              <a:t>Document pages: 41, 42</a:t>
            </a:r>
          </a:p>
          <a:p/>
          <a:p>
            <a:r>
              <a:t>COMPLETE SOURCE TEXT</a:t>
            </a:r>
          </a:p>
          <a:p>
            <a:r>
              <a:t>Four Phases. One Ambition Through 2035.</a:t>
            </a:r>
          </a:p>
          <a:p/>
          <a:p>
            <a:r>
              <a:t>Period | Phase | Priorities</a:t>
            </a:r>
          </a:p>
          <a:p/>
          <a:p>
            <a:r>
              <a:t>2026–2027 | Foundation | Reconcile the portfolio register; confirm naming and ownership; establish financial and operating baselines; review current pipeline commitments</a:t>
            </a:r>
          </a:p>
          <a:p/>
          <a:p>
            <a:r>
              <a:t>2028–2029 | Activation | Strengthen commercial and operating capabilities; deliver approved development phases; improve performance of retained assets</a:t>
            </a:r>
          </a:p>
          <a:p/>
          <a:p>
            <a:r>
              <a:t>2030–2032 | Acceleration | Scale validated models, productive assets, and effective partnerships across the five pillars</a:t>
            </a:r>
          </a:p>
          <a:p/>
          <a:p>
            <a:r>
              <a:t>2033–2035 | Leadership | Optimise the portfolio, strengthen earnings resilience, and compete against the agreed Top Five benchmarks</a:t>
            </a:r>
          </a:p>
          <a:p/>
          <a:p>
            <a:r>
              <a:t>Immediate Portfolio Focus</a:t>
            </a:r>
          </a:p>
          <a:p/>
          <a:p>
            <a:r>
              <a:t>● Integrated-city phasing in Bandung, Sidoarjo, and Taman Dayu. ● Community Living product and naming clarity. ● Commercial asset productivity. ● Industrial and logistics readiness. ● Hospitality development and opening discipline.</a:t>
            </a:r>
          </a:p>
          <a:p/>
          <a:p>
            <a:r>
              <a:t>Strategic principle: Measure financial, operational, and organisational progress throughout the journey.</a:t>
            </a:r>
          </a:p>
          <a:p/>
          <a:p>
            <a:r>
              <a:t>The roadmap is a proposed corporate transformation framework, not a replacement for individual project schedules.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39 — The 2035 Performance Scorecard</a:t>
            </a:r>
          </a:p>
          <a:p>
            <a:r>
              <a:t>Document pages: 42, 43, 44</a:t>
            </a:r>
          </a:p>
          <a:p/>
          <a:p>
            <a:r>
              <a:t>COMPLETE SOURCE TEXT</a:t>
            </a:r>
          </a:p>
          <a:p>
            <a:r>
              <a:t>Measure the Ambition. Manage the Journey.</a:t>
            </a:r>
          </a:p>
          <a:p/>
          <a:p>
            <a:r>
              <a:t>Dimension | Proposed KPI | Objective</a:t>
            </a:r>
          </a:p>
          <a:p/>
          <a:p>
            <a:r>
              <a:t>Financial scale | Consolidated revenue | Top Five among the agreed listed-property peer group</a:t>
            </a:r>
          </a:p>
          <a:p/>
          <a:p>
            <a:r>
              <a:t>Profitability | Net profit attributable to owners of the parent | Top Five among the agreed peer group</a:t>
            </a:r>
          </a:p>
          <a:p/>
          <a:p>
            <a:r>
              <a:t>Capital productivity | ROIC and project IRR | Meet board-approved hurdles</a:t>
            </a:r>
          </a:p>
          <a:p/>
          <a:p>
            <a:r>
              <a:t>Financial resilience | Debt, liquidity, and cash conversion | Sustainable funding and leverage</a:t>
            </a:r>
          </a:p>
          <a:p/>
          <a:p>
            <a:r>
              <a:t>Recurring income | Revenue, operating profit, and cash contribution | Meaningful, growing contribution</a:t>
            </a:r>
          </a:p>
          <a:p/>
          <a:p>
            <a:r>
              <a:t>Development execution | Absorption, handover, project margin, and delivery milestones | Consistent execution</a:t>
            </a:r>
          </a:p>
          <a:p/>
          <a:p>
            <a:r>
              <a:t>Asset productivity | Occupancy, RevPAR, NOI, utilisation, and visitation | Improve against asset-specific benchmarks</a:t>
            </a:r>
          </a:p>
          <a:p/>
          <a:p>
            <a:r>
              <a:t>Customer confidence | Satisfaction, complaints, handover quality, and retention | Measurable improvement</a:t>
            </a:r>
          </a:p>
          <a:p/>
          <a:p>
            <a:r>
              <a:t>Brand strength | Awareness, trust, and endorsement recognition | Stronger corporate reputation</a:t>
            </a:r>
          </a:p>
          <a:p/>
          <a:p>
            <a:r>
              <a:t>Portfolio governance | Approved names, status, ownership, and operator records | One reconciled portfolio register</a:t>
            </a:r>
          </a:p>
          <a:p/>
          <a:p>
            <a:r>
              <a:t>Financial Planning Requirement</a:t>
            </a:r>
          </a:p>
          <a:p/>
          <a:p>
            <a:r>
              <a:t>Build an integrated model covering the contribution and funding requirements of:</a:t>
            </a:r>
          </a:p>
          <a:p/>
          <a:p>
            <a:r>
              <a:t>● Existing assets. ● Ongoing developments. ● Upcoming projects. ● Retained commercial and hospitality assets.</a:t>
            </a:r>
          </a:p>
          <a:p/>
          <a:p>
            <a:r>
              <a:t>● Partnerships and potential acquisitions. ● Downside scenarios. ● Projected competitor thresholds.</a:t>
            </a:r>
          </a:p>
          <a:p/>
          <a:p>
            <a:r>
              <a:t>Scale challenge: The FY2025 revenue baseline of approximately Rp410.7 billion requires substantial growth; competitors may also expand.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39 — The 2035 Performance Scorecard</a:t>
            </a:r>
          </a:p>
          <a:p>
            <a:r>
              <a:t>Document pages: 42, 43, 44</a:t>
            </a:r>
          </a:p>
          <a:p/>
          <a:p>
            <a:r>
              <a:t>COMPLETE SOURCE TEXT</a:t>
            </a:r>
          </a:p>
          <a:p>
            <a:r>
              <a:t>Measure the Ambition. Manage the Journey.</a:t>
            </a:r>
          </a:p>
          <a:p/>
          <a:p>
            <a:r>
              <a:t>Dimension | Proposed KPI | Objective</a:t>
            </a:r>
          </a:p>
          <a:p/>
          <a:p>
            <a:r>
              <a:t>Financial scale | Consolidated revenue | Top Five among the agreed listed-property peer group</a:t>
            </a:r>
          </a:p>
          <a:p/>
          <a:p>
            <a:r>
              <a:t>Profitability | Net profit attributable to owners of the parent | Top Five among the agreed peer group</a:t>
            </a:r>
          </a:p>
          <a:p/>
          <a:p>
            <a:r>
              <a:t>Capital productivity | ROIC and project IRR | Meet board-approved hurdles</a:t>
            </a:r>
          </a:p>
          <a:p/>
          <a:p>
            <a:r>
              <a:t>Financial resilience | Debt, liquidity, and cash conversion | Sustainable funding and leverage</a:t>
            </a:r>
          </a:p>
          <a:p/>
          <a:p>
            <a:r>
              <a:t>Recurring income | Revenue, operating profit, and cash contribution | Meaningful, growing contribution</a:t>
            </a:r>
          </a:p>
          <a:p/>
          <a:p>
            <a:r>
              <a:t>Development execution | Absorption, handover, project margin, and delivery milestones | Consistent execution</a:t>
            </a:r>
          </a:p>
          <a:p/>
          <a:p>
            <a:r>
              <a:t>Asset productivity | Occupancy, RevPAR, NOI, utilisation, and visitation | Improve against asset-specific benchmarks</a:t>
            </a:r>
          </a:p>
          <a:p/>
          <a:p>
            <a:r>
              <a:t>Customer confidence | Satisfaction, complaints, handover quality, and retention | Measurable improvement</a:t>
            </a:r>
          </a:p>
          <a:p/>
          <a:p>
            <a:r>
              <a:t>Brand strength | Awareness, trust, and endorsement recognition | Stronger corporate reputation</a:t>
            </a:r>
          </a:p>
          <a:p/>
          <a:p>
            <a:r>
              <a:t>Portfolio governance | Approved names, status, ownership, and operator records | One reconciled portfolio register</a:t>
            </a:r>
          </a:p>
          <a:p/>
          <a:p>
            <a:r>
              <a:t>Financial Planning Requirement</a:t>
            </a:r>
          </a:p>
          <a:p/>
          <a:p>
            <a:r>
              <a:t>Build an integrated model covering the contribution and funding requirements of:</a:t>
            </a:r>
          </a:p>
          <a:p/>
          <a:p>
            <a:r>
              <a:t>● Existing assets. ● Ongoing developments. ● Upcoming projects. ● Retained commercial and hospitality assets.</a:t>
            </a:r>
          </a:p>
          <a:p/>
          <a:p>
            <a:r>
              <a:t>● Partnerships and potential acquisitions. ● Downside scenarios. ● Projected competitor thresholds.</a:t>
            </a:r>
          </a:p>
          <a:p/>
          <a:p>
            <a:r>
              <a:t>Scale challenge: The FY2025 revenue baseline of approximately Rp410.7 billion requires substantial growth; competitors may also expand.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39 — The 2035 Performance Scorecard</a:t>
            </a:r>
          </a:p>
          <a:p>
            <a:r>
              <a:t>Document pages: 42, 43, 44</a:t>
            </a:r>
          </a:p>
          <a:p/>
          <a:p>
            <a:r>
              <a:t>COMPLETE SOURCE TEXT</a:t>
            </a:r>
          </a:p>
          <a:p>
            <a:r>
              <a:t>Measure the Ambition. Manage the Journey.</a:t>
            </a:r>
          </a:p>
          <a:p/>
          <a:p>
            <a:r>
              <a:t>Dimension | Proposed KPI | Objective</a:t>
            </a:r>
          </a:p>
          <a:p/>
          <a:p>
            <a:r>
              <a:t>Financial scale | Consolidated revenue | Top Five among the agreed listed-property peer group</a:t>
            </a:r>
          </a:p>
          <a:p/>
          <a:p>
            <a:r>
              <a:t>Profitability | Net profit attributable to owners of the parent | Top Five among the agreed peer group</a:t>
            </a:r>
          </a:p>
          <a:p/>
          <a:p>
            <a:r>
              <a:t>Capital productivity | ROIC and project IRR | Meet board-approved hurdles</a:t>
            </a:r>
          </a:p>
          <a:p/>
          <a:p>
            <a:r>
              <a:t>Financial resilience | Debt, liquidity, and cash conversion | Sustainable funding and leverage</a:t>
            </a:r>
          </a:p>
          <a:p/>
          <a:p>
            <a:r>
              <a:t>Recurring income | Revenue, operating profit, and cash contribution | Meaningful, growing contribution</a:t>
            </a:r>
          </a:p>
          <a:p/>
          <a:p>
            <a:r>
              <a:t>Development execution | Absorption, handover, project margin, and delivery milestones | Consistent execution</a:t>
            </a:r>
          </a:p>
          <a:p/>
          <a:p>
            <a:r>
              <a:t>Asset productivity | Occupancy, RevPAR, NOI, utilisation, and visitation | Improve against asset-specific benchmarks</a:t>
            </a:r>
          </a:p>
          <a:p/>
          <a:p>
            <a:r>
              <a:t>Customer confidence | Satisfaction, complaints, handover quality, and retention | Measurable improvement</a:t>
            </a:r>
          </a:p>
          <a:p/>
          <a:p>
            <a:r>
              <a:t>Brand strength | Awareness, trust, and endorsement recognition | Stronger corporate reputation</a:t>
            </a:r>
          </a:p>
          <a:p/>
          <a:p>
            <a:r>
              <a:t>Portfolio governance | Approved names, status, ownership, and operator records | One reconciled portfolio register</a:t>
            </a:r>
          </a:p>
          <a:p/>
          <a:p>
            <a:r>
              <a:t>Financial Planning Requirement</a:t>
            </a:r>
          </a:p>
          <a:p/>
          <a:p>
            <a:r>
              <a:t>Build an integrated model covering the contribution and funding requirements of:</a:t>
            </a:r>
          </a:p>
          <a:p/>
          <a:p>
            <a:r>
              <a:t>● Existing assets. ● Ongoing developments. ● Upcoming projects. ● Retained commercial and hospitality assets.</a:t>
            </a:r>
          </a:p>
          <a:p/>
          <a:p>
            <a:r>
              <a:t>● Partnerships and potential acquisitions. ● Downside scenarios. ● Projected competitor thresholds.</a:t>
            </a:r>
          </a:p>
          <a:p/>
          <a:p>
            <a:r>
              <a:t>Scale challenge: The FY2025 revenue baseline of approximately Rp410.7 billion requires substantial growth; competitors may also expand.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39 — The 2035 Performance Scorecard</a:t>
            </a:r>
          </a:p>
          <a:p>
            <a:r>
              <a:t>Document pages: 42, 43, 44</a:t>
            </a:r>
          </a:p>
          <a:p/>
          <a:p>
            <a:r>
              <a:t>COMPLETE SOURCE TEXT</a:t>
            </a:r>
          </a:p>
          <a:p>
            <a:r>
              <a:t>Measure the Ambition. Manage the Journey.</a:t>
            </a:r>
          </a:p>
          <a:p/>
          <a:p>
            <a:r>
              <a:t>Dimension | Proposed KPI | Objective</a:t>
            </a:r>
          </a:p>
          <a:p/>
          <a:p>
            <a:r>
              <a:t>Financial scale | Consolidated revenue | Top Five among the agreed listed-property peer group</a:t>
            </a:r>
          </a:p>
          <a:p/>
          <a:p>
            <a:r>
              <a:t>Profitability | Net profit attributable to owners of the parent | Top Five among the agreed peer group</a:t>
            </a:r>
          </a:p>
          <a:p/>
          <a:p>
            <a:r>
              <a:t>Capital productivity | ROIC and project IRR | Meet board-approved hurdles</a:t>
            </a:r>
          </a:p>
          <a:p/>
          <a:p>
            <a:r>
              <a:t>Financial resilience | Debt, liquidity, and cash conversion | Sustainable funding and leverage</a:t>
            </a:r>
          </a:p>
          <a:p/>
          <a:p>
            <a:r>
              <a:t>Recurring income | Revenue, operating profit, and cash contribution | Meaningful, growing contribution</a:t>
            </a:r>
          </a:p>
          <a:p/>
          <a:p>
            <a:r>
              <a:t>Development execution | Absorption, handover, project margin, and delivery milestones | Consistent execution</a:t>
            </a:r>
          </a:p>
          <a:p/>
          <a:p>
            <a:r>
              <a:t>Asset productivity | Occupancy, RevPAR, NOI, utilisation, and visitation | Improve against asset-specific benchmarks</a:t>
            </a:r>
          </a:p>
          <a:p/>
          <a:p>
            <a:r>
              <a:t>Customer confidence | Satisfaction, complaints, handover quality, and retention | Measurable improvement</a:t>
            </a:r>
          </a:p>
          <a:p/>
          <a:p>
            <a:r>
              <a:t>Brand strength | Awareness, trust, and endorsement recognition | Stronger corporate reputation</a:t>
            </a:r>
          </a:p>
          <a:p/>
          <a:p>
            <a:r>
              <a:t>Portfolio governance | Approved names, status, ownership, and operator records | One reconciled portfolio register</a:t>
            </a:r>
          </a:p>
          <a:p/>
          <a:p>
            <a:r>
              <a:t>Financial Planning Requirement</a:t>
            </a:r>
          </a:p>
          <a:p/>
          <a:p>
            <a:r>
              <a:t>Build an integrated model covering the contribution and funding requirements of:</a:t>
            </a:r>
          </a:p>
          <a:p/>
          <a:p>
            <a:r>
              <a:t>● Existing assets. ● Ongoing developments. ● Upcoming projects. ● Retained commercial and hospitality assets.</a:t>
            </a:r>
          </a:p>
          <a:p/>
          <a:p>
            <a:r>
              <a:t>● Partnerships and potential acquisitions. ● Downside scenarios. ● Projected competitor thresholds.</a:t>
            </a:r>
          </a:p>
          <a:p/>
          <a:p>
            <a:r>
              <a:t>Scale challenge: The FY2025 revenue baseline of approximately Rp410.7 billion requires substantial growth; competitors may also expand.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40 — The First 180 Days</a:t>
            </a:r>
          </a:p>
          <a:p>
            <a:r>
              <a:t>Document pages: 44, 45</a:t>
            </a:r>
          </a:p>
          <a:p/>
          <a:p>
            <a:r>
              <a:t>COMPLETE SOURCE TEXT</a:t>
            </a:r>
          </a:p>
          <a:p>
            <a:r>
              <a:t>Turn Portfolio Clarity Into Executive Decisions.</a:t>
            </a:r>
          </a:p>
          <a:p/>
          <a:p>
            <a:r>
              <a:t>Period | Priority action | Deliverable</a:t>
            </a:r>
          </a:p>
          <a:p/>
          <a:p>
            <a:r>
              <a:t>Days 1–30 | Reconcile all projects, names, statuses, ownership interests, and management relationships | Approved master portfolio register</a:t>
            </a:r>
          </a:p>
          <a:p/>
          <a:p>
            <a:r>
              <a:t>Days 1–45 | Audit financial and operating performance | Profitability, capital, cash-flow, and productivity baseline</a:t>
            </a:r>
          </a:p>
          <a:p/>
          <a:p>
            <a:r>
              <a:t>Days 30–60 | Approve corporate brand platform and naming governance | Brand strategy and endorsement framework</a:t>
            </a:r>
          </a:p>
          <a:p/>
          <a:p>
            <a:r>
              <a:t>Days 30–90 | Review existing commitments and prioritise the pipeline | Investment and transformation opportunity matrix</a:t>
            </a:r>
          </a:p>
          <a:p/>
          <a:p>
            <a:r>
              <a:t>Days 60–120 | Develop priority business cases | Taman Dayu, integrated-city, industrial, and hospitality workstreams</a:t>
            </a:r>
          </a:p>
          <a:p/>
          <a:p>
            <a:r>
              <a:t>Days 90–150 | Establish customer and operating standards | Super-Serving measures and partner responsibilities</a:t>
            </a:r>
          </a:p>
          <a:p/>
          <a:p>
            <a:r>
              <a:t>Days 120–180 | Approve the funded transformation plan | Roadmap, accountable owners, and quarterly scorecard</a:t>
            </a:r>
          </a:p>
          <a:p/>
          <a:p>
            <a:r>
              <a:t>Governance</a:t>
            </a:r>
          </a:p>
          <a:p/>
          <a:p>
            <a:r>
              <a:t>Create an executive-led steering committee representing finance, development, commercial, operations, corporate strategy, and relevant operating partners.</a:t>
            </a:r>
          </a:p>
          <a:p/>
          <a:p>
            <a:r>
              <a:t>Rubicube can support strategy, brand governance, concept development, and communication architecture.</a:t>
            </a:r>
          </a:p>
          <a:p/>
          <a:p>
            <a:r>
              <a:t>Investment and operating decisions remain with TANRISE management and qualified delivery partners.</a:t>
            </a:r>
          </a:p>
          <a:p/>
          <a:p>
            <a:r>
              <a:t>Closing Statement</a:t>
            </a:r>
          </a:p>
          <a:p/>
          <a:p>
            <a:r>
              <a:t>We Build Places. We Create Possibilities. We Elevate Life.</a:t>
            </a:r>
          </a:p>
          <a:p/>
          <a:p>
            <a:r>
              <a:t>The future of TANRISE will be shaped by the lives we enrich, the businesses we enable, the communities we strengthen, and the lasting value we create.</a:t>
            </a:r>
          </a:p>
          <a:p/>
          <a:p>
            <a:r>
              <a:t>TANRISE — Elevating Life.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40 — The First 180 Days</a:t>
            </a:r>
          </a:p>
          <a:p>
            <a:r>
              <a:t>Document pages: 44, 45</a:t>
            </a:r>
          </a:p>
          <a:p/>
          <a:p>
            <a:r>
              <a:t>COMPLETE SOURCE TEXT</a:t>
            </a:r>
          </a:p>
          <a:p>
            <a:r>
              <a:t>Turn Portfolio Clarity Into Executive Decisions.</a:t>
            </a:r>
          </a:p>
          <a:p/>
          <a:p>
            <a:r>
              <a:t>Period | Priority action | Deliverable</a:t>
            </a:r>
          </a:p>
          <a:p/>
          <a:p>
            <a:r>
              <a:t>Days 1–30 | Reconcile all projects, names, statuses, ownership interests, and management relationships | Approved master portfolio register</a:t>
            </a:r>
          </a:p>
          <a:p/>
          <a:p>
            <a:r>
              <a:t>Days 1–45 | Audit financial and operating performance | Profitability, capital, cash-flow, and productivity baseline</a:t>
            </a:r>
          </a:p>
          <a:p/>
          <a:p>
            <a:r>
              <a:t>Days 30–60 | Approve corporate brand platform and naming governance | Brand strategy and endorsement framework</a:t>
            </a:r>
          </a:p>
          <a:p/>
          <a:p>
            <a:r>
              <a:t>Days 30–90 | Review existing commitments and prioritise the pipeline | Investment and transformation opportunity matrix</a:t>
            </a:r>
          </a:p>
          <a:p/>
          <a:p>
            <a:r>
              <a:t>Days 60–120 | Develop priority business cases | Taman Dayu, integrated-city, industrial, and hospitality workstreams</a:t>
            </a:r>
          </a:p>
          <a:p/>
          <a:p>
            <a:r>
              <a:t>Days 90–150 | Establish customer and operating standards | Super-Serving measures and partner responsibilities</a:t>
            </a:r>
          </a:p>
          <a:p/>
          <a:p>
            <a:r>
              <a:t>Days 120–180 | Approve the funded transformation plan | Roadmap, accountable owners, and quarterly scorecard</a:t>
            </a:r>
          </a:p>
          <a:p/>
          <a:p>
            <a:r>
              <a:t>Governance</a:t>
            </a:r>
          </a:p>
          <a:p/>
          <a:p>
            <a:r>
              <a:t>Create an executive-led steering committee representing finance, development, commercial, operations, corporate strategy, and relevant operating partners.</a:t>
            </a:r>
          </a:p>
          <a:p/>
          <a:p>
            <a:r>
              <a:t>Rubicube can support strategy, brand governance, concept development, and communication architecture.</a:t>
            </a:r>
          </a:p>
          <a:p/>
          <a:p>
            <a:r>
              <a:t>Investment and operating decisions remain with TANRISE management and qualified delivery partners.</a:t>
            </a:r>
          </a:p>
          <a:p/>
          <a:p>
            <a:r>
              <a:t>Closing Statement</a:t>
            </a:r>
          </a:p>
          <a:p/>
          <a:p>
            <a:r>
              <a:t>We Build Places. We Create Possibilities. We Elevate Life.</a:t>
            </a:r>
          </a:p>
          <a:p/>
          <a:p>
            <a:r>
              <a:t>The future of TANRISE will be shaped by the lives we enrich, the businesses we enable, the communities we strengthen, and the lasting value we create.</a:t>
            </a:r>
          </a:p>
          <a:p/>
          <a:p>
            <a:r>
              <a:t>TANRISE — Elevating Life.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40 — The First 180 Days</a:t>
            </a:r>
          </a:p>
          <a:p>
            <a:r>
              <a:t>Document pages: 44, 45</a:t>
            </a:r>
          </a:p>
          <a:p/>
          <a:p>
            <a:r>
              <a:t>COMPLETE SOURCE TEXT</a:t>
            </a:r>
          </a:p>
          <a:p>
            <a:r>
              <a:t>Turn Portfolio Clarity Into Executive Decisions.</a:t>
            </a:r>
          </a:p>
          <a:p/>
          <a:p>
            <a:r>
              <a:t>Period | Priority action | Deliverable</a:t>
            </a:r>
          </a:p>
          <a:p/>
          <a:p>
            <a:r>
              <a:t>Days 1–30 | Reconcile all projects, names, statuses, ownership interests, and management relationships | Approved master portfolio register</a:t>
            </a:r>
          </a:p>
          <a:p/>
          <a:p>
            <a:r>
              <a:t>Days 1–45 | Audit financial and operating performance | Profitability, capital, cash-flow, and productivity baseline</a:t>
            </a:r>
          </a:p>
          <a:p/>
          <a:p>
            <a:r>
              <a:t>Days 30–60 | Approve corporate brand platform and naming governance | Brand strategy and endorsement framework</a:t>
            </a:r>
          </a:p>
          <a:p/>
          <a:p>
            <a:r>
              <a:t>Days 30–90 | Review existing commitments and prioritise the pipeline | Investment and transformation opportunity matrix</a:t>
            </a:r>
          </a:p>
          <a:p/>
          <a:p>
            <a:r>
              <a:t>Days 60–120 | Develop priority business cases | Taman Dayu, integrated-city, industrial, and hospitality workstreams</a:t>
            </a:r>
          </a:p>
          <a:p/>
          <a:p>
            <a:r>
              <a:t>Days 90–150 | Establish customer and operating standards | Super-Serving measures and partner responsibilities</a:t>
            </a:r>
          </a:p>
          <a:p/>
          <a:p>
            <a:r>
              <a:t>Days 120–180 | Approve the funded transformation plan | Roadmap, accountable owners, and quarterly scorecard</a:t>
            </a:r>
          </a:p>
          <a:p/>
          <a:p>
            <a:r>
              <a:t>Governance</a:t>
            </a:r>
          </a:p>
          <a:p/>
          <a:p>
            <a:r>
              <a:t>Create an executive-led steering committee representing finance, development, commercial, operations, corporate strategy, and relevant operating partners.</a:t>
            </a:r>
          </a:p>
          <a:p/>
          <a:p>
            <a:r>
              <a:t>Rubicube can support strategy, brand governance, concept development, and communication architecture.</a:t>
            </a:r>
          </a:p>
          <a:p/>
          <a:p>
            <a:r>
              <a:t>Investment and operating decisions remain with TANRISE management and qualified delivery partners.</a:t>
            </a:r>
          </a:p>
          <a:p/>
          <a:p>
            <a:r>
              <a:t>Closing Statement</a:t>
            </a:r>
          </a:p>
          <a:p/>
          <a:p>
            <a:r>
              <a:t>We Build Places. We Create Possibilities. We Elevate Life.</a:t>
            </a:r>
          </a:p>
          <a:p/>
          <a:p>
            <a:r>
              <a:t>The future of TANRISE will be shaped by the lives we enrich, the businesses we enable, the communities we strengthen, and the lasting value we create.</a:t>
            </a:r>
          </a:p>
          <a:p/>
          <a:p>
            <a:r>
              <a:t>TANRISE — Elevating Life.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A1 — Integrated City</a:t>
            </a:r>
          </a:p>
          <a:p>
            <a:r>
              <a:t>Document pages: 45, 46</a:t>
            </a:r>
          </a:p>
          <a:p/>
          <a:p>
            <a:r>
              <a:t>COMPLETE SOURCE TEXT</a:t>
            </a:r>
          </a:p>
          <a:p>
            <a:r>
              <a:t>Project | Status in client materials | Naming and interpretation</a:t>
            </a:r>
          </a:p>
          <a:p/>
          <a:p>
            <a:r>
              <a:t>Tanrise Taman Dayu Pandaan | Existing | Integrated destination; distinguish it from golf, resort, Driving Range, and other components</a:t>
            </a:r>
          </a:p>
          <a:p/>
          <a:p>
            <a:r>
              <a:t>Tanrise Bandung | Ongoing | Integrated development in Bandung</a:t>
            </a:r>
          </a:p>
          <a:p/>
          <a:p>
            <a:r>
              <a:t>Tanrise City Sidoarjo | Ongoing | Integrated-city development in Sidoarjo</a:t>
            </a:r>
          </a:p>
          <a:p/>
          <a:p>
            <a:r>
              <a:t>Swiss of Taman Dayu Pandaan | Ongoing | Separate development reference within the wider Taman Dayu context</a:t>
            </a:r>
          </a:p>
          <a:p/>
          <a:p>
            <a:r>
              <a:t>Tanrise Taman Dayu / Taman Dayu | Brand and destination references | Use the approved full destination name consistently</a:t>
            </a:r>
          </a:p>
          <a:p/>
          <a:p>
            <a:r>
              <a:t>Tanrise City Sidoarjo logo treatment | Brand portfolio proposal | Naming exists in investor materials; final visual lockup requires approval</a:t>
            </a:r>
          </a:p>
          <a:p/>
          <a:p>
            <a:r>
              <a:t>Rule: Do not merge the wider Taman Dayu destination and its component assets into a single undifferentiated investment.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A1 — Integrated City</a:t>
            </a:r>
          </a:p>
          <a:p>
            <a:r>
              <a:t>Document pages: 45, 46</a:t>
            </a:r>
          </a:p>
          <a:p/>
          <a:p>
            <a:r>
              <a:t>COMPLETE SOURCE TEXT</a:t>
            </a:r>
          </a:p>
          <a:p>
            <a:r>
              <a:t>Project | Status in client materials | Naming and interpretation</a:t>
            </a:r>
          </a:p>
          <a:p/>
          <a:p>
            <a:r>
              <a:t>Tanrise Taman Dayu Pandaan | Existing | Integrated destination; distinguish it from golf, resort, Driving Range, and other components</a:t>
            </a:r>
          </a:p>
          <a:p/>
          <a:p>
            <a:r>
              <a:t>Tanrise Bandung | Ongoing | Integrated development in Bandung</a:t>
            </a:r>
          </a:p>
          <a:p/>
          <a:p>
            <a:r>
              <a:t>Tanrise City Sidoarjo | Ongoing | Integrated-city development in Sidoarjo</a:t>
            </a:r>
          </a:p>
          <a:p/>
          <a:p>
            <a:r>
              <a:t>Swiss of Taman Dayu Pandaan | Ongoing | Separate development reference within the wider Taman Dayu context</a:t>
            </a:r>
          </a:p>
          <a:p/>
          <a:p>
            <a:r>
              <a:t>Tanrise Taman Dayu / Taman Dayu | Brand and destination references | Use the approved full destination name consistently</a:t>
            </a:r>
          </a:p>
          <a:p/>
          <a:p>
            <a:r>
              <a:t>Tanrise City Sidoarjo logo treatment | Brand portfolio proposal | Naming exists in investor materials; final visual lockup requires approval</a:t>
            </a:r>
          </a:p>
          <a:p/>
          <a:p>
            <a:r>
              <a:t>Rule: Do not merge the wider Taman Dayu destination and its component assets into a single undifferentiated investment.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A2 — Community Living and High-Rise Residential</a:t>
            </a:r>
          </a:p>
          <a:p>
            <a:r>
              <a:t>Document pages: 46, 47, 48</a:t>
            </a:r>
          </a:p>
          <a:p/>
          <a:p>
            <a:r>
              <a:t>COMPLETE SOURCE TEXT</a:t>
            </a:r>
          </a:p>
          <a:p>
            <a:r>
              <a:t>Project or name | Status or evidence | Treatment</a:t>
            </a:r>
          </a:p>
          <a:p/>
          <a:p>
            <a:r>
              <a:t>Grand Sunrise Menganti | Existing in investor deck | Retain</a:t>
            </a:r>
          </a:p>
          <a:p/>
          <a:p>
            <a:r>
              <a:t>Grand Sunrise | Established brand reference | Use location descriptor where approved</a:t>
            </a:r>
          </a:p>
          <a:p/>
          <a:p>
            <a:r>
              <a:t>Jumana Residence | Existing public-facing name and investor milestone | Retain as a recognised name during transition</a:t>
            </a:r>
          </a:p>
          <a:p/>
          <a:p>
            <a:r>
              <a:t>Sunrise Residence Sidoarjo | Existing listing in investor deck; proposed replacement for Jumana in brand deck | Record as one project with a naming transition</a:t>
            </a:r>
          </a:p>
          <a:p/>
          <a:p>
            <a:r>
              <a:t>Kyo Society | Existing | Residential apartment project</a:t>
            </a:r>
          </a:p>
          <a:p/>
          <a:p>
            <a:r>
              <a:t>Kyo Apartment | Descriptive label in branding deck | Do not count separately from Kyo Society</a:t>
            </a:r>
          </a:p>
          <a:p/>
          <a:p>
            <a:r>
              <a:t>ARC100 / ARC 100 | Documented apartment brand and investor milestones | Use consistent approved styling; confirm relationship to other accommodation names</a:t>
            </a:r>
          </a:p>
          <a:p/>
          <a:p>
            <a:r>
              <a:t>Sunrise Residence Malang | Ongoing in investor deck | Confirm final name and scope</a:t>
            </a:r>
          </a:p>
          <a:p/>
          <a:p>
            <a:r>
              <a:t>Sunrise Garden Malang | Name used on investor portfolio map | Reconcile with other Malang references</a:t>
            </a:r>
          </a:p>
          <a:p/>
          <a:p>
            <a:r>
              <a:t>Grand Sunrise Malang | Shown in proposed naming and project rendering | Confirm whether separate from, or a naming alternative to, Sunrise Residence Malang</a:t>
            </a:r>
          </a:p>
          <a:p/>
          <a:p>
            <a:r>
              <a:t>Aegis Avenue | Historical launch reference in investor milestones | Retain in historical register; confirm current name, classification, and relationship to other projects</a:t>
            </a:r>
          </a:p>
          <a:p/>
          <a:p>
            <a:r>
              <a:t>Critical rule: Jumana Residence and Sunrise Residence Sidoarjo should not be counted as two separate projects without evidence of distinct assets.</a:t>
            </a:r>
          </a:p>
          <a:p/>
          <a:p>
            <a:r>
              <a:t>Malang rule: Do not assume that every Malang name represents a separate development.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A2 — Community Living and High-Rise Residential</a:t>
            </a:r>
          </a:p>
          <a:p>
            <a:r>
              <a:t>Document pages: 46, 47, 48</a:t>
            </a:r>
          </a:p>
          <a:p/>
          <a:p>
            <a:r>
              <a:t>COMPLETE SOURCE TEXT</a:t>
            </a:r>
          </a:p>
          <a:p>
            <a:r>
              <a:t>Project or name | Status or evidence | Treatment</a:t>
            </a:r>
          </a:p>
          <a:p/>
          <a:p>
            <a:r>
              <a:t>Grand Sunrise Menganti | Existing in investor deck | Retain</a:t>
            </a:r>
          </a:p>
          <a:p/>
          <a:p>
            <a:r>
              <a:t>Grand Sunrise | Established brand reference | Use location descriptor where approved</a:t>
            </a:r>
          </a:p>
          <a:p/>
          <a:p>
            <a:r>
              <a:t>Jumana Residence | Existing public-facing name and investor milestone | Retain as a recognised name during transition</a:t>
            </a:r>
          </a:p>
          <a:p/>
          <a:p>
            <a:r>
              <a:t>Sunrise Residence Sidoarjo | Existing listing in investor deck; proposed replacement for Jumana in brand deck | Record as one project with a naming transition</a:t>
            </a:r>
          </a:p>
          <a:p/>
          <a:p>
            <a:r>
              <a:t>Kyo Society | Existing | Residential apartment project</a:t>
            </a:r>
          </a:p>
          <a:p/>
          <a:p>
            <a:r>
              <a:t>Kyo Apartment | Descriptive label in branding deck | Do not count separately from Kyo Society</a:t>
            </a:r>
          </a:p>
          <a:p/>
          <a:p>
            <a:r>
              <a:t>ARC100 / ARC 100 | Documented apartment brand and investor milestones | Use consistent approved styling; confirm relationship to other accommodation names</a:t>
            </a:r>
          </a:p>
          <a:p/>
          <a:p>
            <a:r>
              <a:t>Sunrise Residence Malang | Ongoing in investor deck | Confirm final name and scope</a:t>
            </a:r>
          </a:p>
          <a:p/>
          <a:p>
            <a:r>
              <a:t>Sunrise Garden Malang | Name used on investor portfolio map | Reconcile with other Malang references</a:t>
            </a:r>
          </a:p>
          <a:p/>
          <a:p>
            <a:r>
              <a:t>Grand Sunrise Malang | Shown in proposed naming and project rendering | Confirm whether separate from, or a naming alternative to, Sunrise Residence Malang</a:t>
            </a:r>
          </a:p>
          <a:p/>
          <a:p>
            <a:r>
              <a:t>Aegis Avenue | Historical launch reference in investor milestones | Retain in historical register; confirm current name, classification, and relationship to other projects</a:t>
            </a:r>
          </a:p>
          <a:p/>
          <a:p>
            <a:r>
              <a:t>Critical rule: Jumana Residence and Sunrise Residence Sidoarjo should not be counted as two separate projects without evidence of distinct assets.</a:t>
            </a:r>
          </a:p>
          <a:p/>
          <a:p>
            <a:r>
              <a:t>Malang rule: Do not assume that every Malang name represents a separate development.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A2 — Community Living and High-Rise Residential</a:t>
            </a:r>
          </a:p>
          <a:p>
            <a:r>
              <a:t>Document pages: 46, 47, 48</a:t>
            </a:r>
          </a:p>
          <a:p/>
          <a:p>
            <a:r>
              <a:t>COMPLETE SOURCE TEXT</a:t>
            </a:r>
          </a:p>
          <a:p>
            <a:r>
              <a:t>Project or name | Status or evidence | Treatment</a:t>
            </a:r>
          </a:p>
          <a:p/>
          <a:p>
            <a:r>
              <a:t>Grand Sunrise Menganti | Existing in investor deck | Retain</a:t>
            </a:r>
          </a:p>
          <a:p/>
          <a:p>
            <a:r>
              <a:t>Grand Sunrise | Established brand reference | Use location descriptor where approved</a:t>
            </a:r>
          </a:p>
          <a:p/>
          <a:p>
            <a:r>
              <a:t>Jumana Residence | Existing public-facing name and investor milestone | Retain as a recognised name during transition</a:t>
            </a:r>
          </a:p>
          <a:p/>
          <a:p>
            <a:r>
              <a:t>Sunrise Residence Sidoarjo | Existing listing in investor deck; proposed replacement for Jumana in brand deck | Record as one project with a naming transition</a:t>
            </a:r>
          </a:p>
          <a:p/>
          <a:p>
            <a:r>
              <a:t>Kyo Society | Existing | Residential apartment project</a:t>
            </a:r>
          </a:p>
          <a:p/>
          <a:p>
            <a:r>
              <a:t>Kyo Apartment | Descriptive label in branding deck | Do not count separately from Kyo Society</a:t>
            </a:r>
          </a:p>
          <a:p/>
          <a:p>
            <a:r>
              <a:t>ARC100 / ARC 100 | Documented apartment brand and investor milestones | Use consistent approved styling; confirm relationship to other accommodation names</a:t>
            </a:r>
          </a:p>
          <a:p/>
          <a:p>
            <a:r>
              <a:t>Sunrise Residence Malang | Ongoing in investor deck | Confirm final name and scope</a:t>
            </a:r>
          </a:p>
          <a:p/>
          <a:p>
            <a:r>
              <a:t>Sunrise Garden Malang | Name used on investor portfolio map | Reconcile with other Malang references</a:t>
            </a:r>
          </a:p>
          <a:p/>
          <a:p>
            <a:r>
              <a:t>Grand Sunrise Malang | Shown in proposed naming and project rendering | Confirm whether separate from, or a naming alternative to, Sunrise Residence Malang</a:t>
            </a:r>
          </a:p>
          <a:p/>
          <a:p>
            <a:r>
              <a:t>Aegis Avenue | Historical launch reference in investor milestones | Retain in historical register; confirm current name, classification, and relationship to other projects</a:t>
            </a:r>
          </a:p>
          <a:p/>
          <a:p>
            <a:r>
              <a:t>Critical rule: Jumana Residence and Sunrise Residence Sidoarjo should not be counted as two separate projects without evidence of distinct assets.</a:t>
            </a:r>
          </a:p>
          <a:p/>
          <a:p>
            <a:r>
              <a:t>Malang rule: Do not assume that every Malang name represents a separate development.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A3 — Business Districts, Commercial, and Retail</a:t>
            </a:r>
          </a:p>
          <a:p>
            <a:r>
              <a:t>Document pages: 48, 49</a:t>
            </a:r>
          </a:p>
          <a:p/>
          <a:p>
            <a:r>
              <a:t>COMPLETE SOURCE TEXT</a:t>
            </a:r>
          </a:p>
          <a:p>
            <a:r>
              <a:t>Project | Status or evidence | Treatment</a:t>
            </a:r>
          </a:p>
          <a:p/>
          <a:p>
            <a:r>
              <a:t>Voza Tower | Existing | Office development</a:t>
            </a:r>
          </a:p>
          <a:p/>
          <a:p>
            <a:r>
              <a:t>Rame-Rame | Existing listing; 2026 launch year shown | Commercial destination with stalls, sportainment, and cinema components</a:t>
            </a:r>
          </a:p>
          <a:p/>
          <a:p>
            <a:r>
              <a:t>Grand Central Bandung | Ongoing | Commercial development associated with the Bandung site</a:t>
            </a:r>
          </a:p>
          <a:p/>
          <a:p>
            <a:r>
              <a:t>Midpoint Kayoon | Included in brand portfolio deck | Commercial project; confirm current completion and operating status</a:t>
            </a:r>
          </a:p>
          <a:p/>
          <a:p>
            <a:r>
              <a:t>Bali Bites | Existing listing in investor portfolio map and brand deck | Commercial/F&amp;B destination</a:t>
            </a:r>
          </a:p>
          <a:p/>
          <a:p>
            <a:r>
              <a:t>Temu Kamu | Named within the Bali Bites reference | F&amp;B operating concept; distinguish from the property asset</a:t>
            </a:r>
          </a:p>
          <a:p/>
          <a:p>
            <a:r>
              <a:t>Chamas | Named within the Bali Bites reference | F&amp;B operating concept; distinguish from the property asset</a:t>
            </a:r>
          </a:p>
          <a:p/>
          <a:p>
            <a:r>
              <a:t>Kyo Society under Commercial &amp; Retail | Classification used in branding deck | Explain investment marketing separately; retain primary residential-apartment classification</a:t>
            </a:r>
          </a:p>
          <a:p/>
          <a:p>
            <a:r>
              <a:t>Commercial-component rule: Shophouses and retail areas within housing, warehouse, or township projects are components of those developments unless documented as separate brands or assets.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A3 — Business Districts, Commercial, and Retail</a:t>
            </a:r>
          </a:p>
          <a:p>
            <a:r>
              <a:t>Document pages: 48, 49</a:t>
            </a:r>
          </a:p>
          <a:p/>
          <a:p>
            <a:r>
              <a:t>COMPLETE SOURCE TEXT</a:t>
            </a:r>
          </a:p>
          <a:p>
            <a:r>
              <a:t>Project | Status or evidence | Treatment</a:t>
            </a:r>
          </a:p>
          <a:p/>
          <a:p>
            <a:r>
              <a:t>Voza Tower | Existing | Office development</a:t>
            </a:r>
          </a:p>
          <a:p/>
          <a:p>
            <a:r>
              <a:t>Rame-Rame | Existing listing; 2026 launch year shown | Commercial destination with stalls, sportainment, and cinema components</a:t>
            </a:r>
          </a:p>
          <a:p/>
          <a:p>
            <a:r>
              <a:t>Grand Central Bandung | Ongoing | Commercial development associated with the Bandung site</a:t>
            </a:r>
          </a:p>
          <a:p/>
          <a:p>
            <a:r>
              <a:t>Midpoint Kayoon | Included in brand portfolio deck | Commercial project; confirm current completion and operating status</a:t>
            </a:r>
          </a:p>
          <a:p/>
          <a:p>
            <a:r>
              <a:t>Bali Bites | Existing listing in investor portfolio map and brand deck | Commercial/F&amp;B destination</a:t>
            </a:r>
          </a:p>
          <a:p/>
          <a:p>
            <a:r>
              <a:t>Temu Kamu | Named within the Bali Bites reference | F&amp;B operating concept; distinguish from the property asset</a:t>
            </a:r>
          </a:p>
          <a:p/>
          <a:p>
            <a:r>
              <a:t>Chamas | Named within the Bali Bites reference | F&amp;B operating concept; distinguish from the property asset</a:t>
            </a:r>
          </a:p>
          <a:p/>
          <a:p>
            <a:r>
              <a:t>Kyo Society under Commercial &amp; Retail | Classification used in branding deck | Explain investment marketing separately; retain primary residential-apartment classification</a:t>
            </a:r>
          </a:p>
          <a:p/>
          <a:p>
            <a:r>
              <a:t>Commercial-component rule: Shophouses and retail areas within housing, warehouse, or township projects are components of those developments unless documented as separate brands or assets.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A4 — Logistics and Warehouse Portfolio</a:t>
            </a:r>
          </a:p>
          <a:p>
            <a:r>
              <a:t>Document pages: 49, 50, 51</a:t>
            </a:r>
          </a:p>
          <a:p/>
          <a:p>
            <a:r>
              <a:t>COMPLETE SOURCE TEXT</a:t>
            </a:r>
          </a:p>
          <a:p>
            <a:r>
              <a:t>Project or brand | Status in client materials | Treatment</a:t>
            </a:r>
          </a:p>
          <a:p/>
          <a:p>
            <a:r>
              <a:t>Tritan Surabaya | Existing | Retain approved location naming</a:t>
            </a:r>
          </a:p>
          <a:p/>
          <a:p>
            <a:r>
              <a:t>Tritan Medan | Existing | Warehouse development; do not automatically rename as an industrial park</a:t>
            </a:r>
          </a:p>
          <a:p/>
          <a:p>
            <a:r>
              <a:t>Tritan Wedi 1 — Sidoarjo | Existing | Retain</a:t>
            </a:r>
          </a:p>
          <a:p/>
          <a:p>
            <a:r>
              <a:t>Tritan Wedi 2 — Sidoarjo | Existing | Retain</a:t>
            </a:r>
          </a:p>
          <a:p/>
          <a:p>
            <a:r>
              <a:t>Tritan Taman — Sidoarjo | Existing | Retain</a:t>
            </a:r>
          </a:p>
          <a:p/>
          <a:p>
            <a:r>
              <a:t>Tritan Southgate / South Gate | Existing and historical references | Standardise approved spelling</a:t>
            </a:r>
          </a:p>
          <a:p/>
          <a:p>
            <a:r>
              <a:t>Tritan Banyu Urip | Historical development reference | Confirm relationship to current Surabaya naming before counting separately</a:t>
            </a:r>
          </a:p>
          <a:p/>
          <a:p>
            <a:r>
              <a:t>Tritan Point Bandung | Historical warehouse reference | Distinguish from the newer Tanrise Bandung integrated development</a:t>
            </a:r>
          </a:p>
          <a:p/>
          <a:p>
            <a:r>
              <a:t>Tritan Gresik | Ongoing | Confirm latest delivery status</a:t>
            </a:r>
          </a:p>
          <a:p/>
          <a:p>
            <a:r>
              <a:t>Tritan Gempol Pasuruan | Ongoing | Confirm location record and latest delivery status</a:t>
            </a:r>
          </a:p>
          <a:p/>
          <a:p>
            <a:r>
              <a:t>TritanPoint / Tritan Point | Existing brand reference | Record alongside proposed naming transition</a:t>
            </a:r>
          </a:p>
          <a:p/>
          <a:p>
            <a:r>
              <a:t>TritanHub / Tritan Hub | Existing brand reference and milestones | Record alongside proposed naming transition</a:t>
            </a:r>
          </a:p>
          <a:p/>
          <a:p>
            <a:r>
              <a:t>TRITAN + Location | Proposed consolidated naming system | Do not describe as fully implemented without approval</a:t>
            </a:r>
          </a:p>
          <a:p/>
          <a:p>
            <a:r>
              <a:t>Tritan Kediri | Shown in proposed brand architecture | Project scope and operating/development status require confirmation</a:t>
            </a:r>
          </a:p>
          <a:p/>
          <a:p>
            <a:r>
              <a:t>Rule: Location-based naming proposals do not, by themselves, establish that each location is an operating project.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A4 — Logistics and Warehouse Portfolio</a:t>
            </a:r>
          </a:p>
          <a:p>
            <a:r>
              <a:t>Document pages: 49, 50, 51</a:t>
            </a:r>
          </a:p>
          <a:p/>
          <a:p>
            <a:r>
              <a:t>COMPLETE SOURCE TEXT</a:t>
            </a:r>
          </a:p>
          <a:p>
            <a:r>
              <a:t>Project or brand | Status in client materials | Treatment</a:t>
            </a:r>
          </a:p>
          <a:p/>
          <a:p>
            <a:r>
              <a:t>Tritan Surabaya | Existing | Retain approved location naming</a:t>
            </a:r>
          </a:p>
          <a:p/>
          <a:p>
            <a:r>
              <a:t>Tritan Medan | Existing | Warehouse development; do not automatically rename as an industrial park</a:t>
            </a:r>
          </a:p>
          <a:p/>
          <a:p>
            <a:r>
              <a:t>Tritan Wedi 1 — Sidoarjo | Existing | Retain</a:t>
            </a:r>
          </a:p>
          <a:p/>
          <a:p>
            <a:r>
              <a:t>Tritan Wedi 2 — Sidoarjo | Existing | Retain</a:t>
            </a:r>
          </a:p>
          <a:p/>
          <a:p>
            <a:r>
              <a:t>Tritan Taman — Sidoarjo | Existing | Retain</a:t>
            </a:r>
          </a:p>
          <a:p/>
          <a:p>
            <a:r>
              <a:t>Tritan Southgate / South Gate | Existing and historical references | Standardise approved spelling</a:t>
            </a:r>
          </a:p>
          <a:p/>
          <a:p>
            <a:r>
              <a:t>Tritan Banyu Urip | Historical development reference | Confirm relationship to current Surabaya naming before counting separately</a:t>
            </a:r>
          </a:p>
          <a:p/>
          <a:p>
            <a:r>
              <a:t>Tritan Point Bandung | Historical warehouse reference | Distinguish from the newer Tanrise Bandung integrated development</a:t>
            </a:r>
          </a:p>
          <a:p/>
          <a:p>
            <a:r>
              <a:t>Tritan Gresik | Ongoing | Confirm latest delivery status</a:t>
            </a:r>
          </a:p>
          <a:p/>
          <a:p>
            <a:r>
              <a:t>Tritan Gempol Pasuruan | Ongoing | Confirm location record and latest delivery status</a:t>
            </a:r>
          </a:p>
          <a:p/>
          <a:p>
            <a:r>
              <a:t>TritanPoint / Tritan Point | Existing brand reference | Record alongside proposed naming transition</a:t>
            </a:r>
          </a:p>
          <a:p/>
          <a:p>
            <a:r>
              <a:t>TritanHub / Tritan Hub | Existing brand reference and milestones | Record alongside proposed naming transition</a:t>
            </a:r>
          </a:p>
          <a:p/>
          <a:p>
            <a:r>
              <a:t>TRITAN + Location | Proposed consolidated naming system | Do not describe as fully implemented without approval</a:t>
            </a:r>
          </a:p>
          <a:p/>
          <a:p>
            <a:r>
              <a:t>Tritan Kediri | Shown in proposed brand architecture | Project scope and operating/development status require confirmation</a:t>
            </a:r>
          </a:p>
          <a:p/>
          <a:p>
            <a:r>
              <a:t>Rule: Location-based naming proposals do not, by themselves, establish that each location is an operating project.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A4 — Logistics and Warehouse Portfolio</a:t>
            </a:r>
          </a:p>
          <a:p>
            <a:r>
              <a:t>Document pages: 49, 50, 51</a:t>
            </a:r>
          </a:p>
          <a:p/>
          <a:p>
            <a:r>
              <a:t>COMPLETE SOURCE TEXT</a:t>
            </a:r>
          </a:p>
          <a:p>
            <a:r>
              <a:t>Project or brand | Status in client materials | Treatment</a:t>
            </a:r>
          </a:p>
          <a:p/>
          <a:p>
            <a:r>
              <a:t>Tritan Surabaya | Existing | Retain approved location naming</a:t>
            </a:r>
          </a:p>
          <a:p/>
          <a:p>
            <a:r>
              <a:t>Tritan Medan | Existing | Warehouse development; do not automatically rename as an industrial park</a:t>
            </a:r>
          </a:p>
          <a:p/>
          <a:p>
            <a:r>
              <a:t>Tritan Wedi 1 — Sidoarjo | Existing | Retain</a:t>
            </a:r>
          </a:p>
          <a:p/>
          <a:p>
            <a:r>
              <a:t>Tritan Wedi 2 — Sidoarjo | Existing | Retain</a:t>
            </a:r>
          </a:p>
          <a:p/>
          <a:p>
            <a:r>
              <a:t>Tritan Taman — Sidoarjo | Existing | Retain</a:t>
            </a:r>
          </a:p>
          <a:p/>
          <a:p>
            <a:r>
              <a:t>Tritan Southgate / South Gate | Existing and historical references | Standardise approved spelling</a:t>
            </a:r>
          </a:p>
          <a:p/>
          <a:p>
            <a:r>
              <a:t>Tritan Banyu Urip | Historical development reference | Confirm relationship to current Surabaya naming before counting separately</a:t>
            </a:r>
          </a:p>
          <a:p/>
          <a:p>
            <a:r>
              <a:t>Tritan Point Bandung | Historical warehouse reference | Distinguish from the newer Tanrise Bandung integrated development</a:t>
            </a:r>
          </a:p>
          <a:p/>
          <a:p>
            <a:r>
              <a:t>Tritan Gresik | Ongoing | Confirm latest delivery status</a:t>
            </a:r>
          </a:p>
          <a:p/>
          <a:p>
            <a:r>
              <a:t>Tritan Gempol Pasuruan | Ongoing | Confirm location record and latest delivery status</a:t>
            </a:r>
          </a:p>
          <a:p/>
          <a:p>
            <a:r>
              <a:t>TritanPoint / Tritan Point | Existing brand reference | Record alongside proposed naming transition</a:t>
            </a:r>
          </a:p>
          <a:p/>
          <a:p>
            <a:r>
              <a:t>TritanHub / Tritan Hub | Existing brand reference and milestones | Record alongside proposed naming transition</a:t>
            </a:r>
          </a:p>
          <a:p/>
          <a:p>
            <a:r>
              <a:t>TRITAN + Location | Proposed consolidated naming system | Do not describe as fully implemented without approval</a:t>
            </a:r>
          </a:p>
          <a:p/>
          <a:p>
            <a:r>
              <a:t>Tritan Kediri | Shown in proposed brand architecture | Project scope and operating/development status require confirmation</a:t>
            </a:r>
          </a:p>
          <a:p/>
          <a:p>
            <a:r>
              <a:t>Rule: Location-based naming proposals do not, by themselves, establish that each location is an operating project.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A5 — Industrial Parks</a:t>
            </a:r>
          </a:p>
          <a:p>
            <a:r>
              <a:t>Document pages: 51</a:t>
            </a:r>
          </a:p>
          <a:p/>
          <a:p>
            <a:r>
              <a:t>COMPLETE SOURCE TEXT</a:t>
            </a:r>
          </a:p>
          <a:p>
            <a:r>
              <a:t>Project | Status in client materials | Naming and interpretation</a:t>
            </a:r>
          </a:p>
          <a:p/>
          <a:p>
            <a:r>
              <a:t>Treatment</a:t>
            </a:r>
          </a:p>
          <a:p/>
          <a:p>
            <a:r>
              <a:t>Tanrise Industrial Park Palembang | Ongoing | Confirm development area definitions and current milestone status</a:t>
            </a:r>
          </a:p>
          <a:p/>
          <a:p>
            <a:r>
              <a:t>Tanrise Industrial Park Banjarbaru | Ongoing | Use Banjarbaru consistently; abbreviated “Banjar” references should be reconciled</a:t>
            </a:r>
          </a:p>
          <a:p/>
          <a:p>
            <a:r>
              <a:t>Tanrise Industrial Park Medan | Shown in proposed branding deck | Confirm whether this is a separate project, future plan, or proposed naming treatment</a:t>
            </a:r>
          </a:p>
          <a:p/>
          <a:p>
            <a:r>
              <a:t>Rule: Keep Tritan Medan and Tanrise Industrial Park Medan distinct in the register until their relationship is established.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A6 — Existing Hospitality and Leisure References</a:t>
            </a:r>
          </a:p>
          <a:p>
            <a:r>
              <a:t>Document pages: 52, 53</a:t>
            </a:r>
          </a:p>
          <a:p/>
          <a:p>
            <a:r>
              <a:t>COMPLETE SOURCE TEXT</a:t>
            </a:r>
          </a:p>
          <a:p>
            <a:r>
              <a:t>Property or asset | Naming in client materials | Treatment</a:t>
            </a:r>
          </a:p>
          <a:p/>
          <a:p>
            <a:r>
              <a:t>Vasa Hotel Surabaya | VASA, HR Muhammad — Surabaya | Existing hotel reference</a:t>
            </a:r>
          </a:p>
          <a:p/>
          <a:p>
            <a:r>
              <a:t>Vasa Suite Surabaya | VASA, Gubeng — Surabaya | Existing accommodation reference; standardise Suite/Suites styling</a:t>
            </a:r>
          </a:p>
          <a:p/>
          <a:p>
            <a:r>
              <a:t>Cleo Business Hotel Basuki Rahmat | Investor portfolio and milestones | Existing hotel reference</a:t>
            </a:r>
          </a:p>
          <a:p/>
          <a:p>
            <a:r>
              <a:t>Cleo Business Hotel Walikota Mustajab | Investor portfolio and milestones | Existing hotel reference</a:t>
            </a:r>
          </a:p>
          <a:p/>
          <a:p>
            <a:r>
              <a:t>Cleo Business Hotel Jemursari | Investor portfolio and milestones | Existing hotel reference</a:t>
            </a:r>
          </a:p>
          <a:p/>
          <a:p>
            <a:r>
              <a:t>Solaris Hotel Kuta Bali | Investor portfolio | Existing hotel reference</a:t>
            </a:r>
          </a:p>
          <a:p/>
          <a:p>
            <a:r>
              <a:t>Solaris Hotel Malang | Historical and portfolio references | Existing hotel reference</a:t>
            </a:r>
          </a:p>
          <a:p/>
          <a:p>
            <a:r>
              <a:t>Solaris Villa Bali / Villa Solaris Bali | Investor portfolio and milestones | Existing listing; use approved styling</a:t>
            </a:r>
          </a:p>
          <a:p/>
          <a:p>
            <a:r>
              <a:t>Solaris Villa Malang / Solaris Villa Extension Malang | Investor portfolio and milestones | Existing listing; identify the villa extension separately from the hotel</a:t>
            </a:r>
          </a:p>
          <a:p/>
          <a:p>
            <a:r>
              <a:t>Golf Taman Dayu | Investor asset schedule | Golf asset</a:t>
            </a:r>
          </a:p>
          <a:p/>
          <a:p>
            <a:r>
              <a:t>Driving Range | Investor asset schedule | Separate leisure asset within the Taman Dayu context</a:t>
            </a:r>
          </a:p>
          <a:p/>
          <a:p>
            <a:r>
              <a:t>Taman Dayu Golf &amp; Resort | TANLY operating/destination name | Map its relationship to the underlying property assets and operating arrangements</a:t>
            </a:r>
          </a:p>
          <a:p/>
          <a:p>
            <a:r>
              <a:t>Rule: A hotel brand, legal owner, developer, and management company may occupy different levels of the architecture.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A6 — Existing Hospitality and Leisure References</a:t>
            </a:r>
          </a:p>
          <a:p>
            <a:r>
              <a:t>Document pages: 52, 53</a:t>
            </a:r>
          </a:p>
          <a:p/>
          <a:p>
            <a:r>
              <a:t>COMPLETE SOURCE TEXT</a:t>
            </a:r>
          </a:p>
          <a:p>
            <a:r>
              <a:t>Property or asset | Naming in client materials | Treatment</a:t>
            </a:r>
          </a:p>
          <a:p/>
          <a:p>
            <a:r>
              <a:t>Vasa Hotel Surabaya | VASA, HR Muhammad — Surabaya | Existing hotel reference</a:t>
            </a:r>
          </a:p>
          <a:p/>
          <a:p>
            <a:r>
              <a:t>Vasa Suite Surabaya | VASA, Gubeng — Surabaya | Existing accommodation reference; standardise Suite/Suites styling</a:t>
            </a:r>
          </a:p>
          <a:p/>
          <a:p>
            <a:r>
              <a:t>Cleo Business Hotel Basuki Rahmat | Investor portfolio and milestones | Existing hotel reference</a:t>
            </a:r>
          </a:p>
          <a:p/>
          <a:p>
            <a:r>
              <a:t>Cleo Business Hotel Walikota Mustajab | Investor portfolio and milestones | Existing hotel reference</a:t>
            </a:r>
          </a:p>
          <a:p/>
          <a:p>
            <a:r>
              <a:t>Cleo Business Hotel Jemursari | Investor portfolio and milestones | Existing hotel reference</a:t>
            </a:r>
          </a:p>
          <a:p/>
          <a:p>
            <a:r>
              <a:t>Solaris Hotel Kuta Bali | Investor portfolio | Existing hotel reference</a:t>
            </a:r>
          </a:p>
          <a:p/>
          <a:p>
            <a:r>
              <a:t>Solaris Hotel Malang | Historical and portfolio references | Existing hotel reference</a:t>
            </a:r>
          </a:p>
          <a:p/>
          <a:p>
            <a:r>
              <a:t>Solaris Villa Bali / Villa Solaris Bali | Investor portfolio and milestones | Existing listing; use approved styling</a:t>
            </a:r>
          </a:p>
          <a:p/>
          <a:p>
            <a:r>
              <a:t>Solaris Villa Malang / Solaris Villa Extension Malang | Investor portfolio and milestones | Existing listing; identify the villa extension separately from the hotel</a:t>
            </a:r>
          </a:p>
          <a:p/>
          <a:p>
            <a:r>
              <a:t>Golf Taman Dayu | Investor asset schedule | Golf asset</a:t>
            </a:r>
          </a:p>
          <a:p/>
          <a:p>
            <a:r>
              <a:t>Driving Range | Investor asset schedule | Separate leisure asset within the Taman Dayu context</a:t>
            </a:r>
          </a:p>
          <a:p/>
          <a:p>
            <a:r>
              <a:t>Taman Dayu Golf &amp; Resort | TANLY operating/destination name | Map its relationship to the underlying property assets and operating arrangements</a:t>
            </a:r>
          </a:p>
          <a:p/>
          <a:p>
            <a:r>
              <a:t>Rule: A hotel brand, legal owner, developer, and management company may occupy different levels of the architecture.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A6 — Existing Hospitality and Leisure References</a:t>
            </a:r>
          </a:p>
          <a:p>
            <a:r>
              <a:t>Document pages: 52, 53</a:t>
            </a:r>
          </a:p>
          <a:p/>
          <a:p>
            <a:r>
              <a:t>COMPLETE SOURCE TEXT</a:t>
            </a:r>
          </a:p>
          <a:p>
            <a:r>
              <a:t>Property or asset | Naming in client materials | Treatment</a:t>
            </a:r>
          </a:p>
          <a:p/>
          <a:p>
            <a:r>
              <a:t>Vasa Hotel Surabaya | VASA, HR Muhammad — Surabaya | Existing hotel reference</a:t>
            </a:r>
          </a:p>
          <a:p/>
          <a:p>
            <a:r>
              <a:t>Vasa Suite Surabaya | VASA, Gubeng — Surabaya | Existing accommodation reference; standardise Suite/Suites styling</a:t>
            </a:r>
          </a:p>
          <a:p/>
          <a:p>
            <a:r>
              <a:t>Cleo Business Hotel Basuki Rahmat | Investor portfolio and milestones | Existing hotel reference</a:t>
            </a:r>
          </a:p>
          <a:p/>
          <a:p>
            <a:r>
              <a:t>Cleo Business Hotel Walikota Mustajab | Investor portfolio and milestones | Existing hotel reference</a:t>
            </a:r>
          </a:p>
          <a:p/>
          <a:p>
            <a:r>
              <a:t>Cleo Business Hotel Jemursari | Investor portfolio and milestones | Existing hotel reference</a:t>
            </a:r>
          </a:p>
          <a:p/>
          <a:p>
            <a:r>
              <a:t>Solaris Hotel Kuta Bali | Investor portfolio | Existing hotel reference</a:t>
            </a:r>
          </a:p>
          <a:p/>
          <a:p>
            <a:r>
              <a:t>Solaris Hotel Malang | Historical and portfolio references | Existing hotel reference</a:t>
            </a:r>
          </a:p>
          <a:p/>
          <a:p>
            <a:r>
              <a:t>Solaris Villa Bali / Villa Solaris Bali | Investor portfolio and milestones | Existing listing; use approved styling</a:t>
            </a:r>
          </a:p>
          <a:p/>
          <a:p>
            <a:r>
              <a:t>Solaris Villa Malang / Solaris Villa Extension Malang | Investor portfolio and milestones | Existing listing; identify the villa extension separately from the hotel</a:t>
            </a:r>
          </a:p>
          <a:p/>
          <a:p>
            <a:r>
              <a:t>Golf Taman Dayu | Investor asset schedule | Golf asset</a:t>
            </a:r>
          </a:p>
          <a:p/>
          <a:p>
            <a:r>
              <a:t>Driving Range | Investor asset schedule | Separate leisure asset within the Taman Dayu context</a:t>
            </a:r>
          </a:p>
          <a:p/>
          <a:p>
            <a:r>
              <a:t>Taman Dayu Golf &amp; Resort | TANLY operating/destination name | Map its relationship to the underlying property assets and operating arrangements</a:t>
            </a:r>
          </a:p>
          <a:p/>
          <a:p>
            <a:r>
              <a:t>Rule: A hotel brand, legal owner, developer, and management company may occupy different levels of the architecture.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A7 — TANRISE Hospitality Development Pipeline</a:t>
            </a:r>
          </a:p>
          <a:p>
            <a:r>
              <a:t>Document pages: 53, 54</a:t>
            </a:r>
          </a:p>
          <a:p/>
          <a:p>
            <a:r>
              <a:t>COMPLETE SOURCE TEXT</a:t>
            </a:r>
          </a:p>
          <a:p>
            <a:r>
              <a:t>Project | Status in investor deck | Treatment</a:t>
            </a:r>
          </a:p>
          <a:p/>
          <a:p>
            <a:r>
              <a:t>VASA Ubud | Ongoing | Vasa Resort Ubud naming also appears publicly; confirm final approved name</a:t>
            </a:r>
          </a:p>
          <a:p/>
          <a:p>
            <a:r>
              <a:t>VASA Bromo | Ongoing | Vasa Hotel/Resort Bromo styling should be standardised</a:t>
            </a:r>
          </a:p>
          <a:p/>
          <a:p>
            <a:r>
              <a:t>VASA Canggu | Upcoming | Do not present as operating</a:t>
            </a:r>
          </a:p>
          <a:p/>
          <a:p>
            <a:r>
              <a:t>VASA Malang | Upcoming | Distinguish from Solaris Malang and other Malang developments</a:t>
            </a:r>
          </a:p>
          <a:p/>
          <a:p>
            <a:r>
              <a:t>GOED Malang | Upcoming | Separate brand/project entry within the Malang development context</a:t>
            </a:r>
          </a:p>
          <a:p/>
          <a:p>
            <a:r>
              <a:t>Ownership figures for Ubud and Bromo conflict between the summary and detailed pages. Do not reproduce a single percentage without reconciliation.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A7 — TANRISE Hospitality Development Pipeline</a:t>
            </a:r>
          </a:p>
          <a:p>
            <a:r>
              <a:t>Document pages: 53, 54</a:t>
            </a:r>
          </a:p>
          <a:p/>
          <a:p>
            <a:r>
              <a:t>COMPLETE SOURCE TEXT</a:t>
            </a:r>
          </a:p>
          <a:p>
            <a:r>
              <a:t>Project | Status in investor deck | Treatment</a:t>
            </a:r>
          </a:p>
          <a:p/>
          <a:p>
            <a:r>
              <a:t>VASA Ubud | Ongoing | Vasa Resort Ubud naming also appears publicly; confirm final approved name</a:t>
            </a:r>
          </a:p>
          <a:p/>
          <a:p>
            <a:r>
              <a:t>VASA Bromo | Ongoing | Vasa Hotel/Resort Bromo styling should be standardised</a:t>
            </a:r>
          </a:p>
          <a:p/>
          <a:p>
            <a:r>
              <a:t>VASA Canggu | Upcoming | Do not present as operating</a:t>
            </a:r>
          </a:p>
          <a:p/>
          <a:p>
            <a:r>
              <a:t>VASA Malang | Upcoming | Distinguish from Solaris Malang and other Malang developments</a:t>
            </a:r>
          </a:p>
          <a:p/>
          <a:p>
            <a:r>
              <a:t>GOED Malang | Upcoming | Separate brand/project entry within the Malang development context</a:t>
            </a:r>
          </a:p>
          <a:p/>
          <a:p>
            <a:r>
              <a:t>Ownership figures for Ubud and Bromo conflict between the summary and detailed pages. Do not reproduce a single percentage without reconciliation.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A8 — Wider TANLY Pipeline — Separate From Confirmed TANRISE Asset Ownership</a:t>
            </a:r>
          </a:p>
          <a:p>
            <a:r>
              <a:t>Document pages: 54</a:t>
            </a:r>
          </a:p>
          <a:p/>
          <a:p>
            <a:r>
              <a:t>COMPLETE SOURCE TEXT</a:t>
            </a:r>
          </a:p>
          <a:p>
            <a:r>
              <a:t>TANLY’s publicly listed future collection also includes:</a:t>
            </a:r>
          </a:p>
          <a:p/>
          <a:p>
            <a:r>
              <a:t>● Vasa Hotel Manado. ● Vasa Hotel Benoa. ● Vasa Hotel Nilaya, Batu. ● GOED President Pacitan.</a:t>
            </a:r>
          </a:p>
          <a:p/>
          <a:p>
            <a:r>
              <a:t>These are wider hospitality-management portfolio references.</a:t>
            </a:r>
          </a:p>
          <a:p/>
          <a:p>
            <a:r>
              <a:t>Do not add them to TANRISE’s owned or invested asset list unless the client confirms the relevant property interest.</a:t>
            </a:r>
          </a:p>
          <a:p/>
          <a:p>
            <a:r>
              <a:t>Public hotel naming also differs from some investor-deck labels. Maintain an alias field rather than creating duplicate project entries.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B1 — Naming and Classification Decisions</a:t>
            </a:r>
          </a:p>
          <a:p>
            <a:r>
              <a:t>Document pages: 55, 56</a:t>
            </a:r>
          </a:p>
          <a:p/>
          <a:p>
            <a:r>
              <a:t>COMPLETE SOURCE TEXT</a:t>
            </a:r>
          </a:p>
          <a:p>
            <a:r>
              <a:t>Issue | Required decision</a:t>
            </a:r>
          </a:p>
          <a:p/>
          <a:p>
            <a:r>
              <a:t>Jumana → Sunrise Residence Sidoarjo | Confirm whether the change is approved and implemented</a:t>
            </a:r>
          </a:p>
          <a:p/>
          <a:p>
            <a:r>
              <a:t>Grand Sunrise Malang / Sunrise Residence Malang / Sunrise Garden Malang | Confirm number of projects, approved names, and scopes</a:t>
            </a:r>
          </a:p>
          <a:p/>
          <a:p>
            <a:r>
              <a:t>TritanPoint / TritanHub → TRITAN | Confirm implementation and location mapping</a:t>
            </a:r>
          </a:p>
          <a:p/>
          <a:p>
            <a:r>
              <a:t>Kyo Society classified under Commercial | Agree primary classification and explain the investment proposition separately</a:t>
            </a:r>
          </a:p>
          <a:p/>
          <a:p>
            <a:r>
              <a:t>ARC100 and accommodation references | Confirm current brand, asset, and operating relationships</a:t>
            </a:r>
          </a:p>
          <a:p/>
          <a:p>
            <a:r>
              <a:t>Midpoint Kayoon | Confirm current project status and commercial model</a:t>
            </a:r>
          </a:p>
          <a:p/>
          <a:p>
            <a:r>
              <a:t>Bali Bites | Clarify asset ownership, destination identity, and restaurant-management relationships</a:t>
            </a:r>
          </a:p>
          <a:p/>
          <a:p>
            <a:r>
              <a:t>The House of VASA | Confirm whether this is an approved architecture or an unapproved proposal</a:t>
            </a:r>
          </a:p>
          <a:p/>
          <a:p>
            <a:r>
              <a:t>Education and Healthcare | Identify any committed facilities or operating businesses before presenting them as established units</a:t>
            </a:r>
          </a:p>
          <a:p/>
          <a:p>
            <a:r>
              <a:t>Five business pillars versus seven product categories | Approve one reporting hierarchy and a clear cross-reference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B1 — Naming and Classification Decisions</a:t>
            </a:r>
          </a:p>
          <a:p>
            <a:r>
              <a:t>Document pages: 55, 56</a:t>
            </a:r>
          </a:p>
          <a:p/>
          <a:p>
            <a:r>
              <a:t>COMPLETE SOURCE TEXT</a:t>
            </a:r>
          </a:p>
          <a:p>
            <a:r>
              <a:t>Issue | Required decision</a:t>
            </a:r>
          </a:p>
          <a:p/>
          <a:p>
            <a:r>
              <a:t>Jumana → Sunrise Residence Sidoarjo | Confirm whether the change is approved and implemented</a:t>
            </a:r>
          </a:p>
          <a:p/>
          <a:p>
            <a:r>
              <a:t>Grand Sunrise Malang / Sunrise Residence Malang / Sunrise Garden Malang | Confirm number of projects, approved names, and scopes</a:t>
            </a:r>
          </a:p>
          <a:p/>
          <a:p>
            <a:r>
              <a:t>TritanPoint / TritanHub → TRITAN | Confirm implementation and location mapping</a:t>
            </a:r>
          </a:p>
          <a:p/>
          <a:p>
            <a:r>
              <a:t>Kyo Society classified under Commercial | Agree primary classification and explain the investment proposition separately</a:t>
            </a:r>
          </a:p>
          <a:p/>
          <a:p>
            <a:r>
              <a:t>ARC100 and accommodation references | Confirm current brand, asset, and operating relationships</a:t>
            </a:r>
          </a:p>
          <a:p/>
          <a:p>
            <a:r>
              <a:t>Midpoint Kayoon | Confirm current project status and commercial model</a:t>
            </a:r>
          </a:p>
          <a:p/>
          <a:p>
            <a:r>
              <a:t>Bali Bites | Clarify asset ownership, destination identity, and restaurant-management relationships</a:t>
            </a:r>
          </a:p>
          <a:p/>
          <a:p>
            <a:r>
              <a:t>The House of VASA | Confirm whether this is an approved architecture or an unapproved proposal</a:t>
            </a:r>
          </a:p>
          <a:p/>
          <a:p>
            <a:r>
              <a:t>Education and Healthcare | Identify any committed facilities or operating businesses before presenting them as established units</a:t>
            </a:r>
          </a:p>
          <a:p/>
          <a:p>
            <a:r>
              <a:t>Five business pillars versus seven product categories | Approve one reporting hierarchy and a clear cross-reference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B1 — Naming and Classification Decisions</a:t>
            </a:r>
          </a:p>
          <a:p>
            <a:r>
              <a:t>Document pages: 55, 56</a:t>
            </a:r>
          </a:p>
          <a:p/>
          <a:p>
            <a:r>
              <a:t>COMPLETE SOURCE TEXT</a:t>
            </a:r>
          </a:p>
          <a:p>
            <a:r>
              <a:t>Issue | Required decision</a:t>
            </a:r>
          </a:p>
          <a:p/>
          <a:p>
            <a:r>
              <a:t>Jumana → Sunrise Residence Sidoarjo | Confirm whether the change is approved and implemented</a:t>
            </a:r>
          </a:p>
          <a:p/>
          <a:p>
            <a:r>
              <a:t>Grand Sunrise Malang / Sunrise Residence Malang / Sunrise Garden Malang | Confirm number of projects, approved names, and scopes</a:t>
            </a:r>
          </a:p>
          <a:p/>
          <a:p>
            <a:r>
              <a:t>TritanPoint / TritanHub → TRITAN | Confirm implementation and location mapping</a:t>
            </a:r>
          </a:p>
          <a:p/>
          <a:p>
            <a:r>
              <a:t>Kyo Society classified under Commercial | Agree primary classification and explain the investment proposition separately</a:t>
            </a:r>
          </a:p>
          <a:p/>
          <a:p>
            <a:r>
              <a:t>ARC100 and accommodation references | Confirm current brand, asset, and operating relationships</a:t>
            </a:r>
          </a:p>
          <a:p/>
          <a:p>
            <a:r>
              <a:t>Midpoint Kayoon | Confirm current project status and commercial model</a:t>
            </a:r>
          </a:p>
          <a:p/>
          <a:p>
            <a:r>
              <a:t>Bali Bites | Clarify asset ownership, destination identity, and restaurant-management relationships</a:t>
            </a:r>
          </a:p>
          <a:p/>
          <a:p>
            <a:r>
              <a:t>The House of VASA | Confirm whether this is an approved architecture or an unapproved proposal</a:t>
            </a:r>
          </a:p>
          <a:p/>
          <a:p>
            <a:r>
              <a:t>Education and Healthcare | Identify any committed facilities or operating businesses before presenting them as established units</a:t>
            </a:r>
          </a:p>
          <a:p/>
          <a:p>
            <a:r>
              <a:t>Five business pillars versus seven product categories | Approve one reporting hierarchy and a clear cross-reference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B2 — Internal Numerical Conflicts in the Investor Deck</a:t>
            </a:r>
          </a:p>
          <a:p>
            <a:r>
              <a:t>Document pages: 56</a:t>
            </a:r>
          </a:p>
          <a:p/>
          <a:p>
            <a:r>
              <a:t>COMPLETE SOURCE TEXT</a:t>
            </a:r>
          </a:p>
          <a:p>
            <a:r>
              <a:t>Item | Conflicting information</a:t>
            </a:r>
          </a:p>
          <a:p/>
          <a:p>
            <a:r>
              <a:t>VASA Ubud ownership | Summary: 100%; detailed project page: 73.3%</a:t>
            </a:r>
          </a:p>
          <a:p/>
          <a:p>
            <a:r>
              <a:t>VASA Bromo ownership | Summary: 73.3%; detailed project page: 100%</a:t>
            </a:r>
          </a:p>
          <a:p/>
          <a:p>
            <a:r>
              <a:t>Swiss of Taman Dayu ownership | Summary: 45.0%; detailed page: 45.5%</a:t>
            </a:r>
          </a:p>
          <a:p/>
          <a:p>
            <a:r>
              <a:t>Palembang industrial-park area | Table: 131.1 hectares; rendering caption: 212 hectares</a:t>
            </a:r>
          </a:p>
          <a:p/>
          <a:p>
            <a:r>
              <a:t>Tritan Gempol location | Project name/map: Pasuruan; detailed table: Sidoarjo</a:t>
            </a:r>
          </a:p>
          <a:p/>
          <a:p>
            <a:r>
              <a:t>Rounded versus detailed ownership figures | Several summary percentages differ slightly from detailed legal-interest figures</a:t>
            </a:r>
          </a:p>
          <a:p/>
          <a:p>
            <a:r>
              <a:t>Differences may reflect rounding, effective ownership, legal ownership, development phases, or errors. The decks do not provide sufficient reconciliation.</a:t>
            </a:r>
          </a:p>
          <a:p/>
          <a:p>
            <a:r>
              <a:t>Presentation rule: Omit disputed percentages and areas from the leadership narrative until clarified.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B2 — Internal Numerical Conflicts in the Investor Deck</a:t>
            </a:r>
          </a:p>
          <a:p>
            <a:r>
              <a:t>Document pages: 56</a:t>
            </a:r>
          </a:p>
          <a:p/>
          <a:p>
            <a:r>
              <a:t>COMPLETE SOURCE TEXT</a:t>
            </a:r>
          </a:p>
          <a:p>
            <a:r>
              <a:t>Item | Conflicting information</a:t>
            </a:r>
          </a:p>
          <a:p/>
          <a:p>
            <a:r>
              <a:t>VASA Ubud ownership | Summary: 100%; detailed project page: 73.3%</a:t>
            </a:r>
          </a:p>
          <a:p/>
          <a:p>
            <a:r>
              <a:t>VASA Bromo ownership | Summary: 73.3%; detailed project page: 100%</a:t>
            </a:r>
          </a:p>
          <a:p/>
          <a:p>
            <a:r>
              <a:t>Swiss of Taman Dayu ownership | Summary: 45.0%; detailed page: 45.5%</a:t>
            </a:r>
          </a:p>
          <a:p/>
          <a:p>
            <a:r>
              <a:t>Palembang industrial-park area | Table: 131.1 hectares; rendering caption: 212 hectares</a:t>
            </a:r>
          </a:p>
          <a:p/>
          <a:p>
            <a:r>
              <a:t>Tritan Gempol location | Project name/map: Pasuruan; detailed table: Sidoarjo</a:t>
            </a:r>
          </a:p>
          <a:p/>
          <a:p>
            <a:r>
              <a:t>Rounded versus detailed ownership figures | Several summary percentages differ slightly from detailed legal-interest figures</a:t>
            </a:r>
          </a:p>
          <a:p/>
          <a:p>
            <a:r>
              <a:t>Differences may reflect rounding, effective ownership, legal ownership, development phases, or errors. The decks do not provide sufficient reconciliation.</a:t>
            </a:r>
          </a:p>
          <a:p/>
          <a:p>
            <a:r>
              <a:t>Presentation rule: Omit disputed percentages and areas from the leadership narrative until clarified.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APP C — Financial Validation Workstream</a:t>
            </a:r>
          </a:p>
          <a:p>
            <a:r>
              <a:t>Document pages: 57</a:t>
            </a:r>
          </a:p>
          <a:p/>
          <a:p>
            <a:r>
              <a:t>COMPLETE SOURCE TEXT</a:t>
            </a:r>
          </a:p>
          <a:p>
            <a:r>
              <a:t>TANRISE 2035 Financial Gap Analysis and Growth Scenarios</a:t>
            </a:r>
          </a:p>
          <a:p/>
          <a:p>
            <a:r>
              <a:t>Establish:</a:t>
            </a:r>
          </a:p>
          <a:p/>
          <a:p>
            <a:r>
              <a:t>1. Current audited revenue, attributable profit, assets, debt, and operating cash flow. 2. Consistent peer revenue and attributable-profit rankings. 3. Projected 2035 thresholds under different competitor-growth assumptions. 4. Contributions required from the five business pillars. 5. Revenue and cash-flow timing from existing, ongoing, and upcoming projects. 6. Ownership-adjusted earnings contribution. 7. Capital investment and funding requirements. 8. Contributions from partnerships and potential acquisitions. 9. Annual milestones and downside scenarios.</a:t>
            </a:r>
          </a:p>
          <a:p/>
          <a:p>
            <a:r>
              <a:t>Recommended deliverable: TANRISE 2035 Financial Gap Analysis &amp; Growth Scenarios.</a:t>
            </a:r>
          </a:p>
          <a:p/>
          <a:p>
            <a:r>
              <a:t>Use audited financial statements as the primary financial baseline and reconcile differences with presentation summaries.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APP C — Financial Validation Workstream</a:t>
            </a:r>
          </a:p>
          <a:p>
            <a:r>
              <a:t>Document pages: 57</a:t>
            </a:r>
          </a:p>
          <a:p/>
          <a:p>
            <a:r>
              <a:t>COMPLETE SOURCE TEXT</a:t>
            </a:r>
          </a:p>
          <a:p>
            <a:r>
              <a:t>TANRISE 2035 Financial Gap Analysis and Growth Scenarios</a:t>
            </a:r>
          </a:p>
          <a:p/>
          <a:p>
            <a:r>
              <a:t>Establish:</a:t>
            </a:r>
          </a:p>
          <a:p/>
          <a:p>
            <a:r>
              <a:t>1. Current audited revenue, attributable profit, assets, debt, and operating cash flow. 2. Consistent peer revenue and attributable-profit rankings. 3. Projected 2035 thresholds under different competitor-growth assumptions. 4. Contributions required from the five business pillars. 5. Revenue and cash-flow timing from existing, ongoing, and upcoming projects. 6. Ownership-adjusted earnings contribution. 7. Capital investment and funding requirements. 8. Contributions from partnerships and potential acquisitions. 9. Annual milestones and downside scenarios.</a:t>
            </a:r>
          </a:p>
          <a:p/>
          <a:p>
            <a:r>
              <a:t>Recommended deliverable: TANRISE 2035 Financial Gap Analysis &amp; Growth Scenarios.</a:t>
            </a:r>
          </a:p>
          <a:p/>
          <a:p>
            <a:r>
              <a:t>Use audited financial statements as the primary financial baseline and reconcile differences with presentation summaries.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APP D — Turning Strategy Into Business Cases</a:t>
            </a:r>
          </a:p>
          <a:p>
            <a:r>
              <a:t>Document pages: 57, 58</a:t>
            </a:r>
          </a:p>
          <a:p/>
          <a:p>
            <a:r>
              <a:t>COMPLETE SOURCE TEXT</a:t>
            </a:r>
          </a:p>
          <a:p>
            <a:r>
              <a:t>Every Initiative Should Answer Three Questions</a:t>
            </a:r>
          </a:p>
          <a:p/>
          <a:p>
            <a:r>
              <a:t>1. What Opportunity Are We Pursuing?</a:t>
            </a:r>
          </a:p>
          <a:p/>
          <a:p>
            <a:r>
              <a:t>Examples:</a:t>
            </a:r>
          </a:p>
          <a:p/>
          <a:p>
            <a:r>
              <a:t>● Improve Taman Dayu destination utilisation. ● Strengthen early-phase demand in Sidoarjo and Bandung. ● Improve industrial occupier acquisition. ● Increase productivity of retained commercial and hospitality assets.</a:t>
            </a:r>
          </a:p>
          <a:p/>
          <a:p>
            <a:r>
              <a:t>2. What Capabilities Are Required?</a:t>
            </a:r>
          </a:p>
          <a:p/>
          <a:p>
            <a:r>
              <a:t>● Development and infrastructure delivery. ● Commercial leasing and tenant curation. ● Destination programming. ● Partnerships. ● Customer and membership management. ● Asset management. ● Hospitality operations. ● Reliable portfolio and financial reporting.</a:t>
            </a:r>
          </a:p>
          <a:p/>
          <a:p>
            <a:r>
              <a:t>3. How Will Success Be Measured?</a:t>
            </a:r>
          </a:p>
          <a:p/>
          <a:p>
            <a:r>
              <a:t>Use appropriate measures for each asset:</a:t>
            </a:r>
          </a:p>
          <a:p/>
          <a:p>
            <a:r>
              <a:t>● Sales absorption and margin. ● Handover and opening readiness. ● Occupancy and retention. ● Visitation and repeat visits. ● RevPAR and operating profit. ● NOI and cash contribution. ● Customer satisfaction. ● Return on invested capital.</a:t>
            </a:r>
          </a:p>
          <a:p/>
          <a:p>
            <a:r>
              <a:t>Rule: Every business case needs an accountable owner, investment envelope, milestones, assumptions, and review dates.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APP D — Turning Strategy Into Business Cases</a:t>
            </a:r>
          </a:p>
          <a:p>
            <a:r>
              <a:t>Document pages: 57, 58</a:t>
            </a:r>
          </a:p>
          <a:p/>
          <a:p>
            <a:r>
              <a:t>COMPLETE SOURCE TEXT</a:t>
            </a:r>
          </a:p>
          <a:p>
            <a:r>
              <a:t>Every Initiative Should Answer Three Questions</a:t>
            </a:r>
          </a:p>
          <a:p/>
          <a:p>
            <a:r>
              <a:t>1. What Opportunity Are We Pursuing?</a:t>
            </a:r>
          </a:p>
          <a:p/>
          <a:p>
            <a:r>
              <a:t>Examples:</a:t>
            </a:r>
          </a:p>
          <a:p/>
          <a:p>
            <a:r>
              <a:t>● Improve Taman Dayu destination utilisation. ● Strengthen early-phase demand in Sidoarjo and Bandung. ● Improve industrial occupier acquisition. ● Increase productivity of retained commercial and hospitality assets.</a:t>
            </a:r>
          </a:p>
          <a:p/>
          <a:p>
            <a:r>
              <a:t>2. What Capabilities Are Required?</a:t>
            </a:r>
          </a:p>
          <a:p/>
          <a:p>
            <a:r>
              <a:t>● Development and infrastructure delivery. ● Commercial leasing and tenant curation. ● Destination programming. ● Partnerships. ● Customer and membership management. ● Asset management. ● Hospitality operations. ● Reliable portfolio and financial reporting.</a:t>
            </a:r>
          </a:p>
          <a:p/>
          <a:p>
            <a:r>
              <a:t>3. How Will Success Be Measured?</a:t>
            </a:r>
          </a:p>
          <a:p/>
          <a:p>
            <a:r>
              <a:t>Use appropriate measures for each asset:</a:t>
            </a:r>
          </a:p>
          <a:p/>
          <a:p>
            <a:r>
              <a:t>● Sales absorption and margin. ● Handover and opening readiness. ● Occupancy and retention. ● Visitation and repeat visits. ● RevPAR and operating profit. ● NOI and cash contribution. ● Customer satisfaction. ● Return on invested capital.</a:t>
            </a:r>
          </a:p>
          <a:p/>
          <a:p>
            <a:r>
              <a:t>Rule: Every business case needs an accountable owner, investment envelope, milestones, assumptions, and review dates.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APP D — Turning Strategy Into Business Cases</a:t>
            </a:r>
          </a:p>
          <a:p>
            <a:r>
              <a:t>Document pages: 57, 58</a:t>
            </a:r>
          </a:p>
          <a:p/>
          <a:p>
            <a:r>
              <a:t>COMPLETE SOURCE TEXT</a:t>
            </a:r>
          </a:p>
          <a:p>
            <a:r>
              <a:t>Every Initiative Should Answer Three Questions</a:t>
            </a:r>
          </a:p>
          <a:p/>
          <a:p>
            <a:r>
              <a:t>1. What Opportunity Are We Pursuing?</a:t>
            </a:r>
          </a:p>
          <a:p/>
          <a:p>
            <a:r>
              <a:t>Examples:</a:t>
            </a:r>
          </a:p>
          <a:p/>
          <a:p>
            <a:r>
              <a:t>● Improve Taman Dayu destination utilisation. ● Strengthen early-phase demand in Sidoarjo and Bandung. ● Improve industrial occupier acquisition. ● Increase productivity of retained commercial and hospitality assets.</a:t>
            </a:r>
          </a:p>
          <a:p/>
          <a:p>
            <a:r>
              <a:t>2. What Capabilities Are Required?</a:t>
            </a:r>
          </a:p>
          <a:p/>
          <a:p>
            <a:r>
              <a:t>● Development and infrastructure delivery. ● Commercial leasing and tenant curation. ● Destination programming. ● Partnerships. ● Customer and membership management. ● Asset management. ● Hospitality operations. ● Reliable portfolio and financial reporting.</a:t>
            </a:r>
          </a:p>
          <a:p/>
          <a:p>
            <a:r>
              <a:t>3. How Will Success Be Measured?</a:t>
            </a:r>
          </a:p>
          <a:p/>
          <a:p>
            <a:r>
              <a:t>Use appropriate measures for each asset:</a:t>
            </a:r>
          </a:p>
          <a:p/>
          <a:p>
            <a:r>
              <a:t>● Sales absorption and margin. ● Handover and opening readiness. ● Occupancy and retention. ● Visitation and repeat visits. ● RevPAR and operating profit. ● NOI and cash contribution. ● Customer satisfaction. ● Return on invested capital.</a:t>
            </a:r>
          </a:p>
          <a:p/>
          <a:p>
            <a:r>
              <a:t>Rule: Every business case needs an accountable owner, investment envelope, milestones, assumptions, and review dates.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APP D — Turning Strategy Into Business Cases</a:t>
            </a:r>
          </a:p>
          <a:p>
            <a:r>
              <a:t>Document pages: 57, 58</a:t>
            </a:r>
          </a:p>
          <a:p/>
          <a:p>
            <a:r>
              <a:t>COMPLETE SOURCE TEXT</a:t>
            </a:r>
          </a:p>
          <a:p>
            <a:r>
              <a:t>Every Initiative Should Answer Three Questions</a:t>
            </a:r>
          </a:p>
          <a:p/>
          <a:p>
            <a:r>
              <a:t>1. What Opportunity Are We Pursuing?</a:t>
            </a:r>
          </a:p>
          <a:p/>
          <a:p>
            <a:r>
              <a:t>Examples:</a:t>
            </a:r>
          </a:p>
          <a:p/>
          <a:p>
            <a:r>
              <a:t>● Improve Taman Dayu destination utilisation. ● Strengthen early-phase demand in Sidoarjo and Bandung. ● Improve industrial occupier acquisition. ● Increase productivity of retained commercial and hospitality assets.</a:t>
            </a:r>
          </a:p>
          <a:p/>
          <a:p>
            <a:r>
              <a:t>2. What Capabilities Are Required?</a:t>
            </a:r>
          </a:p>
          <a:p/>
          <a:p>
            <a:r>
              <a:t>● Development and infrastructure delivery. ● Commercial leasing and tenant curation. ● Destination programming. ● Partnerships. ● Customer and membership management. ● Asset management. ● Hospitality operations. ● Reliable portfolio and financial reporting.</a:t>
            </a:r>
          </a:p>
          <a:p/>
          <a:p>
            <a:r>
              <a:t>3. How Will Success Be Measured?</a:t>
            </a:r>
          </a:p>
          <a:p/>
          <a:p>
            <a:r>
              <a:t>Use appropriate measures for each asset:</a:t>
            </a:r>
          </a:p>
          <a:p/>
          <a:p>
            <a:r>
              <a:t>● Sales absorption and margin. ● Handover and opening readiness. ● Occupancy and retention. ● Visitation and repeat visits. ● RevPAR and operating profit. ● NOI and cash contribution. ● Customer satisfaction. ● Return on invested capital.</a:t>
            </a:r>
          </a:p>
          <a:p/>
          <a:p>
            <a:r>
              <a:t>Rule: Every business case needs an accountable owner, investment envelope, milestones, assumptions, and review dates.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APP E — Executive Decisions Required</a:t>
            </a:r>
          </a:p>
          <a:p>
            <a:r>
              <a:t>Document pages: 58, 59</a:t>
            </a:r>
          </a:p>
          <a:p/>
          <a:p>
            <a:r>
              <a:t>COMPLETE SOURCE TEXT</a:t>
            </a:r>
          </a:p>
          <a:p>
            <a:r>
              <a:t>Decision | Proposed recommendation</a:t>
            </a:r>
          </a:p>
          <a:p/>
          <a:p>
            <a:r>
              <a:t>Corporate positioning | Adopt Elevating Life as the primary corporate expression</a:t>
            </a:r>
          </a:p>
          <a:p/>
          <a:p>
            <a:r>
              <a:t>Portfolio reporting | Use the five documented business pillars as the current business-description baseline</a:t>
            </a:r>
          </a:p>
          <a:p/>
          <a:p>
            <a:r>
              <a:t>Naming governance | Preserve established names and implement only approved naming transitions</a:t>
            </a:r>
          </a:p>
          <a:p/>
          <a:p>
            <a:r>
              <a:t>Group architecture | Distinguish TANRISE’s property role from TANLY’s hospitality-management role</a:t>
            </a:r>
          </a:p>
          <a:p/>
          <a:p>
            <a:r>
              <a:t>Business model | Strengthen development performance and selectively improve recurring-income engines</a:t>
            </a:r>
          </a:p>
          <a:p/>
          <a:p>
            <a:r>
              <a:t>Strategic priorities | Advance Taman Dayu, integrated-city, industrial, and hospitality business cases according to feasibility</a:t>
            </a:r>
          </a:p>
          <a:p/>
          <a:p>
            <a:r>
              <a:t>2035 transformation | Establish a funded roadmap with annual milestones and executive accountability</a:t>
            </a:r>
          </a:p>
          <a:p/>
          <a:p>
            <a:r>
              <a:t>All recommendations require leadership approval.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APP E — Executive Decisions Required</a:t>
            </a:r>
          </a:p>
          <a:p>
            <a:r>
              <a:t>Document pages: 58, 59</a:t>
            </a:r>
          </a:p>
          <a:p/>
          <a:p>
            <a:r>
              <a:t>COMPLETE SOURCE TEXT</a:t>
            </a:r>
          </a:p>
          <a:p>
            <a:r>
              <a:t>Decision | Proposed recommendation</a:t>
            </a:r>
          </a:p>
          <a:p/>
          <a:p>
            <a:r>
              <a:t>Corporate positioning | Adopt Elevating Life as the primary corporate expression</a:t>
            </a:r>
          </a:p>
          <a:p/>
          <a:p>
            <a:r>
              <a:t>Portfolio reporting | Use the five documented business pillars as the current business-description baseline</a:t>
            </a:r>
          </a:p>
          <a:p/>
          <a:p>
            <a:r>
              <a:t>Naming governance | Preserve established names and implement only approved naming transitions</a:t>
            </a:r>
          </a:p>
          <a:p/>
          <a:p>
            <a:r>
              <a:t>Group architecture | Distinguish TANRISE’s property role from TANLY’s hospitality-management role</a:t>
            </a:r>
          </a:p>
          <a:p/>
          <a:p>
            <a:r>
              <a:t>Business model | Strengthen development performance and selectively improve recurring-income engines</a:t>
            </a:r>
          </a:p>
          <a:p/>
          <a:p>
            <a:r>
              <a:t>Strategic priorities | Advance Taman Dayu, integrated-city, industrial, and hospitality business cases according to feasibility</a:t>
            </a:r>
          </a:p>
          <a:p/>
          <a:p>
            <a:r>
              <a:t>2035 transformation | Establish a funded roadmap with annual milestones and executive accountability</a:t>
            </a:r>
          </a:p>
          <a:p/>
          <a:p>
            <a:r>
              <a:t>All recommendations require leadership approval.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APP F — Design And Source Guidance</a:t>
            </a:r>
          </a:p>
          <a:p>
            <a:r>
              <a:t>Document pages: 59, 60, 61</a:t>
            </a:r>
          </a:p>
          <a:p/>
          <a:p>
            <a:r>
              <a:t>COMPLETE SOURCE TEXT</a:t>
            </a:r>
          </a:p>
          <a:p>
            <a:r>
              <a:t>Presentation Structure</a:t>
            </a:r>
          </a:p>
          <a:p/>
          <a:p>
            <a:r>
              <a:t>Section | Slides | Objective</a:t>
            </a:r>
          </a:p>
          <a:p/>
          <a:p>
            <a:r>
              <a:t>Corporate research and diagnosis | 01–07 | Establish the business, portfolio, and growth challenge</a:t>
            </a:r>
          </a:p>
          <a:p/>
          <a:p>
            <a:r>
              <a:t>Competitive intelligence | 08–17 | Identify relevant competitive mechanisms</a:t>
            </a:r>
          </a:p>
          <a:p/>
          <a:p>
            <a:r>
              <a:t>Corporate and portfolio architecture | 18–21 | Clarify group roles, projects, naming, and status</a:t>
            </a:r>
          </a:p>
          <a:p/>
          <a:p>
            <a:r>
              <a:t>Three brand alternatives | 22–25 | Present strategic choices</a:t>
            </a:r>
          </a:p>
          <a:p/>
          <a:p>
            <a:r>
              <a:t>Recommended platform | 26–33 | Define identity, values, culture, and experience</a:t>
            </a:r>
          </a:p>
          <a:p/>
          <a:p>
            <a:r>
              <a:t>Business transformation | 34–37 | Connect the portfolio to commercial value</a:t>
            </a:r>
          </a:p>
          <a:p/>
          <a:p>
            <a:r>
              <a:t>Roadmap and execution | 38–40 | Translate ambition into action</a:t>
            </a:r>
          </a:p>
          <a:p/>
          <a:p>
            <a:r>
              <a:t>Visual Direction</a:t>
            </a:r>
          </a:p>
          <a:p/>
          <a:p>
            <a:r>
              <a:t>Portfolio research Use actual client project photography and renderings. Label renderings and future facilities clearly.</a:t>
            </a:r>
          </a:p>
          <a:p/>
          <a:p>
            <a:r>
              <a:t>Architecture Separate corporate group relationships, business pillars, destination brands, individual projects, and operators.</a:t>
            </a:r>
          </a:p>
          <a:p/>
          <a:p>
            <a:r>
              <a:t>Project status Use a consistent visual key for existing, ongoing, upcoming, proposed naming, and unresolved information.</a:t>
            </a:r>
          </a:p>
          <a:p/>
          <a:p>
            <a:r>
              <a:t>Financial comparisons Use consistent periods, definitions, and units. Show disputed or unreconciled figures only in the validation appendix.</a:t>
            </a:r>
          </a:p>
          <a:p/>
          <a:p>
            <a:r>
              <a:t>Brand options Maintain one presentation system while giving each strategic option a distinctive emphasis.</a:t>
            </a:r>
          </a:p>
          <a:p/>
          <a:p>
            <a:r>
              <a:t>Roadmap Distinguish the proposed corporate roadmap from individual project schedules.</a:t>
            </a:r>
          </a:p>
          <a:p/>
          <a:p>
            <a:r>
              <a:t>Primary Client Sources</a:t>
            </a:r>
          </a:p>
          <a:p/>
          <a:p>
            <a:r>
              <a:t>Client Source 1 RISE Investor Presentation — 1Q26 Result, dated 20 July 2026.</a:t>
            </a:r>
          </a:p>
          <a:p/>
          <a:p>
            <a:r>
              <a:t>Key references: corporate vision and mission; development milestones; company structure; five business pillars; project portfolio; existing assets; ongoing and upcoming developments.</a:t>
            </a:r>
          </a:p>
          <a:p/>
          <a:p>
            <a:r>
              <a:t>Client Source 2 Tanrise Brand Portfolio Strategy 2026.</a:t>
            </a:r>
          </a:p>
          <a:p/>
          <a:p>
            <a:r>
              <a:t>Key references: product categories; proposed residential naming; Jumana-to-Sunrise transition; location-based Grand Sunrise and TRITAN naming; industrial-park identities; commercial portfolio references.</a:t>
            </a:r>
          </a:p>
          <a:p/>
          <a:p>
            <a:r>
              <a:t>Central Leadership Message</a:t>
            </a:r>
          </a:p>
          <a:p/>
          <a:p>
            <a:r>
              <a:t>TANRISE already has a diversified asset base and a substantial development pipeline.</a:t>
            </a:r>
          </a:p>
          <a:p/>
          <a:p>
            <a:r>
              <a:t>Its next chapter should connect these strengths through clearer portfolio governance, purposeful development, dependable delivery, effective operating partnerships, and disciplined investment.</a:t>
            </a:r>
          </a:p>
          <a:p/>
          <a:p>
            <a:r>
              <a:t>TANRISE — Elevating Life.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APP F — Design And Source Guidance</a:t>
            </a:r>
          </a:p>
          <a:p>
            <a:r>
              <a:t>Document pages: 59, 60, 61</a:t>
            </a:r>
          </a:p>
          <a:p/>
          <a:p>
            <a:r>
              <a:t>COMPLETE SOURCE TEXT</a:t>
            </a:r>
          </a:p>
          <a:p>
            <a:r>
              <a:t>Presentation Structure</a:t>
            </a:r>
          </a:p>
          <a:p/>
          <a:p>
            <a:r>
              <a:t>Section | Slides | Objective</a:t>
            </a:r>
          </a:p>
          <a:p/>
          <a:p>
            <a:r>
              <a:t>Corporate research and diagnosis | 01–07 | Establish the business, portfolio, and growth challenge</a:t>
            </a:r>
          </a:p>
          <a:p/>
          <a:p>
            <a:r>
              <a:t>Competitive intelligence | 08–17 | Identify relevant competitive mechanisms</a:t>
            </a:r>
          </a:p>
          <a:p/>
          <a:p>
            <a:r>
              <a:t>Corporate and portfolio architecture | 18–21 | Clarify group roles, projects, naming, and status</a:t>
            </a:r>
          </a:p>
          <a:p/>
          <a:p>
            <a:r>
              <a:t>Three brand alternatives | 22–25 | Present strategic choices</a:t>
            </a:r>
          </a:p>
          <a:p/>
          <a:p>
            <a:r>
              <a:t>Recommended platform | 26–33 | Define identity, values, culture, and experience</a:t>
            </a:r>
          </a:p>
          <a:p/>
          <a:p>
            <a:r>
              <a:t>Business transformation | 34–37 | Connect the portfolio to commercial value</a:t>
            </a:r>
          </a:p>
          <a:p/>
          <a:p>
            <a:r>
              <a:t>Roadmap and execution | 38–40 | Translate ambition into action</a:t>
            </a:r>
          </a:p>
          <a:p/>
          <a:p>
            <a:r>
              <a:t>Visual Direction</a:t>
            </a:r>
          </a:p>
          <a:p/>
          <a:p>
            <a:r>
              <a:t>Portfolio research Use actual client project photography and renderings. Label renderings and future facilities clearly.</a:t>
            </a:r>
          </a:p>
          <a:p/>
          <a:p>
            <a:r>
              <a:t>Architecture Separate corporate group relationships, business pillars, destination brands, individual projects, and operators.</a:t>
            </a:r>
          </a:p>
          <a:p/>
          <a:p>
            <a:r>
              <a:t>Project status Use a consistent visual key for existing, ongoing, upcoming, proposed naming, and unresolved information.</a:t>
            </a:r>
          </a:p>
          <a:p/>
          <a:p>
            <a:r>
              <a:t>Financial comparisons Use consistent periods, definitions, and units. Show disputed or unreconciled figures only in the validation appendix.</a:t>
            </a:r>
          </a:p>
          <a:p/>
          <a:p>
            <a:r>
              <a:t>Brand options Maintain one presentation system while giving each strategic option a distinctive emphasis.</a:t>
            </a:r>
          </a:p>
          <a:p/>
          <a:p>
            <a:r>
              <a:t>Roadmap Distinguish the proposed corporate roadmap from individual project schedules.</a:t>
            </a:r>
          </a:p>
          <a:p/>
          <a:p>
            <a:r>
              <a:t>Primary Client Sources</a:t>
            </a:r>
          </a:p>
          <a:p/>
          <a:p>
            <a:r>
              <a:t>Client Source 1 RISE Investor Presentation — 1Q26 Result, dated 20 July 2026.</a:t>
            </a:r>
          </a:p>
          <a:p/>
          <a:p>
            <a:r>
              <a:t>Key references: corporate vision and mission; development milestones; company structure; five business pillars; project portfolio; existing assets; ongoing and upcoming developments.</a:t>
            </a:r>
          </a:p>
          <a:p/>
          <a:p>
            <a:r>
              <a:t>Client Source 2 Tanrise Brand Portfolio Strategy 2026.</a:t>
            </a:r>
          </a:p>
          <a:p/>
          <a:p>
            <a:r>
              <a:t>Key references: product categories; proposed residential naming; Jumana-to-Sunrise transition; location-based Grand Sunrise and TRITAN naming; industrial-park identities; commercial portfolio references.</a:t>
            </a:r>
          </a:p>
          <a:p/>
          <a:p>
            <a:r>
              <a:t>Central Leadership Message</a:t>
            </a:r>
          </a:p>
          <a:p/>
          <a:p>
            <a:r>
              <a:t>TANRISE already has a diversified asset base and a substantial development pipeline.</a:t>
            </a:r>
          </a:p>
          <a:p/>
          <a:p>
            <a:r>
              <a:t>Its next chapter should connect these strengths through clearer portfolio governance, purposeful development, dependable delivery, effective operating partnerships, and disciplined investment.</a:t>
            </a:r>
          </a:p>
          <a:p/>
          <a:p>
            <a:r>
              <a:t>TANRISE — Elevating Life.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APP F — Design And Source Guidance</a:t>
            </a:r>
          </a:p>
          <a:p>
            <a:r>
              <a:t>Document pages: 59, 60, 61</a:t>
            </a:r>
          </a:p>
          <a:p/>
          <a:p>
            <a:r>
              <a:t>COMPLETE SOURCE TEXT</a:t>
            </a:r>
          </a:p>
          <a:p>
            <a:r>
              <a:t>Presentation Structure</a:t>
            </a:r>
          </a:p>
          <a:p/>
          <a:p>
            <a:r>
              <a:t>Section | Slides | Objective</a:t>
            </a:r>
          </a:p>
          <a:p/>
          <a:p>
            <a:r>
              <a:t>Corporate research and diagnosis | 01–07 | Establish the business, portfolio, and growth challenge</a:t>
            </a:r>
          </a:p>
          <a:p/>
          <a:p>
            <a:r>
              <a:t>Competitive intelligence | 08–17 | Identify relevant competitive mechanisms</a:t>
            </a:r>
          </a:p>
          <a:p/>
          <a:p>
            <a:r>
              <a:t>Corporate and portfolio architecture | 18–21 | Clarify group roles, projects, naming, and status</a:t>
            </a:r>
          </a:p>
          <a:p/>
          <a:p>
            <a:r>
              <a:t>Three brand alternatives | 22–25 | Present strategic choices</a:t>
            </a:r>
          </a:p>
          <a:p/>
          <a:p>
            <a:r>
              <a:t>Recommended platform | 26–33 | Define identity, values, culture, and experience</a:t>
            </a:r>
          </a:p>
          <a:p/>
          <a:p>
            <a:r>
              <a:t>Business transformation | 34–37 | Connect the portfolio to commercial value</a:t>
            </a:r>
          </a:p>
          <a:p/>
          <a:p>
            <a:r>
              <a:t>Roadmap and execution | 38–40 | Translate ambition into action</a:t>
            </a:r>
          </a:p>
          <a:p/>
          <a:p>
            <a:r>
              <a:t>Visual Direction</a:t>
            </a:r>
          </a:p>
          <a:p/>
          <a:p>
            <a:r>
              <a:t>Portfolio research Use actual client project photography and renderings. Label renderings and future facilities clearly.</a:t>
            </a:r>
          </a:p>
          <a:p/>
          <a:p>
            <a:r>
              <a:t>Architecture Separate corporate group relationships, business pillars, destination brands, individual projects, and operators.</a:t>
            </a:r>
          </a:p>
          <a:p/>
          <a:p>
            <a:r>
              <a:t>Project status Use a consistent visual key for existing, ongoing, upcoming, proposed naming, and unresolved information.</a:t>
            </a:r>
          </a:p>
          <a:p/>
          <a:p>
            <a:r>
              <a:t>Financial comparisons Use consistent periods, definitions, and units. Show disputed or unreconciled figures only in the validation appendix.</a:t>
            </a:r>
          </a:p>
          <a:p/>
          <a:p>
            <a:r>
              <a:t>Brand options Maintain one presentation system while giving each strategic option a distinctive emphasis.</a:t>
            </a:r>
          </a:p>
          <a:p/>
          <a:p>
            <a:r>
              <a:t>Roadmap Distinguish the proposed corporate roadmap from individual project schedules.</a:t>
            </a:r>
          </a:p>
          <a:p/>
          <a:p>
            <a:r>
              <a:t>Primary Client Sources</a:t>
            </a:r>
          </a:p>
          <a:p/>
          <a:p>
            <a:r>
              <a:t>Client Source 1 RISE Investor Presentation — 1Q26 Result, dated 20 July 2026.</a:t>
            </a:r>
          </a:p>
          <a:p/>
          <a:p>
            <a:r>
              <a:t>Key references: corporate vision and mission; development milestones; company structure; five business pillars; project portfolio; existing assets; ongoing and upcoming developments.</a:t>
            </a:r>
          </a:p>
          <a:p/>
          <a:p>
            <a:r>
              <a:t>Client Source 2 Tanrise Brand Portfolio Strategy 2026.</a:t>
            </a:r>
          </a:p>
          <a:p/>
          <a:p>
            <a:r>
              <a:t>Key references: product categories; proposed residential naming; Jumana-to-Sunrise transition; location-based Grand Sunrise and TRITAN naming; industrial-park identities; commercial portfolio references.</a:t>
            </a:r>
          </a:p>
          <a:p/>
          <a:p>
            <a:r>
              <a:t>Central Leadership Message</a:t>
            </a:r>
          </a:p>
          <a:p/>
          <a:p>
            <a:r>
              <a:t>TANRISE already has a diversified asset base and a substantial development pipeline.</a:t>
            </a:r>
          </a:p>
          <a:p/>
          <a:p>
            <a:r>
              <a:t>Its next chapter should connect these strengths through clearer portfolio governance, purposeful development, dependable delivery, effective operating partnerships, and disciplined investment.</a:t>
            </a:r>
          </a:p>
          <a:p/>
          <a:p>
            <a:r>
              <a:t>TANRISE — Elevating Life.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Corporate Mario.pdf</a:t>
            </a:r>
          </a:p>
          <a:p>
            <a:r>
              <a:t>Author sequence: APP F — Design And Source Guidance</a:t>
            </a:r>
          </a:p>
          <a:p>
            <a:r>
              <a:t>Document pages: 59, 60, 61</a:t>
            </a:r>
          </a:p>
          <a:p/>
          <a:p>
            <a:r>
              <a:t>COMPLETE SOURCE TEXT</a:t>
            </a:r>
          </a:p>
          <a:p>
            <a:r>
              <a:t>Presentation Structure</a:t>
            </a:r>
          </a:p>
          <a:p/>
          <a:p>
            <a:r>
              <a:t>Section | Slides | Objective</a:t>
            </a:r>
          </a:p>
          <a:p/>
          <a:p>
            <a:r>
              <a:t>Corporate research and diagnosis | 01–07 | Establish the business, portfolio, and growth challenge</a:t>
            </a:r>
          </a:p>
          <a:p/>
          <a:p>
            <a:r>
              <a:t>Competitive intelligence | 08–17 | Identify relevant competitive mechanisms</a:t>
            </a:r>
          </a:p>
          <a:p/>
          <a:p>
            <a:r>
              <a:t>Corporate and portfolio architecture | 18–21 | Clarify group roles, projects, naming, and status</a:t>
            </a:r>
          </a:p>
          <a:p/>
          <a:p>
            <a:r>
              <a:t>Three brand alternatives | 22–25 | Present strategic choices</a:t>
            </a:r>
          </a:p>
          <a:p/>
          <a:p>
            <a:r>
              <a:t>Recommended platform | 26–33 | Define identity, values, culture, and experience</a:t>
            </a:r>
          </a:p>
          <a:p/>
          <a:p>
            <a:r>
              <a:t>Business transformation | 34–37 | Connect the portfolio to commercial value</a:t>
            </a:r>
          </a:p>
          <a:p/>
          <a:p>
            <a:r>
              <a:t>Roadmap and execution | 38–40 | Translate ambition into action</a:t>
            </a:r>
          </a:p>
          <a:p/>
          <a:p>
            <a:r>
              <a:t>Visual Direction</a:t>
            </a:r>
          </a:p>
          <a:p/>
          <a:p>
            <a:r>
              <a:t>Portfolio research Use actual client project photography and renderings. Label renderings and future facilities clearly.</a:t>
            </a:r>
          </a:p>
          <a:p/>
          <a:p>
            <a:r>
              <a:t>Architecture Separate corporate group relationships, business pillars, destination brands, individual projects, and operators.</a:t>
            </a:r>
          </a:p>
          <a:p/>
          <a:p>
            <a:r>
              <a:t>Project status Use a consistent visual key for existing, ongoing, upcoming, proposed naming, and unresolved information.</a:t>
            </a:r>
          </a:p>
          <a:p/>
          <a:p>
            <a:r>
              <a:t>Financial comparisons Use consistent periods, definitions, and units. Show disputed or unreconciled figures only in the validation appendix.</a:t>
            </a:r>
          </a:p>
          <a:p/>
          <a:p>
            <a:r>
              <a:t>Brand options Maintain one presentation system while giving each strategic option a distinctive emphasis.</a:t>
            </a:r>
          </a:p>
          <a:p/>
          <a:p>
            <a:r>
              <a:t>Roadmap Distinguish the proposed corporate roadmap from individual project schedules.</a:t>
            </a:r>
          </a:p>
          <a:p/>
          <a:p>
            <a:r>
              <a:t>Primary Client Sources</a:t>
            </a:r>
          </a:p>
          <a:p/>
          <a:p>
            <a:r>
              <a:t>Client Source 1 RISE Investor Presentation — 1Q26 Result, dated 20 July 2026.</a:t>
            </a:r>
          </a:p>
          <a:p/>
          <a:p>
            <a:r>
              <a:t>Key references: corporate vision and mission; development milestones; company structure; five business pillars; project portfolio; existing assets; ongoing and upcoming developments.</a:t>
            </a:r>
          </a:p>
          <a:p/>
          <a:p>
            <a:r>
              <a:t>Client Source 2 Tanrise Brand Portfolio Strategy 2026.</a:t>
            </a:r>
          </a:p>
          <a:p/>
          <a:p>
            <a:r>
              <a:t>Key references: product categories; proposed residential naming; Jumana-to-Sunrise transition; location-based Grand Sunrise and TRITAN naming; industrial-park identities; commercial portfolio references.</a:t>
            </a:r>
          </a:p>
          <a:p/>
          <a:p>
            <a:r>
              <a:t>Central Leadership Message</a:t>
            </a:r>
          </a:p>
          <a:p/>
          <a:p>
            <a:r>
              <a:t>TANRISE already has a diversified asset base and a substantial development pipeline.</a:t>
            </a:r>
          </a:p>
          <a:p/>
          <a:p>
            <a:r>
              <a:t>Its next chapter should connect these strengths through clearer portfolio governance, purposeful development, dependable delivery, effective operating partnerships, and disciplined investment.</a:t>
            </a:r>
          </a:p>
          <a:p/>
          <a:p>
            <a:r>
              <a:t>TANRISE — Elevating Life.</a:t>
            </a:r>
          </a:p>
          <a:p/>
          <a:p>
            <a:r>
              <a:t>SOURCE HYPERLINKS (as embedded in Mario’s PDF; not independently reverified)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5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8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3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4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5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6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8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9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0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4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5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6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8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9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0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2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9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0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5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6F2E9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AD843F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6F2E9"/>
                </a:solidFill>
                <a:latin typeface="Arial"/>
              </a:rPr>
              <a:t>01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AD84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Mario brief · pp. 1–1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001</a:t>
            </a:r>
          </a:p>
        </p:txBody>
      </p:sp>
      <p:pic>
        <p:nvPicPr>
          <p:cNvPr id="10" name="Picture 9" descr="TANRISE.png"/>
          <p:cNvPicPr>
            <a:picLocks noChangeAspect="1"/>
          </p:cNvPicPr>
          <p:nvPr/>
        </p:nvPicPr>
        <p:blipFill>
          <a:blip r:embed="rId2"/>
          <a:srcRect l="19156" r="19156"/>
          <a:stretch>
            <a:fillRect/>
          </a:stretch>
        </p:blipFill>
        <p:spPr>
          <a:xfrm>
            <a:off x="6035040" y="713232"/>
            <a:ext cx="6153912" cy="561441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1060704"/>
            <a:ext cx="5349240" cy="4526280"/>
          </a:xfrm>
          <a:prstGeom prst="rect">
            <a:avLst/>
          </a:prstGeom>
          <a:solidFill>
            <a:srgbClr val="15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225296"/>
            <a:ext cx="4937760" cy="4645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D843F"/>
                </a:solidFill>
                <a:latin typeface="Arial"/>
              </a:rPr>
              <a:t>TANRISE PROPERTY</a:t>
            </a:r>
          </a:p>
          <a:p>
            <a:pPr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D843F"/>
                </a:solidFill>
                <a:latin typeface="Arial"/>
              </a:rPr>
              <a:t>CORPORATE STRATEGY 2026–2035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03120"/>
            <a:ext cx="4937760" cy="11026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107"/>
              </a:lnSpc>
              <a:spcBef>
                <a:spcPts val="0"/>
              </a:spcBef>
              <a:spcAft>
                <a:spcPts val="0"/>
              </a:spcAft>
            </a:pPr>
            <a:r>
              <a:rPr sz="3700" b="0" i="0">
                <a:solidFill>
                  <a:srgbClr val="F6F2E9"/>
                </a:solidFill>
                <a:latin typeface="Times New Roman"/>
              </a:rPr>
              <a:t>Beyond Development.</a:t>
            </a:r>
          </a:p>
          <a:p>
            <a:pPr>
              <a:lnSpc>
                <a:spcPts val="4107"/>
              </a:lnSpc>
              <a:spcBef>
                <a:spcPts val="0"/>
              </a:spcBef>
              <a:spcAft>
                <a:spcPts val="0"/>
              </a:spcAft>
            </a:pPr>
            <a:r>
              <a:rPr sz="3700" b="0" i="0">
                <a:solidFill>
                  <a:srgbClr val="F6F2E9"/>
                </a:solidFill>
                <a:latin typeface="Times New Roman"/>
              </a:rPr>
              <a:t>Building Lasting Value.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94760"/>
            <a:ext cx="4663440" cy="896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6F2E9"/>
                </a:solidFill>
                <a:latin typeface="Arial"/>
              </a:rPr>
              <a:t>Corporate Research, Competitive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6F2E9"/>
                </a:solidFill>
                <a:latin typeface="Arial"/>
              </a:rPr>
              <a:t>Intelligence, Brand Architecture &amp;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6F2E9"/>
                </a:solidFill>
                <a:latin typeface="Arial"/>
              </a:rPr>
              <a:t>Transformation Roadmap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29200"/>
            <a:ext cx="4663440" cy="229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6F2E9"/>
                </a:solidFill>
                <a:latin typeface="Arial"/>
              </a:rPr>
              <a:t>Prepared by Rubicube Creative · Strategic Discussion Draft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349240"/>
            <a:ext cx="4709160" cy="229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6F2E9"/>
                </a:solidFill>
                <a:latin typeface="Arial"/>
              </a:rPr>
              <a:t>Prepared for Pak Hermanto, Bu Devina, and the TANRISE leadership team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089904"/>
            <a:ext cx="5120640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6F2E9"/>
                </a:solidFill>
                <a:latin typeface="Arial"/>
              </a:rPr>
              <a:t>Illustrative rendering · not a verified TANRISE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5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6F2E9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AD843F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6F2E9"/>
                </a:solidFill>
                <a:latin typeface="Arial"/>
              </a:rPr>
              <a:t>CHAPTER 01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AD84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Mario brief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002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53312"/>
            <a:ext cx="10789920" cy="1278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6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AD843F"/>
                </a:solidFill>
                <a:latin typeface="Times New Roman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18688"/>
            <a:ext cx="9966960" cy="5806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104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F6F2E9"/>
                </a:solidFill>
                <a:latin typeface="Arial"/>
              </a:rPr>
              <a:t>Understanding TANRISE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02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1–2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From a Growing Developer to Indonesia’s Top Five.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84831"/>
            <a:ext cx="10789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TANRISE’s ambition is to become one of Indonesia’s top five publicly listed property developers by 2035, measured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by revenue and net profit attributable to owners of the parent.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20924"/>
            <a:ext cx="10789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Achieving this requires a stronger business capable of sustained growth, dependable earnings, disciplined investment,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and long-term value creation.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85800" y="3557016"/>
          <a:ext cx="10789919" cy="173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2774"/>
                <a:gridCol w="7337145"/>
              </a:tblGrid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Ambition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Meaning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Leading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Compete at national scale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Trusted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Earn confidence through delivery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Best Concept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Create developments that answer real needs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85800" y="5473700"/>
            <a:ext cx="10789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The client’s current vision is to become a leading and trusted property developer delivering the best concepts.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1 /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02.2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1–2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From a Growing Developer to Indonesia’s Top Five.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514600"/>
            <a:ext cx="5029200" cy="12989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3A32"/>
                </a:solidFill>
                <a:latin typeface="Times New Roman"/>
              </a:rPr>
              <a:t>The proposed transformation builds on this</a:t>
            </a:r>
          </a:p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3A32"/>
                </a:solidFill>
                <a:latin typeface="Times New Roman"/>
              </a:rPr>
              <a:t>foundation by connecting portfolio growth,</a:t>
            </a:r>
          </a:p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3A32"/>
                </a:solidFill>
                <a:latin typeface="Times New Roman"/>
              </a:rPr>
              <a:t>customer experience, asset productivity, and</a:t>
            </a:r>
          </a:p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3A32"/>
                </a:solidFill>
                <a:latin typeface="Times New Roman"/>
              </a:rPr>
              <a:t>corporate reputation.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996435"/>
            <a:ext cx="5029200" cy="12989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3A32"/>
                </a:solidFill>
                <a:latin typeface="Times New Roman"/>
              </a:rPr>
              <a:t>Core message: Top Five is a business</a:t>
            </a:r>
          </a:p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3A32"/>
                </a:solidFill>
                <a:latin typeface="Times New Roman"/>
              </a:rPr>
              <a:t>transformation ambition requiring alignment</a:t>
            </a:r>
          </a:p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3A32"/>
                </a:solidFill>
                <a:latin typeface="Times New Roman"/>
              </a:rPr>
              <a:t>between corporate strategy, brand strategy, and</a:t>
            </a:r>
          </a:p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3A32"/>
                </a:solidFill>
                <a:latin typeface="Times New Roman"/>
              </a:rPr>
              <a:t>operational execution.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2 /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03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2–3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One Property Platform. Five Documented Business Pillars.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84831"/>
            <a:ext cx="10789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Founded in Sidoarjo in 2003, TANRISE has expanded from warehouses and shophouses into residential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communities, commercial destinations, industrial developments, integrated townships, and hospitality assets.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20924"/>
            <a:ext cx="10789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The listed corporate entity is PT Jaya Sukses Makmur Sentosa Tbk — RISE.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278124"/>
            <a:ext cx="10789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The client’s investor presentation identifies five business pillars: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85800" y="3735324"/>
          <a:ext cx="10789919" cy="17649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2774"/>
                <a:gridCol w="7337145"/>
              </a:tblGrid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Business pillar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Portfolio examples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Integrated City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Tanrise Taman Dayu Pandaan; Tanrise Bandung; Tanrise City Sidoarjo; Swiss of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Taman Dayu Pandaan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Community Living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Kyo Society; Grand Sunrise Menganti; Sunrise Residence Sidoarjo; Malang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residential development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1 /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03.2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2–3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One Property Platform. Five Documented Business Pillars.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2084831"/>
          <a:ext cx="10789919" cy="21983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2774"/>
                <a:gridCol w="7337145"/>
              </a:tblGrid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Business pillar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Portfolio examples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Business Districts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Voza Tower; Rame-Rame; Grand Central Bandung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Logistic &amp; Industrial Park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Tritan warehouse developments; Tanrise Industrial Park Palembang; Tanrise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Industrial Park Banjarbaru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Hotel, MICE, and Leisure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Vasa Hotel Surabaya; Vasa Suite Surabaya; Solaris assets; Cleo Business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Hotels; Golf Taman Dayu; Driving Range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85800" y="4466082"/>
            <a:ext cx="10789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The wider client materials also identify ARC100, Midpoint Kayoon, and Bali Bites.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923282"/>
            <a:ext cx="10789920" cy="477202"/>
          </a:xfrm>
          <a:prstGeom prst="rect">
            <a:avLst/>
          </a:prstGeom>
          <a:solidFill>
            <a:srgbClr val="E9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923282"/>
            <a:ext cx="32004" cy="477202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" y="5005578"/>
            <a:ext cx="10533888" cy="3150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83A32"/>
                </a:solidFill>
                <a:latin typeface="Times New Roman"/>
              </a:rPr>
              <a:t>Portfolio principle: Present existing assets and future developments together, with their status clearly distinguished.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2 /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04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3–4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From Individual Projects to a Broader Development Platform.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2084831"/>
          <a:ext cx="10789919" cy="33597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782"/>
                <a:gridCol w="3236976"/>
                <a:gridCol w="5179161"/>
              </a:tblGrid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Period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Development stage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Portfolio development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98017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2003–2013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Establishing the foundation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Warehouse and shophouse development; Tritan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locations; Grand Sunrise; early Solaris hospitality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developments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98017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2015–2020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Expanding capabilities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Cleo Business Hotels; Vasa Hotel Surabaya; Voza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Tower; ARC100 development; Kyo Society introduction;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the 2018 IPO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130299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2021–2026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Broadening the portfolio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TritanHub; ARC100 milestones; Kyo Society handover;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Jumana Residence; Taman Dayu development; Vasa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Suite Surabaya; Solaris villa expansion; commercial and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industrial pipeline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1 / 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04.2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3–4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From Individual Projects to a Broader Development Platform.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2084831"/>
          <a:ext cx="10789919" cy="1331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782"/>
                <a:gridCol w="3236976"/>
                <a:gridCol w="5179161"/>
              </a:tblGrid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Period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Development stage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Portfolio development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98017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2027–2035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Proposed next chapter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Scale validated development models, improve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retained-asset performance, strengthen recurring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income, and coordinate integrated destinations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85800" y="3626611"/>
            <a:ext cx="10789920" cy="229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D843F"/>
                </a:solidFill>
                <a:latin typeface="Arial"/>
              </a:rPr>
              <a:t>THE CURRENT PIPELINE EXTENDS ACROSS SEVERAL SECTORS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039361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3947922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Tanrise Bandung.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488815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4397375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Tanrise City Sidoarjo.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938268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4846828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Swiss of Taman Dayu Pandaan.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5387721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5296281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Malang residential development.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2 / 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04.3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3–4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From Individual Projects to a Broader Development Platform.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176272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84831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Grand Central Bandung.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625725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2534285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Tanrise Industrial Park Palembang.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075178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2983738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Tanrise Industrial Park Banjarbaru.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524631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3433191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Tritan Gresik.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974083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3882643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Tritan Gempol Pasuruan.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423536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" y="4332096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VASA Ubud.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872989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" y="4781549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VASA Bromo.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5322442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5231002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VASA Canggu.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5771895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" y="5680455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VASA Malang.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3 / 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04.4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3–4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From Individual Projects to a Broader Development Platform.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514600"/>
            <a:ext cx="5029200" cy="3693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3A32"/>
                </a:solidFill>
                <a:latin typeface="Times New Roman"/>
              </a:rPr>
              <a:t>GOED Malang.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066796"/>
            <a:ext cx="5029200" cy="12989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183A32"/>
                </a:solidFill>
                <a:latin typeface="Times New Roman"/>
              </a:rPr>
              <a:t>Strategic implication: The next phase should</a:t>
            </a:r>
          </a:p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183A32"/>
                </a:solidFill>
                <a:latin typeface="Times New Roman"/>
              </a:rPr>
              <a:t>combine portfolio expansion with greater</a:t>
            </a:r>
          </a:p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183A32"/>
                </a:solidFill>
                <a:latin typeface="Times New Roman"/>
              </a:rPr>
              <a:t>productivity, clearer positioning, and stronger</a:t>
            </a:r>
          </a:p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183A32"/>
                </a:solidFill>
                <a:latin typeface="Times New Roman"/>
              </a:rPr>
              <a:t>execution across existing and future projects.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4 /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05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5–5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The Growth Gap Is Significant.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84831"/>
            <a:ext cx="10789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TANRISE’s FY2025 financial baseline: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42032"/>
            <a:ext cx="5257800" cy="5707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026"/>
              </a:lnSpc>
              <a:spcBef>
                <a:spcPts val="0"/>
              </a:spcBef>
              <a:spcAft>
                <a:spcPts val="0"/>
              </a:spcAft>
            </a:pPr>
            <a:r>
              <a:rPr sz="3300" b="0" i="0">
                <a:solidFill>
                  <a:srgbClr val="153F35"/>
                </a:solidFill>
                <a:latin typeface="Times New Roman"/>
              </a:rPr>
              <a:t>≈ Rp410.7 billion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127248"/>
            <a:ext cx="5257800" cy="2608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6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8766B"/>
                </a:solidFill>
                <a:latin typeface="Arial"/>
              </a:rPr>
              <a:t>Consolidated revenue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3593591"/>
            <a:ext cx="5257800" cy="0"/>
          </a:xfrm>
          <a:prstGeom prst="line">
            <a:avLst/>
          </a:prstGeom>
          <a:ln w="7620">
            <a:solidFill>
              <a:srgbClr val="AD84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217920" y="2542032"/>
            <a:ext cx="5257800" cy="5707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026"/>
              </a:lnSpc>
              <a:spcBef>
                <a:spcPts val="0"/>
              </a:spcBef>
              <a:spcAft>
                <a:spcPts val="0"/>
              </a:spcAft>
            </a:pPr>
            <a:r>
              <a:rPr sz="3300" b="0" i="0">
                <a:solidFill>
                  <a:srgbClr val="153F35"/>
                </a:solidFill>
                <a:latin typeface="Times New Roman"/>
              </a:rPr>
              <a:t>≈ Rp87.2 billion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127248"/>
            <a:ext cx="5257800" cy="2608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6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8766B"/>
                </a:solidFill>
                <a:latin typeface="Arial"/>
              </a:rPr>
              <a:t>Net profit attributable to owners of the parent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17920" y="3593591"/>
            <a:ext cx="5257800" cy="0"/>
          </a:xfrm>
          <a:prstGeom prst="line">
            <a:avLst/>
          </a:prstGeom>
          <a:ln w="7620">
            <a:solidFill>
              <a:srgbClr val="AD84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85800" y="3849624"/>
            <a:ext cx="10789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These figures reconcile with the audited FY2025 financial statements.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306824"/>
            <a:ext cx="10789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The revenue gap to Summarecon’s reported FY2025 revenue of approximately Rp8.77 trillion is around 21 times.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764024"/>
            <a:ext cx="10789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Closing a gap of this magnitude would require sustained growth, substantial portfolio expansion, improved asset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productivity, or a combination of these.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1 / 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05.2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5–5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What the Portfolio Pipeline Must Demonstrate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176272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84831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Which projects contribute development revenue.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625725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2534285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Which assets generate continuing operating income.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075178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2983738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When revenue and cash flow are expected to materialise.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524631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3433191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How much capital each initiative requires.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974083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3882643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How ownership interests affect attributable earnings.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423536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" y="4332096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Whether the operating organisation can support expansion.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781549"/>
            <a:ext cx="10789920" cy="734949"/>
          </a:xfrm>
          <a:prstGeom prst="rect">
            <a:avLst/>
          </a:prstGeom>
          <a:solidFill>
            <a:srgbClr val="E9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4781549"/>
            <a:ext cx="32004" cy="734949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" y="4863845"/>
            <a:ext cx="10533888" cy="5707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83A32"/>
                </a:solidFill>
                <a:latin typeface="Times New Roman"/>
              </a:rPr>
              <a:t>Important distinction: Historical comparisons do not establish the financial threshold required to rank among the Top Five in</a:t>
            </a:r>
          </a:p>
          <a:p>
            <a:pPr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83A32"/>
                </a:solidFill>
                <a:latin typeface="Times New Roman"/>
              </a:rPr>
              <a:t>2035.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2 / 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06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6–6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9491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A Diversified Portfolio Creates Opportunity—and Demands</a:t>
            </a:r>
          </a:p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Coordination.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69921"/>
            <a:ext cx="10789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TANRISE already has a broad portfolio and development pipeline. The strategic question is how effectively these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assets work together.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85800" y="2906014"/>
          <a:ext cx="10789919" cy="28952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2774"/>
                <a:gridCol w="7337145"/>
              </a:tblGrid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Strategic question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Potential consequence if unresolved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98017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Are corporate, destination, project,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and operating-brand relationships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clear?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Fragmented recognition and unclear accountability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Are existing and proposed project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names consistently applied?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Customer confusion and duplicate portfolio reporting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98017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Do business units share relevant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customers, partners, and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opportunities?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Missed commercial synergies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1 / 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06.2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6–6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9491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A Diversified Portfolio Creates Opportunity—and Demands</a:t>
            </a:r>
          </a:p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Coordination.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2169921"/>
          <a:ext cx="10789919" cy="21983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2774"/>
                <a:gridCol w="7337145"/>
              </a:tblGrid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Strategic question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Potential consequence if unresolved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Are retained assets optimised?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Underdeveloped recurring income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Are customer and service standards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consistent?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Uneven trust and experience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Are investments evaluated through a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common framework?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Unclear priorities and inefficient capital allocation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85800" y="4551172"/>
            <a:ext cx="10789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These are strategic hypotheses for validation.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008372"/>
            <a:ext cx="10789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The differences between the investor and brand portfolio decks demonstrate the need for one approved portfolio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register covering names, status, ownership, operating responsibility, and naming transitions.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2 / 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06.3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6–6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9491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A Diversified Portfolio Creates Opportunity—and Demands</a:t>
            </a:r>
          </a:p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Coordination.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514600"/>
            <a:ext cx="5029200" cy="12989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183A32"/>
                </a:solidFill>
                <a:latin typeface="Times New Roman"/>
              </a:rPr>
              <a:t>Recommendation: Validate the diagnosis</a:t>
            </a:r>
          </a:p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183A32"/>
                </a:solidFill>
                <a:latin typeface="Times New Roman"/>
              </a:rPr>
              <a:t>through financial analysis, operational</a:t>
            </a:r>
          </a:p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183A32"/>
                </a:solidFill>
                <a:latin typeface="Times New Roman"/>
              </a:rPr>
              <a:t>interviews, customer research, and project</a:t>
            </a:r>
          </a:p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183A32"/>
                </a:solidFill>
                <a:latin typeface="Times New Roman"/>
              </a:rPr>
              <a:t>audits.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3 / 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07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7–7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9491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Create More Value Across the Full Life of Each</a:t>
            </a:r>
          </a:p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Development.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97353"/>
            <a:ext cx="10789920" cy="229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D843F"/>
                </a:solidFill>
                <a:latin typeface="Arial"/>
              </a:rPr>
              <a:t>TRADITIONAL DEVELOPMENT CYCLE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518664"/>
            <a:ext cx="1997049" cy="731520"/>
          </a:xfrm>
          <a:prstGeom prst="rect">
            <a:avLst/>
          </a:prstGeom>
          <a:solidFill>
            <a:srgbClr val="15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2664968"/>
            <a:ext cx="1777593" cy="2686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4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6F2E9"/>
                </a:solidFill>
                <a:latin typeface="Arial"/>
              </a:rPr>
              <a:t>Land Acquisition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33141" y="2701544"/>
            <a:ext cx="137160" cy="3538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18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AD843F"/>
                </a:solidFill>
                <a:latin typeface="Times New Roman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84017" y="2518664"/>
            <a:ext cx="1997049" cy="731520"/>
          </a:xfrm>
          <a:prstGeom prst="rect">
            <a:avLst/>
          </a:prstGeom>
          <a:solidFill>
            <a:srgbClr val="15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93745" y="2664968"/>
            <a:ext cx="1777593" cy="2686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4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6F2E9"/>
                </a:solidFill>
                <a:latin typeface="Arial"/>
              </a:rPr>
              <a:t>Development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1359" y="2701544"/>
            <a:ext cx="137160" cy="3538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18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AD843F"/>
                </a:solidFill>
                <a:latin typeface="Times New Roman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82235" y="2518664"/>
            <a:ext cx="1997049" cy="731520"/>
          </a:xfrm>
          <a:prstGeom prst="rect">
            <a:avLst/>
          </a:prstGeom>
          <a:solidFill>
            <a:srgbClr val="15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91963" y="2664968"/>
            <a:ext cx="1777593" cy="2686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4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6F2E9"/>
                </a:solidFill>
                <a:latin typeface="Arial"/>
              </a:rPr>
              <a:t>Marketing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29576" y="2701544"/>
            <a:ext cx="137160" cy="3538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18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AD843F"/>
                </a:solidFill>
                <a:latin typeface="Times New Roman"/>
              </a:rPr>
              <a:t>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80452" y="2518664"/>
            <a:ext cx="1997049" cy="731520"/>
          </a:xfrm>
          <a:prstGeom prst="rect">
            <a:avLst/>
          </a:prstGeom>
          <a:solidFill>
            <a:srgbClr val="15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90180" y="2664968"/>
            <a:ext cx="1777593" cy="2686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4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6F2E9"/>
                </a:solidFill>
                <a:latin typeface="Arial"/>
              </a:rPr>
              <a:t>Sales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7794" y="2701544"/>
            <a:ext cx="137160" cy="3538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18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AD843F"/>
                </a:solidFill>
                <a:latin typeface="Times New Roman"/>
              </a:rPr>
              <a:t>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78670" y="2518664"/>
            <a:ext cx="1997049" cy="731520"/>
          </a:xfrm>
          <a:prstGeom prst="rect">
            <a:avLst/>
          </a:prstGeom>
          <a:solidFill>
            <a:srgbClr val="15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88398" y="2664968"/>
            <a:ext cx="1777593" cy="2686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4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6F2E9"/>
                </a:solidFill>
                <a:latin typeface="Arial"/>
              </a:rPr>
              <a:t>Handover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3387343"/>
            <a:ext cx="10789920" cy="229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D843F"/>
                </a:solidFill>
                <a:latin typeface="Arial"/>
              </a:rPr>
              <a:t>PROPOSED CONTINUING-VALUE CYCLE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3708654"/>
            <a:ext cx="1630680" cy="731520"/>
          </a:xfrm>
          <a:prstGeom prst="rect">
            <a:avLst/>
          </a:prstGeom>
          <a:solidFill>
            <a:srgbClr val="15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" y="3854958"/>
            <a:ext cx="1411224" cy="2686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4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6F2E9"/>
                </a:solidFill>
                <a:latin typeface="Arial"/>
              </a:rPr>
              <a:t>Development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66772" y="3891534"/>
            <a:ext cx="137160" cy="3538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18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AD843F"/>
                </a:solidFill>
                <a:latin typeface="Times New Roman"/>
              </a:rPr>
              <a:t>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17648" y="3708654"/>
            <a:ext cx="1630680" cy="731520"/>
          </a:xfrm>
          <a:prstGeom prst="rect">
            <a:avLst/>
          </a:prstGeom>
          <a:solidFill>
            <a:srgbClr val="15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27376" y="3854958"/>
            <a:ext cx="1411224" cy="2686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4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6F2E9"/>
                </a:solidFill>
                <a:latin typeface="Arial"/>
              </a:rPr>
              <a:t>Activation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98620" y="3891534"/>
            <a:ext cx="137160" cy="3538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18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AD843F"/>
                </a:solidFill>
                <a:latin typeface="Times New Roman"/>
              </a:rPr>
              <a:t>›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49496" y="3708654"/>
            <a:ext cx="1630680" cy="731520"/>
          </a:xfrm>
          <a:prstGeom prst="rect">
            <a:avLst/>
          </a:prstGeom>
          <a:solidFill>
            <a:srgbClr val="15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59224" y="3854958"/>
            <a:ext cx="1411224" cy="2686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4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6F2E9"/>
                </a:solidFill>
                <a:latin typeface="Arial"/>
              </a:rPr>
              <a:t>Occupancy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0468" y="3891534"/>
            <a:ext cx="137160" cy="3538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18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AD843F"/>
                </a:solidFill>
                <a:latin typeface="Times New Roman"/>
              </a:rPr>
              <a:t>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81344" y="3708654"/>
            <a:ext cx="1630680" cy="731520"/>
          </a:xfrm>
          <a:prstGeom prst="rect">
            <a:avLst/>
          </a:prstGeom>
          <a:solidFill>
            <a:srgbClr val="15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91072" y="3854958"/>
            <a:ext cx="1411224" cy="2686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4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6F2E9"/>
                </a:solidFill>
                <a:latin typeface="Arial"/>
              </a:rPr>
              <a:t>Experience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2315" y="3891534"/>
            <a:ext cx="137160" cy="3538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18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AD843F"/>
                </a:solidFill>
                <a:latin typeface="Times New Roman"/>
              </a:rPr>
              <a:t>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192" y="3708654"/>
            <a:ext cx="1630680" cy="731520"/>
          </a:xfrm>
          <a:prstGeom prst="rect">
            <a:avLst/>
          </a:prstGeom>
          <a:solidFill>
            <a:srgbClr val="15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22920" y="3854958"/>
            <a:ext cx="1411224" cy="2686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4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6F2E9"/>
                </a:solidFill>
                <a:latin typeface="Arial"/>
              </a:rPr>
              <a:t>Management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4164" y="3891534"/>
            <a:ext cx="137160" cy="3538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18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AD843F"/>
                </a:solidFill>
                <a:latin typeface="Times New Roman"/>
              </a:rPr>
              <a:t>›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845040" y="3708654"/>
            <a:ext cx="1630680" cy="731520"/>
          </a:xfrm>
          <a:prstGeom prst="rect">
            <a:avLst/>
          </a:prstGeom>
          <a:solidFill>
            <a:srgbClr val="15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54768" y="3854958"/>
            <a:ext cx="1411224" cy="2686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4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6F2E9"/>
                </a:solidFill>
                <a:latin typeface="Arial"/>
              </a:rPr>
              <a:t>Recurring Value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4577334"/>
            <a:ext cx="10789920" cy="229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D843F"/>
                </a:solidFill>
                <a:latin typeface="Arial"/>
              </a:rPr>
              <a:t>APPLICATION ACROSS TANRISE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5800" y="4990084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0392" y="4898644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Integrated City: Coordinate residential, commercial, leisure, infrastructure, and partner-led facilities.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5800" y="5439537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0392" y="5348097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Community Living: Build trust through relevant housing concepts, delivery, and continued customer care.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1 / 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07.2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7–7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9491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Create More Value Across the Full Life of Each</a:t>
            </a:r>
          </a:p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Development.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261362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169921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Business Districts: Improve tenant mix, occupancy, visitation, and commercial relevance.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710815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2619374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Logistic &amp; Industrial Park: Support occupier requirements, infrastructure readiness, and business continuity.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160268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068827"/>
            <a:ext cx="10625328" cy="6017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Hotel, MICE, and Leisure: Improve utilisation, guest experience, operating performance, and destination</a:t>
            </a:r>
          </a:p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appeal.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789425"/>
            <a:ext cx="10789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Strategic thesis: TANRISE should strengthen its development capabilities while creating more long-term value from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the places and assets it develops.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2 / 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5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6F2E9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AD843F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6F2E9"/>
                </a:solidFill>
                <a:latin typeface="Arial"/>
              </a:rPr>
              <a:t>CHAPTER 02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AD84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Mario brief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018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53312"/>
            <a:ext cx="10789920" cy="1278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6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AD843F"/>
                </a:solidFill>
                <a:latin typeface="Times New Roman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18688"/>
            <a:ext cx="9966960" cy="5806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104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F6F2E9"/>
                </a:solidFill>
                <a:latin typeface="Arial"/>
              </a:rPr>
              <a:t>Competitive intelligence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08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7–8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The Top Five Is a Moving Target.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84831"/>
            <a:ext cx="10789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To make the 2035 ambition measurable, TANRISE should track two parallel league tables: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633472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2542032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1. Annual consolidated revenue.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082925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2991485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2. Net profit attributable to owners of the parent.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440938"/>
            <a:ext cx="10789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Assets, market capitalisation, marketing sales, and recognised revenue should be reported separately.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925569"/>
            <a:ext cx="10789920" cy="229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D843F"/>
                </a:solidFill>
                <a:latin typeface="Arial"/>
              </a:rPr>
              <a:t>BENCHMARKING PRINCIPLES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338319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4246879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Define an agreed listed-property peer group.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787772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4696333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Use consistent accounting periods.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5237225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5145786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Separate listed issuers from private developer groups.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5686678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" y="5595239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Consider related issuers and consolidation effects.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1 / 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08.2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7–8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The Top Five Is a Moving Target.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514600"/>
            <a:ext cx="5029200" cy="6791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3A32"/>
                </a:solidFill>
                <a:latin typeface="Times New Roman"/>
              </a:rPr>
              <a:t>Distinguish development income from recurring</a:t>
            </a:r>
          </a:p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3A32"/>
                </a:solidFill>
                <a:latin typeface="Times New Roman"/>
              </a:rPr>
              <a:t>operating income.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376676"/>
            <a:ext cx="5029200" cy="3693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3A32"/>
                </a:solidFill>
                <a:latin typeface="Times New Roman"/>
              </a:rPr>
              <a:t>Compare attributable profit consistently.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928872"/>
            <a:ext cx="5029200" cy="12989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183A32"/>
                </a:solidFill>
                <a:latin typeface="Times New Roman"/>
              </a:rPr>
              <a:t>Strategic implication: TANRISE’s pipeline</a:t>
            </a:r>
          </a:p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183A32"/>
                </a:solidFill>
                <a:latin typeface="Times New Roman"/>
              </a:rPr>
              <a:t>should be evaluated against the scale, timing,</a:t>
            </a:r>
          </a:p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183A32"/>
                </a:solidFill>
                <a:latin typeface="Times New Roman"/>
              </a:rPr>
              <a:t>and earnings quality required to progress</a:t>
            </a:r>
          </a:p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183A32"/>
                </a:solidFill>
                <a:latin typeface="Times New Roman"/>
              </a:rPr>
              <a:t>toward the ambition.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2 / 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09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8–9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A Historical Baseline for Understanding Competitive Scale.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84831"/>
            <a:ext cx="10789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The following reproduces the research draft’s FY2024 revenue baseline. It is not a verified FY2025 ranking.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1 / 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09.2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8–9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A Historical Baseline for Understanding Competitive Scale.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685800" y="2084831"/>
          <a:ext cx="10789920" cy="35478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85800" y="1883663"/>
            <a:ext cx="10789920" cy="2143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8766B"/>
                </a:solidFill>
                <a:latin typeface="Arial"/>
              </a:rPr>
              <a:t>FY2024 · Revenue, Rp trillion · Historical baseline; validation required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084831"/>
            <a:ext cx="2971800" cy="2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2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3A32"/>
                </a:solidFill>
                <a:latin typeface="Arial"/>
              </a:rPr>
              <a:t>Bumi Serpong Damai — BSDE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0" y="2112263"/>
            <a:ext cx="6949440" cy="201168"/>
          </a:xfrm>
          <a:prstGeom prst="rect">
            <a:avLst/>
          </a:prstGeom>
          <a:solidFill>
            <a:srgbClr val="15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81360" y="2084831"/>
            <a:ext cx="685800" cy="2453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83A32"/>
                </a:solidFill>
                <a:latin typeface="Arial"/>
              </a:rPr>
              <a:t>13.80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418587"/>
            <a:ext cx="2971800" cy="2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2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3A32"/>
                </a:solidFill>
                <a:latin typeface="Arial"/>
              </a:rPr>
              <a:t>Lippo Karawaci — LPKR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2446019"/>
            <a:ext cx="5715662" cy="201168"/>
          </a:xfrm>
          <a:prstGeom prst="rect">
            <a:avLst/>
          </a:prstGeom>
          <a:solidFill>
            <a:srgbClr val="15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47582" y="2418587"/>
            <a:ext cx="685800" cy="2453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83A32"/>
                </a:solidFill>
                <a:latin typeface="Arial"/>
              </a:rPr>
              <a:t>11.35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752344"/>
            <a:ext cx="2971800" cy="2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2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3A32"/>
                </a:solidFill>
                <a:latin typeface="Arial"/>
              </a:rPr>
              <a:t>Ciputra Development — CTRA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2779775"/>
            <a:ext cx="5635089" cy="201168"/>
          </a:xfrm>
          <a:prstGeom prst="rect">
            <a:avLst/>
          </a:prstGeom>
          <a:solidFill>
            <a:srgbClr val="15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67009" y="2752344"/>
            <a:ext cx="685800" cy="2453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83A32"/>
                </a:solidFill>
                <a:latin typeface="Arial"/>
              </a:rPr>
              <a:t>11.19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086100"/>
            <a:ext cx="2971800" cy="2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2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3A32"/>
                </a:solidFill>
                <a:latin typeface="Arial"/>
              </a:rPr>
              <a:t>Summarecon Agung — SMRA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0" y="3113532"/>
            <a:ext cx="5348047" cy="201168"/>
          </a:xfrm>
          <a:prstGeom prst="rect">
            <a:avLst/>
          </a:prstGeom>
          <a:solidFill>
            <a:srgbClr val="15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79967" y="3086100"/>
            <a:ext cx="685800" cy="2453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83A32"/>
                </a:solidFill>
                <a:latin typeface="Arial"/>
              </a:rPr>
              <a:t>10.62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419856"/>
            <a:ext cx="2971800" cy="2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2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3A32"/>
                </a:solidFill>
                <a:latin typeface="Arial"/>
              </a:rPr>
              <a:t>Pakuwon Jati — PWON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0" y="3447287"/>
            <a:ext cx="3358896" cy="201168"/>
          </a:xfrm>
          <a:prstGeom prst="rect">
            <a:avLst/>
          </a:prstGeom>
          <a:solidFill>
            <a:srgbClr val="15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90815" y="3419856"/>
            <a:ext cx="685800" cy="2453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83A32"/>
                </a:solidFill>
                <a:latin typeface="Arial"/>
              </a:rPr>
              <a:t>6.67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3753611"/>
            <a:ext cx="2971800" cy="2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2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3A32"/>
                </a:solidFill>
                <a:latin typeface="Arial"/>
              </a:rPr>
              <a:t>Agung Podomoro Land — APLN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0" y="3781044"/>
            <a:ext cx="2860349" cy="201168"/>
          </a:xfrm>
          <a:prstGeom prst="rect">
            <a:avLst/>
          </a:prstGeom>
          <a:solidFill>
            <a:srgbClr val="15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92269" y="3753611"/>
            <a:ext cx="685800" cy="2453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83A32"/>
                </a:solidFill>
                <a:latin typeface="Arial"/>
              </a:rPr>
              <a:t>5.68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4087368"/>
            <a:ext cx="2971800" cy="2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2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3A32"/>
                </a:solidFill>
                <a:latin typeface="Arial"/>
              </a:rPr>
              <a:t>Duta Pertiwi — DUTI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40480" y="4114800"/>
            <a:ext cx="2225835" cy="201168"/>
          </a:xfrm>
          <a:prstGeom prst="rect">
            <a:avLst/>
          </a:prstGeom>
          <a:solidFill>
            <a:srgbClr val="15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57755" y="4087368"/>
            <a:ext cx="685800" cy="2453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83A32"/>
                </a:solidFill>
                <a:latin typeface="Arial"/>
              </a:rPr>
              <a:t>4.42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421123"/>
            <a:ext cx="2971800" cy="2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2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3A32"/>
                </a:solidFill>
                <a:latin typeface="Arial"/>
              </a:rPr>
              <a:t>Alam Sutera Realty — ASRI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0" y="4448555"/>
            <a:ext cx="1732324" cy="201168"/>
          </a:xfrm>
          <a:prstGeom prst="rect">
            <a:avLst/>
          </a:prstGeom>
          <a:solidFill>
            <a:srgbClr val="15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4244" y="4421123"/>
            <a:ext cx="685800" cy="2453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83A32"/>
                </a:solidFill>
                <a:latin typeface="Arial"/>
              </a:rPr>
              <a:t>3.44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4754879"/>
            <a:ext cx="2971800" cy="2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2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3A32"/>
                </a:solidFill>
                <a:latin typeface="Arial"/>
              </a:rPr>
              <a:t>Jaya Real Property — JRPT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40480" y="4782312"/>
            <a:ext cx="1485568" cy="201168"/>
          </a:xfrm>
          <a:prstGeom prst="rect">
            <a:avLst/>
          </a:prstGeom>
          <a:solidFill>
            <a:srgbClr val="15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17488" y="4754879"/>
            <a:ext cx="685800" cy="2453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83A32"/>
                </a:solidFill>
                <a:latin typeface="Arial"/>
              </a:rPr>
              <a:t>2.95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5088636"/>
            <a:ext cx="2971800" cy="2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2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3A32"/>
                </a:solidFill>
                <a:latin typeface="Arial"/>
              </a:rPr>
              <a:t>Pantai Indah Kapuk Dua — PANI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0" y="5116068"/>
            <a:ext cx="1425138" cy="201168"/>
          </a:xfrm>
          <a:prstGeom prst="rect">
            <a:avLst/>
          </a:prstGeom>
          <a:solidFill>
            <a:srgbClr val="15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57058" y="5088636"/>
            <a:ext cx="685800" cy="2453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6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83A32"/>
                </a:solidFill>
                <a:latin typeface="Arial"/>
              </a:rPr>
              <a:t>2.83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2 / 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09.3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8–9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A Historical Baseline for Understanding Competitive Scale.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514600"/>
            <a:ext cx="5029200" cy="6791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3A32"/>
                </a:solidFill>
                <a:latin typeface="Times New Roman"/>
              </a:rPr>
              <a:t>Source cited in the original research draft:</a:t>
            </a:r>
          </a:p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3A32"/>
                </a:solidFill>
                <a:latin typeface="Times New Roman"/>
              </a:rPr>
              <a:t>IDXChannel, 21 April 2025.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376676"/>
            <a:ext cx="5029200" cy="12989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3A32"/>
                </a:solidFill>
                <a:latin typeface="Times New Roman"/>
              </a:rPr>
              <a:t>Interpretation: TANRISE competes against</a:t>
            </a:r>
          </a:p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3A32"/>
                </a:solidFill>
                <a:latin typeface="Times New Roman"/>
              </a:rPr>
              <a:t>companies with substantially greater financial</a:t>
            </a:r>
          </a:p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3A32"/>
                </a:solidFill>
                <a:latin typeface="Times New Roman"/>
              </a:rPr>
              <a:t>scale, although their business models and</a:t>
            </a:r>
          </a:p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3A32"/>
                </a:solidFill>
                <a:latin typeface="Times New Roman"/>
              </a:rPr>
              <a:t>revenue composition differ.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858511"/>
            <a:ext cx="5029200" cy="9890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183A32"/>
                </a:solidFill>
                <a:latin typeface="Times New Roman"/>
              </a:rPr>
              <a:t>Validation requirement: Reconcile the ranking</a:t>
            </a:r>
          </a:p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183A32"/>
                </a:solidFill>
                <a:latin typeface="Times New Roman"/>
              </a:rPr>
              <a:t>and individual figures before external</a:t>
            </a:r>
          </a:p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183A32"/>
                </a:solidFill>
                <a:latin typeface="Times New Roman"/>
              </a:rPr>
              <a:t>presentation.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3 / 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10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9–11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Different Developers. Different Engines of Advantage.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2084831"/>
          <a:ext cx="10789919" cy="32975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782"/>
                <a:gridCol w="3236976"/>
                <a:gridCol w="5179161"/>
              </a:tblGrid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Developer or group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Recognised strength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Competitive lesson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BSD / Sinar Mas Land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Large-scale integrated townships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Build economic anchors, connectivity, and institutional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partnerships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Ciputra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Replicable township development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Standardise capabilities while adapting to local markets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Summarecon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Community building and estate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management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Make the post-handover experience a competitive asset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Pakuwon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Income-producing mixed-use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assets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Develop recurring revenue alongside property sales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Agung Sedayu / PIK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Destination and lifestyle activation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Create visitation and desire for the wider location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1 / 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10.2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9–11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Different Developers. Different Engines of Advantage.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2084831"/>
          <a:ext cx="10789919" cy="3529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782"/>
                <a:gridCol w="3236976"/>
                <a:gridCol w="5179161"/>
              </a:tblGrid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Developer or group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Recognised strength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Competitive lesson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Lippo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Diversified property platforms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Maintain portfolio and capital discipline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Paramount Land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Commercialisation and residential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segmentation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Match products, positioning, and launches to demand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Alam Sutera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Township environment and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lifestyle appeal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Connect public realm, amenities, and place identity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Agung Podomoro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High-density mixed-use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development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Understand integration benefits and execution exposure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Intiland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Mixed-use, industrial, and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investment property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Balance development income with operating assets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2 / 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10.3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9–11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Different Developers. Different Engines of Advantage.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514600"/>
            <a:ext cx="5029200" cy="9890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3A32"/>
                </a:solidFill>
                <a:latin typeface="Times New Roman"/>
              </a:rPr>
              <a:t>Application to TANRISE: Select mechanisms</a:t>
            </a:r>
          </a:p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3A32"/>
                </a:solidFill>
                <a:latin typeface="Times New Roman"/>
              </a:rPr>
              <a:t>suited to its existing assets, pipeline, capital</a:t>
            </a:r>
          </a:p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3A32"/>
                </a:solidFill>
                <a:latin typeface="Times New Roman"/>
              </a:rPr>
              <a:t>capacity, and delivery capabilities.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3 / 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11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11–12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The City Becomes More Valuable as Its Ecosystem Matures.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62472" y="2084831"/>
            <a:ext cx="0" cy="3038857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2084831"/>
            <a:ext cx="5074920" cy="11750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Development journey Township and residential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development expanded into commercial districts,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education, technology, retail, and mobility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infrastructure.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378707"/>
            <a:ext cx="5074920" cy="896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Success mechanism Complementary institutions and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activities increase the usefulness and attractiveness of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the location.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84831"/>
            <a:ext cx="5074920" cy="896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Competitive advantage Long-term planning,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substantial development scale, and institutional and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commercial partnerships.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099815"/>
            <a:ext cx="5074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Risk Large townships require patient capital,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infrastructure investment, and careful phasing.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863339"/>
            <a:ext cx="5074920" cy="229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D843F"/>
                </a:solidFill>
                <a:latin typeface="Arial"/>
              </a:rPr>
              <a:t>APPLICATION TO TANRISE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184649"/>
            <a:ext cx="5074920" cy="896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For Tanrise City Sidoarjo and Tanrise Bandung,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evaluate the anchors that support everyday life and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commercial activity: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1 / 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11.2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11–12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The City Becomes More Valuable as Its Ecosystem Matures.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176272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84831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Schools and education partners.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625725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2534285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Convenient retail and supermarkets.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075178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2983738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Transport access.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524631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3433191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Employment and business activity.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974083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3882643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Public and community facilities.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423536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" y="4332096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Essential services.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781549"/>
            <a:ext cx="10789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These are strategic development priorities, not claims that all facilities are already committed.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5238749"/>
            <a:ext cx="10789920" cy="477202"/>
          </a:xfrm>
          <a:prstGeom prst="rect">
            <a:avLst/>
          </a:prstGeom>
          <a:solidFill>
            <a:srgbClr val="E9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" y="5238749"/>
            <a:ext cx="32004" cy="477202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" y="5321045"/>
            <a:ext cx="10533888" cy="3150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83A32"/>
                </a:solidFill>
                <a:latin typeface="Times New Roman"/>
              </a:rPr>
              <a:t>Key principle: Build the reasons to live there alongside the homes.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2 / 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12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12–12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Build a Development Capability That Can Be Repeated.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62472" y="2084831"/>
            <a:ext cx="0" cy="2715769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2084831"/>
            <a:ext cx="5074920" cy="896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Development journey Early residential and township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projects developed into a geographically diversified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portfolio.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99815"/>
            <a:ext cx="5074920" cy="896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Success mechanism A recognisable approach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combines housing, commercial facilities, and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supporting amenities across different markets.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114800"/>
            <a:ext cx="5074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Competitive advantage Replicable capabilities and a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broad project portfolio.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84831"/>
            <a:ext cx="5074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Risk Geographic diversification introduces varying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demand, execution, and inventory risks.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848356"/>
            <a:ext cx="5074920" cy="229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D843F"/>
                </a:solidFill>
                <a:latin typeface="Arial"/>
              </a:rPr>
              <a:t>APPLICATION TO TANRISE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169666"/>
            <a:ext cx="5074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Create a repeatable development framework for: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3718305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3626866"/>
            <a:ext cx="4910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Grand Sunrise Menganti.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4167758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076319"/>
            <a:ext cx="4910328" cy="6017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Sunrise Residence Sidoarjo, subject to</a:t>
            </a:r>
          </a:p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confirmation of the Jumana naming transition.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1 / 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12.2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12–12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Build a Development Capability That Can Be Repeated.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176272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84831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Malang residential developments.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625725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2534285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Residential components within Tanrise Bandung and Tanrise City Sidoarjo.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983738"/>
            <a:ext cx="10789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Standardise site selection, research, feasibility, design principles, pricing, phasing, and customer experience while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adapting each project to its market.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719830"/>
            <a:ext cx="10789920" cy="477202"/>
          </a:xfrm>
          <a:prstGeom prst="rect">
            <a:avLst/>
          </a:prstGeom>
          <a:solidFill>
            <a:srgbClr val="E9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3719830"/>
            <a:ext cx="32004" cy="477202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" y="3802126"/>
            <a:ext cx="10533888" cy="3150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83A32"/>
                </a:solidFill>
                <a:latin typeface="Times New Roman"/>
              </a:rPr>
              <a:t>Key principle: Standardise the method. Localise the concept.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2 / 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13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13–13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A Community’s Value Continues After Handover.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84831"/>
            <a:ext cx="10789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Development journey From Kelapa Gading into multiple integrated township developments.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42032"/>
            <a:ext cx="10789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Success mechanism Combine residential products, commercial facilities, lifestyle destinations, and long-term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township management.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278124"/>
            <a:ext cx="10789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Competitive advantage Recognisable development identity and continuing community management.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735324"/>
            <a:ext cx="10789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Risk Estate operations require consistent funding, governance, and service delivery.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219956"/>
            <a:ext cx="10789920" cy="229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D843F"/>
                </a:solidFill>
                <a:latin typeface="Arial"/>
              </a:rPr>
              <a:t>APPLICATION TO TANRISE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541266"/>
            <a:ext cx="10789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Translate CINTA and Super-Serving into measurable commitments across: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5089906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4998466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Grand Sunrise Menganti.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5539359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5447919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Kyo Society.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1 / 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13.2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13–13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A Community’s Value Continues After Handover.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176272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84831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Sunrise Residence Sidoarjo.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625725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2534285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Tanrise Taman Dayu Pandaan.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075178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2983738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Future residential phases in Bandung, Sidoarjo, and Malang.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433191"/>
            <a:ext cx="10789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Establish estate-management standards, maintenance responsibilities, resident communication, and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service-performance measures appropriate to each project.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169283"/>
            <a:ext cx="10789920" cy="477202"/>
          </a:xfrm>
          <a:prstGeom prst="rect">
            <a:avLst/>
          </a:prstGeom>
          <a:solidFill>
            <a:srgbClr val="E9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169283"/>
            <a:ext cx="32004" cy="477202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" y="4251579"/>
            <a:ext cx="10533888" cy="3150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83A32"/>
                </a:solidFill>
                <a:latin typeface="Times New Roman"/>
              </a:rPr>
              <a:t>Key principle: The relationship begins at purchase. Trust is earned afterward.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2 / 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14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13–14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The Asset Should Continue Earning After It Is Built.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84831"/>
            <a:ext cx="10789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Development journey Shopping centres and commercial assets evolved into integrated retail, office, residential, and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hospitality developments.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20924"/>
            <a:ext cx="10789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Success mechanism Retain productive assets and combine complementary property uses.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85800" y="3278124"/>
          <a:ext cx="10789919" cy="1300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2774"/>
                <a:gridCol w="7337145"/>
              </a:tblGrid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FY2025 measure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Reported figure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Revenue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Approximately Rp7.11 trillion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Recurring revenue share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Approximately 79%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85800" y="4761357"/>
            <a:ext cx="10789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Risk Retained assets require substantial capital and remain exposed to occupancy, operating costs, and changing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consumer behaviour.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144768"/>
            <a:ext cx="10789920" cy="1893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23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68766B"/>
                </a:solidFill>
                <a:latin typeface="Arial"/>
              </a:rPr>
              <a:t>Source: Pakuwon’s FY2025 annual report.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1 / 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14.2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13–14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Application to TANRISE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84831"/>
            <a:ext cx="10789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Evaluate long-term income potential across: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633472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2542032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Voza Tower.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082925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2991485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Rame-Rame.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532378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3440938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Midpoint Kayoon.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981830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3890390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Grand Central Bandung.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431283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4339843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Bali Bites.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4880736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4789296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Hotel and villa assets.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5330189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" y="5238749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Golf Taman Dayu and the Driving Range.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144768"/>
            <a:ext cx="10789920" cy="1893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23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68766B"/>
                </a:solidFill>
                <a:latin typeface="Arial"/>
              </a:rPr>
              <a:t>Source: Pakuwon’s FY2025 annual report.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2 / 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14.3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13–14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The Asset Should Continue Earning After It Is Built.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514600"/>
            <a:ext cx="5029200" cy="3693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3A32"/>
                </a:solidFill>
                <a:latin typeface="Times New Roman"/>
              </a:rPr>
              <a:t>Selected warehouse and industrial properties.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066796"/>
            <a:ext cx="5029200" cy="6791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3A32"/>
                </a:solidFill>
                <a:latin typeface="Times New Roman"/>
              </a:rPr>
              <a:t>Choose what to sell, retain, lease, or operate with</a:t>
            </a:r>
          </a:p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3A32"/>
                </a:solidFill>
                <a:latin typeface="Times New Roman"/>
              </a:rPr>
              <a:t>partners based on asset-level economics.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928872"/>
            <a:ext cx="5029200" cy="6791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183A32"/>
                </a:solidFill>
                <a:latin typeface="Times New Roman"/>
              </a:rPr>
              <a:t>Key principle: Development creates the asset.</a:t>
            </a:r>
          </a:p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183A32"/>
                </a:solidFill>
                <a:latin typeface="Times New Roman"/>
              </a:rPr>
              <a:t>Management compounds its value.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144768"/>
            <a:ext cx="10789920" cy="1893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23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68766B"/>
                </a:solidFill>
                <a:latin typeface="Arial"/>
              </a:rPr>
              <a:t>Source: Pakuwon’s FY2025 annual report.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3 / 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14–15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9491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Destinations Create Demand Before the Property</a:t>
            </a:r>
          </a:p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Transaction.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69921"/>
            <a:ext cx="10789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Development approach Curated culinary, retail, leisure, and public experiences give destinations a recognisable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identity.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906014"/>
            <a:ext cx="10789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Success mechanism People actively want to visit, experience, and associate with the place.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363214"/>
            <a:ext cx="10789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Competitive advantage Destination storytelling, tenant curation, and market visibility.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820414"/>
            <a:ext cx="10789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Risk Visitor traffic does not automatically produce profitable operations or higher property returns.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305046"/>
            <a:ext cx="10789920" cy="229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D843F"/>
                </a:solidFill>
                <a:latin typeface="Arial"/>
              </a:rPr>
              <a:t>APPLICATION TO TANRISE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626356"/>
            <a:ext cx="10789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Build on existing destination components: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5174996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5083556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Tanrise Taman Dayu Pandaan.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5624449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5533009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Golf Taman Dayu.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1 / 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15.2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14–15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9491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Destinations Create Demand Before the Property</a:t>
            </a:r>
          </a:p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Transaction.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261362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169921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The Driving Range.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710815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2619374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Rame-Rame.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160268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068827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Bali Bites and its F&amp;B activity.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518280"/>
            <a:ext cx="10789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Evaluate future activation opportunities within Swiss of Taman Dayu Pandaan, Tanrise Bandung, and Tanrise City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Sidoarjo.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54372"/>
            <a:ext cx="10789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Measure visitation, spending, repeat participation, operating contribution, and conversion into property enquiries and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sales.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4990464"/>
            <a:ext cx="10789920" cy="477202"/>
          </a:xfrm>
          <a:prstGeom prst="rect">
            <a:avLst/>
          </a:prstGeom>
          <a:solidFill>
            <a:srgbClr val="E9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4990464"/>
            <a:ext cx="32004" cy="477202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" y="5072760"/>
            <a:ext cx="10533888" cy="3150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83A32"/>
                </a:solidFill>
                <a:latin typeface="Times New Roman"/>
              </a:rPr>
              <a:t>Key principle: Let people experience the destination before asking them to invest in 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2 / 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16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15–16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Select the Mechanisms That Fit TANRISE.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2084831"/>
          <a:ext cx="10789919" cy="32975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782"/>
                <a:gridCol w="3236976"/>
                <a:gridCol w="5179161"/>
              </a:tblGrid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Business model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Strength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Structural vulnerability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Township expansion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Scalable development pipeline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Infrastructure and capital intensity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Residential replication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Repeatable sales model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Market cycles and inventory exposure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Mixed-use development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Complementary uses and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customer activity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Concentrated asset and execution risk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Recurring-income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assets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Continuing revenue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Long payback periods and operating costs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Destination-led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development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Place identity and visitation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Activation cost and demand uncertainty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1 / 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16.2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15–16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Select the Mechanisms That Fit TANRISE.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84831"/>
            <a:ext cx="10789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These are business-model risks rather than claims that particular competitors are failing.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69463"/>
            <a:ext cx="10789920" cy="229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D843F"/>
                </a:solidFill>
                <a:latin typeface="Arial"/>
              </a:rPr>
              <a:t>IMPLICATION FOR TANRISE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890774"/>
            <a:ext cx="10789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The company already has exposure to several of these models.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347974"/>
            <a:ext cx="10789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The priority is to establish which combinations create the best risk-adjusted value across its five business pillars.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805173"/>
            <a:ext cx="10789920" cy="734949"/>
          </a:xfrm>
          <a:prstGeom prst="rect">
            <a:avLst/>
          </a:prstGeom>
          <a:solidFill>
            <a:srgbClr val="E9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805173"/>
            <a:ext cx="32004" cy="734949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" y="3887469"/>
            <a:ext cx="10533888" cy="5707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83A32"/>
                </a:solidFill>
                <a:latin typeface="Times New Roman"/>
              </a:rPr>
              <a:t>Recommendation: Scale models supported by demand, investment capacity, operating capability, and demonstrated</a:t>
            </a:r>
          </a:p>
          <a:p>
            <a:pPr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83A32"/>
                </a:solidFill>
                <a:latin typeface="Times New Roman"/>
              </a:rPr>
              <a:t>performance.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2 / 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17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16–17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A More Human, More Accountable Developer.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62472" y="2084831"/>
            <a:ext cx="0" cy="2653285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2084831"/>
            <a:ext cx="5074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TANRISE can build differentiation through five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commitments.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912364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2820924"/>
            <a:ext cx="4910328" cy="6017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1. Purposeful Development Begin every project</a:t>
            </a:r>
          </a:p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with a real human or business need.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632962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541521"/>
            <a:ext cx="4910328" cy="8728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2. Visible Commitments Clearly distinguish</a:t>
            </a:r>
          </a:p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existing facilities, ongoing development, future</a:t>
            </a:r>
          </a:p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plans, and proposed partnerships.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176272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65392" y="2084831"/>
            <a:ext cx="4910328" cy="8728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3. Connected Experiences Coordinate property,</a:t>
            </a:r>
          </a:p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services, partners, and community activity across</a:t>
            </a:r>
          </a:p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relevant assets.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168015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3076574"/>
            <a:ext cx="4910328" cy="6017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4. Continued Care Maintain relationships beyond</a:t>
            </a:r>
          </a:p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the initial transaction.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888612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392" y="3797172"/>
            <a:ext cx="4910328" cy="8728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5. Disciplined Investment Build developments and</a:t>
            </a:r>
          </a:p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operating ecosystems that can be sustained</a:t>
            </a:r>
          </a:p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commercially.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1 / 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17.2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16–17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What This Means for Portfolio Communication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84831"/>
            <a:ext cx="10789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Customers and investors should be able to understand: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633472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2542032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What the project is called.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082925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2991485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Where it is located.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532378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3440938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Whether it exists or is planned.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981830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3890390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Who owns or develops it.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431283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4339843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Who operates or manages 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4880736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4789296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What has been committed.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5330189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" y="5238749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What remains proposed.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2 / 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17.3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16–17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A More Human, More Accountable Developer.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514600"/>
            <a:ext cx="5029200" cy="9890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3A32"/>
                </a:solidFill>
                <a:latin typeface="Times New Roman"/>
              </a:rPr>
              <a:t>These are proposed differentiation territories</a:t>
            </a:r>
          </a:p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3A32"/>
                </a:solidFill>
                <a:latin typeface="Times New Roman"/>
              </a:rPr>
              <a:t>requiring validation against competitor practices</a:t>
            </a:r>
          </a:p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3A32"/>
                </a:solidFill>
                <a:latin typeface="Times New Roman"/>
              </a:rPr>
              <a:t>and TANRISE’s capabilities.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3 / 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5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6F2E9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AD843F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6F2E9"/>
                </a:solidFill>
                <a:latin typeface="Arial"/>
              </a:rPr>
              <a:t>CHAPTER 03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AD84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Mario brief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043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53312"/>
            <a:ext cx="10789920" cy="1278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6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AD843F"/>
                </a:solidFill>
                <a:latin typeface="Times New Roman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18688"/>
            <a:ext cx="9966960" cy="5806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104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F6F2E9"/>
                </a:solidFill>
                <a:latin typeface="Arial"/>
              </a:rPr>
              <a:t>Corporate and portfolio architecture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18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17–19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9491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Clarify the Relationship Between TANRISE, TANLY, and the</a:t>
            </a:r>
          </a:p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Projects.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69921"/>
            <a:ext cx="10789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TANCORP publicly presents TANRISE Property and TANLY Hospitality as separate business platforms.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1 / 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18.2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17–19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9491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Clarify the Relationship Between TANRISE, TANLY, and the</a:t>
            </a:r>
          </a:p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Projects.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959609"/>
            <a:ext cx="10789920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D843F"/>
                </a:solidFill>
                <a:latin typeface="Arial"/>
              </a:rPr>
              <a:t>LEVEL / ROLE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94760" y="2169921"/>
            <a:ext cx="4572000" cy="777240"/>
          </a:xfrm>
          <a:prstGeom prst="rect">
            <a:avLst/>
          </a:prstGeom>
          <a:solidFill>
            <a:srgbClr val="E9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0" y="2288793"/>
            <a:ext cx="4297680" cy="322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74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53F35"/>
                </a:solidFill>
                <a:latin typeface="Arial"/>
              </a:rPr>
              <a:t>TANCORP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608833"/>
            <a:ext cx="4297680" cy="2918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3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83A32"/>
                </a:solidFill>
                <a:latin typeface="Times New Roman"/>
              </a:rPr>
              <a:t>Wider group context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80760" y="2947162"/>
            <a:ext cx="0" cy="228600"/>
          </a:xfrm>
          <a:prstGeom prst="line">
            <a:avLst/>
          </a:prstGeom>
          <a:ln w="7620">
            <a:solidFill>
              <a:srgbClr val="AD84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246120" y="3175762"/>
            <a:ext cx="5669280" cy="0"/>
          </a:xfrm>
          <a:prstGeom prst="line">
            <a:avLst/>
          </a:prstGeom>
          <a:ln w="7620">
            <a:solidFill>
              <a:srgbClr val="AD84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246120" y="3175762"/>
            <a:ext cx="0" cy="182879"/>
          </a:xfrm>
          <a:prstGeom prst="line">
            <a:avLst/>
          </a:prstGeom>
          <a:ln w="7620">
            <a:solidFill>
              <a:srgbClr val="AD84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915400" y="3175762"/>
            <a:ext cx="0" cy="182879"/>
          </a:xfrm>
          <a:prstGeom prst="line">
            <a:avLst/>
          </a:prstGeom>
          <a:ln w="7620">
            <a:solidFill>
              <a:srgbClr val="AD84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85800" y="3358641"/>
            <a:ext cx="5248656" cy="914400"/>
          </a:xfrm>
          <a:prstGeom prst="rect">
            <a:avLst/>
          </a:prstGeom>
          <a:solidFill>
            <a:srgbClr val="E9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477513"/>
            <a:ext cx="4974336" cy="322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74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53F35"/>
                </a:solidFill>
                <a:latin typeface="Arial"/>
              </a:rPr>
              <a:t>TANRISE Property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797554"/>
            <a:ext cx="4974336" cy="2918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3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83A32"/>
                </a:solidFill>
                <a:latin typeface="Times New Roman"/>
              </a:rPr>
              <a:t>Property development and investment platform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7064" y="3358641"/>
            <a:ext cx="5248656" cy="914400"/>
          </a:xfrm>
          <a:prstGeom prst="rect">
            <a:avLst/>
          </a:prstGeom>
          <a:solidFill>
            <a:srgbClr val="E9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3477513"/>
            <a:ext cx="4974336" cy="322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74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53F35"/>
                </a:solidFill>
                <a:latin typeface="Arial"/>
              </a:rPr>
              <a:t>TANLY Hospitality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3797554"/>
            <a:ext cx="4974336" cy="2918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3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83A32"/>
                </a:solidFill>
                <a:latin typeface="Times New Roman"/>
              </a:rPr>
              <a:t>Hospitality management platform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4547362"/>
            <a:ext cx="5248656" cy="932688"/>
          </a:xfrm>
          <a:prstGeom prst="rect">
            <a:avLst/>
          </a:prstGeom>
          <a:solidFill>
            <a:srgbClr val="E9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666234"/>
            <a:ext cx="4974336" cy="322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74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53F35"/>
                </a:solidFill>
                <a:latin typeface="Arial"/>
              </a:rPr>
              <a:t>Destination and project brands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986274"/>
            <a:ext cx="4974336" cy="5242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3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83A32"/>
                </a:solidFill>
                <a:latin typeface="Times New Roman"/>
              </a:rPr>
              <a:t>Customer-facing identities of individual places and</a:t>
            </a:r>
          </a:p>
          <a:p>
            <a:pPr>
              <a:lnSpc>
                <a:spcPts val="183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83A32"/>
                </a:solidFill>
                <a:latin typeface="Times New Roman"/>
              </a:rPr>
              <a:t>developments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27064" y="4547362"/>
            <a:ext cx="5248656" cy="932688"/>
          </a:xfrm>
          <a:prstGeom prst="rect">
            <a:avLst/>
          </a:prstGeom>
          <a:solidFill>
            <a:srgbClr val="E9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4666234"/>
            <a:ext cx="4974336" cy="322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74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53F35"/>
                </a:solidFill>
                <a:latin typeface="Arial"/>
              </a:rPr>
              <a:t>Hotel and operating brands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4224" y="4986274"/>
            <a:ext cx="4974336" cy="5242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3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83A32"/>
                </a:solidFill>
                <a:latin typeface="Times New Roman"/>
              </a:rPr>
              <a:t>Hospitality and service identities associated with managed</a:t>
            </a:r>
          </a:p>
          <a:p>
            <a:pPr>
              <a:lnSpc>
                <a:spcPts val="183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83A32"/>
                </a:solidFill>
                <a:latin typeface="Times New Roman"/>
              </a:rPr>
              <a:t>properties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2 / 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18.3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17–19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046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9491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Clarify the Relationship Between TANRISE, TANLY, and the</a:t>
            </a:r>
          </a:p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Projects.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69921"/>
            <a:ext cx="10789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A hospitality property may form part of TANRISE’s investment portfolio while having a management relationship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with TANLY.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906014"/>
            <a:ext cx="10789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The diagram should distinguish corporate affiliation, asset interests, and operating relationships.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390645"/>
            <a:ext cx="10789920" cy="229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D843F"/>
                </a:solidFill>
                <a:latin typeface="Arial"/>
              </a:rPr>
              <a:t>TANRISE’S FIVE DOCUMENTED BUSINESS PILLARS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803395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711955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1. Integrated City.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252848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4161408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2. Community Living.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702301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4610862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3. Business Districts.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5151754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5060315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4. Logistic &amp; Industrial Park.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5601207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5509768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5. Hotel, MICE, and Leisure.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3 / 4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18.4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17–19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Separate Branding Classification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514600"/>
            <a:ext cx="5029200" cy="12989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3A32"/>
                </a:solidFill>
                <a:latin typeface="Times New Roman"/>
              </a:rPr>
              <a:t>The client’s brand portfolio deck additionally</a:t>
            </a:r>
          </a:p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3A32"/>
                </a:solidFill>
                <a:latin typeface="Times New Roman"/>
              </a:rPr>
              <a:t>uses Residential &amp; Township, High-Rise</a:t>
            </a:r>
          </a:p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3A32"/>
                </a:solidFill>
                <a:latin typeface="Times New Roman"/>
              </a:rPr>
              <a:t>Building, Commercial &amp; Retail, Hotels &amp;</a:t>
            </a:r>
          </a:p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3A32"/>
                </a:solidFill>
                <a:latin typeface="Times New Roman"/>
              </a:rPr>
              <a:t>Leisure, Education, and Healthcare.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996435"/>
            <a:ext cx="5029200" cy="9890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3A32"/>
                </a:solidFill>
                <a:latin typeface="Times New Roman"/>
              </a:rPr>
              <a:t>These product categories should not</a:t>
            </a:r>
          </a:p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3A32"/>
                </a:solidFill>
                <a:latin typeface="Times New Roman"/>
              </a:rPr>
              <a:t>automatically be presented as separate operating</a:t>
            </a:r>
          </a:p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3A32"/>
                </a:solidFill>
                <a:latin typeface="Times New Roman"/>
              </a:rPr>
              <a:t>subsidiaries.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4 / 4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19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19–20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Preserve the Portfolio. Make Its Status Clear.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2084831"/>
          <a:ext cx="10789919" cy="3158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782"/>
                <a:gridCol w="3236976"/>
                <a:gridCol w="5179161"/>
              </a:tblGrid>
              <a:tr h="898017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Business pillar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Existing assets and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documented portfolio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references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Ongoing or upcoming development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Integrated City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Tanrise Taman Dayu Pandaan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Tanrise Bandung; Tanrise City Sidoarjo; Swiss of Taman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Dayu Pandaan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94866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Community Living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Kyo Society; Grand Sunrise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Menganti; Jumana Residence /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Sunrise Residence Sidoarjo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naming transition; ARC100 as an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additional documented apartment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brand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Malang residential development, with Sunrise Residence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Malang, Sunrise Garden Malang, and Grand Sunrise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Malang naming to reconcile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1 / 4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19.2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19–20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Preserve the Portfolio. Make Its Status Clear.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2084831"/>
          <a:ext cx="10789919" cy="33908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782"/>
                <a:gridCol w="3236976"/>
                <a:gridCol w="5179161"/>
              </a:tblGrid>
              <a:tr h="898017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Business pillar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Existing assets and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documented portfolio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references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Ongoing or upcoming development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130299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Business Districts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Voza Tower; Rame-Rame; Bali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Bites; Midpoint Kayoon as an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additional client portfolio reference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requiring status confirmation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Grand Central Bandung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362582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Logistic &amp; Industrial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Park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Tritan Surabaya; Tritan Medan;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Tritan Wedi 1 and 2; Tritan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Taman; Tritan Southgate;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TritanPoint and TritanHub brand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references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Tritan Gresik; Tritan Gempol Pasuruan; Tanrise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Industrial Park Palembang; Tanrise Industrial Park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Banjarbaru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2 / 4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19.3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19–20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Preserve the Portfolio. Make Its Status Clear.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2084831"/>
          <a:ext cx="10789919" cy="2260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782"/>
                <a:gridCol w="3236976"/>
                <a:gridCol w="5179161"/>
              </a:tblGrid>
              <a:tr h="898017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Business pillar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Existing assets and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documented portfolio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references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Ongoing or upcoming development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362582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Hotel, MICE, and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Leisure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Vasa Hotel Surabaya; Vasa Suite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Surabaya; three Cleo Business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Hotel locations; Solaris hotel and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villa assets in Bali and Malang;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Golf Taman Dayu; Driving Range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Ongoing: VASA Ubud and VASA Bromo. Upcoming: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VASA Canggu, VASA Malang, and GOED Malang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85800" y="4555744"/>
            <a:ext cx="10789920" cy="229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D843F"/>
                </a:solidFill>
                <a:latin typeface="Arial"/>
              </a:rPr>
              <a:t>PORTFOLIO RULES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968493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4877054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Do not count a proposed renaming as an additional project.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5417946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5326507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Do not treat all TANLY-managed properties as automatically owned by TANRISE.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3 / 4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19.4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19–20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Preserve the Portfolio. Make Its Status Clear.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176272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84831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Do not convert scheduled development dates into confirmed operating status.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625725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2534285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Retain established project names unless a naming change has been approved and implemented.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075178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2983738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Reconcile ownership percentages separately from the brand diagram.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433191"/>
            <a:ext cx="10789920" cy="477202"/>
          </a:xfrm>
          <a:prstGeom prst="rect">
            <a:avLst/>
          </a:prstGeom>
          <a:solidFill>
            <a:srgbClr val="E9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433191"/>
            <a:ext cx="32004" cy="477202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" y="3515486"/>
            <a:ext cx="10533888" cy="3150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83A32"/>
                </a:solidFill>
                <a:latin typeface="Times New Roman"/>
              </a:rPr>
              <a:t>Supporting detail: The complete project and naming register appears in Appendix 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4 / 4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20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20–21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Preserve Recognition. Clarify Relationships.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2084831"/>
          <a:ext cx="10789919" cy="28329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2774"/>
                <a:gridCol w="7337145"/>
              </a:tblGrid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Brand level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Proposed principle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TANRISE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Corporate reputation and property-development endorsement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Business pillars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Descriptive portfolio categories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Integrated destinations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Preserve recognisable destination names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Residential and commercial projects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Retain approved customer-facing project identities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Hospitality brands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Preserve operating-brand identity and identify management relationships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accurately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1 / 3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20.2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20–21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9491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Naming Transitions Shown in the Client’s Brand Portfolio</a:t>
            </a:r>
          </a:p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Deck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62472" y="2169921"/>
            <a:ext cx="0" cy="2644141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2169921"/>
            <a:ext cx="5074920" cy="11750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Jumana Residence → Sunrise Residence Sidoarjo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Shown as a “Before/After” proposal. Treat as one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project with a naming transition, subject to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implementation confirmation.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463797"/>
            <a:ext cx="5074920" cy="896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Grand Sunrise → Location-Based Grand Sunrise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Naming Examples include Grand Sunrise Menganti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and Grand Sunrise Malang.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69921"/>
            <a:ext cx="5074920" cy="896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TritanPoint / TritanHub → TRITAN + Location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Shown as a proposed consolidated warehouse-brand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system.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184905"/>
            <a:ext cx="5074920" cy="896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Tanrise Industrial Park + Location Used for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industrial-park naming, with the asset status of each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location verified separately.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227322"/>
            <a:ext cx="5074920" cy="229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D843F"/>
                </a:solidFill>
                <a:latin typeface="Arial"/>
              </a:rPr>
              <a:t>PROPOSED ENDORSEMENT EXAMPLES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576064"/>
            <a:ext cx="5074920" cy="229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D843F"/>
                </a:solidFill>
                <a:latin typeface="Arial"/>
              </a:rPr>
              <a:t>CORPORATE-LED DESTINATION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2 / 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20.3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20–21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054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TANRISE CITY SIDOARJO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12263"/>
            <a:ext cx="10789920" cy="229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D843F"/>
                </a:solidFill>
                <a:latin typeface="Arial"/>
              </a:rPr>
              <a:t>ENDORSED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461005"/>
            <a:ext cx="10789920" cy="229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D843F"/>
                </a:solidFill>
                <a:latin typeface="Arial"/>
              </a:rPr>
              <a:t>KYO SOCIETY A DEVELOPMENT BY TANRISE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809748"/>
            <a:ext cx="10789920" cy="229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D843F"/>
                </a:solidFill>
                <a:latin typeface="Arial"/>
              </a:rPr>
              <a:t>LOCATION-BASED LOGISTICS BRAND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158490"/>
            <a:ext cx="10789920" cy="229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D843F"/>
                </a:solidFill>
                <a:latin typeface="Arial"/>
              </a:rPr>
              <a:t>TRITAN GRESIK BY TANRISE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507232"/>
            <a:ext cx="10789920" cy="229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D843F"/>
                </a:solidFill>
                <a:latin typeface="Arial"/>
              </a:rPr>
              <a:t>HOSPITALITY RELATIONSHIP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828542"/>
            <a:ext cx="10789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Identify the approved hotel brand, asset company, and TANLY management relationship where relevant.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285742"/>
            <a:ext cx="10789920" cy="734949"/>
          </a:xfrm>
          <a:prstGeom prst="rect">
            <a:avLst/>
          </a:prstGeom>
          <a:solidFill>
            <a:srgbClr val="E9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4285742"/>
            <a:ext cx="32004" cy="734949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" y="4368038"/>
            <a:ext cx="10533888" cy="5707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83A32"/>
                </a:solidFill>
                <a:latin typeface="Times New Roman"/>
              </a:rPr>
              <a:t>Validation note: Endorsement wording and legal attribution require review before use. “The House of VASA” is not</a:t>
            </a:r>
          </a:p>
          <a:p>
            <a:pPr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83A32"/>
                </a:solidFill>
                <a:latin typeface="Times New Roman"/>
              </a:rPr>
              <a:t>established as the approved umbrella by the two supplied decks.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3 / 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21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22–23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One Destination Can Connect Several Businesses.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12263"/>
            <a:ext cx="10789920" cy="229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D843F"/>
                </a:solidFill>
                <a:latin typeface="Arial"/>
              </a:rPr>
              <a:t>TANRISE TAMAN DAYU PANDAAN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433574"/>
            <a:ext cx="10789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The wider destination connects residential development with golf, recreation, hospitality, and visitor activity.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890774"/>
            <a:ext cx="10789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Documented components include: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439414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347974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Tanrise Taman Dayu Pandaan.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888866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3797426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Golf Taman Dayu.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338319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4246879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Driving Range.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787772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4696333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Swiss of Taman Dayu Pandaan as an ongoing development.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145786"/>
            <a:ext cx="10789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Destination-wide planning should preserve the distinction between these assets and their ownership and operating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arrangements.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1 / 3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21.2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22–23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Tanrise Bandung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84831"/>
            <a:ext cx="10789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An ongoing integrated development with residential and commercial potential.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42032"/>
            <a:ext cx="10789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Grand Central Bandung is identified as a commercial project within the broader Bandung development site.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26663"/>
            <a:ext cx="10789920" cy="229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D843F"/>
                </a:solidFill>
                <a:latin typeface="Arial"/>
              </a:rPr>
              <a:t>TANRISE CITY SIDOARJO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347974"/>
            <a:ext cx="10789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An ongoing integrated-city project.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805173"/>
            <a:ext cx="10789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Its long-term development strategy should coordinate housing, infrastructure, commercial activity, and appropriate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partner-led facilities.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568697"/>
            <a:ext cx="10789920" cy="229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D843F"/>
                </a:solidFill>
                <a:latin typeface="Arial"/>
              </a:rPr>
              <a:t>PROPOSED VALUE-CREATION CYCLE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890007"/>
            <a:ext cx="2546604" cy="731520"/>
          </a:xfrm>
          <a:prstGeom prst="rect">
            <a:avLst/>
          </a:prstGeom>
          <a:solidFill>
            <a:srgbClr val="15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5036311"/>
            <a:ext cx="2327148" cy="2686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4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6F2E9"/>
                </a:solidFill>
                <a:latin typeface="Arial"/>
              </a:rPr>
              <a:t>Develop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82696" y="5072887"/>
            <a:ext cx="137160" cy="3538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18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AD843F"/>
                </a:solidFill>
                <a:latin typeface="Times New Roman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33572" y="4890007"/>
            <a:ext cx="2546604" cy="731520"/>
          </a:xfrm>
          <a:prstGeom prst="rect">
            <a:avLst/>
          </a:prstGeom>
          <a:solidFill>
            <a:srgbClr val="15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43300" y="5036311"/>
            <a:ext cx="2327148" cy="2686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4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6F2E9"/>
                </a:solidFill>
                <a:latin typeface="Arial"/>
              </a:rPr>
              <a:t>Activate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0468" y="5072887"/>
            <a:ext cx="137160" cy="3538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18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AD843F"/>
                </a:solidFill>
                <a:latin typeface="Times New Roman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81344" y="4890007"/>
            <a:ext cx="2546604" cy="731520"/>
          </a:xfrm>
          <a:prstGeom prst="rect">
            <a:avLst/>
          </a:prstGeom>
          <a:solidFill>
            <a:srgbClr val="15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91072" y="5036311"/>
            <a:ext cx="2327148" cy="2686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4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6F2E9"/>
                </a:solidFill>
                <a:latin typeface="Arial"/>
              </a:rPr>
              <a:t>Operate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5072887"/>
            <a:ext cx="137160" cy="3538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18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AD843F"/>
                </a:solidFill>
                <a:latin typeface="Times New Roman"/>
              </a:rPr>
              <a:t>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29116" y="4890007"/>
            <a:ext cx="2546604" cy="731520"/>
          </a:xfrm>
          <a:prstGeom prst="rect">
            <a:avLst/>
          </a:prstGeom>
          <a:solidFill>
            <a:srgbClr val="15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38844" y="5036311"/>
            <a:ext cx="2327148" cy="2686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4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6F2E9"/>
                </a:solidFill>
                <a:latin typeface="Arial"/>
              </a:rPr>
              <a:t>Grow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2 / 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21.3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22–23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One Destination Can Connect Several Businesses.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176272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84831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Develop relevant places.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625725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2534285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Activate them through tenants, institutions, services, and experiences.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075178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2983738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Operate retained assets and customer relationships.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524631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3433191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Grow income, asset productivity, and reinvestment capacity.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882643"/>
            <a:ext cx="10789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Education, healthcare, wellness, and memberships should be labelled as proposed or partner-led opportunities unless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a specific committed facility or operating business is confirmed.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3 / 3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5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6F2E9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AD843F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6F2E9"/>
                </a:solidFill>
                <a:latin typeface="Arial"/>
              </a:rPr>
              <a:t>CHAPTER 04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AD84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Mario brief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058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53312"/>
            <a:ext cx="10789920" cy="1278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6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AD843F"/>
                </a:solidFill>
                <a:latin typeface="Times New Roman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18688"/>
            <a:ext cx="9966960" cy="5806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104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F6F2E9"/>
                </a:solidFill>
                <a:latin typeface="Arial"/>
              </a:rPr>
              <a:t>Three corporate brand platform options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22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23–24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Choosing How TANRISE Will Be Known in Its Next Chapter.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84831"/>
            <a:ext cx="10789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The three proposed directions share a foundation of trust, purposeful concepts, and long-term value.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85800" y="2542032"/>
          <a:ext cx="10789920" cy="2945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  <a:gridCol w="2697480"/>
                <a:gridCol w="2697480"/>
              </a:tblGrid>
              <a:tr h="418465">
                <a:tc>
                  <a:txBody>
                    <a:bodyPr wrap="none"/>
                    <a:lstStyle/>
                    <a:p>
                      <a:pPr>
                        <a:lnSpc>
                          <a:spcPts val="17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F6F2E9"/>
                          </a:solidFill>
                          <a:latin typeface="Arial"/>
                        </a:rPr>
                        <a:t>Dimension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7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F6F2E9"/>
                          </a:solidFill>
                          <a:latin typeface="Arial"/>
                        </a:rPr>
                        <a:t>Option 01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7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F6F2E9"/>
                          </a:solidFill>
                          <a:latin typeface="Arial"/>
                        </a:rPr>
                        <a:t>Option 02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7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F6F2E9"/>
                          </a:solidFill>
                          <a:latin typeface="Arial"/>
                        </a:rPr>
                        <a:t>Option 03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8465">
                <a:tc>
                  <a:txBody>
                    <a:bodyPr wrap="none"/>
                    <a:lstStyle/>
                    <a:p>
                      <a:pPr>
                        <a:lnSpc>
                          <a:spcPts val="17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183A32"/>
                          </a:solidFill>
                          <a:latin typeface="Arial"/>
                        </a:rPr>
                        <a:t>Strategic territory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7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183A32"/>
                          </a:solidFill>
                          <a:latin typeface="Arial"/>
                        </a:rPr>
                        <a:t>Development excellence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7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183A32"/>
                          </a:solidFill>
                          <a:latin typeface="Arial"/>
                        </a:rPr>
                        <a:t>Human-centred placemaking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7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183A32"/>
                          </a:solidFill>
                          <a:latin typeface="Arial"/>
                        </a:rPr>
                        <a:t>Integrated value ecosystems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8465">
                <a:tc>
                  <a:txBody>
                    <a:bodyPr wrap="none"/>
                    <a:lstStyle/>
                    <a:p>
                      <a:pPr>
                        <a:lnSpc>
                          <a:spcPts val="17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183A32"/>
                          </a:solidFill>
                          <a:latin typeface="Arial"/>
                        </a:rPr>
                        <a:t>Brand idea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7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183A32"/>
                          </a:solidFill>
                          <a:latin typeface="Arial"/>
                        </a:rPr>
                        <a:t>Building Tomorrow’s Places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7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183A32"/>
                          </a:solidFill>
                          <a:latin typeface="Arial"/>
                        </a:rPr>
                        <a:t>Elevating Life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7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183A32"/>
                          </a:solidFill>
                          <a:latin typeface="Arial"/>
                        </a:rPr>
                        <a:t>Creating Lasting Value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35762">
                <a:tc>
                  <a:txBody>
                    <a:bodyPr wrap="none"/>
                    <a:lstStyle/>
                    <a:p>
                      <a:pPr>
                        <a:lnSpc>
                          <a:spcPts val="17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183A32"/>
                          </a:solidFill>
                          <a:latin typeface="Arial"/>
                        </a:rPr>
                        <a:t>Primary emphasis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7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183A32"/>
                          </a:solidFill>
                          <a:latin typeface="Arial"/>
                        </a:rPr>
                        <a:t>What we build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7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183A32"/>
                          </a:solidFill>
                          <a:latin typeface="Arial"/>
                        </a:rPr>
                        <a:t>Why we build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7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183A32"/>
                          </a:solidFill>
                          <a:latin typeface="Arial"/>
                        </a:rPr>
                        <a:t>What our developments</a:t>
                      </a:r>
                    </a:p>
                    <a:p>
                      <a:pPr>
                        <a:lnSpc>
                          <a:spcPts val="17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183A32"/>
                          </a:solidFill>
                          <a:latin typeface="Arial"/>
                        </a:rPr>
                        <a:t>enable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8465">
                <a:tc>
                  <a:txBody>
                    <a:bodyPr wrap="none"/>
                    <a:lstStyle/>
                    <a:p>
                      <a:pPr>
                        <a:lnSpc>
                          <a:spcPts val="17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183A32"/>
                          </a:solidFill>
                          <a:latin typeface="Arial"/>
                        </a:rPr>
                        <a:t>Emotional appeal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7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183A32"/>
                          </a:solidFill>
                          <a:latin typeface="Arial"/>
                        </a:rPr>
                        <a:t>Confidence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7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183A32"/>
                          </a:solidFill>
                          <a:latin typeface="Arial"/>
                        </a:rPr>
                        <a:t>Belonging and progress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7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183A32"/>
                          </a:solidFill>
                          <a:latin typeface="Arial"/>
                        </a:rPr>
                        <a:t>Opportunity and prosperity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35762">
                <a:tc>
                  <a:txBody>
                    <a:bodyPr wrap="none"/>
                    <a:lstStyle/>
                    <a:p>
                      <a:pPr>
                        <a:lnSpc>
                          <a:spcPts val="17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183A32"/>
                          </a:solidFill>
                          <a:latin typeface="Arial"/>
                        </a:rPr>
                        <a:t>Commercial emphasis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7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183A32"/>
                          </a:solidFill>
                          <a:latin typeface="Arial"/>
                        </a:rPr>
                        <a:t>Development and sales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7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183A32"/>
                          </a:solidFill>
                          <a:latin typeface="Arial"/>
                        </a:rPr>
                        <a:t>Development and long-term</a:t>
                      </a:r>
                    </a:p>
                    <a:p>
                      <a:pPr>
                        <a:lnSpc>
                          <a:spcPts val="17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183A32"/>
                          </a:solidFill>
                          <a:latin typeface="Arial"/>
                        </a:rPr>
                        <a:t>place value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7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183A32"/>
                          </a:solidFill>
                          <a:latin typeface="Arial"/>
                        </a:rPr>
                        <a:t>Development and recurring</a:t>
                      </a:r>
                    </a:p>
                    <a:p>
                      <a:pPr>
                        <a:lnSpc>
                          <a:spcPts val="17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183A32"/>
                          </a:solidFill>
                          <a:latin typeface="Arial"/>
                        </a:rPr>
                        <a:t>income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1 / 2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22.2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23–24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Choosing How TANRISE Will Be Known in Its Next Chapter.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2084831"/>
          <a:ext cx="10789920" cy="8369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  <a:gridCol w="2697480"/>
                <a:gridCol w="2697480"/>
              </a:tblGrid>
              <a:tr h="418465">
                <a:tc>
                  <a:txBody>
                    <a:bodyPr wrap="none"/>
                    <a:lstStyle/>
                    <a:p>
                      <a:pPr>
                        <a:lnSpc>
                          <a:spcPts val="17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F6F2E9"/>
                          </a:solidFill>
                          <a:latin typeface="Arial"/>
                        </a:rPr>
                        <a:t>Dimension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7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F6F2E9"/>
                          </a:solidFill>
                          <a:latin typeface="Arial"/>
                        </a:rPr>
                        <a:t>Option 01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7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F6F2E9"/>
                          </a:solidFill>
                          <a:latin typeface="Arial"/>
                        </a:rPr>
                        <a:t>Option 02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7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F6F2E9"/>
                          </a:solidFill>
                          <a:latin typeface="Arial"/>
                        </a:rPr>
                        <a:t>Option 03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8465">
                <a:tc>
                  <a:txBody>
                    <a:bodyPr wrap="none"/>
                    <a:lstStyle/>
                    <a:p>
                      <a:pPr>
                        <a:lnSpc>
                          <a:spcPts val="17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183A32"/>
                          </a:solidFill>
                          <a:latin typeface="Arial"/>
                        </a:rPr>
                        <a:t>Complexity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7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183A32"/>
                          </a:solidFill>
                          <a:latin typeface="Arial"/>
                        </a:rPr>
                        <a:t>Lower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7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183A32"/>
                          </a:solidFill>
                          <a:latin typeface="Arial"/>
                        </a:rPr>
                        <a:t>Moderate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7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183A32"/>
                          </a:solidFill>
                          <a:latin typeface="Arial"/>
                        </a:rPr>
                        <a:t>Higher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85800" y="3104641"/>
            <a:ext cx="10789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All options should accommodate TANRISE’s five business pillars and its existing and future portfolio.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561841"/>
            <a:ext cx="10789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All retain CINTA and Super-Serving as foundations.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19041"/>
            <a:ext cx="10789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Preliminary recommendation: Adopt Option 02 as the corporate brand direction and incorporate Option 03’s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economic ambition into the business strategy.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2 / 2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23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24–25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The Trusted Developer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62472" y="2084831"/>
            <a:ext cx="0" cy="2871217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2084831"/>
            <a:ext cx="5074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Strategic territory Development excellence.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542032"/>
            <a:ext cx="5074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Brand idea Building Tomorrow’s Places.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999232"/>
            <a:ext cx="5074920" cy="896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Supporting statement Creating developments that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inspire confidence today and opportunity for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tomorrow.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014215"/>
            <a:ext cx="5074920" cy="896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Brand purpose To create well-conceived places that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support progress, opportunity, and a better future for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the people and businesses they serve.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084831"/>
            <a:ext cx="5074920" cy="11750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Brand vision To become one of Indonesia’s leading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and most trusted property developers, recognised for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thoughtful concepts, dependable delivery, enduring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quality, and lasting value.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378707"/>
            <a:ext cx="5074920" cy="14538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Brand mission To develop residential, commercial,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industrial, hospitality, and integrated destinations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through thoughtful planning, responsible execution,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and a commitment to the customers, partners, and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communities who depend on the places we create.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1 / 3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23.2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24–25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062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The Trusted Developer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62472" y="2084831"/>
            <a:ext cx="0" cy="3152395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2084831"/>
            <a:ext cx="5074920" cy="11750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Brand positioning TANRISE is a trusted Indonesian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property developer combining market understanding,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relevant concepts, and dependable execution to create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places that support life and business.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378707"/>
            <a:ext cx="5074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Brand essence Progress Through Purposeful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Development.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114799"/>
            <a:ext cx="5074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Brand promise Well-conceived places. Responsibly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delivered.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84831"/>
            <a:ext cx="5074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Brand personality Professional, visionary, dependable,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disciplined, thoughtful, and approachable.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820924"/>
            <a:ext cx="5074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Tone of voice Clear, assured, knowledgeable,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responsible, and optimistic.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557016"/>
            <a:ext cx="5074920" cy="896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Corporate belief Great development begins with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understanding what tomorrow will require and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delivering responsibly today.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572000"/>
            <a:ext cx="5074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Culture Commitment-led execution, accountability,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delivery ownership, and continuous improvement.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2 / 3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23.3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24–25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The Trusted Developer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514600"/>
            <a:ext cx="5029200" cy="6791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3A32"/>
                </a:solidFill>
                <a:latin typeface="Times New Roman"/>
              </a:rPr>
              <a:t>Brand values Customer Focus, Integrity,</a:t>
            </a:r>
          </a:p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3A32"/>
                </a:solidFill>
                <a:latin typeface="Times New Roman"/>
              </a:rPr>
              <a:t>Teamwork, and Agility.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376676"/>
            <a:ext cx="5029200" cy="9890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3A32"/>
                </a:solidFill>
                <a:latin typeface="Times New Roman"/>
              </a:rPr>
              <a:t>Strategic strength Clear and credible, with</a:t>
            </a:r>
          </a:p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3A32"/>
                </a:solidFill>
                <a:latin typeface="Times New Roman"/>
              </a:rPr>
              <a:t>relatively limited change to the existing</a:t>
            </a:r>
          </a:p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3A32"/>
                </a:solidFill>
                <a:latin typeface="Times New Roman"/>
              </a:rPr>
              <a:t>operating model.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548632"/>
            <a:ext cx="5029200" cy="9890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3A32"/>
                </a:solidFill>
                <a:latin typeface="Times New Roman"/>
              </a:rPr>
              <a:t>Strategic limitation May be insufficiently</a:t>
            </a:r>
          </a:p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3A32"/>
                </a:solidFill>
                <a:latin typeface="Times New Roman"/>
              </a:rPr>
              <a:t>differentiated from established property</a:t>
            </a:r>
          </a:p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3A32"/>
                </a:solidFill>
                <a:latin typeface="Times New Roman"/>
              </a:rPr>
              <a:t>developers.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3 / 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24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25–27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The Purposeful Place-Maker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62472" y="2084831"/>
            <a:ext cx="0" cy="3278125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2084831"/>
            <a:ext cx="5074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Strategic territory Human-centred placemaking.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542032"/>
            <a:ext cx="5074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Status Recommended direction.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999232"/>
            <a:ext cx="5074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Brand idea Elevating Life.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456432"/>
            <a:ext cx="5074920" cy="896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Supporting statement Creating purposeful places where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people flourish, businesses thrive, and communities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grow.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084831"/>
            <a:ext cx="5074920" cy="11750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Brand purpose To enrich people’s lives and create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opportunities for businesses and communities through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places designed with purpose, care, and lasting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relevance.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378707"/>
            <a:ext cx="5074920" cy="11750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Brand vision To be one of Indonesia’s leading and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most trusted property developers, creating purposeful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places that elevate everyday life, enable business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growth, and generate lasting value for generations.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672583"/>
            <a:ext cx="5074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Brand mission We develop and nurture places that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respond to real human and business needs.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1 / 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24.2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25–27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The Purposeful Place-Maker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62472" y="2084831"/>
            <a:ext cx="0" cy="3122677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2084831"/>
            <a:ext cx="5074920" cy="14538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Through thoughtful concepts, responsible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development, meaningful partnerships, and continued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care, we create environments where people feel they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belong, businesses find opportunities, and communities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can grow.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657599"/>
            <a:ext cx="5074920" cy="14538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Brand positioning TANRISE is an Indonesian property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developer creating purposeful places that bring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together quality development, meaningful experiences,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and long-term value for people, businesses, and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communities.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84831"/>
            <a:ext cx="5074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Brand essence Purposeful Places. Meaningful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Progress.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20924"/>
            <a:ext cx="5074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Brand promise Places created with purpose.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Relationships built on trust.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557016"/>
            <a:ext cx="5074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Brand personality Thoughtful, warm, dependable,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progressive, and ambitious.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293108"/>
            <a:ext cx="5074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Tone of voice Human, confident, sincere, inspiring,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and professional.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2 / 3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24.3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25–27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066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The Purposeful Place-Maker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84831"/>
            <a:ext cx="10789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Corporate belief A place is more than what we build. Its true value is measured by the lives it supports, the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opportunities it creates, and the positive impact it leaves behind.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20924"/>
            <a:ext cx="10789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Values and service foundation CINTA guides behaviour. Super-Serving translates care and trust into customer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experience.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557016"/>
            <a:ext cx="10789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Strategic advantage Relevant across integrated cities, residential communities, business districts, industrial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environments, and hospitality assets.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3 / 3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25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27–28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067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The Integrated Value Creator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62472" y="2084831"/>
            <a:ext cx="0" cy="2871217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2084831"/>
            <a:ext cx="5074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Strategic territory Integrated value ecosystems.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542032"/>
            <a:ext cx="5074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Brand idea Creating Lasting Value.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999232"/>
            <a:ext cx="5074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Supporting statement Connecting places, people, and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possibilities for generations of growth.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735324"/>
            <a:ext cx="5074920" cy="11750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Brand purpose To unlock the long-term potential of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places by connecting people, businesses, and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opportunities through integrated development and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responsible stewardship.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084831"/>
            <a:ext cx="5074920" cy="11750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Brand vision To become a leading Indonesian property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and asset-value creation company, recognised for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sustainable growth, thriving communities, and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enduring economic value.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378707"/>
            <a:ext cx="5074920" cy="896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Brand mission We develop, activate, and manage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places that bring together complementary uses,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partnerships, and experiences.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1 / 3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25.2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27–28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The Integrated Value Creator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62472" y="2084831"/>
            <a:ext cx="0" cy="2590039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2084831"/>
            <a:ext cx="5074920" cy="896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By combining development expertise with long-term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asset management and commercial innovation, we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create value that continues beyond project completion.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99815"/>
            <a:ext cx="5074920" cy="11750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Brand positioning TANRISE is an integrated property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developer focused on creating lasting value through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purposeful developments, connected business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ecosystems, and long-term asset performance.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84831"/>
            <a:ext cx="5074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Brand essence Connected Growth. Enduring Value.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542032"/>
            <a:ext cx="5074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Brand promise We create places that continue to grow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in value and purpose.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278124"/>
            <a:ext cx="5074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Brand personality Visionary, enterprising,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collaborative, disciplined, and resilient.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014215"/>
            <a:ext cx="5074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Tone of voice Strategic, confident, intelligent,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optimistic, and accountable.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2 / 3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25.3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27–28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069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The Integrated Value Creator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84831"/>
            <a:ext cx="10789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Corporate belief The greatest value of a development is realised through the opportunities and relationships it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continues to create.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20924"/>
            <a:ext cx="10789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Values and service foundation CINTA guides collaboration, integrity, customer understanding, and adaptability.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Super-Serving supports continuing relationships.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557016"/>
            <a:ext cx="10789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Strategic limitation Requires substantial evidence of operating capabilities, capital discipline, asset performance, and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recurring-income contribution.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3 / 3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5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6F2E9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AD843F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6F2E9"/>
                </a:solidFill>
                <a:latin typeface="Arial"/>
              </a:rPr>
              <a:t>CHAPTER 05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AD84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Mario brief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070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53312"/>
            <a:ext cx="10789920" cy="1278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6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AD843F"/>
                </a:solidFill>
                <a:latin typeface="Times New Roman"/>
              </a:rPr>
              <a:t>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18688"/>
            <a:ext cx="9966960" cy="5806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104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F6F2E9"/>
                </a:solidFill>
                <a:latin typeface="Arial"/>
              </a:rPr>
              <a:t>Recommended corporate brand platform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5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6F2E9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AD843F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6F2E9"/>
                </a:solidFill>
                <a:latin typeface="Arial"/>
              </a:rPr>
              <a:t>26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AD84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Mario brief · pp. 28–29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071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F6F2E9"/>
                </a:solidFill>
                <a:latin typeface="Arial"/>
              </a:rPr>
              <a:t>Elevating Life. Creating Lasting Value.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975103"/>
            <a:ext cx="11018520" cy="406908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6062472" y="2084831"/>
            <a:ext cx="0" cy="2883409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2084831"/>
            <a:ext cx="5074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One Human Promise. One Commercial Discipline.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542032"/>
            <a:ext cx="5074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Elevating Life The purpose and value people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experience.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4"/>
            <a:ext cx="5074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Creating Lasting Value The commercial responsibility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and long-term ambition.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014215"/>
            <a:ext cx="5074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Retain Elevating Life as the primary corporate brand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expression.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084831"/>
            <a:ext cx="5074920" cy="896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Use Creating Lasting Value as a supporting strategic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proposition connecting the human promise to business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performance.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127247"/>
            <a:ext cx="5074920" cy="229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D843F"/>
                </a:solidFill>
                <a:latin typeface="Arial"/>
              </a:rPr>
              <a:t>RECOMMENDED POSITIONING STATEMENT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448558"/>
            <a:ext cx="5074920" cy="14538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TANRISE is a trusted Indonesian property developer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creating purposeful places that enrich lives, enable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businesses, and strengthen communities through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thoughtful development, meaningful partnerships, and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long-term stewardship.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1 / 2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26.2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28–29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Portfolio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514600"/>
            <a:ext cx="5029200" cy="12989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3A32"/>
                </a:solidFill>
                <a:latin typeface="Times New Roman"/>
              </a:rPr>
              <a:t>The promise should be expressed differently</a:t>
            </a:r>
          </a:p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3A32"/>
                </a:solidFill>
                <a:latin typeface="Times New Roman"/>
              </a:rPr>
              <a:t>across a home, township, office, warehouse,</a:t>
            </a:r>
          </a:p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3A32"/>
                </a:solidFill>
                <a:latin typeface="Times New Roman"/>
              </a:rPr>
              <a:t>industrial park, hotel, or leisure destination while</a:t>
            </a:r>
          </a:p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3A32"/>
                </a:solidFill>
                <a:latin typeface="Times New Roman"/>
              </a:rPr>
              <a:t>remaining recognisably TANRISE.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2 / 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27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29–30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Everything Begins With Purpose.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2084831"/>
          <a:ext cx="10789919" cy="30652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2774"/>
                <a:gridCol w="7337145"/>
              </a:tblGrid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Brand component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Recommended direction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Purpose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Enrich lives and create opportunities through purposeful places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Vision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Become a leading and trusted Indonesian property developer, elevating life and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creating lasting value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Mission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Develop and nurture places that serve real needs through thoughtful concepts,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responsible delivery, and continued care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Brand essence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Purposeful Places. Meaningful Progress.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Brand promise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Places created with purpose. Relationships built on trust.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1 / 2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27.2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29–30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074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Everything Begins With Purpose.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2084831"/>
          <a:ext cx="10789919" cy="28329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2774"/>
                <a:gridCol w="7337145"/>
              </a:tblGrid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Brand component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Recommended direction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Brand positioning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A human-centred developer combining purposeful development with long-term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place value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Brand personality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Thoughtful, dependable, progressive, warm, and ambitious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Service philosophy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Super-Serving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Core competencies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CINTA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Corporate expression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Elevating Life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685800" y="5100700"/>
            <a:ext cx="10789920" cy="734949"/>
          </a:xfrm>
          <a:prstGeom prst="rect">
            <a:avLst/>
          </a:prstGeom>
          <a:solidFill>
            <a:srgbClr val="E9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5100700"/>
            <a:ext cx="32004" cy="734949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5182996"/>
            <a:ext cx="10533888" cy="5707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83A32"/>
                </a:solidFill>
                <a:latin typeface="Times New Roman"/>
              </a:rPr>
              <a:t>Scope: The platform applies across TANRISE’s five business pillars without replacing established destination, project, or</a:t>
            </a:r>
          </a:p>
          <a:p>
            <a:pPr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83A32"/>
                </a:solidFill>
                <a:latin typeface="Times New Roman"/>
              </a:rPr>
              <a:t>hotel brands.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2 / 2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28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30–31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Build on the Existing Foundation. Define the Next Chapter.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62472" y="2084831"/>
            <a:ext cx="0" cy="2644141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2112263"/>
            <a:ext cx="5074920" cy="229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D843F"/>
                </a:solidFill>
                <a:latin typeface="Arial"/>
              </a:rPr>
              <a:t>EXISTING CLIENT VISION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433574"/>
            <a:ext cx="5074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To be the leading and trusted property developer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delivering the best concepts.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197098"/>
            <a:ext cx="5074920" cy="229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D843F"/>
                </a:solidFill>
                <a:latin typeface="Arial"/>
              </a:rPr>
              <a:t>EXISTING CLIENT MISSION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518408"/>
            <a:ext cx="5074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To develop properties providing added value for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clients and business partners.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112263"/>
            <a:ext cx="5074920" cy="229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D843F"/>
                </a:solidFill>
                <a:latin typeface="Arial"/>
              </a:rPr>
              <a:t>PROPOSED EVOLVED VISION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33574"/>
            <a:ext cx="5074920" cy="11750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To be one of Indonesia’s leading and most trusted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property developers, creating purposeful places that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elevate lives, empower businesses, and generate lasting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value for generations.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754882"/>
            <a:ext cx="5074920" cy="229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D843F"/>
                </a:solidFill>
                <a:latin typeface="Arial"/>
              </a:rPr>
              <a:t>PROPOSED EVOLVED MISSION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076191"/>
            <a:ext cx="5074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We develop and nurture places that bring people,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businesses, and communities closer to what matters.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1 / 2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28.2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30–31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076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Build on the Existing Foundation. Define the Next Chapter.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84831"/>
            <a:ext cx="10789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Through thoughtful concepts, responsible development, meaningful partnerships, and continued care, we create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environments where life can flourish, opportunities can grow, and value can endure.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820924"/>
            <a:ext cx="10789920" cy="734949"/>
          </a:xfrm>
          <a:prstGeom prst="rect">
            <a:avLst/>
          </a:prstGeom>
          <a:solidFill>
            <a:srgbClr val="E9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820924"/>
            <a:ext cx="32004" cy="734949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2903220"/>
            <a:ext cx="10533888" cy="5707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83A32"/>
                </a:solidFill>
                <a:latin typeface="Times New Roman"/>
              </a:rPr>
              <a:t>Strategic interpretation: The existing vision and mission remain the client’s documented foundation. The evolved statements</a:t>
            </a:r>
          </a:p>
          <a:p>
            <a:pPr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83A32"/>
                </a:solidFill>
                <a:latin typeface="Times New Roman"/>
              </a:rPr>
              <a:t>are recommendations for leadership approval.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647313"/>
            <a:ext cx="10789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The Top Five ambition is a measurable corporate objective within the broader vision.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2 / 2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29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31–32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Values Must Be Experienced Across Every Project.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84831"/>
            <a:ext cx="10789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Retain Customer Focus, Integrity, Teamwork, and Agility, consistent with the current official TANCORP CINTA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description.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85800" y="2820924"/>
          <a:ext cx="10789919" cy="24306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782"/>
                <a:gridCol w="3236976"/>
                <a:gridCol w="5179161"/>
              </a:tblGrid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Value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What we believe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What it means in practice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Customer Focus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Every place begins with people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Understand homeowners, tenants, occupiers, visitors,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guests, and partners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Integrity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Trust is earned through actions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Communicate accurate names, status, ownership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relationships, and commitments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Teamwork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Great places require collective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effort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Coordinate development, finance, sales, asset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management, operators, and partners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1 / 2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29.2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31–32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Values Must Be Experienced Across Every Project.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2084831"/>
          <a:ext cx="10789919" cy="10991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782"/>
                <a:gridCol w="3236976"/>
                <a:gridCol w="5179161"/>
              </a:tblGrid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Value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What we believe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What it means in practice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Agility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Progress requires adaptability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Respond to market conditions and improve through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customer and operating evidence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85800" y="3394328"/>
            <a:ext cx="10789920" cy="229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D843F"/>
                </a:solidFill>
                <a:latin typeface="Arial"/>
              </a:rPr>
              <a:t>CULTURE 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715638"/>
            <a:ext cx="10789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We listen before we build. We deliver what we promise. We grow together. We adapt to create better outcomes.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172838"/>
            <a:ext cx="10789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Portfolio application: Apply shared values through asset-specific behaviours rather than identical service procedures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everywhere.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2 / 2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30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32–32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079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We Take Responsibility for Places.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62472" y="2084831"/>
            <a:ext cx="0" cy="2926652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2084831"/>
            <a:ext cx="5074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Translate CINTA into five daily practices.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633472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2542032"/>
            <a:ext cx="4910328" cy="8728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1. Understand Before We Create Ground</a:t>
            </a:r>
          </a:p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decisions in customer, market, site, and operating</a:t>
            </a:r>
          </a:p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requirements.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625215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533774"/>
            <a:ext cx="4910328" cy="8728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2. Own Every Commitment Assign each promise</a:t>
            </a:r>
          </a:p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a responsible owner, timeline, and measurable</a:t>
            </a:r>
          </a:p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outcome.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176272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65392" y="2084831"/>
            <a:ext cx="4910328" cy="8728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3. Work Beyond Silos Connect development,</a:t>
            </a:r>
          </a:p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sales, finance, operations, customer service, and</a:t>
            </a:r>
          </a:p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external operators.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168015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3076574"/>
            <a:ext cx="4910328" cy="8728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4. Care Beyond Completion Treat handover and</a:t>
            </a:r>
          </a:p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opening as the beginning of a continuing</a:t>
            </a:r>
          </a:p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relationship.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159757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392" y="4068318"/>
            <a:ext cx="4910328" cy="8728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5. Improve With Evidence Use customer</a:t>
            </a:r>
          </a:p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feedback, project outcomes, asset performance,</a:t>
            </a:r>
          </a:p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and operational data to improve decisions.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1 / 2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30.2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32–32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Cultural Commitment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514600"/>
            <a:ext cx="5029200" cy="9890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3A32"/>
                </a:solidFill>
                <a:latin typeface="Times New Roman"/>
              </a:rPr>
              <a:t>Every decision we make, every place we create,</a:t>
            </a:r>
          </a:p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3A32"/>
                </a:solidFill>
                <a:latin typeface="Times New Roman"/>
              </a:rPr>
              <a:t>and every relationship we build should reflect the</a:t>
            </a:r>
          </a:p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3A32"/>
                </a:solidFill>
                <a:latin typeface="Times New Roman"/>
              </a:rPr>
              <a:t>care, responsibility, and ambition of TANRISE.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686555"/>
            <a:ext cx="5029200" cy="12989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3A32"/>
                </a:solidFill>
                <a:latin typeface="Times New Roman"/>
              </a:rPr>
              <a:t>Implementation recommendation: Embed these</a:t>
            </a:r>
          </a:p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3A32"/>
                </a:solidFill>
                <a:latin typeface="Times New Roman"/>
              </a:rPr>
              <a:t>behaviours in leadership reviews, project</a:t>
            </a:r>
          </a:p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3A32"/>
                </a:solidFill>
                <a:latin typeface="Times New Roman"/>
              </a:rPr>
              <a:t>governance, onboarding, partner coordination,</a:t>
            </a:r>
          </a:p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3A32"/>
                </a:solidFill>
                <a:latin typeface="Times New Roman"/>
              </a:rPr>
              <a:t>and customer experience standards.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2 / 2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31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33–33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Professional in Our Expertise. Human in Our Approach.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2084831"/>
          <a:ext cx="10789919" cy="3529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782"/>
                <a:gridCol w="3236976"/>
                <a:gridCol w="5179161"/>
              </a:tblGrid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Personality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Meaning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Expression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Thoughtful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Understand before creating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Relevant concepts, purposeful planning, attention to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detail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Dependable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Honour commitments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Accurate communication, responsible delivery,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consistent service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Progressive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Embrace better possibilities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Innovation, adaptability, forward-looking development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Warm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Care about human experiences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Empathy, approachable communication, community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relationships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Ambitious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Strive for meaningful growth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High standards, commercial discipline, continuous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improvement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1 / 2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31.2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33–33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082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Brand Character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84831"/>
            <a:ext cx="10789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TANRISE is the thoughtful visionary: a capable and trusted developer who understands that creating a place means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taking responsibility for the people and businesses who depend on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20924"/>
            <a:ext cx="10789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Avoid: Arrogance, excessive luxury language, impersonal communication, unnecessary technical complexity, and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unsupported claims.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557016"/>
            <a:ext cx="10789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Portfolio application: A logistics occupier, apartment buyer, township resident, and hotel investor should recognise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the same corporate character through different relevant experiences.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2 / 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32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34–35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Speak With Confidence. Connect With Humanity.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2084831"/>
          <a:ext cx="10789919" cy="30963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782"/>
                <a:gridCol w="3236976"/>
                <a:gridCol w="5179161"/>
              </a:tblGrid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Principle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Conventional language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Proposed TANRISE language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Human-centred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Premium residential development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with comprehensive facilities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A neighbourhood designed around the everyday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moments that matter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Purposeful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Strategically located commercial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properties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Business spaces that bring people closer to opportunity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Trustworthy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World-class quality guaranteed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Thoughtfully planned, clearly communicated, and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responsibly delivered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Progressive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Innovative integrated development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Connecting homes, businesses, and experiences to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create new possibilities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1 / 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32.2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34–35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Speak With Confidence. Connect With Humanity.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2084831"/>
          <a:ext cx="10789919" cy="10991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782"/>
                <a:gridCol w="3236976"/>
                <a:gridCol w="5179161"/>
              </a:tblGrid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Principle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Conventional language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Proposed TANRISE language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Warm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Providing exceptional customer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service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Here to support you, from your first visit to the years that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follow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85800" y="3394328"/>
            <a:ext cx="10789920" cy="229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D843F"/>
                </a:solidFill>
                <a:latin typeface="Arial"/>
              </a:rPr>
              <a:t>CORPORATE VOICE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715638"/>
            <a:ext cx="10789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Confident, without boasting. Inspiring, without exaggeration. Warm and professional. Ambitious and grounded in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evidence.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479163"/>
            <a:ext cx="10789920" cy="229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D843F"/>
                </a:solidFill>
                <a:latin typeface="Arial"/>
              </a:rPr>
              <a:t>SUGGESTED CORPORATE NARRATIVE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800473"/>
            <a:ext cx="10789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Every place begins with a possibility.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257673"/>
            <a:ext cx="10789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A place to call home. A space to grow a business. A destination to discover something new.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2 / 3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32.3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34–35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Speak With Confidence. Connect With Humanity.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84831"/>
            <a:ext cx="10789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At TANRISE, we believe thoughtful development can transform these possibilities into meaningful experiences.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42032"/>
            <a:ext cx="10789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Because what we build matters. What people can achieve within it matters even more.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99232"/>
            <a:ext cx="10789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TANRISE. Elevating Life.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456432"/>
            <a:ext cx="10789920" cy="477202"/>
          </a:xfrm>
          <a:prstGeom prst="rect">
            <a:avLst/>
          </a:prstGeom>
          <a:solidFill>
            <a:srgbClr val="E9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456432"/>
            <a:ext cx="32004" cy="477202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" y="3538727"/>
            <a:ext cx="10533888" cy="3150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83A32"/>
                </a:solidFill>
                <a:latin typeface="Times New Roman"/>
              </a:rPr>
              <a:t>Communication rule: Clearly label existing facilities, ongoing works, future developments, and proposed concepts.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3 / 3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33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35–36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Trust Is What People Experience.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084831"/>
            <a:ext cx="1997049" cy="731520"/>
          </a:xfrm>
          <a:prstGeom prst="rect">
            <a:avLst/>
          </a:prstGeom>
          <a:solidFill>
            <a:srgbClr val="15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2231136"/>
            <a:ext cx="1777593" cy="2686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4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6F2E9"/>
                </a:solidFill>
                <a:latin typeface="Arial"/>
              </a:rPr>
              <a:t>Listen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33141" y="2267712"/>
            <a:ext cx="137160" cy="3538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18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AD843F"/>
                </a:solidFill>
                <a:latin typeface="Times New Roman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84017" y="2084831"/>
            <a:ext cx="1997049" cy="731520"/>
          </a:xfrm>
          <a:prstGeom prst="rect">
            <a:avLst/>
          </a:prstGeom>
          <a:solidFill>
            <a:srgbClr val="15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93745" y="2231136"/>
            <a:ext cx="1777593" cy="2686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4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6F2E9"/>
                </a:solidFill>
                <a:latin typeface="Arial"/>
              </a:rPr>
              <a:t>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1359" y="2267712"/>
            <a:ext cx="137160" cy="3538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18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AD843F"/>
                </a:solidFill>
                <a:latin typeface="Times New Roman"/>
              </a:rPr>
              <a:t>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82235" y="2084831"/>
            <a:ext cx="1997049" cy="731520"/>
          </a:xfrm>
          <a:prstGeom prst="rect">
            <a:avLst/>
          </a:prstGeom>
          <a:solidFill>
            <a:srgbClr val="15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91963" y="2231136"/>
            <a:ext cx="1777593" cy="2686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4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6F2E9"/>
                </a:solidFill>
                <a:latin typeface="Arial"/>
              </a:rPr>
              <a:t>Deliver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29576" y="2267712"/>
            <a:ext cx="137160" cy="3538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18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AD843F"/>
                </a:solidFill>
                <a:latin typeface="Times New Roman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80452" y="2084831"/>
            <a:ext cx="1997049" cy="731520"/>
          </a:xfrm>
          <a:prstGeom prst="rect">
            <a:avLst/>
          </a:prstGeom>
          <a:solidFill>
            <a:srgbClr val="15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90180" y="2231136"/>
            <a:ext cx="1777593" cy="2686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4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6F2E9"/>
                </a:solidFill>
                <a:latin typeface="Arial"/>
              </a:rPr>
              <a:t>Care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7794" y="2267712"/>
            <a:ext cx="137160" cy="3538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18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AD843F"/>
                </a:solidFill>
                <a:latin typeface="Times New Roman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78670" y="2084831"/>
            <a:ext cx="1997049" cy="731520"/>
          </a:xfrm>
          <a:prstGeom prst="rect">
            <a:avLst/>
          </a:prstGeom>
          <a:solidFill>
            <a:srgbClr val="15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88398" y="2231136"/>
            <a:ext cx="1777593" cy="2686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4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6F2E9"/>
                </a:solidFill>
                <a:latin typeface="Arial"/>
              </a:rPr>
              <a:t>Improve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685800" y="2926079"/>
          <a:ext cx="10789919" cy="23995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782"/>
                <a:gridCol w="3236976"/>
                <a:gridCol w="5179161"/>
              </a:tblGrid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Stage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Customer commitment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Proposed measurement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Listen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Understand real needs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Research completion and customer insight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Design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Create relevant, useful concepts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Concept validation and feasibility approval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Deliver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Communicate and fulfil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commitments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Timeliness, quality, and readiness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Care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Support continuing relationships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Resolution time, satisfaction, and retention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1 / 3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33.2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35–36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087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Trust Is What People Experience.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2084831"/>
          <a:ext cx="10789919" cy="10991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782"/>
                <a:gridCol w="3236976"/>
                <a:gridCol w="5179161"/>
              </a:tblGrid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Stage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Customer commitment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Proposed measurement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Improve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Learn from feedback and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performance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Recurring-issue reduction and completed improvements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85800" y="3394328"/>
            <a:ext cx="10789920" cy="229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D843F"/>
                </a:solidFill>
                <a:latin typeface="Arial"/>
              </a:rPr>
              <a:t>APPLY THE PHILOSOPHY BY ASSET TYPE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807078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3715638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Integrated City: Infrastructure, public realm, resident communication, and destination coordination.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256531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4165091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Community Living: Purchase, construction updates, handover, defects, and after-sales care.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705984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4614545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Business Districts: Tenant onboarding, access, maintenance, and commercial support.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5155437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5063998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Logistic &amp; Industrial Park: Occupier readiness, infrastructure reliability, and operating support.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5604890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" y="5513451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Hotel, MICE, and Leisure: Guest experience and asset performance coordinated with the relevant operator.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2 / 3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33.3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35–36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Trust Is What People Experience.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514600"/>
            <a:ext cx="5029200" cy="12989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183A32"/>
                </a:solidFill>
                <a:latin typeface="Times New Roman"/>
              </a:rPr>
              <a:t>Recommendation: Establish shared</a:t>
            </a:r>
          </a:p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183A32"/>
                </a:solidFill>
                <a:latin typeface="Times New Roman"/>
              </a:rPr>
              <a:t>customer-experience principles with clear</a:t>
            </a:r>
          </a:p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183A32"/>
                </a:solidFill>
                <a:latin typeface="Times New Roman"/>
              </a:rPr>
              <a:t>responsibilities between TANRISE, subsidiaries,</a:t>
            </a:r>
          </a:p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183A32"/>
                </a:solidFill>
                <a:latin typeface="Times New Roman"/>
              </a:rPr>
              <a:t>estate managers, TANLY, and other partners.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3 / 3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5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6F2E9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AD843F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6F2E9"/>
                </a:solidFill>
                <a:latin typeface="Arial"/>
              </a:rPr>
              <a:t>CHAPTER 06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AD84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Mario brief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089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53312"/>
            <a:ext cx="10789920" cy="1278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6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AD843F"/>
                </a:solidFill>
                <a:latin typeface="Times New Roman"/>
              </a:rPr>
              <a:t>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18688"/>
            <a:ext cx="9966960" cy="5806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104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F6F2E9"/>
                </a:solidFill>
                <a:latin typeface="Arial"/>
              </a:rPr>
              <a:t>Business transformation strategy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34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36–37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9491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Strengthen Existing Income Engines. Develop Additional</a:t>
            </a:r>
          </a:p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Sources Selectively.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69921"/>
            <a:ext cx="10789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TANRISE already reports development and recurring-income activities.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54553"/>
            <a:ext cx="10789920" cy="229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D843F"/>
                </a:solidFill>
                <a:latin typeface="Arial"/>
              </a:rPr>
              <a:t>DOCUMENTED INCOME CATEGORIES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03295"/>
            <a:ext cx="10789920" cy="229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D843F"/>
                </a:solidFill>
                <a:latin typeface="Arial"/>
              </a:rPr>
              <a:t>DEVELOPMENT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416046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324606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Apartments and condotels.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865498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3774059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Warehouses and shophouses.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314952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4223512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Houses and townhouses.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764405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4672965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Land.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149850"/>
            <a:ext cx="10789920" cy="229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D843F"/>
                </a:solidFill>
                <a:latin typeface="Arial"/>
              </a:rPr>
              <a:t>RECURRING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5562600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" y="5471160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Hotel operations.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1 / 3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34.2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36–37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9491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Strengthen Existing Income Engines. Develop Additional</a:t>
            </a:r>
          </a:p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Sources Selectively.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261362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169921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Rental of warehouses and shophouses.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646806"/>
            <a:ext cx="10789920" cy="229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D843F"/>
                </a:solidFill>
                <a:latin typeface="Arial"/>
              </a:rPr>
              <a:t>PROPOSED EXPANSION OF VALUE CREATION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85800" y="2968117"/>
          <a:ext cx="10789919" cy="28640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2774"/>
                <a:gridCol w="7337145"/>
              </a:tblGrid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Value engine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Potential activities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Development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Continue relevant property development and sales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Asset Income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Improve leasing, retained commercial assets, and selected hospitality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investments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Operations &amp; Services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Evaluate estate management, facilities, destination operations, and suitable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memberships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Partnerships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Use joint ventures, anchor tenants, institutional partnerships, and management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arrangements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2 / 3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34.3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36–37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092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9491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Strengthen Existing Income Engines. Develop Additional</a:t>
            </a:r>
          </a:p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Sources Selectively.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69921"/>
            <a:ext cx="10789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Examples include the commercial portfolio, retained hospitality assets, Taman Dayu leisure components, and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selected industrial developments.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906014"/>
            <a:ext cx="10789920" cy="734949"/>
          </a:xfrm>
          <a:prstGeom prst="rect">
            <a:avLst/>
          </a:prstGeom>
          <a:solidFill>
            <a:srgbClr val="E9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906014"/>
            <a:ext cx="32004" cy="734949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2988309"/>
            <a:ext cx="10533888" cy="5707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83A32"/>
                </a:solidFill>
                <a:latin typeface="Times New Roman"/>
              </a:rPr>
              <a:t>Strategic principle: Choose ownership and operating arrangements according to risk, return, capital requirements, and</a:t>
            </a:r>
          </a:p>
          <a:p>
            <a:pPr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83A32"/>
                </a:solidFill>
                <a:latin typeface="Times New Roman"/>
              </a:rPr>
              <a:t>capability.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732403"/>
            <a:ext cx="10789920" cy="734949"/>
          </a:xfrm>
          <a:prstGeom prst="rect">
            <a:avLst/>
          </a:prstGeom>
          <a:solidFill>
            <a:srgbClr val="E9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732403"/>
            <a:ext cx="32004" cy="734949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" y="3814699"/>
            <a:ext cx="10533888" cy="5707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83A32"/>
                </a:solidFill>
                <a:latin typeface="Times New Roman"/>
              </a:rPr>
              <a:t>Important: Proposed fees, memberships, and service businesses require feasibility assessment before being presented as</a:t>
            </a:r>
          </a:p>
          <a:p>
            <a:pPr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83A32"/>
                </a:solidFill>
                <a:latin typeface="Times New Roman"/>
              </a:rPr>
              <a:t>established material income streams.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3 / 3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35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37–39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093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One Corporate Strategy. Asset-Specific Growth Engines.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2084831"/>
          <a:ext cx="10789919" cy="31274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782"/>
                <a:gridCol w="3236976"/>
                <a:gridCol w="5179161"/>
              </a:tblGrid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Business pillar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Portfolio application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Strategic priority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Integrated City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Taman Dayu; Bandung; City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Sidoarjo; Swiss of Taman Dayu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Coordinate masterplanning, infrastructure, phasing,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anchors, and long-term place value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130299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Community Living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Kyo Society; Grand Sunrise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Menganti; Sidoarjo and Malang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residential projects; ARC100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portfolio reference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Match products to demand, clarify naming, improve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absorption, delivery, and customer care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98017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Business Districts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Voza Tower; Rame-Rame; Grand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Central Bandung; Midpoint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Kayoon; Bali Bites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Improve commercial relevance, occupancy, tenant mix,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visitation, and asset utilisation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1 / 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35.2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37–39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094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One Corporate Strategy. Asset-Specific Growth Engines.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2084831"/>
          <a:ext cx="10789919" cy="17649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782"/>
                <a:gridCol w="3236976"/>
                <a:gridCol w="5179161"/>
              </a:tblGrid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Business pillar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Portfolio application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Strategic priority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Logistic &amp; Industrial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Park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Existing Tritan assets; Gresik;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Gempol; Palembang; Banjarbaru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Deliver suitable infrastructure, occupier readiness,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connectivity, and phased development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Hotel, MICE, and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Leisure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VASA; Cleo; Solaris; golf; Driving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Range; hospitality pipeline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Improve operating performance and coordinate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investment with management capability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85800" y="4060063"/>
            <a:ext cx="10789920" cy="229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D843F"/>
                </a:solidFill>
                <a:latin typeface="Arial"/>
              </a:rPr>
              <a:t>KPI PRINCIPLE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381373"/>
            <a:ext cx="10789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Each pillar needs its own commercial measures, supported by a consolidated corporate scorecard.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838573"/>
            <a:ext cx="10789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Distinguish: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5387212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5295773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Development sales and recognised revenue.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2 / 3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35.3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37–39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One Corporate Strategy. Asset-Specific Growth Engines.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514600"/>
            <a:ext cx="5029200" cy="3693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3A32"/>
                </a:solidFill>
                <a:latin typeface="Times New Roman"/>
              </a:rPr>
              <a:t>Operating income and cash flow.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066796"/>
            <a:ext cx="5029200" cy="3693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3A32"/>
                </a:solidFill>
                <a:latin typeface="Times New Roman"/>
              </a:rPr>
              <a:t>Utilisation and customer demand.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618992"/>
            <a:ext cx="5029200" cy="3693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3A32"/>
                </a:solidFill>
                <a:latin typeface="Times New Roman"/>
              </a:rPr>
              <a:t>Capital employed and investment returns.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171188"/>
            <a:ext cx="5029200" cy="3693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3A32"/>
                </a:solidFill>
                <a:latin typeface="Times New Roman"/>
              </a:rPr>
              <a:t>Customer and partner experience.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3 / 3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36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39–40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9491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Use the Existing Portfolio and Pipeline to Demonstrate the</a:t>
            </a:r>
          </a:p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Strategy.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62472" y="2169921"/>
            <a:ext cx="0" cy="3136774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85800" y="2261362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2169921"/>
            <a:ext cx="4910328" cy="6017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1. Taman Dayu — Sport, Leisure, and</a:t>
            </a:r>
          </a:p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Destination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890519"/>
            <a:ext cx="5074920" cy="896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Coordinate Tanrise Taman Dayu Pandaan, Golf Taman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Dayu, the Driving Range, and the Swiss of Taman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Dayu Pandaan development.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905504"/>
            <a:ext cx="5074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Evaluate additional wellness, community, hospitality,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and F&amp;B programming.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169921"/>
            <a:ext cx="5074920" cy="896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Business hypothesis: More relevant activities and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repeat visitation could support operating income and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surrounding property demand.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184905"/>
            <a:ext cx="5074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Measures: Visitation, repeat participation, asset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utilisation, operating profit, and property enquiries.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4012437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3920997"/>
            <a:ext cx="4910328" cy="6017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2. Integrated-City Growth — Sidoarjo and</a:t>
            </a:r>
          </a:p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Bandung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641595"/>
            <a:ext cx="5074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Develop Tanrise City Sidoarjo and Tanrise Bandung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through commercially sustainable phases.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1 / 3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36.2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39–40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9491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Use the Existing Portfolio and Pipeline to Demonstrate the</a:t>
            </a:r>
          </a:p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Strategy.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62472" y="2169921"/>
            <a:ext cx="0" cy="241897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2169921"/>
            <a:ext cx="5074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For Bandung, coordinate the wider destination with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Grand Central Bandung and residential development.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06014"/>
            <a:ext cx="5074920" cy="896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Business hypothesis: Appropriate anchors,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infrastructure, and visible delivery could improve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buyer confidence and early-phase attractiveness.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4012437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920997"/>
            <a:ext cx="4910328" cy="6017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3. Industrial and Logistics — Occupier</a:t>
            </a:r>
          </a:p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Productivity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169921"/>
            <a:ext cx="5074920" cy="896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Use Tritan Gresik, Tritan Gempol Pasuruan, Tanrise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Industrial Park Palembang, and Tanrise Industrial Park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Banjarbaru to test a consistent occupier proposition.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184905"/>
            <a:ext cx="5074920" cy="896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Business hypothesis: Technical suitability,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infrastructure reliability, and coordinated services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could strengthen acquisition and retention.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2 / 3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36.3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39–40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098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9491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Supporting Workstream — Hospitality Investment and</a:t>
            </a:r>
          </a:p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514600"/>
            <a:ext cx="5029200" cy="9890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3A32"/>
                </a:solidFill>
                <a:latin typeface="Times New Roman"/>
              </a:rPr>
              <a:t>Align the VASA and Solaris pipeline with</a:t>
            </a:r>
          </a:p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3A32"/>
                </a:solidFill>
                <a:latin typeface="Times New Roman"/>
              </a:rPr>
              <a:t>operating feasibility, management agreements,</a:t>
            </a:r>
          </a:p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3A32"/>
                </a:solidFill>
                <a:latin typeface="Times New Roman"/>
              </a:rPr>
              <a:t>opening readiness, and capital discipline.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686555"/>
            <a:ext cx="5029200" cy="9890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183A32"/>
                </a:solidFill>
                <a:latin typeface="Times New Roman"/>
              </a:rPr>
              <a:t>Recommendation: Advance each initiative</a:t>
            </a:r>
          </a:p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183A32"/>
                </a:solidFill>
                <a:latin typeface="Times New Roman"/>
              </a:rPr>
              <a:t>through a documented business case before</a:t>
            </a:r>
          </a:p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183A32"/>
                </a:solidFill>
                <a:latin typeface="Times New Roman"/>
              </a:rPr>
              <a:t>scaling the model.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3 / 3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37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40–41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099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Measure Growth by Value Created.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84831"/>
            <a:ext cx="10789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Evaluate developments and retained-asset initiatives through a common framework.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85800" y="2542032"/>
          <a:ext cx="10789919" cy="3034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2774"/>
                <a:gridCol w="7337145"/>
              </a:tblGrid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Criterion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Core question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Market demand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Is there sufficient evidence of demand?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Strategic fit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Does the investment support the portfolio strategy?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Capital efficiency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What return is generated relative to investment?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Cash-flow resilience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How exposed is the project to market cycles and timing?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Recurring-income potential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Can the asset produce sustainable continuing earnings?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Operating capability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Can TANRISE or a qualified partner operate it effectively?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1 / 3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37.2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40–41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Measure Growth by Value Created.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2084831"/>
          <a:ext cx="10789919" cy="1300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2774"/>
                <a:gridCol w="7337145"/>
              </a:tblGrid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Criterion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Core question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Ownership economics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What share of cash flow and earnings is attributable to TANRISE?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Brand contribution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Will the investment strengthen trust and corporate reputation?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85800" y="3595496"/>
            <a:ext cx="10789920" cy="229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D843F"/>
                </a:solidFill>
                <a:latin typeface="Arial"/>
              </a:rPr>
              <a:t>FINANCIAL DISCIPLINES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916806"/>
            <a:ext cx="10789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Project IRR · NPV · ROIC · Cash Conversion · Leverage · Operating Margin · Sensitivity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401439"/>
            <a:ext cx="10789920" cy="229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D843F"/>
                </a:solidFill>
                <a:latin typeface="Arial"/>
              </a:rPr>
              <a:t>PIPELINE APPLICATION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722749"/>
            <a:ext cx="10789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Apply consistent evaluation to integrated cities, residential phases, commercial assets, industrial parks, warehouses,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hotels, and leisure developments.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2 / 3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37.3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40–41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101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Measure Growth by Value Created.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514600"/>
            <a:ext cx="5029200" cy="9890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3A32"/>
                </a:solidFill>
                <a:latin typeface="Times New Roman"/>
              </a:rPr>
              <a:t>Management decision: Establish an investment</a:t>
            </a:r>
          </a:p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3A32"/>
                </a:solidFill>
                <a:latin typeface="Times New Roman"/>
              </a:rPr>
              <a:t>committee process with asset-specific</a:t>
            </a:r>
          </a:p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3A32"/>
                </a:solidFill>
                <a:latin typeface="Times New Roman"/>
              </a:rPr>
              <a:t>assumptions and clearly accountable sponsors.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3 / 3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5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6F2E9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AD843F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6F2E9"/>
                </a:solidFill>
                <a:latin typeface="Arial"/>
              </a:rPr>
              <a:t>CHAPTER 07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AD84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Mario brief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102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53312"/>
            <a:ext cx="10789920" cy="1278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6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AD843F"/>
                </a:solidFill>
                <a:latin typeface="Times New Roman"/>
              </a:rPr>
              <a:t>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18688"/>
            <a:ext cx="9966960" cy="5806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104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F6F2E9"/>
                </a:solidFill>
                <a:latin typeface="Arial"/>
              </a:rPr>
              <a:t>The roadmap to 2035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38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41–42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103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Four Phases. One Ambition Through 2035.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874519"/>
            <a:ext cx="10789920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D843F"/>
                </a:solidFill>
                <a:latin typeface="Arial"/>
              </a:rPr>
              <a:t>PERIOD / PHASE / PRIORITIES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084831"/>
            <a:ext cx="2560320" cy="4312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28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AD843F"/>
                </a:solidFill>
                <a:latin typeface="Times New Roman"/>
              </a:rPr>
              <a:t>2026–2027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" y="2587752"/>
            <a:ext cx="2560320" cy="0"/>
          </a:xfrm>
          <a:prstGeom prst="line">
            <a:avLst/>
          </a:prstGeom>
          <a:ln w="7620">
            <a:solidFill>
              <a:srgbClr val="AD84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5800" y="2798063"/>
            <a:ext cx="256032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83A32"/>
                </a:solidFill>
                <a:latin typeface="Arial"/>
              </a:rPr>
              <a:t>Foundation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182111"/>
            <a:ext cx="2560320" cy="15468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83A32"/>
                </a:solidFill>
                <a:latin typeface="Times New Roman"/>
              </a:rPr>
              <a:t>Reconcile the portfolio</a:t>
            </a:r>
          </a:p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83A32"/>
                </a:solidFill>
                <a:latin typeface="Times New Roman"/>
              </a:rPr>
              <a:t>register; confirm naming and</a:t>
            </a:r>
          </a:p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83A32"/>
                </a:solidFill>
                <a:latin typeface="Times New Roman"/>
              </a:rPr>
              <a:t>ownership; establish financial</a:t>
            </a:r>
          </a:p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83A32"/>
                </a:solidFill>
                <a:latin typeface="Times New Roman"/>
              </a:rPr>
              <a:t>and operating baselines;</a:t>
            </a:r>
          </a:p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83A32"/>
                </a:solidFill>
                <a:latin typeface="Times New Roman"/>
              </a:rPr>
              <a:t>review current pipeline</a:t>
            </a:r>
          </a:p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83A32"/>
                </a:solidFill>
                <a:latin typeface="Times New Roman"/>
              </a:rPr>
              <a:t>commitments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084831"/>
            <a:ext cx="2560320" cy="4312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28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AD843F"/>
                </a:solidFill>
                <a:latin typeface="Times New Roman"/>
              </a:rPr>
              <a:t>2028–2029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429000" y="2587752"/>
            <a:ext cx="2560320" cy="0"/>
          </a:xfrm>
          <a:prstGeom prst="line">
            <a:avLst/>
          </a:prstGeom>
          <a:ln w="7620">
            <a:solidFill>
              <a:srgbClr val="AD84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429000" y="2798063"/>
            <a:ext cx="256032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83A32"/>
                </a:solidFill>
                <a:latin typeface="Arial"/>
              </a:rPr>
              <a:t>Activation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3182111"/>
            <a:ext cx="2560320" cy="12989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83A32"/>
                </a:solidFill>
                <a:latin typeface="Times New Roman"/>
              </a:rPr>
              <a:t>Strengthen commercial and</a:t>
            </a:r>
          </a:p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83A32"/>
                </a:solidFill>
                <a:latin typeface="Times New Roman"/>
              </a:rPr>
              <a:t>operating capabilities; deliver</a:t>
            </a:r>
          </a:p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83A32"/>
                </a:solidFill>
                <a:latin typeface="Times New Roman"/>
              </a:rPr>
              <a:t>approved development phases;</a:t>
            </a:r>
          </a:p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83A32"/>
                </a:solidFill>
                <a:latin typeface="Times New Roman"/>
              </a:rPr>
              <a:t>improve performance of</a:t>
            </a:r>
          </a:p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83A32"/>
                </a:solidFill>
                <a:latin typeface="Times New Roman"/>
              </a:rPr>
              <a:t>retained assets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2084831"/>
            <a:ext cx="2560320" cy="4312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28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AD843F"/>
                </a:solidFill>
                <a:latin typeface="Times New Roman"/>
              </a:rPr>
              <a:t>2030–2032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172200" y="2587752"/>
            <a:ext cx="2560320" cy="0"/>
          </a:xfrm>
          <a:prstGeom prst="line">
            <a:avLst/>
          </a:prstGeom>
          <a:ln w="7620">
            <a:solidFill>
              <a:srgbClr val="AD84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172200" y="2798063"/>
            <a:ext cx="256032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83A32"/>
                </a:solidFill>
                <a:latin typeface="Arial"/>
              </a:rPr>
              <a:t>Acceleration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3182111"/>
            <a:ext cx="2560320" cy="10510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83A32"/>
                </a:solidFill>
                <a:latin typeface="Times New Roman"/>
              </a:rPr>
              <a:t>Scale validated models,</a:t>
            </a:r>
          </a:p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83A32"/>
                </a:solidFill>
                <a:latin typeface="Times New Roman"/>
              </a:rPr>
              <a:t>productive assets, and effective</a:t>
            </a:r>
          </a:p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83A32"/>
                </a:solidFill>
                <a:latin typeface="Times New Roman"/>
              </a:rPr>
              <a:t>partnerships across the five</a:t>
            </a:r>
          </a:p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83A32"/>
                </a:solidFill>
                <a:latin typeface="Times New Roman"/>
              </a:rPr>
              <a:t>pillars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2084831"/>
            <a:ext cx="2560320" cy="4312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28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AD843F"/>
                </a:solidFill>
                <a:latin typeface="Times New Roman"/>
              </a:rPr>
              <a:t>2033–2035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915400" y="2587752"/>
            <a:ext cx="2560320" cy="0"/>
          </a:xfrm>
          <a:prstGeom prst="line">
            <a:avLst/>
          </a:prstGeom>
          <a:ln w="7620">
            <a:solidFill>
              <a:srgbClr val="AD84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915400" y="2798063"/>
            <a:ext cx="256032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83A32"/>
                </a:solidFill>
                <a:latin typeface="Arial"/>
              </a:rPr>
              <a:t>Leadership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3182111"/>
            <a:ext cx="2560320" cy="10510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83A32"/>
                </a:solidFill>
                <a:latin typeface="Times New Roman"/>
              </a:rPr>
              <a:t>Optimise the portfolio,</a:t>
            </a:r>
          </a:p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83A32"/>
                </a:solidFill>
                <a:latin typeface="Times New Roman"/>
              </a:rPr>
              <a:t>strengthen earnings resilience,</a:t>
            </a:r>
          </a:p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83A32"/>
                </a:solidFill>
                <a:latin typeface="Times New Roman"/>
              </a:rPr>
              <a:t>and compete against the agreed</a:t>
            </a:r>
          </a:p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83A32"/>
                </a:solidFill>
                <a:latin typeface="Times New Roman"/>
              </a:rPr>
              <a:t>Top Five benchmarks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1 / 2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38.2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41–42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104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Immediate Portfolio Focus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176272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84831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Integrated-city phasing in Bandung, Sidoarjo, and Taman Dayu.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625725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2534285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Community Living product and naming clarity.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075178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2983738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Commercial asset productivity.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524631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3433191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Industrial and logistics readiness.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974083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3882643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Hospitality development and opening discipline.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332096"/>
            <a:ext cx="10789920" cy="477202"/>
          </a:xfrm>
          <a:prstGeom prst="rect">
            <a:avLst/>
          </a:prstGeom>
          <a:solidFill>
            <a:srgbClr val="E9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332096"/>
            <a:ext cx="32004" cy="477202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" y="4414392"/>
            <a:ext cx="10533888" cy="3150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83A32"/>
                </a:solidFill>
                <a:latin typeface="Times New Roman"/>
              </a:rPr>
              <a:t>Strategic principle: Measure financial, operational, and organisational progress throughout the journey.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900739"/>
            <a:ext cx="10789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The roadmap is a proposed corporate transformation framework, not a replacement for individual project schedules.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2 / 2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39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42–44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105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Measure the Ambition. Manage the Journey.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2084831"/>
          <a:ext cx="10789919" cy="32975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782"/>
                <a:gridCol w="3236976"/>
                <a:gridCol w="5179161"/>
              </a:tblGrid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Dimension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Proposed KPI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Objective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Financial scale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Consolidated revenue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Top Five among the agreed listed-property peer group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Profitability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Net profit attributable to owners of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the parent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Top Five among the agreed peer group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Capital productivity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ROIC and project IRR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Meet board-approved hurdles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Financial resilience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Debt, liquidity, and cash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conversion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Sustainable funding and leverage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Recurring income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Revenue, operating profit, and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cash contribution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Meaningful, growing contribution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1 / 4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39.2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42–44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106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Measure the Ambition. Manage the Journey.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2084831"/>
          <a:ext cx="10789919" cy="30963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782"/>
                <a:gridCol w="3236976"/>
                <a:gridCol w="5179161"/>
              </a:tblGrid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Dimension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Proposed KPI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Objective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Development execution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Absorption, handover, project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margin, and delivery milestones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Consistent execution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Asset productivity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Occupancy, RevPAR, NOI,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utilisation, and visitation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Improve against asset-specific benchmarks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Customer confidence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Satisfaction, complaints, handover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quality, and retention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Measurable improvement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Brand strength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Awareness, trust, and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endorsement recognition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Stronger corporate reputation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2 / 4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39.3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42–44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107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Measure the Ambition. Manage the Journey.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2084831"/>
          <a:ext cx="10789919" cy="10991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782"/>
                <a:gridCol w="3236976"/>
                <a:gridCol w="5179161"/>
              </a:tblGrid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Dimension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Proposed KPI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Objective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Portfolio governance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Approved names, status,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ownership, and operator records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One reconciled portfolio register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85800" y="3394328"/>
            <a:ext cx="10789920" cy="229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D843F"/>
                </a:solidFill>
                <a:latin typeface="Arial"/>
              </a:rPr>
              <a:t>FINANCIAL PLANNING REQUIREMENT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715638"/>
            <a:ext cx="10789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Build an integrated model covering the contribution and funding requirements of: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4264278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72838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Existing assets.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713731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4622292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Ongoing developments.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5163184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5071745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Upcoming projects.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5612637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5521198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Retained commercial and hospitality assets.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3 / 4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39.4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42–44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108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Measure the Ambition. Manage the Journey.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514600"/>
            <a:ext cx="5029200" cy="3693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3A32"/>
                </a:solidFill>
                <a:latin typeface="Times New Roman"/>
              </a:rPr>
              <a:t>Partnerships and potential acquisitions.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066796"/>
            <a:ext cx="5029200" cy="3693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3A32"/>
                </a:solidFill>
                <a:latin typeface="Times New Roman"/>
              </a:rPr>
              <a:t>Downside scenarios.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618992"/>
            <a:ext cx="5029200" cy="3693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3A32"/>
                </a:solidFill>
                <a:latin typeface="Times New Roman"/>
              </a:rPr>
              <a:t>Projected competitor thresholds.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171188"/>
            <a:ext cx="5029200" cy="12989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3A32"/>
                </a:solidFill>
                <a:latin typeface="Times New Roman"/>
              </a:rPr>
              <a:t>Scale challenge: The FY2025 revenue baseline</a:t>
            </a:r>
          </a:p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3A32"/>
                </a:solidFill>
                <a:latin typeface="Times New Roman"/>
              </a:rPr>
              <a:t>of approximately Rp410.7 billion requires</a:t>
            </a:r>
          </a:p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3A32"/>
                </a:solidFill>
                <a:latin typeface="Times New Roman"/>
              </a:rPr>
              <a:t>substantial growth; competitors may also</a:t>
            </a:r>
          </a:p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3A32"/>
                </a:solidFill>
                <a:latin typeface="Times New Roman"/>
              </a:rPr>
              <a:t>expand.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4 / 4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40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44–45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109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Turn Portfolio Clarity Into Executive Decisions.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2084831"/>
          <a:ext cx="10789919" cy="33286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782"/>
                <a:gridCol w="3236976"/>
                <a:gridCol w="5179161"/>
              </a:tblGrid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Period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Priority action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Deliverable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98017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Days 1–30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Reconcile all projects, names,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statuses, ownership interests, and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management relationships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Approved master portfolio register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Days 1–45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Audit financial and operating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performance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Profitability, capital, cash-flow, and productivity baseline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Days 30–60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Approve corporate brand platform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and naming governance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Brand strategy and endorsement framework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Days 30–90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Review existing commitments and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prioritise the pipeline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Investment and transformation opportunity matrix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1 / 3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40.2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44–45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110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Turn Portfolio Clarity Into Executive Decisions.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2084831"/>
          <a:ext cx="10789919" cy="24306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782"/>
                <a:gridCol w="3236976"/>
                <a:gridCol w="5179161"/>
              </a:tblGrid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Period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Priority action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Deliverable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Days 60–120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Develop priority business cases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Taman Dayu, integrated-city, industrial, and hospitality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workstreams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Days 90–150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Establish customer and operating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standards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Super-Serving measures and partner responsibilities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Days 120–180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Approve the funded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transformation plan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Roadmap, accountable owners, and quarterly scorecard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85800" y="4725797"/>
            <a:ext cx="10789920" cy="229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D843F"/>
                </a:solidFill>
                <a:latin typeface="Arial"/>
              </a:rPr>
              <a:t>GOVERNANCE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047107"/>
            <a:ext cx="10789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Create an executive-led steering committee representing finance, development, commercial, operations, corporate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strategy, and relevant operating partners.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2 / 3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MAIN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40.3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44–45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111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Turn Portfolio Clarity Into Executive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84831"/>
            <a:ext cx="10789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Rubicube can support strategy, brand governance, concept development, and communication architecture.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42032"/>
            <a:ext cx="10789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Investment and operating decisions remain with TANRISE management and qualified delivery partners.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26663"/>
            <a:ext cx="10789920" cy="229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D843F"/>
                </a:solidFill>
                <a:latin typeface="Arial"/>
              </a:rPr>
              <a:t>CLOSING STATEMENT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347974"/>
            <a:ext cx="10789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We Build Places. We Create Possibilities. We Elevate Life.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805173"/>
            <a:ext cx="10789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The future of TANRISE will be shaped by the lives we enrich, the businesses we enable, the communities we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strengthen, and the lasting value we create.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541265"/>
            <a:ext cx="10789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TANRISE — Elevating Life.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3 / 3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5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6F2E9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AD843F"/>
                </a:solidFill>
                <a:latin typeface="Arial"/>
              </a:rPr>
              <a:t>APPENDICES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6F2E9"/>
                </a:solidFill>
                <a:latin typeface="Arial"/>
              </a:rPr>
              <a:t>APPENDIX 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AD84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Mario brief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112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53312"/>
            <a:ext cx="10789920" cy="1278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6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AD843F"/>
                </a:solidFill>
                <a:latin typeface="Times New Roman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18688"/>
            <a:ext cx="9966960" cy="5806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104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F6F2E9"/>
                </a:solidFill>
                <a:latin typeface="Arial"/>
              </a:rPr>
              <a:t>Complete Project And Naming Register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APPENDICES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A1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45–46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113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Integrated City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2084831"/>
          <a:ext cx="10789919" cy="32975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782"/>
                <a:gridCol w="3236976"/>
                <a:gridCol w="5179161"/>
              </a:tblGrid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Project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Status in client materials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Naming and interpretation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Tanrise Taman Dayu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Pandaan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Existing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Integrated destination; distinguish it from golf, resort,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Driving Range, and other components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Tanrise Bandung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Ongoing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Integrated development in Bandung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Tanrise City Sidoarjo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Ongoing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Integrated-city development in Sidoarjo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Swiss of Taman Dayu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Pandaan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Ongoing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Separate development reference within the wider Taman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Dayu context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Tanrise Taman Dayu /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Taman Dayu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Brand and destination references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Use the approved full destination name consistently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1 / 2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APPENDICES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A1.2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45–46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114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Integrated City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2084831"/>
          <a:ext cx="10789919" cy="10991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782"/>
                <a:gridCol w="3236976"/>
                <a:gridCol w="5179161"/>
              </a:tblGrid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Project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Status in client materials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Naming and interpretation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Tanrise City Sidoarjo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logo treatment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Brand portfolio proposal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Naming exists in investor materials; final visual lockup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requires approval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685800" y="3366896"/>
            <a:ext cx="10789920" cy="477202"/>
          </a:xfrm>
          <a:prstGeom prst="rect">
            <a:avLst/>
          </a:prstGeom>
          <a:solidFill>
            <a:srgbClr val="E9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3366896"/>
            <a:ext cx="32004" cy="477202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3449192"/>
            <a:ext cx="10533888" cy="3150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83A32"/>
                </a:solidFill>
                <a:latin typeface="Times New Roman"/>
              </a:rPr>
              <a:t>Rule: Do not merge the wider Taman Dayu destination and its component assets into a single undifferentiated investment.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2 / 2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APPENDICES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A2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46–48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115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Community Living and High-Rise Residential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2084831"/>
          <a:ext cx="10789919" cy="3297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782"/>
                <a:gridCol w="3236976"/>
                <a:gridCol w="5179161"/>
              </a:tblGrid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Project or name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Status or evidence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Treatment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Grand Sunrise Menganti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Existing in investor deck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Retain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Grand Sunrise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Established brand reference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Use location descriptor where approved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Jumana Residence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Existing public-facing name and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investor milestone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Retain as a recognised name during transition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98017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Sunrise Residence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Sidoarjo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Existing listing in investor deck;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proposed replacement for Jumana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in brand deck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Record as one project with a naming transition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Kyo Society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Existing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Residential apartment project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1 / 3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APPENDICES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A2.2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46–48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116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Community Living and High-Rise Residential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2084831"/>
          <a:ext cx="10789919" cy="3529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782"/>
                <a:gridCol w="3236976"/>
                <a:gridCol w="5179161"/>
              </a:tblGrid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Project or name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Status or evidence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Treatment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Kyo Apartment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Descriptive label in branding deck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Do not count separately from Kyo Society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ARC100 / ARC 100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Documented apartment brand and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investor milestones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Use consistent approved styling; confirm relationship to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other accommodation names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Sunrise Residence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Malang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Ongoing in investor deck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Confirm final name and scope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Sunrise Garden Malang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Name used on investor portfolio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map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Reconcile with other Malang references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Grand Sunrise Malang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Shown in proposed naming and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project rendering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Confirm whether separate from, or a naming alternative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to, Sunrise Residence Malang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2 / 3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APPENDICES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A2.3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46–48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117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Community Living and High-Rise Residential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2084831"/>
          <a:ext cx="10789919" cy="10991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782"/>
                <a:gridCol w="3236976"/>
                <a:gridCol w="5179161"/>
              </a:tblGrid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Project or name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Status or evidence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Treatment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Aegis Avenue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Historical launch reference in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investor milestones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Retain in historical register; confirm current name,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classification, and relationship to other projects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685800" y="3366896"/>
            <a:ext cx="10789920" cy="734949"/>
          </a:xfrm>
          <a:prstGeom prst="rect">
            <a:avLst/>
          </a:prstGeom>
          <a:solidFill>
            <a:srgbClr val="E9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3366896"/>
            <a:ext cx="32004" cy="734949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3449192"/>
            <a:ext cx="10533888" cy="5707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83A32"/>
                </a:solidFill>
                <a:latin typeface="Times New Roman"/>
              </a:rPr>
              <a:t>Critical rule: Jumana Residence and Sunrise Residence Sidoarjo should not be counted as two separate projects without</a:t>
            </a:r>
          </a:p>
          <a:p>
            <a:pPr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83A32"/>
                </a:solidFill>
                <a:latin typeface="Times New Roman"/>
              </a:rPr>
              <a:t>evidence of distinct assets.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193286"/>
            <a:ext cx="10789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Malang rule: Do not assume that every Malang name represents a separate development.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3 / 3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APPENDICES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A3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48–49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118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Business Districts, Commercial, and Retail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2084831"/>
          <a:ext cx="10789919" cy="3529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782"/>
                <a:gridCol w="3236976"/>
                <a:gridCol w="5179161"/>
              </a:tblGrid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Project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Status or evidence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Treatment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Voza Tower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Existing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Office development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Rame-Rame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Existing listing; 2026 launch year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shown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Commercial destination with stalls, sportainment, and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cinema components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Grand Central Bandung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Ongoing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Commercial development associated with the Bandung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site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Midpoint Kayoon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Included in brand portfolio deck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Commercial project; confirm current completion and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operating status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Bali Bites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Existing listing in investor portfolio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map and brand deck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Commercial/F&amp;B destination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1 / 2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APPENDICES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A3.2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48–49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119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Business Districts, Commercial, and Retail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2084831"/>
          <a:ext cx="10789919" cy="24306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782"/>
                <a:gridCol w="3236976"/>
                <a:gridCol w="5179161"/>
              </a:tblGrid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Project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Status or evidence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Treatment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Temu Kamu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Named within the Bali Bites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reference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F&amp;B operating concept; distinguish from the property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asset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Chamas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Named within the Bali Bites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reference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F&amp;B operating concept; distinguish from the property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asset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Kyo Society under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Commercial &amp; Retail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Classification used in branding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deck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Explain investment marketing separately; retain primary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residential-apartment classification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85800" y="4698365"/>
            <a:ext cx="10789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Commercial-component rule: Shophouses and retail areas within housing, warehouse, or township projects are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components of those developments unless documented as separate brands or assets.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2 / 2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APPENDICES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A4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49–51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120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Logistics and Warehouse Portfolio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2084831"/>
          <a:ext cx="10789919" cy="3529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782"/>
                <a:gridCol w="3236976"/>
                <a:gridCol w="5179161"/>
              </a:tblGrid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Project or brand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Status in client materials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Treatment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Tritan Surabaya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Existing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Retain approved location naming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Tritan Medan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Existing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Warehouse development; do not automatically rename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as an industrial park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Tritan Wedi 1 —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Sidoarjo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Existing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Retain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Tritan Wedi 2 —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Sidoarjo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Existing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Retain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Tritan Taman —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Sidoarjo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Existing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Retain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1 / 3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APPENDICES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A4.2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49–51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121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Logistics and Warehouse Portfolio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2084831"/>
          <a:ext cx="10789919" cy="32975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782"/>
                <a:gridCol w="3236976"/>
                <a:gridCol w="5179161"/>
              </a:tblGrid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Project or brand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Status in client materials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Treatment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Tritan Southgate / South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Gate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Existing and historical references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Standardise approved spelling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Tritan Banyu Urip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Historical development reference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Confirm relationship to current Surabaya naming before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counting separately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Tritan Point Bandung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Historical warehouse reference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Distinguish from the newer Tanrise Bandung integrated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development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Tritan Gresik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Ongoing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Confirm latest delivery status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Tritan Gempol Pasuruan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Ongoing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Confirm location record and latest delivery status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2 / 3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APPENDICES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A4.3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49–51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122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Logistics and Warehouse Portfolio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2084831"/>
          <a:ext cx="10789919" cy="28640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782"/>
                <a:gridCol w="3236976"/>
                <a:gridCol w="5179161"/>
              </a:tblGrid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Project or brand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Status in client materials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Treatment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TritanPoint / Tritan Point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Existing brand reference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Record alongside proposed naming transition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TritanHub / Tritan Hub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Existing brand reference and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milestones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Record alongside proposed naming transition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TRITAN + Location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Proposed consolidated naming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system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Do not describe as fully implemented without approval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Tritan Kediri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Shown in proposed brand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architecture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Project scope and operating/development status require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confirmation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685800" y="5131816"/>
            <a:ext cx="10789920" cy="477202"/>
          </a:xfrm>
          <a:prstGeom prst="rect">
            <a:avLst/>
          </a:prstGeom>
          <a:solidFill>
            <a:srgbClr val="E9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5131816"/>
            <a:ext cx="32004" cy="477202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5214112"/>
            <a:ext cx="10533888" cy="3150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83A32"/>
                </a:solidFill>
                <a:latin typeface="Times New Roman"/>
              </a:rPr>
              <a:t>Rule: Location-based naming proposals do not, by themselves, establish that each location is an operating project.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3 / 3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APPENDICES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A5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51–51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123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Industrial Parks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2084831"/>
          <a:ext cx="10789919" cy="433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782"/>
                <a:gridCol w="3236976"/>
                <a:gridCol w="5179161"/>
              </a:tblGrid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Project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Status in client materials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Naming and interpretation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85800" y="2728594"/>
            <a:ext cx="10789920" cy="229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D843F"/>
                </a:solidFill>
                <a:latin typeface="Arial"/>
              </a:rPr>
              <a:t>TREATMENT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85800" y="3049904"/>
          <a:ext cx="10789919" cy="1997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782"/>
                <a:gridCol w="3236976"/>
                <a:gridCol w="5179161"/>
              </a:tblGrid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Tanrise Industrial Park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Palembang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Ongoing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Confirm development area definitions and current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milestone status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Tanrise Industrial Park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Banjarbaru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Ongoing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Use Banjarbaru consistently; abbreviated “Banjar”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references should be reconciled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Tanrise Industrial Park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Medan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Shown in proposed branding deck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Confirm whether this is a separate project, future plan, or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proposed naming treatment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685800" y="5229986"/>
            <a:ext cx="10789920" cy="477202"/>
          </a:xfrm>
          <a:prstGeom prst="rect">
            <a:avLst/>
          </a:prstGeom>
          <a:solidFill>
            <a:srgbClr val="E9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5229986"/>
            <a:ext cx="32004" cy="477202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" y="5312282"/>
            <a:ext cx="10533888" cy="3150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83A32"/>
                </a:solidFill>
                <a:latin typeface="Times New Roman"/>
              </a:rPr>
              <a:t>Rule: Keep Tritan Medan and Tanrise Industrial Park Medan distinct in the register until their relationship is established.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APPENDICES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A6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52–53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124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Existing Hospitality and Leisure References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2084831"/>
          <a:ext cx="10789919" cy="30963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782"/>
                <a:gridCol w="3236976"/>
                <a:gridCol w="5179161"/>
              </a:tblGrid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Property or asset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Naming in client materials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Treatment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Vasa Hotel Surabaya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VASA, HR Muhammad —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Surabaya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Existing hotel reference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Vasa Suite Surabaya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VASA, Gubeng — Surabaya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Existing accommodation reference; standardise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Suite/Suites styling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Cleo Business Hotel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Basuki Rahmat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Investor portfolio and milestones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Existing hotel reference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Cleo Business Hotel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Walikota Mustajab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Investor portfolio and milestones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Existing hotel reference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1 / 3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APPENDICES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A6.2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52–53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125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Existing Hospitality and Leisure References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2084831"/>
          <a:ext cx="10789919" cy="35298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782"/>
                <a:gridCol w="3236976"/>
                <a:gridCol w="5179161"/>
              </a:tblGrid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Property or asset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Naming in client materials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Treatment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Cleo Business Hotel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Jemursari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Investor portfolio and milestones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Existing hotel reference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Solaris Hotel Kuta Bali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Investor portfolio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Existing hotel reference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Solaris Hotel Malang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Historical and portfolio references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Existing hotel reference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Solaris Villa Bali / Villa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Solaris Bali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Investor portfolio and milestones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Existing listing; use approved styling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98017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Solaris Villa Malang /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Solaris Villa Extension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Malang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Investor portfolio and milestones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Existing listing; identify the villa extension separately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from the hotel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2 / 3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APPENDICES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A6.3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52–53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126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Existing Hospitality and Leisure References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2084831"/>
          <a:ext cx="10789919" cy="19660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782"/>
                <a:gridCol w="3236976"/>
                <a:gridCol w="5179161"/>
              </a:tblGrid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Property or asset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Naming in client materials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Treatment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Golf Taman Dayu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Investor asset schedule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Golf asset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Driving Range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Investor asset schedule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Separate leisure asset within the Taman Dayu context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Taman Dayu Golf &amp;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Resort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TANLY operating/destination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name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Map its relationship to the underlying property assets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and operating arrangements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685800" y="4233798"/>
            <a:ext cx="10789920" cy="477202"/>
          </a:xfrm>
          <a:prstGeom prst="rect">
            <a:avLst/>
          </a:prstGeom>
          <a:solidFill>
            <a:srgbClr val="E9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4233798"/>
            <a:ext cx="32004" cy="477202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4316094"/>
            <a:ext cx="10533888" cy="3150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83A32"/>
                </a:solidFill>
                <a:latin typeface="Times New Roman"/>
              </a:rPr>
              <a:t>Rule: A hotel brand, legal owner, developer, and management company may occupy different levels of the architecture.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3 / 3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APPENDICES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A7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53–54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127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TANRISE Hospitality Development Pipeline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2084831"/>
          <a:ext cx="10789919" cy="32975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782"/>
                <a:gridCol w="3236976"/>
                <a:gridCol w="5179161"/>
              </a:tblGrid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Project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Status in investor deck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Treatment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VASA Ubud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Ongoing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Vasa Resort Ubud naming also appears publicly; confirm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final approved name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VASA Bromo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Ongoing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Vasa Hotel/Resort Bromo styling should be standardised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VASA Canggu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Upcoming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Do not present as operating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VASA Malang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Upcoming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Distinguish from Solaris Malang and other Malang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developments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GOED Malang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Upcoming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Separate brand/project entry within the Malang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development context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1 / 2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APPENDICES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A7.2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53–54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128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TANRISE Hospitality Development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84831"/>
            <a:ext cx="10789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Ownership figures for Ubud and Bromo conflict between the summary and detailed pages. Do not reproduce a single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percentage without reconciliation.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2 / 2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APPENDICES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A8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54–54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129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9491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Wider TANLY Pipeline — Separate From Confirmed</a:t>
            </a:r>
          </a:p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TANRISE Asset Ownership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69921"/>
            <a:ext cx="10789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TANLY’s publicly listed future collection also includes: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718562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2627121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Vasa Hotel Manado.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168015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076574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Vasa Hotel Benoa.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617468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3526027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Vasa Hotel Nilaya, Batu.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066920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3975480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GOED President Pacitan.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24934"/>
            <a:ext cx="10789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These are wider hospitality-management portfolio references.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882134"/>
            <a:ext cx="10789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Do not add them to TANRISE’s owned or invested asset list unless the client confirms the relevant property interest.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339334"/>
            <a:ext cx="10789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Public hotel naming also differs from some investor-deck labels. Maintain an alias field rather than creating duplicate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project entries.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5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6F2E9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AD843F"/>
                </a:solidFill>
                <a:latin typeface="Arial"/>
              </a:rPr>
              <a:t>APPENDICES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6F2E9"/>
                </a:solidFill>
                <a:latin typeface="Arial"/>
              </a:rPr>
              <a:t>APPENDIX B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AD84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Mario brief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130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53312"/>
            <a:ext cx="10789920" cy="1278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6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AD843F"/>
                </a:solidFill>
                <a:latin typeface="Times New Roman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18688"/>
            <a:ext cx="9966960" cy="5806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104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F6F2E9"/>
                </a:solidFill>
                <a:latin typeface="Arial"/>
              </a:rPr>
              <a:t>Naming, Classification, And Data Reconciliation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APPENDICES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B1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55–56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131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Naming and Classification Decisions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2084831"/>
          <a:ext cx="10789919" cy="30963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2774"/>
                <a:gridCol w="7337145"/>
              </a:tblGrid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Issue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Required decision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Jumana → Sunrise Residence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Sidoarjo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Confirm whether the change is approved and implemented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98017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Grand Sunrise Malang / Sunrise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Residence Malang / Sunrise Garden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Malang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Confirm number of projects, approved names, and scopes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TritanPoint / TritanHub → TRITAN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Confirm implementation and location mapping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Kyo Society classified under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Commercial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Agree primary classification and explain the investment proposition separately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1 / 3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APPENDICES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B1.2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55–56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132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Naming and Classification Decisions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2084831"/>
          <a:ext cx="10789919" cy="32975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2774"/>
                <a:gridCol w="7337145"/>
              </a:tblGrid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Issue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Required decision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ARC100 and accommodation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references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Confirm current brand, asset, and operating relationships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Midpoint Kayoon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Confirm current project status and commercial model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Bali Bites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Clarify asset ownership, destination identity, and restaurant-management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relationships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The House of VASA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Confirm whether this is an approved architecture or an unapproved proposal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Education and Healthcare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Identify any committed facilities or operating businesses before presenting them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as established units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2 / 3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APPENDICES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B1.3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55–56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133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Naming and Classification Decisions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2084831"/>
          <a:ext cx="10789919" cy="10991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2774"/>
                <a:gridCol w="7337145"/>
              </a:tblGrid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Issue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Required decision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Five business pillars versus seven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product categories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Approve one reporting hierarchy and a clear cross-reference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3 / 3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APPENDICES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B2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56–56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134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Internal Numerical Conflicts in the Investor Deck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2084831"/>
          <a:ext cx="10789919" cy="32664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2774"/>
                <a:gridCol w="7337145"/>
              </a:tblGrid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Conflicting information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VASA Ubud ownership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Summary: 100%; detailed project page: 73.3%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VASA Bromo ownership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Summary: 73.3%; detailed project page: 100%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Swiss of Taman Dayu ownership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Summary: 45.0%; detailed page: 45.5%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Palembang industrial-park area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Table: 131.1 hectares; rendering caption: 212 hectares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Tritan Gempol location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Project name/map: Pasuruan; detailed table: Sidoarjo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Rounded versus detailed ownership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figures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Several summary percentages differ slightly from detailed legal-interest figures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1 / 2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APPENDICES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B2.2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56–56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135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Internal Numerical Conflicts in the Investor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84831"/>
            <a:ext cx="10789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Differences may reflect rounding, effective ownership, legal ownership, development phases, or errors. The decks do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not provide sufficient reconciliation.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820924"/>
            <a:ext cx="10789920" cy="477202"/>
          </a:xfrm>
          <a:prstGeom prst="rect">
            <a:avLst/>
          </a:prstGeom>
          <a:solidFill>
            <a:srgbClr val="E9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820924"/>
            <a:ext cx="32004" cy="477202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2903220"/>
            <a:ext cx="10533888" cy="3150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83A32"/>
                </a:solidFill>
                <a:latin typeface="Times New Roman"/>
              </a:rPr>
              <a:t>Presentation rule: Omit disputed percentages and areas from the leadership narrative until clarified.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2 / 2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5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6F2E9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AD843F"/>
                </a:solidFill>
                <a:latin typeface="Arial"/>
              </a:rPr>
              <a:t>APPENDICES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6F2E9"/>
                </a:solidFill>
                <a:latin typeface="Arial"/>
              </a:rPr>
              <a:t>APPENDIX C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AD84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Mario brief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136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53312"/>
            <a:ext cx="10789920" cy="1278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6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AD843F"/>
                </a:solidFill>
                <a:latin typeface="Times New Roman"/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18688"/>
            <a:ext cx="9966960" cy="5806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104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F6F2E9"/>
                </a:solidFill>
                <a:latin typeface="Arial"/>
              </a:rPr>
              <a:t>Financial Validation Workstream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APPENDICES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APP C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57–57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137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Financial Validation Workstream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12263"/>
            <a:ext cx="10789920" cy="229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D843F"/>
                </a:solidFill>
                <a:latin typeface="Arial"/>
              </a:rPr>
              <a:t>TANRISE 2035 FINANCIAL GAP ANALYSIS AND GROWTH SCENARIOS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433574"/>
            <a:ext cx="10789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Establish: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982214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2890774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1. Current audited revenue, attributable profit, assets, debt, and operating cash flow.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431667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340227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2. Consistent peer revenue and attributable-profit rankings.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881119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3789679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3. Projected 2035 thresholds under different competitor-growth assumptions.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4330572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4239133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4. Contributions required from the five business pillars.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780025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" y="4688586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5. Revenue and cash-flow timing from existing, ongoing, and upcoming projects.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5229478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" y="5138039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6. Ownership-adjusted earnings contribution.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5678931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5587492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7. Capital investment and funding requirements.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1 / 2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APPENDICES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APP C.2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57–57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138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Financial Validation Workstream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176272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84831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8. Contributions from partnerships and potential acquisitions.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625725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2534285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9. Annual milestones and downside scenarios.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983738"/>
            <a:ext cx="10789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Recommended deliverable: TANRISE 2035 Financial Gap Analysis &amp; Growth Scenarios.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440938"/>
            <a:ext cx="10789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Use audited financial statements as the primary financial baseline and reconcile differences with presentation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summaries.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2 / 2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5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6F2E9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AD843F"/>
                </a:solidFill>
                <a:latin typeface="Arial"/>
              </a:rPr>
              <a:t>APPENDICES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6F2E9"/>
                </a:solidFill>
                <a:latin typeface="Arial"/>
              </a:rPr>
              <a:t>APPENDIX 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AD84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Mario brief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139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53312"/>
            <a:ext cx="10789920" cy="1278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6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AD843F"/>
                </a:solidFill>
                <a:latin typeface="Times New Roman"/>
              </a:rPr>
              <a:t>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18688"/>
            <a:ext cx="9966960" cy="5806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104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F6F2E9"/>
                </a:solidFill>
                <a:latin typeface="Arial"/>
              </a:rPr>
              <a:t>Turning Strategy Into Business Cases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APPENDICES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APP 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57–58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140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Turning Strategy Into Business Cases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12263"/>
            <a:ext cx="10789920" cy="229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D843F"/>
                </a:solidFill>
                <a:latin typeface="Arial"/>
              </a:rPr>
              <a:t>EVERY INITIATIVE SHOULD ANSWER THREE QUESTIONS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525014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2433574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1. What Opportunity Are We Pursuing?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883027"/>
            <a:ext cx="10789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Examples: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431667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340227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Improve Taman Dayu destination utilisation.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881119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3789679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Strengthen early-phase demand in Sidoarjo and Bandung.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4330572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4239133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Improve industrial occupier acquisition.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780025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" y="4688586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Increase productivity of retained commercial and hospitality assets.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5229478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" y="5138039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2. What Capabilities Are Required?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5678931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5587492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Development and infrastructure delivery.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1 / 4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APPENDICES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APP D.2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57–58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141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Turning Strategy Into Business Cases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176272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84831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Commercial leasing and tenant curation.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625725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2534285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Destination programming.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075178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2983738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Partnerships.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524631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3433191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Customer and membership management.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974083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3882643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Asset management.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423536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" y="4332096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Hospitality operations.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872989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" y="4781549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Reliable portfolio and financial reporting.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5322442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5231002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3. How Will Success Be Measured?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680455"/>
            <a:ext cx="10789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Use appropriate measures for each asset: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2 / 4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APPENDICES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APP D.3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57–58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142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Turning Strategy Into Business Cases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176272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84831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Sales absorption and margin.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625725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2534285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Handover and opening readiness.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075178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2983738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Occupancy and retention.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524631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3433191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Visitation and repeat visits.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974083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3882643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RevPAR and operating profit.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423536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" y="4332096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NOI and cash contribution.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872989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" y="4781549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Customer satisfaction.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5322442"/>
            <a:ext cx="41148" cy="41148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5231002"/>
            <a:ext cx="10625328" cy="330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83A32"/>
                </a:solidFill>
                <a:latin typeface="Arial"/>
              </a:rPr>
              <a:t>Return on invested capital.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3 / 4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APPENDICES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APP D.4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57–58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143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Turning Strategy Into Business Cases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084831"/>
            <a:ext cx="10789920" cy="477202"/>
          </a:xfrm>
          <a:prstGeom prst="rect">
            <a:avLst/>
          </a:prstGeom>
          <a:solidFill>
            <a:srgbClr val="E9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2084831"/>
            <a:ext cx="32004" cy="477202"/>
          </a:xfrm>
          <a:prstGeom prst="rect">
            <a:avLst/>
          </a:prstGeom>
          <a:solidFill>
            <a:srgbClr val="AD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" y="2167127"/>
            <a:ext cx="10533888" cy="3150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83A32"/>
                </a:solidFill>
                <a:latin typeface="Times New Roman"/>
              </a:rPr>
              <a:t>Rule: Every business case needs an accountable owner, investment envelope, milestones, assumptions, and review dates.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4 / 4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5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6F2E9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AD843F"/>
                </a:solidFill>
                <a:latin typeface="Arial"/>
              </a:rPr>
              <a:t>APPENDICES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6F2E9"/>
                </a:solidFill>
                <a:latin typeface="Arial"/>
              </a:rPr>
              <a:t>APPENDIX 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AD84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Mario brief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144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53312"/>
            <a:ext cx="10789920" cy="1278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6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AD843F"/>
                </a:solidFill>
                <a:latin typeface="Times New Roman"/>
              </a:rPr>
              <a:t>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18688"/>
            <a:ext cx="9966960" cy="5806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104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F6F2E9"/>
                </a:solidFill>
                <a:latin typeface="Arial"/>
              </a:rPr>
              <a:t>Executive Decisions Required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APPENDICES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APP 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58–59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145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Executive Decisions Required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2084831"/>
          <a:ext cx="10789919" cy="30652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2774"/>
                <a:gridCol w="7337145"/>
              </a:tblGrid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Decision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Proposed recommendation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Corporate positioning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Adopt Elevating Life as the primary corporate expression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Portfolio reporting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Use the five documented business pillars as the current business-description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baseline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Naming governance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Preserve established names and implement only approved naming transitions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Group architecture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Distinguish TANRISE’s property role from TANLY’s hospitality-management role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Business model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Strengthen development performance and selectively improve recurring-income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engines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1 / 2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APPENDICES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APP E.2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58–59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146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Executive Decisions Required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2084831"/>
          <a:ext cx="10789919" cy="15326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2774"/>
                <a:gridCol w="7337145"/>
              </a:tblGrid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Decision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Proposed recommendation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Strategic priorities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Advance Taman Dayu, integrated-city, industrial, and hospitality business cases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according to feasibility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2035 transformation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Establish a funded roadmap with annual milestones and executive accountability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85800" y="3800347"/>
            <a:ext cx="10789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All recommendations require leadership approval.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2 / 2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5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6F2E9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AD843F"/>
                </a:solidFill>
                <a:latin typeface="Arial"/>
              </a:rPr>
              <a:t>APPENDICES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6F2E9"/>
                </a:solidFill>
                <a:latin typeface="Arial"/>
              </a:rPr>
              <a:t>APPENDIX F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AD84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Mario brief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147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53312"/>
            <a:ext cx="10789920" cy="1278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6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AD843F"/>
                </a:solidFill>
                <a:latin typeface="Times New Roman"/>
              </a:rPr>
              <a:t>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18688"/>
            <a:ext cx="9966960" cy="5806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104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F6F2E9"/>
                </a:solidFill>
                <a:latin typeface="Arial"/>
              </a:rPr>
              <a:t>Design And Source Guidance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APPENDICES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APP F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59–61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148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Design And Source Guidance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12263"/>
            <a:ext cx="10789920" cy="229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D843F"/>
                </a:solidFill>
                <a:latin typeface="Arial"/>
              </a:rPr>
              <a:t>PRESENTATION STRUCTURE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85800" y="2433574"/>
          <a:ext cx="10789919" cy="30652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782"/>
                <a:gridCol w="3236976"/>
                <a:gridCol w="5179161"/>
              </a:tblGrid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Section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Slides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Objective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Corporate research and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diagnosis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01–07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Establish the business, portfolio, and growth challenge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Competitive intelligence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08–17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Identify relevant competitive mechanisms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733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Corporate and portfolio</a:t>
                      </a:r>
                    </a:p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architecture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18–21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Clarify group roles, projects, naming, and status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Three brand alternatives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22–25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Present strategic choices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Recommended platform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26–33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Define identity, values, culture, and experience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1 / 4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APPENDICES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APP F.2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59–61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149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Design And Source Guidance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2084831"/>
          <a:ext cx="10789919" cy="1300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782"/>
                <a:gridCol w="3236976"/>
                <a:gridCol w="5179161"/>
              </a:tblGrid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Section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Slides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6F2E9"/>
                          </a:solidFill>
                          <a:latin typeface="Arial"/>
                        </a:rPr>
                        <a:t>Objective</a:t>
                      </a:r>
                    </a:p>
                  </a:txBody>
                  <a:tcPr marL="109728" marR="109728" marT="82296" marB="0" anchor="t">
                    <a:solidFill>
                      <a:srgbClr val="153F35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Business transformation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34–37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Connect the portfolio to commercial value</a:t>
                      </a:r>
                    </a:p>
                  </a:txBody>
                  <a:tcPr marL="109728" marR="109728" marT="82296" marB="0" anchor="t">
                    <a:solidFill>
                      <a:srgbClr val="F6F2E9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3450"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Roadmap and execution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38–40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8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83A32"/>
                          </a:solidFill>
                          <a:latin typeface="Arial"/>
                        </a:rPr>
                        <a:t>Translate ambition into action</a:t>
                      </a:r>
                    </a:p>
                  </a:txBody>
                  <a:tcPr marL="109728" marR="109728" marT="82296" marB="0" anchor="t">
                    <a:solidFill>
                      <a:srgbClr val="E9E8D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85800" y="3595496"/>
            <a:ext cx="10789920" cy="229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D843F"/>
                </a:solidFill>
                <a:latin typeface="Arial"/>
              </a:rPr>
              <a:t>VISUAL DIRECTION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916806"/>
            <a:ext cx="10789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Portfolio research Use actual client project photography and renderings. Label renderings and future facilities clearly.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374006"/>
            <a:ext cx="10789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Architecture Separate corporate group relationships, business pillars, destination brands, individual projects, and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operators.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110098"/>
            <a:ext cx="10789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Project status Use a consistent visual key for existing, ongoing, upcoming, proposed naming, and unresolved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information.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2 / 4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APPENDICES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APP F.3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59–61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150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Design And Source Guidance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62472" y="2084831"/>
            <a:ext cx="0" cy="3038857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2084831"/>
            <a:ext cx="5074920" cy="896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Financial comparisons Use consistent periods,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definitions, and units. Show disputed or unreconciled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figures only in the validation appendix.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99815"/>
            <a:ext cx="5074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Brand options Maintain one presentation system while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giving each strategic option a distinctive emphasis.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835907"/>
            <a:ext cx="5074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Roadmap Distinguish the proposed corporate roadmap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from individual project schedules.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12263"/>
            <a:ext cx="5074920" cy="229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D843F"/>
                </a:solidFill>
                <a:latin typeface="Arial"/>
              </a:rPr>
              <a:t>PRIMARY CLIENT SOURCES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33574"/>
            <a:ext cx="5074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Client Source 1 RISE Investor Presentation — 1Q26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Result, dated 20 July 2026.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169666"/>
            <a:ext cx="5074920" cy="11750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Key references: corporate vision and mission;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development milestones; company structure; five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business pillars; project portfolio; existing assets;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ongoing and upcoming developments.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463542"/>
            <a:ext cx="5074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Client Source 2 Tanrise Brand Portfolio Strategy 2026.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3 / 4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828800" cy="307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3F35"/>
                </a:solidFill>
                <a:latin typeface="Arial"/>
              </a:rPr>
              <a:t>TANRISE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10896"/>
            <a:ext cx="8229600" cy="186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8766B"/>
                </a:solidFill>
                <a:latin typeface="Arial"/>
              </a:rPr>
              <a:t>APPENDICES / CORPORATE STRATEGY 2026–2035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896112" cy="198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53F35"/>
                </a:solidFill>
                <a:latin typeface="Arial"/>
              </a:rPr>
              <a:t>APP F.4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94944"/>
            <a:ext cx="11183112" cy="0"/>
          </a:xfrm>
          <a:prstGeom prst="line">
            <a:avLst/>
          </a:prstGeom>
          <a:ln w="7620">
            <a:solidFill>
              <a:srgbClr val="D8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492240"/>
            <a:ext cx="36576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STRATEGIC DISCUSSION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6492240"/>
            <a:ext cx="292608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Mario brief · pp. 59–61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4572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8766B"/>
                </a:solidFill>
                <a:latin typeface="Arial"/>
              </a:rPr>
              <a:t>151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744200" cy="5043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02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153F35"/>
                </a:solidFill>
                <a:latin typeface="Arial"/>
              </a:rPr>
              <a:t>Design And Source Guidance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84831"/>
            <a:ext cx="10789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Key references: product categories; proposed residential naming; Jumana-to-Sunrise transition; location-based Grand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Sunrise and TRITAN naming; industrial-park identities; commercial portfolio references.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48356"/>
            <a:ext cx="10789920" cy="229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D843F"/>
                </a:solidFill>
                <a:latin typeface="Arial"/>
              </a:rPr>
              <a:t>CENTRAL LEADERSHIP MESSAGE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169666"/>
            <a:ext cx="10789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TANRISE already has a diversified asset base and a substantial development pipeline.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626866"/>
            <a:ext cx="10789920" cy="617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Its next chapter should connect these strengths through clearer portfolio governance, purposeful development,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dependable delivery, effective operating partnerships, and disciplined investment.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362958"/>
            <a:ext cx="1078992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3A32"/>
                </a:solidFill>
                <a:latin typeface="Times New Roman"/>
              </a:rPr>
              <a:t>TANRISE — Elevating Life.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355080"/>
            <a:ext cx="685800" cy="1833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D843F"/>
                </a:solidFill>
                <a:latin typeface="Arial"/>
              </a:rP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TANRISE — Corporate Strategy 2026–2035</dc:title>
  <dc:subject>Main presentation, appendices, and separate supplementary research sequences</dc:subject>
  <dc:creator>Rubicube Creative</dc:creator>
  <cp:keywords>TANRISE, strategic discussion draft, editable presentation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